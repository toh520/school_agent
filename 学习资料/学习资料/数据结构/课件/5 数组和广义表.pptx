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46"/>
  </p:notesMasterIdLst>
  <p:sldIdLst>
    <p:sldId id="454" r:id="rId2"/>
    <p:sldId id="259" r:id="rId3"/>
    <p:sldId id="791" r:id="rId4"/>
    <p:sldId id="261" r:id="rId5"/>
    <p:sldId id="807" r:id="rId6"/>
    <p:sldId id="808" r:id="rId7"/>
    <p:sldId id="809" r:id="rId8"/>
    <p:sldId id="810" r:id="rId9"/>
    <p:sldId id="811" r:id="rId10"/>
    <p:sldId id="795" r:id="rId11"/>
    <p:sldId id="812" r:id="rId12"/>
    <p:sldId id="797" r:id="rId13"/>
    <p:sldId id="798" r:id="rId14"/>
    <p:sldId id="813" r:id="rId15"/>
    <p:sldId id="814" r:id="rId16"/>
    <p:sldId id="799" r:id="rId17"/>
    <p:sldId id="801" r:id="rId18"/>
    <p:sldId id="802" r:id="rId19"/>
    <p:sldId id="803" r:id="rId20"/>
    <p:sldId id="804" r:id="rId21"/>
    <p:sldId id="805" r:id="rId22"/>
    <p:sldId id="815" r:id="rId23"/>
    <p:sldId id="816" r:id="rId24"/>
    <p:sldId id="817" r:id="rId25"/>
    <p:sldId id="818" r:id="rId26"/>
    <p:sldId id="819" r:id="rId27"/>
    <p:sldId id="820" r:id="rId28"/>
    <p:sldId id="821" r:id="rId29"/>
    <p:sldId id="822" r:id="rId30"/>
    <p:sldId id="823" r:id="rId31"/>
    <p:sldId id="825" r:id="rId32"/>
    <p:sldId id="824" r:id="rId33"/>
    <p:sldId id="826" r:id="rId34"/>
    <p:sldId id="827" r:id="rId35"/>
    <p:sldId id="828" r:id="rId36"/>
    <p:sldId id="829" r:id="rId37"/>
    <p:sldId id="830" r:id="rId38"/>
    <p:sldId id="831" r:id="rId39"/>
    <p:sldId id="832" r:id="rId40"/>
    <p:sldId id="833" r:id="rId41"/>
    <p:sldId id="834" r:id="rId42"/>
    <p:sldId id="835" r:id="rId43"/>
    <p:sldId id="836" r:id="rId44"/>
    <p:sldId id="837" r:id="rId45"/>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FFFF"/>
    <a:srgbClr val="CCCCFF"/>
    <a:srgbClr val="FFFF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295" autoAdjust="0"/>
  </p:normalViewPr>
  <p:slideViewPr>
    <p:cSldViewPr showGuides="1">
      <p:cViewPr varScale="1">
        <p:scale>
          <a:sx n="129" d="100"/>
          <a:sy n="129" d="100"/>
        </p:scale>
        <p:origin x="1210" y="91"/>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58948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2025/3/17</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2025/3/17</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cover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5" r:id="rId14"/>
    <p:sldLayoutId id="2147483676" r:id="rId15"/>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30697;&#38453;&#21152;&#27861;&#38142;&#25509;.txt" TargetMode="External"/><Relationship Id="rId1" Type="http://schemas.openxmlformats.org/officeDocument/2006/relationships/slideLayout" Target="../slideLayouts/slideLayout2.xml"/><Relationship Id="rId4" Type="http://schemas.openxmlformats.org/officeDocument/2006/relationships/hyperlink" Target="&#31232;&#30095;&#30697;&#38453;&#30340;&#19977;&#20803;&#32452;&#34920;&#31034;&#23384;&#20648;&#32467;&#26500;&#38142;&#25509;.tx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31232;&#30095;&#30697;&#38453;&#30340;&#21313;&#23383;&#38142;&#34920;&#23384;&#20648;&#32467;&#26500;&#38142;&#25509;.txt" TargetMode="External"/><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21019;&#24314;&#24191;&#20041;&#34920;&#38142;&#25509;.txt" TargetMode="External"/><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35745;&#31639;&#24191;&#20041;&#34920;&#28145;&#24230;&#38142;&#25509;.txt" TargetMode="External"/><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数组和广义表</a:t>
            </a:r>
          </a:p>
        </p:txBody>
      </p:sp>
      <p:sp>
        <p:nvSpPr>
          <p:cNvPr id="5" name="文本占位符 4"/>
          <p:cNvSpPr>
            <a:spLocks noGrp="1"/>
          </p:cNvSpPr>
          <p:nvPr>
            <p:ph type="body" sz="quarter" idx="13"/>
          </p:nvPr>
        </p:nvSpPr>
        <p:spPr/>
        <p:txBody>
          <a:bodyPr/>
          <a:lstStyle/>
          <a:p>
            <a:r>
              <a:rPr lang="en-US" altLang="zh-CN" dirty="0">
                <a:solidFill>
                  <a:srgbClr val="7030A0"/>
                </a:solidFill>
              </a:rPr>
              <a:t>5</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395536" y="987574"/>
            <a:ext cx="8568952" cy="3744415"/>
          </a:xfrm>
        </p:spPr>
        <p:txBody>
          <a:bodyPr/>
          <a:lstStyle/>
          <a:p>
            <a:pPr marL="0" indent="0" eaLnBrk="0" hangingPunct="0">
              <a:spcBef>
                <a:spcPts val="0"/>
              </a:spcBef>
              <a:buNone/>
            </a:pPr>
            <a:r>
              <a:rPr lang="en-US" altLang="zh-CN" sz="1800" dirty="0"/>
              <a:t>   </a:t>
            </a:r>
            <a:r>
              <a:rPr lang="zh-CN" altLang="zh-CN" sz="1800" dirty="0"/>
              <a:t>数组和广义表可看成是一种特殊的线性表，其特殊在于表中的元素本身也是一种数据结构。</a:t>
            </a:r>
            <a:endParaRPr lang="en-US" altLang="zh-CN" sz="1800" dirty="0"/>
          </a:p>
          <a:p>
            <a:pPr marL="0" indent="0" eaLnBrk="0" hangingPunct="0">
              <a:spcBef>
                <a:spcPts val="0"/>
              </a:spcBef>
              <a:buNone/>
            </a:pPr>
            <a:r>
              <a:rPr lang="en-US" altLang="zh-CN" sz="1800" dirty="0"/>
              <a:t>   </a:t>
            </a:r>
            <a:r>
              <a:rPr lang="zh-CN" altLang="zh-CN" sz="1800" dirty="0"/>
              <a:t>数组中每个数据元素具有相同的结构，并且数组元素的下标一般具有固定的上界和下界，因此数组的处理比其它复杂结构更为简单；</a:t>
            </a:r>
            <a:endParaRPr lang="en-US" altLang="zh-CN" sz="1800" dirty="0"/>
          </a:p>
          <a:p>
            <a:pPr marL="0" indent="0" eaLnBrk="0" hangingPunct="0">
              <a:spcBef>
                <a:spcPts val="0"/>
              </a:spcBef>
              <a:buNone/>
            </a:pPr>
            <a:r>
              <a:rPr lang="en-US" altLang="zh-CN" sz="1800" dirty="0"/>
              <a:t>   </a:t>
            </a:r>
            <a:r>
              <a:rPr lang="zh-CN" altLang="zh-CN" sz="1800" dirty="0"/>
              <a:t>广义表中的数据元素可以具有不同的数据结构，因此，难以用顺序存储结构表示，通常采用链式存储结构表示。数组和广义表广泛应用于计算机的各个领域</a:t>
            </a:r>
            <a:r>
              <a:rPr lang="zh-CN" altLang="en-US" sz="1800" dirty="0"/>
              <a:t>。</a:t>
            </a:r>
            <a:endParaRPr lang="en-US" altLang="zh-CN" sz="1800" dirty="0"/>
          </a:p>
        </p:txBody>
      </p:sp>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数组和广义表</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数组</a:t>
            </a:r>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755576" y="915565"/>
                <a:ext cx="8208912" cy="4010597"/>
              </a:xfrm>
            </p:spPr>
            <p:txBody>
              <a:bodyPr/>
              <a:lstStyle/>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从逻辑结构上看，数组</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是由</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个相同类型的数据元素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oMath>
                </a14:m>
                <a:r>
                  <a:rPr lang="zh-CN" altLang="zh-CN" sz="1600" dirty="0">
                    <a:latin typeface="Times New Roman" panose="02020603050405020304" pitchFamily="18" charset="0"/>
                    <a:cs typeface="Times New Roman" panose="02020603050405020304" pitchFamily="18" charset="0"/>
                  </a:rPr>
                  <a:t>构成的有限序列，其逻辑表示为：</a:t>
                </a:r>
              </a:p>
              <a:p>
                <a:pPr marL="0" indent="0" algn="just">
                  <a:lnSpc>
                    <a:spcPts val="3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A</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表示数组第</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个数据元素。</a:t>
                </a:r>
                <a:endParaRPr lang="en-US" altLang="zh-CN" sz="1600" dirty="0">
                  <a:latin typeface="Times New Roman" panose="02020603050405020304" pitchFamily="18" charset="0"/>
                  <a:cs typeface="Times New Roman" panose="02020603050405020304" pitchFamily="18" charset="0"/>
                </a:endParaRPr>
              </a:p>
              <a:p>
                <a:pPr marL="0" indent="0" algn="just">
                  <a:lnSpc>
                    <a:spcPts val="30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数组</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可以看作一个线性表。数组维数确定后，数据元素个数和元素之间的关系不再发生改变，适合顺序存储。一个二维数组可以看作是每个数据元素都是相同类型一维数组的一维数组。依次类推，</a:t>
                </a:r>
                <a14:m>
                  <m:oMath xmlns:m="http://schemas.openxmlformats.org/officeDocument/2006/math">
                    <m:r>
                      <m:rPr>
                        <m:sty m:val="p"/>
                      </m:rPr>
                      <a:rPr lang="en-US" altLang="zh-CN" sz="1600">
                        <a:latin typeface="Cambria Math" panose="02040503050406030204" pitchFamily="18" charset="0"/>
                      </a:rPr>
                      <m:t>d</m:t>
                    </m:r>
                    <m:r>
                      <a:rPr lang="en-US" altLang="zh-CN" sz="1600">
                        <a:latin typeface="Cambria Math" panose="02040503050406030204" pitchFamily="18" charset="0"/>
                      </a:rPr>
                      <m:t>(</m:t>
                    </m:r>
                    <m:r>
                      <m:rPr>
                        <m:sty m:val="p"/>
                      </m:rPr>
                      <a:rPr lang="en-US" altLang="zh-CN" sz="1600">
                        <a:latin typeface="Cambria Math" panose="02040503050406030204" pitchFamily="18" charset="0"/>
                      </a:rPr>
                      <m:t>d</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维数组可以看作是每个数据元素都是相同类型</a:t>
                </a:r>
                <a14:m>
                  <m:oMath xmlns:m="http://schemas.openxmlformats.org/officeDocument/2006/math">
                    <m:r>
                      <m:rPr>
                        <m:sty m:val="p"/>
                      </m:rPr>
                      <a:rPr lang="en-US" altLang="zh-CN" sz="1600">
                        <a:latin typeface="Cambria Math" panose="02040503050406030204" pitchFamily="18" charset="0"/>
                      </a:rPr>
                      <m:t>d</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维数组的一维数组。</a:t>
                </a:r>
              </a:p>
              <a:p>
                <a:pPr marL="0" indent="0">
                  <a:lnSpc>
                    <a:spcPts val="3000"/>
                  </a:lnSpc>
                  <a:spcBef>
                    <a:spcPts val="0"/>
                  </a:spcBef>
                  <a:buNone/>
                </a:pPr>
                <a:endParaRPr lang="zh-CN" altLang="zh-CN" sz="2000" dirty="0">
                  <a:latin typeface="隶书" panose="02010509060101010101" pitchFamily="49" charset="-122"/>
                  <a:ea typeface="隶书" panose="02010509060101010101" pitchFamily="49" charset="-122"/>
                </a:endParaRPr>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755576" y="915565"/>
                <a:ext cx="8208912" cy="4010597"/>
              </a:xfrm>
              <a:blipFill>
                <a:blip r:embed="rId3"/>
                <a:stretch>
                  <a:fillRect l="-668" r="-668"/>
                </a:stretch>
              </a:blipFill>
            </p:spPr>
            <p:txBody>
              <a:bodyPr/>
              <a:lstStyle/>
              <a:p>
                <a:r>
                  <a:rPr lang="zh-CN" altLang="en-US">
                    <a:noFill/>
                  </a:rPr>
                  <a:t> </a:t>
                </a:r>
              </a:p>
            </p:txBody>
          </p:sp>
        </mc:Fallback>
      </mc:AlternateContent>
      <p:sp>
        <p:nvSpPr>
          <p:cNvPr id="5" name="文本框 4"/>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数组的定义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467544" y="915566"/>
                <a:ext cx="8424936" cy="3507876"/>
              </a:xfrm>
            </p:spPr>
            <p:txBody>
              <a:bodyPr/>
              <a:lstStyle/>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ADT Array{</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数据对象：</a:t>
                </a:r>
                <a14:m>
                  <m:oMath xmlns:m="http://schemas.openxmlformats.org/officeDocument/2006/math">
                    <m:r>
                      <a:rPr lang="en-US" altLang="zh-CN" sz="1600" i="1">
                        <a:solidFill>
                          <a:srgbClr val="002060"/>
                        </a:solidFill>
                        <a:latin typeface="Cambria Math" panose="02040503050406030204" pitchFamily="18" charset="0"/>
                      </a:rPr>
                      <m:t>𝐷</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1</m:t>
                            </m:r>
                          </m:sub>
                        </m:s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2</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𝑑</m:t>
                            </m:r>
                          </m:sub>
                        </m:sSub>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a:solidFill>
                          <a:srgbClr val="002060"/>
                        </a:solidFill>
                        <a:latin typeface="Cambria Math" panose="02040503050406030204" pitchFamily="18" charset="0"/>
                      </a:rPr>
                      <m:t>=0,1,2,⋯</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a:rPr lang="en-US" altLang="zh-CN" sz="1600">
                        <a:solidFill>
                          <a:srgbClr val="002060"/>
                        </a:solidFill>
                        <a:latin typeface="Cambria Math" panose="02040503050406030204" pitchFamily="18" charset="0"/>
                      </a:rPr>
                      <m:t>1,</m:t>
                    </m:r>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=1,2,⋯,</m:t>
                    </m:r>
                    <m:r>
                      <m:rPr>
                        <m:sty m:val="p"/>
                      </m:rPr>
                      <a:rPr lang="en-US" altLang="zh-CN" sz="1600">
                        <a:solidFill>
                          <a:srgbClr val="002060"/>
                        </a:solidFill>
                        <a:latin typeface="Cambria Math" panose="02040503050406030204" pitchFamily="18" charset="0"/>
                      </a:rPr>
                      <m:t>d</m:t>
                    </m:r>
                    <m:r>
                      <a:rPr lang="en-US" altLang="zh-CN" sz="1600">
                        <a:solidFill>
                          <a:srgbClr val="002060"/>
                        </a:solidFill>
                        <a:latin typeface="Cambria Math" panose="02040503050406030204" pitchFamily="18" charset="0"/>
                      </a:rPr>
                      <m:t>}</m:t>
                    </m:r>
                  </m:oMath>
                </a14:m>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第</a:t>
                </a:r>
                <a14:m>
                  <m:oMath xmlns:m="http://schemas.openxmlformats.org/officeDocument/2006/math">
                    <m:r>
                      <m:rPr>
                        <m:sty m:val="p"/>
                      </m:rPr>
                      <a:rPr lang="en-US" altLang="zh-CN" sz="1600">
                        <a:solidFill>
                          <a:srgbClr val="002060"/>
                        </a:solidFill>
                        <a:latin typeface="Cambria Math" panose="02040503050406030204" pitchFamily="18" charset="0"/>
                      </a:rPr>
                      <m:t>i</m:t>
                    </m:r>
                  </m:oMath>
                </a14:m>
                <a:r>
                  <a:rPr lang="zh-CN" altLang="zh-CN" sz="1600" dirty="0">
                    <a:solidFill>
                      <a:srgbClr val="002060"/>
                    </a:solidFill>
                    <a:latin typeface="Times New Roman" panose="02020603050405020304" pitchFamily="18" charset="0"/>
                    <a:cs typeface="Times New Roman" panose="02020603050405020304" pitchFamily="18" charset="0"/>
                  </a:rPr>
                  <a:t>维的数组长度为</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𝑖</m:t>
                        </m:r>
                      </m:sub>
                    </m:sSub>
                  </m:oMath>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数据关系：</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b="0" i="0" smtClean="0">
                        <a:solidFill>
                          <a:srgbClr val="002060"/>
                        </a:solidFill>
                        <a:latin typeface="Cambria Math" panose="02040503050406030204" pitchFamily="18" charset="0"/>
                      </a:rPr>
                      <m:t>  </m:t>
                    </m:r>
                    <m:r>
                      <a:rPr lang="en-US" altLang="zh-CN" sz="1600" i="1">
                        <a:solidFill>
                          <a:srgbClr val="002060"/>
                        </a:solidFill>
                        <a:latin typeface="Cambria Math" panose="02040503050406030204" pitchFamily="18" charset="0"/>
                      </a:rPr>
                      <m:t>𝑅</m:t>
                    </m:r>
                    <m:r>
                      <a:rPr lang="en-US" altLang="zh-CN" sz="1600">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𝑅</m:t>
                        </m:r>
                      </m:e>
                      <m:sub>
                        <m:r>
                          <a:rPr lang="en-US" altLang="zh-CN" sz="1600" i="1">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𝑅</m:t>
                        </m:r>
                      </m:e>
                      <m:sub>
                        <m:r>
                          <a:rPr lang="en-US" altLang="zh-CN" sz="1600" i="1">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𝑅</m:t>
                        </m:r>
                      </m:e>
                      <m:sub>
                        <m:r>
                          <a:rPr lang="en-US" altLang="zh-CN" sz="1600" i="1">
                            <a:solidFill>
                              <a:srgbClr val="002060"/>
                            </a:solidFill>
                            <a:latin typeface="Cambria Math" panose="02040503050406030204" pitchFamily="18" charset="0"/>
                          </a:rPr>
                          <m:t>𝑑</m:t>
                        </m:r>
                      </m:sub>
                    </m:sSub>
                    <m:r>
                      <a:rPr lang="en-US" altLang="zh-CN" sz="1600">
                        <a:solidFill>
                          <a:srgbClr val="002060"/>
                        </a:solidFill>
                        <a:latin typeface="Cambria Math" panose="02040503050406030204" pitchFamily="18" charset="0"/>
                      </a:rPr>
                      <m:t>}</m:t>
                    </m:r>
                  </m:oMath>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𝑅</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1</m:t>
                            </m:r>
                          </m:sub>
                        </m:s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2</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𝑑</m:t>
                            </m:r>
                          </m:sub>
                        </m:sSub>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1</m:t>
                            </m:r>
                          </m:sub>
                        </m:s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2</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𝑑</m:t>
                            </m:r>
                          </m:sub>
                        </m:sSub>
                      </m:sub>
                    </m:sSub>
                    <m:r>
                      <a:rPr lang="en-US" altLang="zh-CN" sz="1600" i="1">
                        <a:solidFill>
                          <a:srgbClr val="002060"/>
                        </a:solidFill>
                        <a:latin typeface="Cambria Math" panose="02040503050406030204" pitchFamily="18" charset="0"/>
                      </a:rPr>
                      <m:t>)|0≤</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𝑘</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𝑘</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𝑘</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𝑑</m:t>
                    </m:r>
                    <m:r>
                      <a:rPr lang="zh-CN" altLang="zh-CN" sz="1600">
                        <a:solidFill>
                          <a:srgbClr val="002060"/>
                        </a:solidFill>
                        <a:latin typeface="Cambria Math" panose="02040503050406030204" pitchFamily="18" charset="0"/>
                      </a:rPr>
                      <m:t>且</m:t>
                    </m:r>
                    <m:r>
                      <a:rPr lang="en-US" altLang="zh-CN" sz="1600" i="1">
                        <a:solidFill>
                          <a:srgbClr val="002060"/>
                        </a:solidFill>
                        <a:latin typeface="Cambria Math" panose="02040503050406030204" pitchFamily="18" charset="0"/>
                      </a:rPr>
                      <m:t>𝑘</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,0≤</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                                     </m:t>
                        </m:r>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 ,</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1</m:t>
                            </m:r>
                          </m:sub>
                        </m:s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2</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𝑑</m:t>
                            </m:r>
                          </m:sub>
                        </m:sSub>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1</m:t>
                            </m:r>
                          </m:sub>
                        </m:sSub>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2</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𝑗</m:t>
                            </m:r>
                          </m:e>
                          <m:sub>
                            <m:r>
                              <a:rPr lang="en-US" altLang="zh-CN" sz="1600" i="1">
                                <a:solidFill>
                                  <a:srgbClr val="002060"/>
                                </a:solidFill>
                                <a:latin typeface="Cambria Math" panose="02040503050406030204" pitchFamily="18" charset="0"/>
                              </a:rPr>
                              <m:t>𝑑</m:t>
                            </m:r>
                          </m:sub>
                        </m:sSub>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𝐷</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=2,3,⋯,</m:t>
                    </m:r>
                    <m:r>
                      <a:rPr lang="en-US" altLang="zh-CN" sz="1600" i="1">
                        <a:solidFill>
                          <a:srgbClr val="002060"/>
                        </a:solidFill>
                        <a:latin typeface="Cambria Math" panose="02040503050406030204" pitchFamily="18" charset="0"/>
                      </a:rPr>
                      <m:t>𝑑</m:t>
                    </m:r>
                    <m:r>
                      <a:rPr lang="en-US" altLang="zh-CN" sz="1600" i="1">
                        <a:solidFill>
                          <a:srgbClr val="002060"/>
                        </a:solidFill>
                        <a:latin typeface="Cambria Math" panose="02040503050406030204" pitchFamily="18" charset="0"/>
                      </a:rPr>
                      <m:t>}</m:t>
                    </m:r>
                  </m:oMath>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基本操作：</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InitArray</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i="1" dirty="0">
                    <a:solidFill>
                      <a:srgbClr val="002060"/>
                    </a:solidFill>
                    <a:latin typeface="Times New Roman" panose="02020603050405020304" pitchFamily="18" charset="0"/>
                    <a:cs typeface="Times New Roman" panose="02020603050405020304" pitchFamily="18" charset="0"/>
                  </a:rPr>
                  <a:t>&amp;</a:t>
                </a:r>
                <a:r>
                  <a:rPr lang="en-US" altLang="zh-CN" sz="1600" dirty="0" err="1">
                    <a:solidFill>
                      <a:srgbClr val="002060"/>
                    </a:solidFill>
                    <a:latin typeface="Times New Roman" panose="02020603050405020304" pitchFamily="18" charset="0"/>
                    <a:cs typeface="Times New Roman" panose="02020603050405020304" pitchFamily="18" charset="0"/>
                  </a:rPr>
                  <a:t>a,d</a:t>
                </a:r>
                <a:r>
                  <a:rPr lang="en-US" altLang="zh-CN" sz="1600"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a:rPr lang="en-US" altLang="zh-CN" sz="1600">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a:rPr lang="en-US" altLang="zh-CN" sz="1600">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m:rPr>
                            <m:sty m:val="p"/>
                          </m:rPr>
                          <a:rPr lang="en-US" altLang="zh-CN" sz="1600">
                            <a:solidFill>
                              <a:srgbClr val="002060"/>
                            </a:solidFill>
                            <a:latin typeface="Cambria Math" panose="02040503050406030204" pitchFamily="18" charset="0"/>
                          </a:rPr>
                          <m:t>d</m:t>
                        </m:r>
                      </m:sub>
                    </m:sSub>
                    <m:r>
                      <a:rPr lang="en-US" altLang="zh-CN" sz="160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：数组的初始化</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DestroyArray</a:t>
                </a:r>
                <a:r>
                  <a:rPr lang="en-US" altLang="zh-CN" sz="1600" dirty="0">
                    <a:solidFill>
                      <a:srgbClr val="002060"/>
                    </a:solidFill>
                    <a:latin typeface="Times New Roman" panose="02020603050405020304" pitchFamily="18" charset="0"/>
                    <a:cs typeface="Times New Roman" panose="02020603050405020304" pitchFamily="18" charset="0"/>
                  </a:rPr>
                  <a:t>(&amp;a)</a:t>
                </a:r>
                <a:r>
                  <a:rPr lang="zh-CN" altLang="zh-CN" sz="1600" dirty="0">
                    <a:solidFill>
                      <a:srgbClr val="002060"/>
                    </a:solidFill>
                    <a:latin typeface="Times New Roman" panose="02020603050405020304" pitchFamily="18" charset="0"/>
                    <a:cs typeface="Times New Roman" panose="02020603050405020304" pitchFamily="18" charset="0"/>
                  </a:rPr>
                  <a:t>：销毁数组</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Value(&amp;</a:t>
                </a:r>
                <a:r>
                  <a:rPr lang="en-US" altLang="zh-CN" sz="1600" dirty="0" err="1">
                    <a:solidFill>
                      <a:srgbClr val="002060"/>
                    </a:solidFill>
                    <a:latin typeface="Times New Roman" panose="02020603050405020304" pitchFamily="18" charset="0"/>
                    <a:cs typeface="Times New Roman" panose="02020603050405020304" pitchFamily="18" charset="0"/>
                  </a:rPr>
                  <a:t>a,&amp;e</a:t>
                </a:r>
                <a:r>
                  <a:rPr lang="en-US" altLang="zh-CN" sz="1600"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a:rPr lang="en-US" altLang="zh-CN" sz="1600">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a:rPr lang="en-US" altLang="zh-CN" sz="1600">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m:rPr>
                            <m:sty m:val="p"/>
                          </m:rPr>
                          <a:rPr lang="en-US" altLang="zh-CN" sz="1600">
                            <a:solidFill>
                              <a:srgbClr val="002060"/>
                            </a:solidFill>
                            <a:latin typeface="Cambria Math" panose="02040503050406030204" pitchFamily="18" charset="0"/>
                          </a:rPr>
                          <m:t>d</m:t>
                        </m:r>
                      </m:sub>
                    </m:sSub>
                    <m:r>
                      <a:rPr lang="en-US" altLang="zh-CN" sz="1600" i="1">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：把指定下标的元素值赋给</a:t>
                </a:r>
                <a:r>
                  <a:rPr lang="en-US" altLang="zh-CN" sz="1600" dirty="0">
                    <a:solidFill>
                      <a:srgbClr val="002060"/>
                    </a:solidFill>
                    <a:latin typeface="Times New Roman" panose="02020603050405020304" pitchFamily="18" charset="0"/>
                    <a:cs typeface="Times New Roman" panose="02020603050405020304" pitchFamily="18" charset="0"/>
                  </a:rPr>
                  <a:t>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Assign(&amp;a,</a:t>
                </a:r>
                <a14:m>
                  <m:oMath xmlns:m="http://schemas.openxmlformats.org/officeDocument/2006/math">
                    <m:r>
                      <m:rPr>
                        <m:sty m:val="p"/>
                      </m:rPr>
                      <a:rPr lang="en-US" altLang="zh-CN" sz="1600">
                        <a:solidFill>
                          <a:srgbClr val="002060"/>
                        </a:solidFill>
                        <a:latin typeface="Cambria Math" panose="02040503050406030204" pitchFamily="18" charset="0"/>
                      </a:rPr>
                      <m:t>e</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a:rPr lang="en-US" altLang="zh-CN" sz="1600">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a:rPr lang="en-US" altLang="zh-CN" sz="1600">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index</m:t>
                        </m:r>
                      </m:e>
                      <m:sub>
                        <m:r>
                          <m:rPr>
                            <m:sty m:val="p"/>
                          </m:rPr>
                          <a:rPr lang="en-US" altLang="zh-CN" sz="1600">
                            <a:solidFill>
                              <a:srgbClr val="002060"/>
                            </a:solidFill>
                            <a:latin typeface="Cambria Math" panose="02040503050406030204" pitchFamily="18" charset="0"/>
                          </a:rPr>
                          <m:t>d</m:t>
                        </m:r>
                      </m:sub>
                    </m:sSub>
                    <m:r>
                      <a:rPr lang="en-US" altLang="zh-CN" sz="1600" i="1">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：将</a:t>
                </a:r>
                <a:r>
                  <a:rPr lang="en-US" altLang="zh-CN" sz="1600" dirty="0">
                    <a:solidFill>
                      <a:srgbClr val="002060"/>
                    </a:solidFill>
                    <a:latin typeface="Times New Roman" panose="02020603050405020304" pitchFamily="18" charset="0"/>
                    <a:cs typeface="Times New Roman" panose="02020603050405020304" pitchFamily="18" charset="0"/>
                  </a:rPr>
                  <a:t>e</a:t>
                </a:r>
                <a:r>
                  <a:rPr lang="zh-CN" altLang="zh-CN" sz="1600" dirty="0">
                    <a:solidFill>
                      <a:srgbClr val="002060"/>
                    </a:solidFill>
                    <a:latin typeface="Times New Roman" panose="02020603050405020304" pitchFamily="18" charset="0"/>
                    <a:cs typeface="Times New Roman" panose="02020603050405020304" pitchFamily="18" charset="0"/>
                  </a:rPr>
                  <a:t>赋给指定下标的元素</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DispArray</a:t>
                </a:r>
                <a:r>
                  <a:rPr lang="en-US" altLang="zh-CN" sz="1600" dirty="0">
                    <a:solidFill>
                      <a:srgbClr val="002060"/>
                    </a:solidFill>
                    <a:latin typeface="Times New Roman" panose="02020603050405020304" pitchFamily="18" charset="0"/>
                    <a:cs typeface="Times New Roman" panose="02020603050405020304" pitchFamily="18" charset="0"/>
                  </a:rPr>
                  <a:t>(a,</a:t>
                </a:r>
                <a14:m>
                  <m:oMath xmlns:m="http://schemas.openxmlformats.org/officeDocument/2006/math">
                    <m:r>
                      <a:rPr lang="en-US" altLang="zh-CN" sz="1600">
                        <a:solidFill>
                          <a:srgbClr val="002060"/>
                        </a:solidFill>
                        <a:latin typeface="Cambria Math" panose="02040503050406030204" pitchFamily="18" charset="0"/>
                      </a:rPr>
                      <m:t> </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a:rPr lang="en-US" altLang="zh-CN" sz="1600">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a:rPr lang="en-US" altLang="zh-CN" sz="1600">
                            <a:solidFill>
                              <a:srgbClr val="002060"/>
                            </a:solidFill>
                            <a:latin typeface="Cambria Math" panose="02040503050406030204" pitchFamily="18" charset="0"/>
                          </a:rPr>
                          <m:t>2</m:t>
                        </m:r>
                      </m:sub>
                    </m:sSub>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bound</m:t>
                        </m:r>
                      </m:e>
                      <m:sub>
                        <m:r>
                          <m:rPr>
                            <m:sty m:val="p"/>
                          </m:rPr>
                          <a:rPr lang="en-US" altLang="zh-CN" sz="1600">
                            <a:solidFill>
                              <a:srgbClr val="002060"/>
                            </a:solidFill>
                            <a:latin typeface="Cambria Math" panose="02040503050406030204" pitchFamily="18" charset="0"/>
                          </a:rPr>
                          <m:t>d</m:t>
                        </m:r>
                      </m:sub>
                    </m:sSub>
                    <m:r>
                      <a:rPr lang="en-US" altLang="zh-CN" sz="1600" i="1">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：输出</a:t>
                </a:r>
                <a:r>
                  <a:rPr lang="en-US" altLang="zh-CN" sz="1600" dirty="0">
                    <a:solidFill>
                      <a:srgbClr val="002060"/>
                    </a:solidFill>
                    <a:latin typeface="Times New Roman" panose="02020603050405020304" pitchFamily="18" charset="0"/>
                    <a:cs typeface="Times New Roman" panose="02020603050405020304" pitchFamily="18" charset="0"/>
                  </a:rPr>
                  <a:t>d</a:t>
                </a:r>
                <a:r>
                  <a:rPr lang="zh-CN" altLang="zh-CN" sz="1600" dirty="0">
                    <a:solidFill>
                      <a:srgbClr val="002060"/>
                    </a:solidFill>
                    <a:latin typeface="Times New Roman" panose="02020603050405020304" pitchFamily="18" charset="0"/>
                    <a:cs typeface="Times New Roman" panose="02020603050405020304" pitchFamily="18" charset="0"/>
                  </a:rPr>
                  <a:t>维数组的元素值</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}ADT Array</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467544" y="915566"/>
                <a:ext cx="8424936" cy="3507876"/>
              </a:xfrm>
              <a:blipFill>
                <a:blip r:embed="rId2"/>
                <a:stretch>
                  <a:fillRect l="-724" t="-694" b="-2778"/>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数组的类定义</a:t>
            </a:r>
          </a:p>
        </p:txBody>
      </p:sp>
    </p:spTree>
    <p:extLst>
      <p:ext uri="{BB962C8B-B14F-4D97-AF65-F5344CB8AC3E}">
        <p14:creationId xmlns:p14="http://schemas.microsoft.com/office/powerpoint/2010/main" val="42133072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856984" cy="3507876"/>
              </a:xfrm>
            </p:spPr>
            <p:txBody>
              <a:bodyPr/>
              <a:lstStyle/>
              <a:p>
                <a:pPr marL="0" indent="0" algn="just">
                  <a:lnSpc>
                    <a:spcPts val="23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从存储结构上看，数组的所有元素存储在一个地址连续的内存单元中。由于计算机的内存结构是一维的，因此用一维内存来表示多维数组，就必须按某种次序将数据元素排成一个序列，然后将这个序列存放在存储空间中。又由于数组只做存取元素和修改元素的操作，且数组是一种随机存取的线性结构。因此，一般都是采用顺序存储的方法来表示数组。</a:t>
                </a:r>
              </a:p>
              <a:p>
                <a:pPr marL="0" indent="0" algn="just">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在一维数组</a:t>
                </a:r>
                <a14:m>
                  <m:oMath xmlns:m="http://schemas.openxmlformats.org/officeDocument/2006/math">
                    <m:r>
                      <a:rPr lang="en-US" altLang="zh-CN" sz="1600" i="1">
                        <a:latin typeface="Cambria Math" panose="02040503050406030204" pitchFamily="18" charset="0"/>
                      </a:rPr>
                      <m:t>𝐴</m:t>
                    </m:r>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中，一旦第一个数组元素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m:t>
                        </m:r>
                      </m:sub>
                    </m:sSub>
                  </m:oMath>
                </a14:m>
                <a:r>
                  <a:rPr lang="zh-CN" altLang="zh-CN" sz="1600" dirty="0">
                    <a:latin typeface="Times New Roman" panose="02020603050405020304" pitchFamily="18" charset="0"/>
                    <a:cs typeface="Times New Roman" panose="02020603050405020304" pitchFamily="18" charset="0"/>
                  </a:rPr>
                  <a:t>的存储地址</a:t>
                </a:r>
                <a14:m>
                  <m:oMath xmlns:m="http://schemas.openxmlformats.org/officeDocument/2006/math">
                    <m:r>
                      <m:rPr>
                        <m:sty m:val="p"/>
                      </m:rPr>
                      <a:rPr lang="en-US" altLang="zh-CN" sz="1600">
                        <a:latin typeface="Cambria Math" panose="02040503050406030204" pitchFamily="18" charset="0"/>
                      </a:rPr>
                      <m:t>Loc</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确定后，且假设每个元素占用</a:t>
                </a:r>
                <a14:m>
                  <m:oMath xmlns:m="http://schemas.openxmlformats.org/officeDocument/2006/math">
                    <m:r>
                      <a:rPr lang="en-US" altLang="zh-CN" sz="1600" i="1">
                        <a:latin typeface="Cambria Math" panose="02040503050406030204" pitchFamily="18" charset="0"/>
                      </a:rPr>
                      <m:t>𝑙</m:t>
                    </m:r>
                  </m:oMath>
                </a14:m>
                <a:r>
                  <a:rPr lang="zh-CN" altLang="zh-CN" sz="1600" dirty="0">
                    <a:latin typeface="Times New Roman" panose="02020603050405020304" pitchFamily="18" charset="0"/>
                    <a:cs typeface="Times New Roman" panose="02020603050405020304" pitchFamily="18" charset="0"/>
                  </a:rPr>
                  <a:t>个字节，则任何一个元素的存储地址</a:t>
                </a:r>
                <a14:m>
                  <m:oMath xmlns:m="http://schemas.openxmlformats.org/officeDocument/2006/math">
                    <m:r>
                      <m:rPr>
                        <m:sty m:val="p"/>
                      </m:rPr>
                      <a:rPr lang="en-US" altLang="zh-CN" sz="1600">
                        <a:latin typeface="Cambria Math" panose="02040503050406030204" pitchFamily="18" charset="0"/>
                      </a:rPr>
                      <m:t>Loc</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可以下列公式计算：</a:t>
                </a:r>
              </a:p>
              <a:p>
                <a:pPr marL="0" indent="0" algn="just">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Loc</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e>
                      </m:d>
                      <m:r>
                        <a:rPr lang="en-US" altLang="zh-CN" sz="1600" i="1">
                          <a:latin typeface="Cambria Math" panose="02040503050406030204" pitchFamily="18" charset="0"/>
                        </a:rPr>
                        <m:t>=</m:t>
                      </m:r>
                      <m:r>
                        <m:rPr>
                          <m:sty m:val="p"/>
                        </m:rPr>
                        <a:rPr lang="en-US" altLang="zh-CN" sz="1600">
                          <a:latin typeface="Cambria Math" panose="02040503050406030204" pitchFamily="18" charset="0"/>
                        </a:rPr>
                        <m:t>Loc</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m:t>
                              </m:r>
                            </m:sub>
                          </m:sSub>
                        </m:e>
                      </m:d>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𝑙</m:t>
                      </m:r>
                      <m:r>
                        <a:rPr lang="en-US" altLang="zh-CN" sz="1600" b="0" i="0" smtClean="0">
                          <a:latin typeface="Cambria Math" panose="02040503050406030204" pitchFamily="18" charset="0"/>
                        </a:rPr>
                        <m:t>      </m:t>
                      </m:r>
                      <m:r>
                        <a:rPr lang="en-US" altLang="zh-CN" sz="1600">
                          <a:latin typeface="Cambria Math" panose="02040503050406030204" pitchFamily="18" charset="0"/>
                        </a:rPr>
                        <m:t>(</m:t>
                      </m:r>
                      <m:r>
                        <a:rPr lang="en-US" altLang="zh-CN" sz="1600" i="1">
                          <a:latin typeface="Cambria Math" panose="02040503050406030204" pitchFamily="18" charset="0"/>
                        </a:rPr>
                        <m:t>0</m:t>
                      </m:r>
                      <m:r>
                        <a:rPr lang="en-US" altLang="zh-CN" sz="1600">
                          <a:latin typeface="Cambria Math" panose="02040503050406030204" pitchFamily="18" charset="0"/>
                        </a:rPr>
                        <m:t>≤</m:t>
                      </m:r>
                      <m:r>
                        <a:rPr lang="en-US" altLang="zh-CN" sz="1600" i="1">
                          <a:latin typeface="Cambria Math" panose="02040503050406030204" pitchFamily="18" charset="0"/>
                        </a:rPr>
                        <m:t>𝑖</m:t>
                      </m:r>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a:latin typeface="Cambria Math" panose="02040503050406030204" pitchFamily="18" charset="0"/>
                        </a:rPr>
                        <m:t>1)</m:t>
                      </m:r>
                    </m:oMath>
                  </m:oMathPara>
                </a14:m>
                <a:endParaRPr lang="zh-CN" altLang="zh-CN" sz="1600" dirty="0">
                  <a:latin typeface="Times New Roman" panose="02020603050405020304" pitchFamily="18" charset="0"/>
                  <a:cs typeface="Times New Roman" panose="02020603050405020304" pitchFamily="18" charset="0"/>
                </a:endParaRP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856984" cy="3507876"/>
              </a:xfrm>
              <a:blipFill>
                <a:blip r:embed="rId2"/>
                <a:stretch>
                  <a:fillRect l="-619" t="-522" r="-619"/>
                </a:stretch>
              </a:blipFill>
            </p:spPr>
            <p:txBody>
              <a:bodyPr/>
              <a:lstStyle/>
              <a:p>
                <a:r>
                  <a:rPr lang="zh-CN" altLang="en-US">
                    <a:noFill/>
                  </a:rPr>
                  <a:t> </a:t>
                </a:r>
              </a:p>
            </p:txBody>
          </p:sp>
        </mc:Fallback>
      </mc:AlternateContent>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数组的存储结构</a:t>
            </a:r>
          </a:p>
        </p:txBody>
      </p:sp>
    </p:spTree>
    <p:extLst>
      <p:ext uri="{BB962C8B-B14F-4D97-AF65-F5344CB8AC3E}">
        <p14:creationId xmlns:p14="http://schemas.microsoft.com/office/powerpoint/2010/main" val="3778506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43000" y="843558"/>
                <a:ext cx="9001000" cy="3507876"/>
              </a:xfrm>
            </p:spPr>
            <p:txBody>
              <a:bodyPr/>
              <a:lstStyle/>
              <a:p>
                <a:pPr marL="0" indent="0">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对于一个二维数组</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m</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，记</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𝑛</m:t>
                        </m:r>
                      </m:sub>
                    </m:sSub>
                  </m:oMath>
                </a14:m>
                <a:r>
                  <a:rPr lang="zh-CN" altLang="zh-CN" sz="1600" dirty="0">
                    <a:latin typeface="Times New Roman" panose="02020603050405020304" pitchFamily="18" charset="0"/>
                    <a:cs typeface="Times New Roman" panose="02020603050405020304" pitchFamily="18" charset="0"/>
                  </a:rPr>
                  <a:t>，用矩阵表示如下：</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𝑚</m:t>
                          </m:r>
                          <m:r>
                            <a:rPr lang="en-US" altLang="zh-CN" sz="1800" i="1">
                              <a:latin typeface="Cambria Math" panose="02040503050406030204" pitchFamily="18" charset="0"/>
                            </a:rPr>
                            <m:t>×</m:t>
                          </m:r>
                          <m:r>
                            <a:rPr lang="en-US" altLang="zh-CN" sz="1800" i="1">
                              <a:latin typeface="Cambria Math" panose="02040503050406030204" pitchFamily="18" charset="0"/>
                            </a:rPr>
                            <m:t>𝑛</m:t>
                          </m:r>
                        </m:sub>
                      </m:sSub>
                      <m:r>
                        <a:rPr lang="en-US" altLang="zh-CN" sz="1800" i="1">
                          <a:latin typeface="Cambria Math" panose="02040503050406030204" pitchFamily="18" charset="0"/>
                        </a:rPr>
                        <m:t>=</m:t>
                      </m:r>
                      <m:d>
                        <m:dPr>
                          <m:begChr m:val="["/>
                          <m:endChr m:val="]"/>
                          <m:ctrlPr>
                            <a:rPr lang="zh-CN" altLang="zh-CN" sz="1800" i="1">
                              <a:latin typeface="Cambria Math" panose="02040503050406030204" pitchFamily="18" charset="0"/>
                            </a:rPr>
                          </m:ctrlPr>
                        </m:dPr>
                        <m:e>
                          <m:eqArr>
                            <m:eqArrPr>
                              <m:ctrlPr>
                                <a:rPr lang="zh-CN" altLang="zh-CN" sz="1800" i="1">
                                  <a:latin typeface="Cambria Math" panose="02040503050406030204" pitchFamily="18" charset="0"/>
                                </a:rPr>
                              </m:ctrlPr>
                            </m:eqArr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00</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01</m:t>
                                  </m:r>
                                </m:sub>
                              </m:sSub>
                              <m:r>
                                <a:rPr lang="en-US" altLang="zh-CN" sz="1800" i="1">
                                  <a:latin typeface="Cambria Math" panose="02040503050406030204" pitchFamily="18" charset="0"/>
                                </a:rPr>
                                <m:t>    ⋯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0</m:t>
                                  </m:r>
                                  <m:r>
                                    <a:rPr lang="en-US" altLang="zh-CN" sz="1800" i="1">
                                      <a:latin typeface="Cambria Math" panose="02040503050406030204" pitchFamily="18" charset="0"/>
                                    </a:rPr>
                                    <m:t>𝑛</m:t>
                                  </m:r>
                                  <m:r>
                                    <a:rPr lang="en-US" altLang="zh-CN" sz="1800" i="1">
                                      <a:latin typeface="Cambria Math" panose="02040503050406030204" pitchFamily="18" charset="0"/>
                                    </a:rPr>
                                    <m:t>−1</m:t>
                                  </m:r>
                                </m:sub>
                              </m:sSub>
                            </m:e>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10</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11</m:t>
                                  </m:r>
                                </m:sub>
                              </m:sSub>
                              <m:r>
                                <a:rPr lang="en-US" altLang="zh-CN" sz="1800" i="1">
                                  <a:latin typeface="Cambria Math" panose="02040503050406030204" pitchFamily="18" charset="0"/>
                                </a:rPr>
                                <m:t>     ⋯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r>
                                    <a:rPr lang="en-US" altLang="zh-CN" sz="1800" i="1">
                                      <a:latin typeface="Cambria Math" panose="02040503050406030204" pitchFamily="18" charset="0"/>
                                    </a:rPr>
                                    <m:t>𝑛</m:t>
                                  </m:r>
                                  <m:r>
                                    <a:rPr lang="en-US" altLang="zh-CN" sz="1800" i="1">
                                      <a:latin typeface="Cambria Math" panose="02040503050406030204" pitchFamily="18" charset="0"/>
                                    </a:rPr>
                                    <m:t>−1</m:t>
                                  </m:r>
                                </m:sub>
                              </m:sSub>
                            </m:e>
                            <m:e>
                              <m:r>
                                <a:rPr lang="en-US" altLang="zh-CN" sz="1800" i="1">
                                  <a:latin typeface="Cambria Math" panose="02040503050406030204" pitchFamily="18" charset="0"/>
                                </a:rPr>
                                <m:t> ⋮              ⋮          ⋮         ⋮    </m:t>
                              </m:r>
                            </m:e>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  </m:t>
                                  </m:r>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−10</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−11</m:t>
                                  </m:r>
                                </m:sub>
                              </m:sSub>
                              <m:r>
                                <a:rPr lang="en-US" altLang="zh-CN" sz="1800" i="1">
                                  <a:latin typeface="Cambria Math" panose="02040503050406030204" pitchFamily="18" charset="0"/>
                                </a:rPr>
                                <m:t>  ⋯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−1</m:t>
                                  </m:r>
                                  <m:r>
                                    <a:rPr lang="en-US" altLang="zh-CN" sz="1800" i="1">
                                      <a:latin typeface="Cambria Math" panose="02040503050406030204" pitchFamily="18" charset="0"/>
                                    </a:rPr>
                                    <m:t>𝑛</m:t>
                                  </m:r>
                                  <m:r>
                                    <a:rPr lang="en-US" altLang="zh-CN" sz="1800" i="1">
                                      <a:latin typeface="Cambria Math" panose="02040503050406030204" pitchFamily="18" charset="0"/>
                                    </a:rPr>
                                    <m:t>−1</m:t>
                                  </m:r>
                                </m:sub>
                              </m:sSub>
                            </m:e>
                          </m:eqArr>
                        </m:e>
                      </m:d>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简记为</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，根据二维数组的定义，</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可以理解为如下的一维数组：</a:t>
                </a: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A</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−1</m:t>
                          </m:r>
                        </m:sub>
                      </m:sSub>
                      <m:r>
                        <a:rPr lang="en-US" altLang="zh-CN" sz="1800" i="1">
                          <a:latin typeface="Cambria Math" panose="020405030504060302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i="1">
                            <a:latin typeface="Cambria Math" panose="02040503050406030204" pitchFamily="18" charset="0"/>
                          </a:rPr>
                          <m:t>𝑖</m:t>
                        </m:r>
                        <m:r>
                          <a:rPr lang="en-US" altLang="zh-CN" sz="1600" i="1">
                            <a:latin typeface="Cambria Math" panose="02040503050406030204" pitchFamily="18" charset="0"/>
                          </a:rPr>
                          <m:t>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 ⋯, </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𝑖𝑛</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b="0" i="1" smtClean="0">
                        <a:latin typeface="Cambria Math" panose="02040503050406030204" pitchFamily="18" charset="0"/>
                      </a:rPr>
                      <m:t>      </m:t>
                    </m:r>
                    <m:r>
                      <a:rPr lang="en-US" altLang="zh-CN" sz="1600" i="1">
                        <a:latin typeface="Cambria Math" panose="02040503050406030204" pitchFamily="18" charset="0"/>
                      </a:rPr>
                      <m:t>(0≤</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𝑚</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a:t>
                </a:r>
              </a:p>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或</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A</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𝑗</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𝑛</m:t>
                          </m:r>
                          <m:r>
                            <a:rPr lang="en-US" altLang="zh-CN" sz="1800" i="1">
                              <a:latin typeface="Cambria Math" panose="02040503050406030204" pitchFamily="18" charset="0"/>
                            </a:rPr>
                            <m:t>−1</m:t>
                          </m:r>
                        </m:sub>
                      </m:sSub>
                      <m:r>
                        <a:rPr lang="en-US" altLang="zh-CN" sz="1800" i="1">
                          <a:latin typeface="Cambria Math" panose="020405030504060302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𝑗</m:t>
                        </m:r>
                      </m:sub>
                    </m:sSub>
                    <m:r>
                      <a:rPr lang="en-US" altLang="zh-CN" sz="1800" i="1">
                        <a:latin typeface="Cambria Math" panose="02040503050406030204" pitchFamily="18" charset="0"/>
                      </a:rPr>
                      <m:t>=</m:t>
                    </m:r>
                    <m:d>
                      <m:dPr>
                        <m:ctrlPr>
                          <a:rPr lang="zh-CN" altLang="zh-CN" sz="1800" i="1">
                            <a:latin typeface="Cambria Math" panose="02040503050406030204" pitchFamily="18" charset="0"/>
                          </a:rPr>
                        </m:ctrlPr>
                      </m:dPr>
                      <m:e>
                        <m:eqArr>
                          <m:eqArrPr>
                            <m:ctrlPr>
                              <a:rPr lang="zh-CN" altLang="zh-CN" sz="1800" i="1">
                                <a:latin typeface="Cambria Math" panose="02040503050406030204" pitchFamily="18" charset="0"/>
                              </a:rPr>
                            </m:ctrlPr>
                          </m:eqArr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0</m:t>
                                </m:r>
                                <m:r>
                                  <a:rPr lang="en-US" altLang="zh-CN" sz="1800" i="1">
                                    <a:latin typeface="Cambria Math" panose="02040503050406030204" pitchFamily="18" charset="0"/>
                                  </a:rPr>
                                  <m:t>𝑗</m:t>
                                </m:r>
                              </m:sub>
                            </m:sSub>
                          </m:e>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r>
                                  <a:rPr lang="en-US" altLang="zh-CN" sz="1800" i="1">
                                    <a:latin typeface="Cambria Math" panose="02040503050406030204" pitchFamily="18" charset="0"/>
                                  </a:rPr>
                                  <m:t>𝑗</m:t>
                                </m:r>
                              </m:sub>
                            </m:sSub>
                          </m:e>
                          <m:e>
                            <m:r>
                              <a:rPr lang="en-US" altLang="zh-CN" sz="1800" i="1">
                                <a:latin typeface="Cambria Math" panose="02040503050406030204" pitchFamily="18" charset="0"/>
                              </a:rPr>
                              <m:t>⋮</m:t>
                            </m:r>
                          </m:e>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−1</m:t>
                                </m:r>
                                <m:r>
                                  <a:rPr lang="en-US" altLang="zh-CN" sz="1800" i="1">
                                    <a:latin typeface="Cambria Math" panose="02040503050406030204" pitchFamily="18" charset="0"/>
                                  </a:rPr>
                                  <m:t>𝑗</m:t>
                                </m:r>
                              </m:sub>
                            </m:sSub>
                          </m:e>
                        </m:eqArr>
                      </m:e>
                    </m:d>
                    <m:r>
                      <a:rPr lang="en-US" altLang="zh-CN" sz="1800" b="0" i="1" smtClean="0">
                        <a:latin typeface="Cambria Math" panose="02040503050406030204" pitchFamily="18" charset="0"/>
                      </a:rPr>
                      <m:t>       </m:t>
                    </m:r>
                    <m:r>
                      <a:rPr lang="en-US" altLang="zh-CN" sz="1800" i="1">
                        <a:latin typeface="Cambria Math" panose="02040503050406030204" pitchFamily="18" charset="0"/>
                      </a:rPr>
                      <m:t>(0≤</m:t>
                    </m:r>
                    <m:r>
                      <a:rPr lang="en-US" altLang="zh-CN" sz="1800" i="1">
                        <a:latin typeface="Cambria Math" panose="02040503050406030204" pitchFamily="18" charset="0"/>
                      </a:rPr>
                      <m:t>𝑗</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a:t>
                </a:r>
              </a:p>
              <a:p>
                <a:pPr>
                  <a:lnSpc>
                    <a:spcPts val="22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43000" y="843558"/>
                <a:ext cx="9001000" cy="3507876"/>
              </a:xfrm>
              <a:blipFill>
                <a:blip r:embed="rId2"/>
                <a:stretch>
                  <a:fillRect l="-609" b="-11979"/>
                </a:stretch>
              </a:blipFill>
            </p:spPr>
            <p:txBody>
              <a:bodyPr/>
              <a:lstStyle/>
              <a:p>
                <a:r>
                  <a:rPr lang="zh-CN" altLang="en-US">
                    <a:noFill/>
                  </a:rPr>
                  <a:t> </a:t>
                </a:r>
              </a:p>
            </p:txBody>
          </p:sp>
        </mc:Fallback>
      </mc:AlternateContent>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数组的存储结构</a:t>
            </a:r>
          </a:p>
        </p:txBody>
      </p:sp>
    </p:spTree>
    <p:extLst>
      <p:ext uri="{BB962C8B-B14F-4D97-AF65-F5344CB8AC3E}">
        <p14:creationId xmlns:p14="http://schemas.microsoft.com/office/powerpoint/2010/main" val="38471628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496" y="915566"/>
                <a:ext cx="5976664" cy="3507876"/>
              </a:xfrm>
            </p:spPr>
            <p:txBody>
              <a:bodyPr/>
              <a:lstStyle/>
              <a:p>
                <a:pPr marL="0" indent="0" algn="just">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根据存储方式的不同，顺序存储方法分为如下两类：</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）按行优先顺序存储：以行序为主序的存储方式。将数据元素按行排列，第</a:t>
                </a:r>
                <a14:m>
                  <m:oMath xmlns:m="http://schemas.openxmlformats.org/officeDocument/2006/math">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oMath>
                </a14:m>
                <a:r>
                  <a:rPr lang="zh-CN" altLang="zh-CN" sz="1600" dirty="0">
                    <a:solidFill>
                      <a:srgbClr val="002060"/>
                    </a:solidFill>
                    <a:latin typeface="Times New Roman" panose="02020603050405020304" pitchFamily="18" charset="0"/>
                    <a:cs typeface="Times New Roman" panose="02020603050405020304" pitchFamily="18" charset="0"/>
                  </a:rPr>
                  <a:t>个行向量紧接在第</a:t>
                </a:r>
                <a14:m>
                  <m:oMath xmlns:m="http://schemas.openxmlformats.org/officeDocument/2006/math">
                    <m:r>
                      <a:rPr lang="en-US" altLang="zh-CN" sz="1600" i="1">
                        <a:solidFill>
                          <a:srgbClr val="002060"/>
                        </a:solidFill>
                        <a:latin typeface="Cambria Math" panose="02040503050406030204" pitchFamily="18" charset="0"/>
                      </a:rPr>
                      <m:t>𝑖</m:t>
                    </m:r>
                  </m:oMath>
                </a14:m>
                <a:r>
                  <a:rPr lang="zh-CN" altLang="zh-CN" sz="1600" dirty="0">
                    <a:solidFill>
                      <a:srgbClr val="002060"/>
                    </a:solidFill>
                    <a:latin typeface="Times New Roman" panose="02020603050405020304" pitchFamily="18" charset="0"/>
                    <a:cs typeface="Times New Roman" panose="02020603050405020304" pitchFamily="18" charset="0"/>
                  </a:rPr>
                  <a:t>个行向量后面。以二维数组</a:t>
                </a:r>
                <a14:m>
                  <m:oMath xmlns:m="http://schemas.openxmlformats.org/officeDocument/2006/math">
                    <m:r>
                      <m:rPr>
                        <m:sty m:val="p"/>
                      </m:rPr>
                      <a:rPr lang="en-US" altLang="zh-CN" sz="1600">
                        <a:solidFill>
                          <a:srgbClr val="002060"/>
                        </a:solidFill>
                        <a:latin typeface="Cambria Math" panose="02040503050406030204" pitchFamily="18" charset="0"/>
                      </a:rPr>
                      <m:t>A</m:t>
                    </m:r>
                  </m:oMath>
                </a14:m>
                <a:r>
                  <a:rPr lang="zh-CN" altLang="zh-CN" sz="1600" dirty="0">
                    <a:solidFill>
                      <a:srgbClr val="002060"/>
                    </a:solidFill>
                    <a:latin typeface="Times New Roman" panose="02020603050405020304" pitchFamily="18" charset="0"/>
                    <a:cs typeface="Times New Roman" panose="02020603050405020304" pitchFamily="18" charset="0"/>
                  </a:rPr>
                  <a:t>为例，按行优先顺序存储的线性序列为：</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00</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01</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0</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10</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11</m:t>
                        </m:r>
                      </m:sub>
                    </m:sSub>
                    <m:r>
                      <a:rPr lang="en-US" altLang="zh-CN" sz="1600" i="1">
                        <a:solidFill>
                          <a:srgbClr val="002060"/>
                        </a:solidFill>
                        <a:latin typeface="Cambria Math" panose="02040503050406030204" pitchFamily="18" charset="0"/>
                      </a:rPr>
                      <m:t>, ⋯,</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𝑚</m:t>
                        </m:r>
                        <m:r>
                          <a:rPr lang="en-US" altLang="zh-CN" sz="1600" i="1">
                            <a:solidFill>
                              <a:srgbClr val="002060"/>
                            </a:solidFill>
                            <a:latin typeface="Cambria Math" panose="02040503050406030204" pitchFamily="18" charset="0"/>
                          </a:rPr>
                          <m:t>−10</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𝑚</m:t>
                        </m:r>
                        <m:r>
                          <a:rPr lang="en-US" altLang="zh-CN" sz="1600" i="1">
                            <a:solidFill>
                              <a:srgbClr val="002060"/>
                            </a:solidFill>
                            <a:latin typeface="Cambria Math" panose="02040503050406030204" pitchFamily="18" charset="0"/>
                          </a:rPr>
                          <m:t>−11</m:t>
                        </m:r>
                      </m:sub>
                    </m:sSub>
                    <m:r>
                      <a:rPr lang="en-US" altLang="zh-CN" sz="1600" i="1">
                        <a:solidFill>
                          <a:srgbClr val="002060"/>
                        </a:solidFill>
                        <a:latin typeface="Cambria Math" panose="02040503050406030204" pitchFamily="18" charset="0"/>
                      </a:rPr>
                      <m:t>,⋯, </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𝑚</m:t>
                        </m:r>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oMath>
                </a14:m>
                <a:r>
                  <a:rPr lang="zh-CN" altLang="zh-CN" sz="1600" dirty="0">
                    <a:solidFill>
                      <a:srgbClr val="002060"/>
                    </a:solidFill>
                    <a:latin typeface="Times New Roman" panose="02020603050405020304" pitchFamily="18" charset="0"/>
                    <a:cs typeface="Times New Roman" panose="02020603050405020304" pitchFamily="18" charset="0"/>
                  </a:rPr>
                  <a:t>。在内存中的存储方式如图</a:t>
                </a:r>
                <a:r>
                  <a:rPr lang="en-US" altLang="zh-CN" sz="1600" dirty="0">
                    <a:solidFill>
                      <a:srgbClr val="002060"/>
                    </a:solidFill>
                    <a:latin typeface="Times New Roman" panose="02020603050405020304" pitchFamily="18" charset="0"/>
                    <a:cs typeface="Times New Roman" panose="02020603050405020304" pitchFamily="18" charset="0"/>
                  </a:rPr>
                  <a:t>(a)</a:t>
                </a:r>
                <a:r>
                  <a:rPr lang="zh-CN" altLang="zh-CN" sz="1600" dirty="0">
                    <a:solidFill>
                      <a:srgbClr val="002060"/>
                    </a:solidFill>
                    <a:latin typeface="Times New Roman" panose="02020603050405020304" pitchFamily="18" charset="0"/>
                    <a:cs typeface="Times New Roman" panose="02020603050405020304" pitchFamily="18" charset="0"/>
                  </a:rPr>
                  <a:t>所示。</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）按列优先顺序存储：以列序为主序的存储方式。将数据元素按列排列，第</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个列向量紧接在第</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个列向量之后，以二维数组</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为例，按列优先顺序存储的线性序列为：</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r>
                          <a:rPr lang="en-US" altLang="zh-CN" sz="1600" i="1">
                            <a:latin typeface="Cambria Math" panose="02040503050406030204" pitchFamily="18" charset="0"/>
                          </a:rPr>
                          <m:t>−10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11</m:t>
                        </m:r>
                      </m:sub>
                    </m:sSub>
                    <m:r>
                      <a:rPr lang="en-US" altLang="zh-CN" sz="1600" i="1">
                        <a:latin typeface="Cambria Math" panose="02040503050406030204" pitchFamily="18" charset="0"/>
                      </a:rPr>
                      <m:t>, ⋯,</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r>
                          <a:rPr lang="en-US" altLang="zh-CN" sz="1600" i="1">
                            <a:latin typeface="Cambria Math" panose="02040503050406030204" pitchFamily="18" charset="0"/>
                          </a:rPr>
                          <m:t>−11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i="1">
                            <a:latin typeface="Cambria Math" panose="02040503050406030204" pitchFamily="18" charset="0"/>
                          </a:rPr>
                          <m:t>0</m:t>
                        </m:r>
                        <m:r>
                          <a:rPr lang="en-US" altLang="zh-CN" sz="1600" i="1">
                            <a:latin typeface="Cambria Math" panose="02040503050406030204" pitchFamily="18" charset="0"/>
                          </a:rPr>
                          <m:t>𝑛</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r>
                          <a:rPr lang="en-US" altLang="zh-CN" sz="1600" i="1">
                            <a:latin typeface="Cambria Math" panose="02040503050406030204" pitchFamily="18" charset="0"/>
                          </a:rPr>
                          <m:t>𝑛</m:t>
                        </m:r>
                        <m:r>
                          <a:rPr lang="en-US" altLang="zh-CN" sz="1600" i="1">
                            <a:latin typeface="Cambria Math" panose="02040503050406030204" pitchFamily="18" charset="0"/>
                          </a:rPr>
                          <m:t>−1</m:t>
                        </m:r>
                      </m:sub>
                    </m:sSub>
                    <m:r>
                      <a:rPr lang="en-US" altLang="zh-CN" sz="1600" i="1">
                        <a:latin typeface="Cambria Math" panose="02040503050406030204" pitchFamily="18" charset="0"/>
                      </a:rPr>
                      <m:t>,⋯, </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r>
                          <a:rPr lang="en-US" altLang="zh-CN" sz="1600" i="1">
                            <a:latin typeface="Cambria Math" panose="02040503050406030204" pitchFamily="18" charset="0"/>
                          </a:rPr>
                          <m:t>−1</m:t>
                        </m:r>
                        <m:r>
                          <a:rPr lang="en-US" altLang="zh-CN" sz="1600" i="1">
                            <a:latin typeface="Cambria Math" panose="02040503050406030204" pitchFamily="18" charset="0"/>
                          </a:rPr>
                          <m:t>𝑛</m:t>
                        </m:r>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。在内存中的存储方式如图</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所示。</a:t>
                </a:r>
              </a:p>
              <a:p>
                <a:pPr marL="0" indent="0" algn="just">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496" y="915566"/>
                <a:ext cx="5976664" cy="3507876"/>
              </a:xfrm>
              <a:blipFill>
                <a:blip r:embed="rId2"/>
                <a:stretch>
                  <a:fillRect l="-918" t="-868" r="-4388"/>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6548295" y="627534"/>
            <a:ext cx="864096" cy="3745897"/>
          </a:xfrm>
          <a:prstGeom prst="rect">
            <a:avLst/>
          </a:prstGeom>
        </p:spPr>
      </p:pic>
      <p:pic>
        <p:nvPicPr>
          <p:cNvPr id="7" name="图片 6"/>
          <p:cNvPicPr>
            <a:picLocks noChangeAspect="1"/>
          </p:cNvPicPr>
          <p:nvPr/>
        </p:nvPicPr>
        <p:blipFill>
          <a:blip r:embed="rId4"/>
          <a:stretch>
            <a:fillRect/>
          </a:stretch>
        </p:blipFill>
        <p:spPr>
          <a:xfrm>
            <a:off x="7596336" y="721535"/>
            <a:ext cx="818280" cy="3651896"/>
          </a:xfrm>
          <a:prstGeom prst="rect">
            <a:avLst/>
          </a:prstGeom>
        </p:spPr>
      </p:pic>
      <p:sp>
        <p:nvSpPr>
          <p:cNvPr id="8" name="文本框 7"/>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数组的存储结构</a:t>
            </a:r>
          </a:p>
        </p:txBody>
      </p:sp>
    </p:spTree>
    <p:extLst>
      <p:ext uri="{BB962C8B-B14F-4D97-AF65-F5344CB8AC3E}">
        <p14:creationId xmlns:p14="http://schemas.microsoft.com/office/powerpoint/2010/main" val="12778346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3507876"/>
              </a:xfrm>
            </p:spPr>
            <p:txBody>
              <a:bodyPr/>
              <a:lstStyle/>
              <a:p>
                <a:pPr marL="0" indent="0" algn="just">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在二维数组</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m</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中，一旦第一个数组元素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00</m:t>
                        </m:r>
                      </m:sub>
                    </m:sSub>
                  </m:oMath>
                </a14:m>
                <a:r>
                  <a:rPr lang="zh-CN" altLang="zh-CN" sz="1600" dirty="0">
                    <a:latin typeface="Times New Roman" panose="02020603050405020304" pitchFamily="18" charset="0"/>
                    <a:cs typeface="Times New Roman" panose="02020603050405020304" pitchFamily="18" charset="0"/>
                  </a:rPr>
                  <a:t>的存储地址</a:t>
                </a:r>
                <a14:m>
                  <m:oMath xmlns:m="http://schemas.openxmlformats.org/officeDocument/2006/math">
                    <m:r>
                      <m:rPr>
                        <m:sty m:val="p"/>
                      </m:rPr>
                      <a:rPr lang="en-US" altLang="zh-CN" sz="1600">
                        <a:latin typeface="Cambria Math" panose="02040503050406030204" pitchFamily="18" charset="0"/>
                      </a:rPr>
                      <m:t>Loc</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00</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确定后，且假设每个元素占用</a:t>
                </a:r>
                <a14:m>
                  <m:oMath xmlns:m="http://schemas.openxmlformats.org/officeDocument/2006/math">
                    <m:r>
                      <a:rPr lang="en-US" altLang="zh-CN" sz="1600" i="1">
                        <a:latin typeface="Cambria Math" panose="02040503050406030204" pitchFamily="18" charset="0"/>
                      </a:rPr>
                      <m:t>𝑙</m:t>
                    </m:r>
                  </m:oMath>
                </a14:m>
                <a:r>
                  <a:rPr lang="zh-CN" altLang="zh-CN" sz="1600" dirty="0">
                    <a:latin typeface="Times New Roman" panose="02020603050405020304" pitchFamily="18" charset="0"/>
                    <a:cs typeface="Times New Roman" panose="02020603050405020304" pitchFamily="18" charset="0"/>
                  </a:rPr>
                  <a:t>个字节，则任何一个元素的按行存储的地址</a:t>
                </a:r>
                <a14:m>
                  <m:oMath xmlns:m="http://schemas.openxmlformats.org/officeDocument/2006/math">
                    <m:r>
                      <m:rPr>
                        <m:sty m:val="p"/>
                      </m:rPr>
                      <a:rPr lang="en-US" altLang="zh-CN" sz="1600">
                        <a:latin typeface="Cambria Math" panose="02040503050406030204" pitchFamily="18" charset="0"/>
                      </a:rPr>
                      <m:t>Loc</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可以下列公式计算：</a:t>
                </a: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smtClean="0">
                          <a:solidFill>
                            <a:srgbClr val="7030A0"/>
                          </a:solidFill>
                          <a:latin typeface="Cambria Math" panose="02040503050406030204" pitchFamily="18" charset="0"/>
                        </a:rPr>
                        <m:t>Loc</m:t>
                      </m:r>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𝑎</m:t>
                          </m:r>
                        </m:e>
                        <m:sub>
                          <m:r>
                            <a:rPr lang="en-US" altLang="zh-CN" sz="1800" i="1">
                              <a:solidFill>
                                <a:srgbClr val="7030A0"/>
                              </a:solidFill>
                              <a:latin typeface="Cambria Math" panose="02040503050406030204" pitchFamily="18" charset="0"/>
                            </a:rPr>
                            <m:t>𝑖𝑗</m:t>
                          </m:r>
                        </m:sub>
                      </m:sSub>
                      <m:r>
                        <a:rPr lang="en-US" altLang="zh-CN" sz="1800" i="1">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Loc</m:t>
                      </m:r>
                      <m:d>
                        <m:dPr>
                          <m:ctrlPr>
                            <a:rPr lang="zh-CN" altLang="zh-CN" sz="1800" i="1">
                              <a:solidFill>
                                <a:srgbClr val="7030A0"/>
                              </a:solidFill>
                              <a:latin typeface="Cambria Math" panose="02040503050406030204" pitchFamily="18" charset="0"/>
                            </a:rPr>
                          </m:ctrlPr>
                        </m:dPr>
                        <m:e>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𝑎</m:t>
                              </m:r>
                            </m:e>
                            <m:sub>
                              <m:r>
                                <a:rPr lang="en-US" altLang="zh-CN" sz="1800" i="1">
                                  <a:solidFill>
                                    <a:srgbClr val="7030A0"/>
                                  </a:solidFill>
                                  <a:latin typeface="Cambria Math" panose="02040503050406030204" pitchFamily="18" charset="0"/>
                                </a:rPr>
                                <m:t>00</m:t>
                              </m:r>
                            </m:sub>
                          </m:sSub>
                        </m:e>
                      </m:d>
                      <m:r>
                        <a:rPr lang="en-US" altLang="zh-CN" sz="1800" i="1">
                          <a:solidFill>
                            <a:srgbClr val="7030A0"/>
                          </a:solidFill>
                          <a:latin typeface="Cambria Math" panose="02040503050406030204" pitchFamily="18" charset="0"/>
                        </a:rPr>
                        <m:t>+</m:t>
                      </m:r>
                      <m:d>
                        <m:dPr>
                          <m:ctrlPr>
                            <a:rPr lang="zh-CN" altLang="zh-CN" sz="1800" i="1">
                              <a:solidFill>
                                <a:srgbClr val="7030A0"/>
                              </a:solidFill>
                              <a:latin typeface="Cambria Math" panose="02040503050406030204" pitchFamily="18" charset="0"/>
                            </a:rPr>
                          </m:ctrlPr>
                        </m:dPr>
                        <m:e>
                          <m:r>
                            <m:rPr>
                              <m:sty m:val="p"/>
                            </m:rPr>
                            <a:rPr lang="en-US" altLang="zh-CN" sz="1800">
                              <a:solidFill>
                                <a:srgbClr val="7030A0"/>
                              </a:solidFill>
                              <a:latin typeface="Cambria Math" panose="02040503050406030204" pitchFamily="18" charset="0"/>
                            </a:rPr>
                            <m:t>i</m:t>
                          </m:r>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n</m:t>
                          </m:r>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j</m:t>
                          </m:r>
                        </m:e>
                      </m:d>
                      <m:r>
                        <a:rPr lang="en-US" altLang="zh-CN" sz="1800">
                          <a:solidFill>
                            <a:srgbClr val="7030A0"/>
                          </a:solidFill>
                          <a:latin typeface="Cambria Math" panose="02040503050406030204" pitchFamily="18" charset="0"/>
                        </a:rPr>
                        <m:t>×</m:t>
                      </m:r>
                      <m:r>
                        <a:rPr lang="en-US" altLang="zh-CN" sz="1800" i="1">
                          <a:solidFill>
                            <a:srgbClr val="7030A0"/>
                          </a:solidFill>
                          <a:latin typeface="Cambria Math" panose="02040503050406030204" pitchFamily="18" charset="0"/>
                        </a:rPr>
                        <m:t>𝑙</m:t>
                      </m:r>
                      <m:r>
                        <a:rPr lang="en-US" altLang="zh-CN" sz="1800" i="1">
                          <a:solidFill>
                            <a:srgbClr val="7030A0"/>
                          </a:solidFill>
                          <a:latin typeface="Cambria Math" panose="02040503050406030204" pitchFamily="18" charset="0"/>
                        </a:rPr>
                        <m:t>    </m:t>
                      </m:r>
                      <m:r>
                        <a:rPr lang="en-US" altLang="zh-CN" sz="1800">
                          <a:solidFill>
                            <a:srgbClr val="7030A0"/>
                          </a:solidFill>
                          <a:latin typeface="Cambria Math" panose="02040503050406030204" pitchFamily="18" charset="0"/>
                        </a:rPr>
                        <m:t>(0≤</m:t>
                      </m:r>
                      <m:r>
                        <m:rPr>
                          <m:sty m:val="p"/>
                        </m:rPr>
                        <a:rPr lang="en-US" altLang="zh-CN" sz="1800">
                          <a:solidFill>
                            <a:srgbClr val="7030A0"/>
                          </a:solidFill>
                          <a:latin typeface="Cambria Math" panose="02040503050406030204" pitchFamily="18" charset="0"/>
                        </a:rPr>
                        <m:t>i</m:t>
                      </m:r>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m</m:t>
                      </m:r>
                      <m:r>
                        <a:rPr lang="en-US" altLang="zh-CN" sz="1800" i="1">
                          <a:solidFill>
                            <a:srgbClr val="7030A0"/>
                          </a:solidFill>
                          <a:latin typeface="Cambria Math" panose="02040503050406030204" pitchFamily="18" charset="0"/>
                        </a:rPr>
                        <m:t>−</m:t>
                      </m:r>
                      <m:r>
                        <a:rPr lang="en-US" altLang="zh-CN" sz="1800">
                          <a:solidFill>
                            <a:srgbClr val="7030A0"/>
                          </a:solidFill>
                          <a:latin typeface="Cambria Math" panose="02040503050406030204" pitchFamily="18" charset="0"/>
                        </a:rPr>
                        <m:t>1,0≤</m:t>
                      </m:r>
                      <m:r>
                        <m:rPr>
                          <m:sty m:val="p"/>
                        </m:rPr>
                        <a:rPr lang="en-US" altLang="zh-CN" sz="1800">
                          <a:solidFill>
                            <a:srgbClr val="7030A0"/>
                          </a:solidFill>
                          <a:latin typeface="Cambria Math" panose="02040503050406030204" pitchFamily="18" charset="0"/>
                        </a:rPr>
                        <m:t>j</m:t>
                      </m:r>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n</m:t>
                      </m:r>
                      <m:r>
                        <a:rPr lang="en-US" altLang="zh-CN" sz="1800" i="1">
                          <a:solidFill>
                            <a:srgbClr val="7030A0"/>
                          </a:solidFill>
                          <a:latin typeface="Cambria Math" panose="02040503050406030204" pitchFamily="18" charset="0"/>
                        </a:rPr>
                        <m:t>−</m:t>
                      </m:r>
                      <m:r>
                        <a:rPr lang="en-US" altLang="zh-CN" sz="1800">
                          <a:solidFill>
                            <a:srgbClr val="7030A0"/>
                          </a:solidFill>
                          <a:latin typeface="Cambria Math" panose="02040503050406030204" pitchFamily="18" charset="0"/>
                        </a:rPr>
                        <m:t>1)</m:t>
                      </m:r>
                    </m:oMath>
                  </m:oMathPara>
                </a14:m>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任何一个元素的按列存储的地址</a:t>
                </a:r>
                <a14:m>
                  <m:oMath xmlns:m="http://schemas.openxmlformats.org/officeDocument/2006/math">
                    <m:r>
                      <m:rPr>
                        <m:sty m:val="p"/>
                      </m:rPr>
                      <a:rPr lang="en-US" altLang="zh-CN" sz="1600">
                        <a:latin typeface="Cambria Math" panose="02040503050406030204" pitchFamily="18" charset="0"/>
                      </a:rPr>
                      <m:t>Loc</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可以下列公式计算：</a:t>
                </a: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smtClean="0">
                          <a:solidFill>
                            <a:srgbClr val="002060"/>
                          </a:solidFill>
                          <a:latin typeface="Cambria Math" panose="02040503050406030204" pitchFamily="18" charset="0"/>
                        </a:rPr>
                        <m:t>Loc</m:t>
                      </m:r>
                      <m:r>
                        <a:rPr lang="en-US" altLang="zh-CN" sz="1800" i="1">
                          <a:solidFill>
                            <a:srgbClr val="002060"/>
                          </a:solidFill>
                          <a:latin typeface="Cambria Math" panose="02040503050406030204" pitchFamily="18" charset="0"/>
                        </a:rPr>
                        <m:t>(</m:t>
                      </m:r>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𝑎</m:t>
                          </m:r>
                        </m:e>
                        <m:sub>
                          <m:r>
                            <a:rPr lang="en-US" altLang="zh-CN" sz="1800" i="1">
                              <a:solidFill>
                                <a:srgbClr val="002060"/>
                              </a:solidFill>
                              <a:latin typeface="Cambria Math" panose="02040503050406030204" pitchFamily="18" charset="0"/>
                            </a:rPr>
                            <m:t>𝑖𝑗</m:t>
                          </m:r>
                        </m:sub>
                      </m:sSub>
                      <m:r>
                        <a:rPr lang="en-US" altLang="zh-CN" sz="1800" i="1">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Loc</m:t>
                      </m:r>
                      <m:d>
                        <m:dPr>
                          <m:ctrlPr>
                            <a:rPr lang="zh-CN" altLang="zh-CN" sz="1800" i="1">
                              <a:solidFill>
                                <a:srgbClr val="002060"/>
                              </a:solidFill>
                              <a:latin typeface="Cambria Math" panose="02040503050406030204" pitchFamily="18" charset="0"/>
                            </a:rPr>
                          </m:ctrlPr>
                        </m:dPr>
                        <m:e>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𝑎</m:t>
                              </m:r>
                            </m:e>
                            <m:sub>
                              <m:r>
                                <a:rPr lang="en-US" altLang="zh-CN" sz="1800" i="1">
                                  <a:solidFill>
                                    <a:srgbClr val="002060"/>
                                  </a:solidFill>
                                  <a:latin typeface="Cambria Math" panose="02040503050406030204" pitchFamily="18" charset="0"/>
                                </a:rPr>
                                <m:t>00</m:t>
                              </m:r>
                            </m:sub>
                          </m:sSub>
                        </m:e>
                      </m:d>
                      <m:r>
                        <a:rPr lang="en-US" altLang="zh-CN" sz="1800" i="1">
                          <a:solidFill>
                            <a:srgbClr val="002060"/>
                          </a:solidFill>
                          <a:latin typeface="Cambria Math" panose="02040503050406030204" pitchFamily="18" charset="0"/>
                        </a:rPr>
                        <m:t>+</m:t>
                      </m:r>
                      <m:d>
                        <m:dPr>
                          <m:ctrlPr>
                            <a:rPr lang="zh-CN" altLang="zh-CN" sz="1800" i="1">
                              <a:solidFill>
                                <a:srgbClr val="002060"/>
                              </a:solidFill>
                              <a:latin typeface="Cambria Math" panose="02040503050406030204" pitchFamily="18" charset="0"/>
                            </a:rPr>
                          </m:ctrlPr>
                        </m:dPr>
                        <m:e>
                          <m:r>
                            <m:rPr>
                              <m:sty m:val="p"/>
                            </m:rPr>
                            <a:rPr lang="en-US" altLang="zh-CN" sz="1800">
                              <a:solidFill>
                                <a:srgbClr val="002060"/>
                              </a:solidFill>
                              <a:latin typeface="Cambria Math" panose="02040503050406030204" pitchFamily="18" charset="0"/>
                            </a:rPr>
                            <m:t>j</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m</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i</m:t>
                          </m:r>
                        </m:e>
                      </m:d>
                      <m:r>
                        <a:rPr lang="en-US" altLang="zh-CN" sz="1800">
                          <a:solidFill>
                            <a:srgbClr val="002060"/>
                          </a:solidFill>
                          <a:latin typeface="Cambria Math" panose="02040503050406030204" pitchFamily="18" charset="0"/>
                        </a:rPr>
                        <m:t>×</m:t>
                      </m:r>
                      <m:r>
                        <a:rPr lang="en-US" altLang="zh-CN" sz="1800" i="1">
                          <a:solidFill>
                            <a:srgbClr val="002060"/>
                          </a:solidFill>
                          <a:latin typeface="Cambria Math" panose="02040503050406030204" pitchFamily="18" charset="0"/>
                        </a:rPr>
                        <m:t>𝑙</m:t>
                      </m:r>
                      <m:r>
                        <a:rPr lang="en-US" altLang="zh-CN" sz="1800">
                          <a:solidFill>
                            <a:srgbClr val="002060"/>
                          </a:solidFill>
                          <a:latin typeface="Cambria Math" panose="02040503050406030204" pitchFamily="18" charset="0"/>
                        </a:rPr>
                        <m:t> </m:t>
                      </m:r>
                      <m:r>
                        <a:rPr lang="en-US" altLang="zh-CN" sz="1800" b="0" i="0" smtClean="0">
                          <a:solidFill>
                            <a:srgbClr val="002060"/>
                          </a:solidFill>
                          <a:latin typeface="Cambria Math" panose="02040503050406030204" pitchFamily="18" charset="0"/>
                        </a:rPr>
                        <m:t>  </m:t>
                      </m:r>
                      <m:r>
                        <a:rPr lang="en-US" altLang="zh-CN" sz="1800">
                          <a:solidFill>
                            <a:srgbClr val="002060"/>
                          </a:solidFill>
                          <a:latin typeface="Cambria Math" panose="02040503050406030204" pitchFamily="18" charset="0"/>
                        </a:rPr>
                        <m:t> (0≤</m:t>
                      </m:r>
                      <m:r>
                        <m:rPr>
                          <m:sty m:val="p"/>
                        </m:rPr>
                        <a:rPr lang="en-US" altLang="zh-CN" sz="1800">
                          <a:solidFill>
                            <a:srgbClr val="002060"/>
                          </a:solidFill>
                          <a:latin typeface="Cambria Math" panose="02040503050406030204" pitchFamily="18" charset="0"/>
                        </a:rPr>
                        <m:t>i</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m</m:t>
                      </m:r>
                      <m:r>
                        <a:rPr lang="en-US" altLang="zh-CN" sz="1800" i="1">
                          <a:solidFill>
                            <a:srgbClr val="002060"/>
                          </a:solidFill>
                          <a:latin typeface="Cambria Math" panose="02040503050406030204" pitchFamily="18" charset="0"/>
                        </a:rPr>
                        <m:t>−</m:t>
                      </m:r>
                      <m:r>
                        <a:rPr lang="en-US" altLang="zh-CN" sz="1800">
                          <a:solidFill>
                            <a:srgbClr val="002060"/>
                          </a:solidFill>
                          <a:latin typeface="Cambria Math" panose="02040503050406030204" pitchFamily="18" charset="0"/>
                        </a:rPr>
                        <m:t>1,0≤</m:t>
                      </m:r>
                      <m:r>
                        <m:rPr>
                          <m:sty m:val="p"/>
                        </m:rPr>
                        <a:rPr lang="en-US" altLang="zh-CN" sz="1800">
                          <a:solidFill>
                            <a:srgbClr val="002060"/>
                          </a:solidFill>
                          <a:latin typeface="Cambria Math" panose="02040503050406030204" pitchFamily="18" charset="0"/>
                        </a:rPr>
                        <m:t>j</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n</m:t>
                      </m:r>
                      <m:r>
                        <a:rPr lang="en-US" altLang="zh-CN" sz="1800" i="1">
                          <a:solidFill>
                            <a:srgbClr val="002060"/>
                          </a:solidFill>
                          <a:latin typeface="Cambria Math" panose="02040503050406030204" pitchFamily="18" charset="0"/>
                        </a:rPr>
                        <m:t>−</m:t>
                      </m:r>
                      <m:r>
                        <a:rPr lang="en-US" altLang="zh-CN" sz="1800">
                          <a:solidFill>
                            <a:srgbClr val="002060"/>
                          </a:solidFill>
                          <a:latin typeface="Cambria Math" panose="02040503050406030204" pitchFamily="18" charset="0"/>
                        </a:rPr>
                        <m:t>1)</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上述公式可推广到三维甚至多维数组中，读者可自行推导。</a:t>
                </a:r>
              </a:p>
              <a:p>
                <a:pPr marL="0" indent="0" algn="just">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3507876"/>
              </a:xfrm>
              <a:blipFill>
                <a:blip r:embed="rId2"/>
                <a:stretch>
                  <a:fillRect l="-629" t="-870" r="-629"/>
                </a:stretch>
              </a:blipFill>
            </p:spPr>
            <p:txBody>
              <a:bodyPr/>
              <a:lstStyle/>
              <a:p>
                <a:r>
                  <a:rPr lang="zh-CN" altLang="en-US">
                    <a:noFill/>
                  </a:rPr>
                  <a:t> </a:t>
                </a:r>
              </a:p>
            </p:txBody>
          </p:sp>
        </mc:Fallback>
      </mc:AlternateContent>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数组的存储结构</a:t>
            </a:r>
          </a:p>
        </p:txBody>
      </p:sp>
    </p:spTree>
    <p:extLst>
      <p:ext uri="{BB962C8B-B14F-4D97-AF65-F5344CB8AC3E}">
        <p14:creationId xmlns:p14="http://schemas.microsoft.com/office/powerpoint/2010/main" val="22166701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251520" y="987574"/>
                <a:ext cx="8784976" cy="1512168"/>
              </a:xfrm>
            </p:spPr>
            <p:txBody>
              <a:bodyPr/>
              <a:lstStyle/>
              <a:p>
                <a:pPr marL="0" indent="0" algn="just">
                  <a:lnSpc>
                    <a:spcPts val="24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例</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已知二维数组</a:t>
                </a:r>
                <a14:m>
                  <m:oMath xmlns:m="http://schemas.openxmlformats.org/officeDocument/2006/math">
                    <m:r>
                      <a:rPr lang="en-US" altLang="zh-CN" sz="1800" i="1">
                        <a:solidFill>
                          <a:srgbClr val="C00000"/>
                        </a:solidFill>
                        <a:latin typeface="Cambria Math" panose="02040503050406030204" pitchFamily="18" charset="0"/>
                      </a:rPr>
                      <m:t>𝐴</m:t>
                    </m:r>
                    <m:d>
                      <m:dPr>
                        <m:begChr m:val="["/>
                        <m:endChr m:val="]"/>
                        <m:ctrlPr>
                          <a:rPr lang="zh-CN" altLang="zh-CN" sz="1800" i="1">
                            <a:solidFill>
                              <a:srgbClr val="C00000"/>
                            </a:solidFill>
                            <a:latin typeface="Cambria Math" panose="02040503050406030204" pitchFamily="18" charset="0"/>
                          </a:rPr>
                        </m:ctrlPr>
                      </m:dPr>
                      <m:e>
                        <m:r>
                          <a:rPr lang="en-US" altLang="zh-CN" sz="1800">
                            <a:solidFill>
                              <a:srgbClr val="C00000"/>
                            </a:solidFill>
                            <a:latin typeface="Cambria Math" panose="02040503050406030204" pitchFamily="18" charset="0"/>
                          </a:rPr>
                          <m:t>10</m:t>
                        </m:r>
                      </m:e>
                    </m:d>
                    <m:r>
                      <a:rPr lang="en-US" altLang="zh-CN" sz="1800">
                        <a:solidFill>
                          <a:srgbClr val="C00000"/>
                        </a:solidFill>
                        <a:latin typeface="Cambria Math" panose="02040503050406030204" pitchFamily="18" charset="0"/>
                      </a:rPr>
                      <m:t>[20]</m:t>
                    </m:r>
                  </m:oMath>
                </a14:m>
                <a:r>
                  <a:rPr lang="zh-CN" altLang="zh-CN" sz="1800" dirty="0">
                    <a:solidFill>
                      <a:srgbClr val="C00000"/>
                    </a:solidFill>
                    <a:latin typeface="Times New Roman" panose="02020603050405020304" pitchFamily="18" charset="0"/>
                    <a:cs typeface="Times New Roman" panose="02020603050405020304" pitchFamily="18" charset="0"/>
                  </a:rPr>
                  <a:t>的起始地址为</a:t>
                </a:r>
                <a:r>
                  <a:rPr lang="en-US" altLang="zh-CN" sz="1800" dirty="0">
                    <a:solidFill>
                      <a:srgbClr val="C00000"/>
                    </a:solidFill>
                    <a:latin typeface="Times New Roman" panose="02020603050405020304" pitchFamily="18" charset="0"/>
                    <a:cs typeface="Times New Roman" panose="02020603050405020304" pitchFamily="18" charset="0"/>
                  </a:rPr>
                  <a:t>1000</a:t>
                </a:r>
                <a:r>
                  <a:rPr lang="zh-CN" altLang="zh-CN" sz="1800" dirty="0">
                    <a:solidFill>
                      <a:srgbClr val="C00000"/>
                    </a:solidFill>
                    <a:latin typeface="Times New Roman" panose="02020603050405020304" pitchFamily="18" charset="0"/>
                    <a:cs typeface="Times New Roman" panose="02020603050405020304" pitchFamily="18" charset="0"/>
                  </a:rPr>
                  <a:t>，且每个元素占用</a:t>
                </a:r>
                <a:r>
                  <a:rPr lang="en-US" altLang="zh-CN" sz="1800" dirty="0">
                    <a:solidFill>
                      <a:srgbClr val="C00000"/>
                    </a:solidFill>
                    <a:latin typeface="Times New Roman" panose="02020603050405020304" pitchFamily="18" charset="0"/>
                    <a:cs typeface="Times New Roman" panose="02020603050405020304" pitchFamily="18" charset="0"/>
                  </a:rPr>
                  <a:t>4</a:t>
                </a:r>
                <a:r>
                  <a:rPr lang="zh-CN" altLang="zh-CN" sz="1800" dirty="0">
                    <a:solidFill>
                      <a:srgbClr val="C00000"/>
                    </a:solidFill>
                    <a:latin typeface="Times New Roman" panose="02020603050405020304" pitchFamily="18" charset="0"/>
                    <a:cs typeface="Times New Roman" panose="02020603050405020304" pitchFamily="18" charset="0"/>
                  </a:rPr>
                  <a:t>个字节，求数组元素</a:t>
                </a:r>
                <a14:m>
                  <m:oMath xmlns:m="http://schemas.openxmlformats.org/officeDocument/2006/math">
                    <m:r>
                      <m:rPr>
                        <m:sty m:val="p"/>
                      </m:rPr>
                      <a:rPr lang="en-US" altLang="zh-CN" sz="1800">
                        <a:solidFill>
                          <a:srgbClr val="C00000"/>
                        </a:solidFill>
                        <a:latin typeface="Cambria Math" panose="02040503050406030204" pitchFamily="18" charset="0"/>
                      </a:rPr>
                      <m:t>a</m:t>
                    </m:r>
                    <m:d>
                      <m:dPr>
                        <m:begChr m:val="["/>
                        <m:endChr m:val="]"/>
                        <m:ctrlPr>
                          <a:rPr lang="zh-CN" altLang="zh-CN" sz="1800" i="1">
                            <a:solidFill>
                              <a:srgbClr val="C00000"/>
                            </a:solidFill>
                            <a:latin typeface="Cambria Math" panose="02040503050406030204" pitchFamily="18" charset="0"/>
                          </a:rPr>
                        </m:ctrlPr>
                      </m:dPr>
                      <m:e>
                        <m:r>
                          <a:rPr lang="en-US" altLang="zh-CN" sz="1800">
                            <a:solidFill>
                              <a:srgbClr val="C00000"/>
                            </a:solidFill>
                            <a:latin typeface="Cambria Math" panose="02040503050406030204" pitchFamily="18" charset="0"/>
                          </a:rPr>
                          <m:t>7</m:t>
                        </m:r>
                      </m:e>
                    </m:d>
                    <m:r>
                      <a:rPr lang="en-US" altLang="zh-CN" sz="1800">
                        <a:solidFill>
                          <a:srgbClr val="C00000"/>
                        </a:solidFill>
                        <a:latin typeface="Cambria Math" panose="02040503050406030204" pitchFamily="18" charset="0"/>
                      </a:rPr>
                      <m:t>[8]</m:t>
                    </m:r>
                  </m:oMath>
                </a14:m>
                <a:r>
                  <a:rPr lang="zh-CN" altLang="zh-CN" sz="1800" dirty="0">
                    <a:solidFill>
                      <a:srgbClr val="C00000"/>
                    </a:solidFill>
                    <a:latin typeface="Times New Roman" panose="02020603050405020304" pitchFamily="18" charset="0"/>
                    <a:cs typeface="Times New Roman" panose="02020603050405020304" pitchFamily="18" charset="0"/>
                  </a:rPr>
                  <a:t>的地址。</a:t>
                </a:r>
              </a:p>
              <a:p>
                <a:pPr marL="0" indent="0" algn="just">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解：</a:t>
                </a:r>
              </a:p>
              <a:p>
                <a:pPr marL="0" indent="0" algn="just">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按列优先存储数组元素</a:t>
                </a:r>
                <a14:m>
                  <m:oMath xmlns:m="http://schemas.openxmlformats.org/officeDocument/2006/math">
                    <m:r>
                      <m:rPr>
                        <m:sty m:val="p"/>
                      </m:rPr>
                      <a:rPr lang="en-US" altLang="zh-CN" sz="1800">
                        <a:latin typeface="Cambria Math" panose="02040503050406030204" pitchFamily="18" charset="0"/>
                      </a:rPr>
                      <m:t>a</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7</m:t>
                        </m:r>
                      </m:e>
                    </m:d>
                    <m:r>
                      <a:rPr lang="en-US" altLang="zh-CN" sz="1800">
                        <a:latin typeface="Cambria Math" panose="02040503050406030204" pitchFamily="18" charset="0"/>
                      </a:rPr>
                      <m:t>[8]</m:t>
                    </m:r>
                  </m:oMath>
                </a14:m>
                <a:r>
                  <a:rPr lang="zh-CN" altLang="zh-CN" sz="1800" dirty="0">
                    <a:latin typeface="Times New Roman" panose="02020603050405020304" pitchFamily="18" charset="0"/>
                    <a:cs typeface="Times New Roman" panose="02020603050405020304" pitchFamily="18" charset="0"/>
                  </a:rPr>
                  <a:t>的地址为：</a:t>
                </a:r>
              </a:p>
              <a:p>
                <a:pPr marL="0" indent="0" algn="just">
                  <a:lnSpc>
                    <a:spcPts val="24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Loc</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78</m:t>
                          </m:r>
                        </m:sub>
                      </m:sSub>
                      <m:r>
                        <a:rPr lang="en-US" altLang="zh-CN" sz="1800" i="1">
                          <a:latin typeface="Cambria Math" panose="02040503050406030204" pitchFamily="18" charset="0"/>
                        </a:rPr>
                        <m:t> )=1000+</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8×10+7</m:t>
                          </m:r>
                        </m:e>
                      </m:d>
                      <m:r>
                        <a:rPr lang="en-US" altLang="zh-CN" sz="1800" i="1">
                          <a:latin typeface="Cambria Math" panose="02040503050406030204" pitchFamily="18" charset="0"/>
                        </a:rPr>
                        <m:t>×4=1348  </m:t>
                      </m:r>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按行优先存储数组元素</a:t>
                </a:r>
                <a14:m>
                  <m:oMath xmlns:m="http://schemas.openxmlformats.org/officeDocument/2006/math">
                    <m:r>
                      <m:rPr>
                        <m:sty m:val="p"/>
                      </m:rPr>
                      <a:rPr lang="en-US" altLang="zh-CN" sz="1800">
                        <a:latin typeface="Cambria Math" panose="02040503050406030204" pitchFamily="18" charset="0"/>
                      </a:rPr>
                      <m:t>a</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7</m:t>
                        </m:r>
                      </m:e>
                    </m:d>
                    <m:r>
                      <a:rPr lang="en-US" altLang="zh-CN" sz="1800">
                        <a:latin typeface="Cambria Math" panose="02040503050406030204" pitchFamily="18" charset="0"/>
                      </a:rPr>
                      <m:t>[8]</m:t>
                    </m:r>
                  </m:oMath>
                </a14:m>
                <a:r>
                  <a:rPr lang="zh-CN" altLang="zh-CN" sz="1800" dirty="0">
                    <a:latin typeface="Times New Roman" panose="02020603050405020304" pitchFamily="18" charset="0"/>
                    <a:cs typeface="Times New Roman" panose="02020603050405020304" pitchFamily="18" charset="0"/>
                  </a:rPr>
                  <a:t>的地址为：</a:t>
                </a:r>
              </a:p>
              <a:p>
                <a:pPr marL="0" indent="0" algn="just">
                  <a:lnSpc>
                    <a:spcPts val="24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Loc</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78</m:t>
                              </m:r>
                            </m:sub>
                          </m:sSub>
                        </m:e>
                      </m:d>
                      <m:r>
                        <a:rPr lang="en-US" altLang="zh-CN" sz="1800" i="1">
                          <a:latin typeface="Cambria Math" panose="02040503050406030204" pitchFamily="18" charset="0"/>
                        </a:rPr>
                        <m:t>=1000+</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7×20+8</m:t>
                          </m:r>
                        </m:e>
                      </m:d>
                      <m:r>
                        <a:rPr lang="en-US" altLang="zh-CN" sz="1800" i="1">
                          <a:latin typeface="Cambria Math" panose="02040503050406030204" pitchFamily="18" charset="0"/>
                        </a:rPr>
                        <m:t>×4=1592</m:t>
                      </m:r>
                    </m:oMath>
                  </m:oMathPara>
                </a14:m>
                <a:endParaRPr lang="zh-CN" altLang="zh-CN" sz="1800" dirty="0">
                  <a:latin typeface="Times New Roman" panose="02020603050405020304" pitchFamily="18" charset="0"/>
                  <a:cs typeface="Times New Roman" panose="02020603050405020304" pitchFamily="18" charset="0"/>
                </a:endParaRPr>
              </a:p>
              <a:p>
                <a:pPr marL="0" indent="0" defTabSz="685800" eaLnBrk="0" hangingPunct="0">
                  <a:lnSpc>
                    <a:spcPts val="2000"/>
                  </a:lnSpc>
                  <a:spcBef>
                    <a:spcPts val="0"/>
                  </a:spcBef>
                  <a:buNone/>
                </a:pP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251520" y="987574"/>
                <a:ext cx="8784976" cy="1512168"/>
              </a:xfrm>
              <a:blipFill>
                <a:blip r:embed="rId2"/>
                <a:stretch>
                  <a:fillRect l="-833" t="-3226" r="-833" b="-45565"/>
                </a:stretch>
              </a:blipFill>
            </p:spPr>
            <p:txBody>
              <a:bodyPr/>
              <a:lstStyle/>
              <a:p>
                <a:r>
                  <a:rPr lang="zh-CN" altLang="en-US">
                    <a:noFill/>
                  </a:rPr>
                  <a:t> </a:t>
                </a:r>
              </a:p>
            </p:txBody>
          </p:sp>
        </mc:Fallback>
      </mc:AlternateContent>
      <p:sp>
        <p:nvSpPr>
          <p:cNvPr id="5" name="文本框 4"/>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矩阵的压缩存储</a:t>
            </a:r>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155046974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856984" cy="3235818"/>
          </a:xfrm>
        </p:spPr>
        <p:txBody>
          <a:bodyPr/>
          <a:lstStyle/>
          <a:p>
            <a:pPr marL="0" indent="0" algn="just">
              <a:lnSpc>
                <a:spcPts val="2200"/>
              </a:lnSpc>
              <a:spcBef>
                <a:spcPts val="0"/>
              </a:spcBef>
              <a:buNone/>
            </a:pPr>
            <a:r>
              <a:rPr lang="zh-CN" altLang="zh-CN" sz="1600" dirty="0"/>
              <a:t>在高级语言编制程序时，简单而又自然的方法，就是将一个矩阵描述为一个二维数组。矩阵在这种存储表示之下，可以对其元素进行随机存取，各种矩阵运算也非常简单。</a:t>
            </a:r>
            <a:endParaRPr lang="en-US" altLang="zh-CN" sz="1600" dirty="0"/>
          </a:p>
          <a:p>
            <a:pPr marL="0" indent="0" algn="just">
              <a:lnSpc>
                <a:spcPts val="2200"/>
              </a:lnSpc>
              <a:spcBef>
                <a:spcPts val="0"/>
              </a:spcBef>
              <a:buNone/>
            </a:pPr>
            <a:r>
              <a:rPr lang="zh-CN" altLang="zh-CN" sz="1600" dirty="0"/>
              <a:t>但是在矩阵中非零元素呈某种规律分布或者矩阵中出现大量的零元素的情况下，占用了许多空间去存储重复的非零元素或零元素，对高阶矩阵会造成极大的浪费，为了节省存储空间，可以对这类矩阵进行压缩存储，方法是使多个相同的非零元素共享一个存储空间，对零元素则不分配存储空间。</a:t>
            </a:r>
          </a:p>
          <a:p>
            <a:pPr marL="0" indent="0" algn="just">
              <a:lnSpc>
                <a:spcPts val="2200"/>
              </a:lnSpc>
              <a:spcBef>
                <a:spcPts val="0"/>
              </a:spcBef>
              <a:buNone/>
            </a:pPr>
            <a:endParaRPr lang="en-US" altLang="zh-CN" sz="1600" dirty="0"/>
          </a:p>
          <a:p>
            <a:pPr marL="0" indent="0" algn="just">
              <a:lnSpc>
                <a:spcPts val="2200"/>
              </a:lnSpc>
              <a:spcBef>
                <a:spcPts val="0"/>
              </a:spcBef>
              <a:buNone/>
            </a:pPr>
            <a:r>
              <a:rPr lang="zh-CN" altLang="zh-CN" sz="1600" dirty="0"/>
              <a:t>假如值相同的数据元素或者零数据元素在矩阵中的分布有一定规律，则称此类矩阵为</a:t>
            </a:r>
            <a:r>
              <a:rPr lang="zh-CN" altLang="zh-CN" sz="1600" dirty="0">
                <a:solidFill>
                  <a:srgbClr val="C00000"/>
                </a:solidFill>
              </a:rPr>
              <a:t>特殊矩阵</a:t>
            </a:r>
            <a:r>
              <a:rPr lang="zh-CN" altLang="zh-CN" sz="1600" dirty="0"/>
              <a:t>；假如矩阵中有许多零数据元素（一般根据稀疏因子的值判定零数据元素是否较多），则称此类矩阵为</a:t>
            </a:r>
            <a:r>
              <a:rPr lang="zh-CN" altLang="zh-CN" sz="1600" dirty="0">
                <a:solidFill>
                  <a:srgbClr val="C00000"/>
                </a:solidFill>
              </a:rPr>
              <a:t>稀疏矩阵</a:t>
            </a:r>
            <a:r>
              <a:rPr lang="zh-CN" altLang="zh-CN" sz="1600" dirty="0"/>
              <a:t>。</a:t>
            </a:r>
          </a:p>
        </p:txBody>
      </p:sp>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矩阵的压缩存储</a:t>
            </a:r>
          </a:p>
        </p:txBody>
      </p:sp>
    </p:spTree>
    <p:extLst>
      <p:ext uri="{BB962C8B-B14F-4D97-AF65-F5344CB8AC3E}">
        <p14:creationId xmlns:p14="http://schemas.microsoft.com/office/powerpoint/2010/main" val="1578324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419622"/>
                <a:ext cx="8784976" cy="2026922"/>
              </a:xfrm>
            </p:spPr>
            <p:txBody>
              <a:bodyPr/>
              <a:lstStyle/>
              <a:p>
                <a:pPr marL="0" indent="0" algn="just">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阶矩阵</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中元素满足下列性质</a:t>
                </a: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𝑗𝑖</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0≤</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e>
                      </m:d>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则称</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a:t>
                </a:r>
                <a:r>
                  <a:rPr lang="zh-CN" altLang="zh-CN" sz="1600" dirty="0">
                    <a:solidFill>
                      <a:srgbClr val="C00000"/>
                    </a:solidFill>
                    <a:latin typeface="Times New Roman" panose="02020603050405020304" pitchFamily="18" charset="0"/>
                    <a:cs typeface="Times New Roman" panose="02020603050405020304" pitchFamily="18" charset="0"/>
                  </a:rPr>
                  <a:t>对称矩阵</a:t>
                </a:r>
                <a:r>
                  <a:rPr lang="zh-CN" altLang="zh-CN" sz="1600" dirty="0">
                    <a:latin typeface="Times New Roman" panose="02020603050405020304" pitchFamily="18" charset="0"/>
                    <a:cs typeface="Times New Roman" panose="02020603050405020304" pitchFamily="18" charset="0"/>
                  </a:rPr>
                  <a:t>。</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p>
              <a:p>
                <a:pPr marL="0" indent="0" algn="just">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对称矩阵中的元素关于主对角线对称，故只要存储矩阵中上三角或下三角中的元素，这样，能节约近一半的存储空间。不失一般性，我们按</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行优先顺序</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存储主对角线（包括对角线）以下的元素。即为每一个对称元素分配一个存储空间，则可将</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𝑛</m:t>
                        </m:r>
                      </m:e>
                      <m:sup>
                        <m:r>
                          <a:rPr lang="en-US" altLang="zh-CN" sz="1600" i="1">
                            <a:latin typeface="Cambria Math" panose="02040503050406030204" pitchFamily="18" charset="0"/>
                          </a:rPr>
                          <m:t>2</m:t>
                        </m:r>
                      </m:sup>
                    </m:sSup>
                  </m:oMath>
                </a14:m>
                <a:r>
                  <a:rPr lang="zh-CN" altLang="zh-CN" sz="1600" dirty="0">
                    <a:latin typeface="Times New Roman" panose="02020603050405020304" pitchFamily="18" charset="0"/>
                    <a:cs typeface="Times New Roman" panose="02020603050405020304" pitchFamily="18" charset="0"/>
                  </a:rPr>
                  <a:t>个元素空间压缩存储到</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+1)/2</m:t>
                    </m:r>
                  </m:oMath>
                </a14:m>
                <a:r>
                  <a:rPr lang="zh-CN" altLang="en-US" sz="1600" dirty="0">
                    <a:latin typeface="Times New Roman" panose="02020603050405020304" pitchFamily="18" charset="0"/>
                    <a:cs typeface="Times New Roman" panose="02020603050405020304" pitchFamily="18" charset="0"/>
                  </a:rPr>
                  <a:t>个</a:t>
                </a:r>
                <a:r>
                  <a:rPr lang="zh-CN" altLang="zh-CN" sz="1600" dirty="0">
                    <a:latin typeface="Times New Roman" panose="02020603050405020304" pitchFamily="18" charset="0"/>
                    <a:cs typeface="Times New Roman" panose="02020603050405020304" pitchFamily="18" charset="0"/>
                  </a:rPr>
                  <a:t>元素空间中。</a:t>
                </a:r>
              </a:p>
              <a:p>
                <a:pPr marL="0" indent="0" algn="just">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419622"/>
                <a:ext cx="8784976" cy="2026922"/>
              </a:xfrm>
              <a:blipFill>
                <a:blip r:embed="rId2"/>
                <a:stretch>
                  <a:fillRect l="-625" t="-1506" r="-625" b="-16566"/>
                </a:stretch>
              </a:blipFill>
            </p:spPr>
            <p:txBody>
              <a:bodyPr/>
              <a:lstStyle/>
              <a:p>
                <a:r>
                  <a:rPr lang="zh-CN" altLang="en-US">
                    <a:noFill/>
                  </a:rPr>
                  <a:t> </a:t>
                </a:r>
              </a:p>
            </p:txBody>
          </p:sp>
        </mc:Fallback>
      </mc:AlternateContent>
      <p:sp>
        <p:nvSpPr>
          <p:cNvPr id="4" name="文本框 3"/>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对称矩阵的压缩存储</a:t>
            </a:r>
          </a:p>
        </p:txBody>
      </p:sp>
    </p:spTree>
    <p:extLst>
      <p:ext uri="{BB962C8B-B14F-4D97-AF65-F5344CB8AC3E}">
        <p14:creationId xmlns:p14="http://schemas.microsoft.com/office/powerpoint/2010/main" val="37284815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65312" y="928913"/>
                <a:ext cx="8856984" cy="2731762"/>
              </a:xfrm>
            </p:spPr>
            <p:txBody>
              <a:bodyPr/>
              <a:lstStyle/>
              <a:p>
                <a:pPr marL="0" indent="0">
                  <a:lnSpc>
                    <a:spcPts val="2300"/>
                  </a:lnSpc>
                  <a:spcBef>
                    <a:spcPts val="0"/>
                  </a:spcBef>
                  <a:buNone/>
                </a:pPr>
                <a:r>
                  <a:rPr lang="en-US" altLang="zh-CN" sz="1800" dirty="0"/>
                  <a:t>  </a:t>
                </a:r>
                <a:r>
                  <a:rPr lang="zh-CN" altLang="zh-CN" sz="1600" dirty="0">
                    <a:latin typeface="Times New Roman" panose="02020603050405020304" pitchFamily="18" charset="0"/>
                    <a:cs typeface="Times New Roman" panose="02020603050405020304" pitchFamily="18" charset="0"/>
                  </a:rPr>
                  <a:t>假设以一维数组</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𝐴</m:t>
                        </m:r>
                      </m:e>
                      <m:sub>
                        <m:r>
                          <a:rPr lang="en-US" altLang="zh-CN" sz="1600">
                            <a:latin typeface="Cambria Math" panose="02040503050406030204" pitchFamily="18" charset="0"/>
                            <a:cs typeface="Times New Roman" panose="02020603050405020304" pitchFamily="18" charset="0"/>
                          </a:rPr>
                          <m:t>𝑠</m:t>
                        </m:r>
                      </m:sub>
                    </m:sSub>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𝑛</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𝑛</m:t>
                    </m:r>
                    <m:r>
                      <a:rPr lang="en-US" altLang="zh-CN" sz="1600">
                        <a:latin typeface="Cambria Math" panose="02040503050406030204" pitchFamily="18" charset="0"/>
                        <a:cs typeface="Times New Roman" panose="02020603050405020304" pitchFamily="18" charset="0"/>
                      </a:rPr>
                      <m:t>+1)/2]</m:t>
                    </m:r>
                  </m:oMath>
                </a14:m>
                <a:r>
                  <a:rPr lang="zh-CN" altLang="zh-CN" sz="1600" dirty="0">
                    <a:latin typeface="Times New Roman" panose="02020603050405020304" pitchFamily="18" charset="0"/>
                    <a:cs typeface="Times New Roman" panose="02020603050405020304" pitchFamily="18" charset="0"/>
                  </a:rPr>
                  <a:t>作为</a:t>
                </a:r>
                <a14:m>
                  <m:oMath xmlns:m="http://schemas.openxmlformats.org/officeDocument/2006/math">
                    <m:r>
                      <a:rPr lang="en-US" altLang="zh-CN" sz="1600">
                        <a:latin typeface="Cambria Math" panose="02040503050406030204" pitchFamily="18" charset="0"/>
                        <a:cs typeface="Times New Roman" panose="02020603050405020304" pitchFamily="18" charset="0"/>
                      </a:rPr>
                      <m:t>𝑛</m:t>
                    </m:r>
                  </m:oMath>
                </a14:m>
                <a:r>
                  <a:rPr lang="zh-CN" altLang="zh-CN" sz="1600" dirty="0">
                    <a:latin typeface="Times New Roman" panose="02020603050405020304" pitchFamily="18" charset="0"/>
                    <a:cs typeface="Times New Roman" panose="02020603050405020304" pitchFamily="18" charset="0"/>
                  </a:rPr>
                  <a:t>阶对称矩阵</a:t>
                </a:r>
                <a14:m>
                  <m:oMath xmlns:m="http://schemas.openxmlformats.org/officeDocument/2006/math">
                    <m:r>
                      <a:rPr lang="en-US" altLang="zh-CN" sz="1600">
                        <a:latin typeface="Cambria Math" panose="02040503050406030204" pitchFamily="18" charset="0"/>
                        <a:cs typeface="Times New Roman" panose="02020603050405020304" pitchFamily="18" charset="0"/>
                      </a:rPr>
                      <m:t>𝐴</m:t>
                    </m:r>
                  </m:oMath>
                </a14:m>
                <a:r>
                  <a:rPr lang="zh-CN" altLang="zh-CN" sz="1600" dirty="0">
                    <a:latin typeface="Times New Roman" panose="02020603050405020304" pitchFamily="18" charset="0"/>
                    <a:cs typeface="Times New Roman" panose="02020603050405020304" pitchFamily="18" charset="0"/>
                  </a:rPr>
                  <a:t>的存储结构，则</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𝐴</m:t>
                        </m:r>
                      </m:e>
                      <m:sub>
                        <m:r>
                          <a:rPr lang="en-US" altLang="zh-CN" sz="1600">
                            <a:latin typeface="Cambria Math" panose="02040503050406030204" pitchFamily="18" charset="0"/>
                            <a:cs typeface="Times New Roman" panose="02020603050405020304" pitchFamily="18" charset="0"/>
                          </a:rPr>
                          <m:t>𝑠</m:t>
                        </m:r>
                      </m:sub>
                    </m:sSub>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𝑘</m:t>
                        </m:r>
                      </m:e>
                    </m:d>
                  </m:oMath>
                </a14:m>
                <a:r>
                  <a:rPr lang="zh-CN" altLang="zh-CN" sz="1600" dirty="0">
                    <a:latin typeface="Times New Roman" panose="02020603050405020304" pitchFamily="18" charset="0"/>
                    <a:cs typeface="Times New Roman" panose="02020603050405020304" pitchFamily="18" charset="0"/>
                  </a:rPr>
                  <a:t>和矩阵元素</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𝑖𝑗</m:t>
                        </m:r>
                      </m:sub>
                    </m:sSub>
                  </m:oMath>
                </a14:m>
                <a:r>
                  <a:rPr lang="zh-CN" altLang="zh-CN" sz="1600" dirty="0">
                    <a:latin typeface="Times New Roman" panose="02020603050405020304" pitchFamily="18" charset="0"/>
                    <a:cs typeface="Times New Roman" panose="02020603050405020304" pitchFamily="18" charset="0"/>
                  </a:rPr>
                  <a:t>之间存在一一对应关系如下：</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𝑘</m:t>
                      </m:r>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eqArr>
                            <m:eqArrPr>
                              <m:ctrlPr>
                                <a:rPr lang="zh-CN" altLang="zh-CN" sz="1600" i="1">
                                  <a:latin typeface="Cambria Math" panose="02040503050406030204" pitchFamily="18" charset="0"/>
                                </a:rPr>
                              </m:ctrlPr>
                            </m:eqArr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+1)</m:t>
                                  </m:r>
                                </m:num>
                                <m:den>
                                  <m:r>
                                    <a:rPr lang="en-US" altLang="zh-CN" sz="1600" i="1">
                                      <a:latin typeface="Cambria Math" panose="02040503050406030204" pitchFamily="18" charset="0"/>
                                    </a:rPr>
                                    <m:t>2</m:t>
                                  </m:r>
                                </m:den>
                              </m:f>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           </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e>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𝑗</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+1)</m:t>
                                  </m:r>
                                </m:num>
                                <m:den>
                                  <m:r>
                                    <a:rPr lang="en-US" altLang="zh-CN" sz="1600" i="1">
                                      <a:latin typeface="Cambria Math" panose="02040503050406030204" pitchFamily="18" charset="0"/>
                                    </a:rPr>
                                    <m:t>2</m:t>
                                  </m:r>
                                </m:den>
                              </m:f>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          </m:t>
                              </m:r>
                              <m:r>
                                <a:rPr lang="en-US" altLang="zh-CN" sz="1600" i="1">
                                  <a:latin typeface="Cambria Math" panose="02040503050406030204" pitchFamily="18" charset="0"/>
                                </a:rPr>
                                <m:t>𝑖</m:t>
                              </m:r>
                              <m:r>
                                <a:rPr lang="en-US" altLang="zh-CN" sz="1600" i="1">
                                  <a:latin typeface="Cambria Math" panose="02040503050406030204" pitchFamily="18" charset="0"/>
                                </a:rPr>
                                <m:t>&lt;</m:t>
                              </m:r>
                              <m:r>
                                <a:rPr lang="en-US" altLang="zh-CN" sz="1600" i="1">
                                  <a:latin typeface="Cambria Math" panose="02040503050406030204" pitchFamily="18" charset="0"/>
                                </a:rPr>
                                <m:t>𝑗</m:t>
                              </m:r>
                            </m:e>
                          </m:eqArr>
                        </m:e>
                      </m:d>
                    </m:oMath>
                  </m:oMathPara>
                </a14:m>
                <a:endParaRPr lang="zh-CN" altLang="zh-CN" sz="1600" dirty="0">
                  <a:latin typeface="隶书" panose="02010509060101010101" pitchFamily="49" charset="-122"/>
                  <a:ea typeface="隶书" panose="02010509060101010101" pitchFamily="49" charset="-122"/>
                </a:endParaRPr>
              </a:p>
              <a:p>
                <a:pPr marL="0" indent="0">
                  <a:lnSpc>
                    <a:spcPts val="2300"/>
                  </a:lnSpc>
                  <a:spcBef>
                    <a:spcPts val="0"/>
                  </a:spcBef>
                  <a:buNone/>
                </a:pPr>
                <a:r>
                  <a:rPr lang="en-US" altLang="zh-CN" sz="16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对于任意给定一组下标</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，均可在</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𝑠</m:t>
                        </m:r>
                      </m:sub>
                    </m:sSub>
                  </m:oMath>
                </a14:m>
                <a:r>
                  <a:rPr lang="zh-CN" altLang="zh-CN" sz="1600" dirty="0">
                    <a:latin typeface="Times New Roman" panose="02020603050405020304" pitchFamily="18" charset="0"/>
                    <a:cs typeface="Times New Roman" panose="02020603050405020304" pitchFamily="18" charset="0"/>
                  </a:rPr>
                  <a:t>中找到矩阵元素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oMath>
                </a14:m>
                <a:r>
                  <a:rPr lang="zh-CN" altLang="zh-CN" sz="1600" dirty="0">
                    <a:latin typeface="Times New Roman" panose="02020603050405020304" pitchFamily="18" charset="0"/>
                    <a:cs typeface="Times New Roman" panose="02020603050405020304" pitchFamily="18" charset="0"/>
                  </a:rPr>
                  <a:t>；反之，对于所有的</a:t>
                </a:r>
                <a14:m>
                  <m:oMath xmlns:m="http://schemas.openxmlformats.org/officeDocument/2006/math">
                    <m:r>
                      <a:rPr lang="en-US" altLang="zh-CN" sz="1600" i="1">
                        <a:latin typeface="Cambria Math" panose="02040503050406030204" pitchFamily="18" charset="0"/>
                      </a:rPr>
                      <m:t>𝑘</m:t>
                    </m:r>
                    <m:r>
                      <a:rPr lang="en-US" altLang="zh-CN" sz="1600" i="1">
                        <a:latin typeface="Cambria Math" panose="02040503050406030204" pitchFamily="18" charset="0"/>
                      </a:rPr>
                      <m:t>=0,1,2,⋯,</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r>
                              <a:rPr lang="en-US" altLang="zh-CN" sz="1600" i="1">
                                <a:latin typeface="Cambria Math" panose="02040503050406030204" pitchFamily="18" charset="0"/>
                              </a:rPr>
                              <m:t>+1</m:t>
                            </m:r>
                          </m:e>
                        </m:d>
                      </m:num>
                      <m:den>
                        <m:r>
                          <a:rPr lang="en-US" altLang="zh-CN" sz="1600" i="1">
                            <a:latin typeface="Cambria Math" panose="02040503050406030204" pitchFamily="18" charset="0"/>
                          </a:rPr>
                          <m:t>2</m:t>
                        </m:r>
                      </m:den>
                    </m:f>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，均能确定</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𝑠</m:t>
                        </m:r>
                      </m:sub>
                    </m:sSub>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+1)/2]</m:t>
                    </m:r>
                  </m:oMath>
                </a14:m>
                <a:r>
                  <a:rPr lang="zh-CN" altLang="zh-CN" sz="1600" dirty="0">
                    <a:latin typeface="Times New Roman" panose="02020603050405020304" pitchFamily="18" charset="0"/>
                    <a:cs typeface="Times New Roman" panose="02020603050405020304" pitchFamily="18" charset="0"/>
                  </a:rPr>
                  <a:t>中的元在矩阵中的位置。称</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𝑠</m:t>
                        </m:r>
                      </m:sub>
                    </m:sSub>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+1)/2]</m:t>
                    </m:r>
                  </m:oMath>
                </a14:m>
                <a:r>
                  <a:rPr lang="zh-CN" altLang="zh-CN" sz="1600" dirty="0">
                    <a:latin typeface="Times New Roman" panose="02020603050405020304" pitchFamily="18" charset="0"/>
                    <a:cs typeface="Times New Roman" panose="02020603050405020304" pitchFamily="18" charset="0"/>
                  </a:rPr>
                  <a:t>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阶对称矩阵</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的压缩存储。对应关系如</a:t>
                </a:r>
                <a:r>
                  <a:rPr lang="zh-CN" altLang="en-US" sz="1600" dirty="0">
                    <a:latin typeface="Times New Roman" panose="02020603050405020304" pitchFamily="18" charset="0"/>
                    <a:cs typeface="Times New Roman" panose="02020603050405020304" pitchFamily="18" charset="0"/>
                  </a:rPr>
                  <a:t>下</a:t>
                </a:r>
                <a:r>
                  <a:rPr lang="zh-CN" altLang="zh-CN" sz="1600" dirty="0">
                    <a:latin typeface="Times New Roman" panose="02020603050405020304" pitchFamily="18" charset="0"/>
                    <a:cs typeface="Times New Roman" panose="02020603050405020304" pitchFamily="18" charset="0"/>
                  </a:rPr>
                  <a:t>图所示。</a:t>
                </a:r>
              </a:p>
              <a:p>
                <a:pPr marL="0" indent="0">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65312" y="928913"/>
                <a:ext cx="8856984" cy="2731762"/>
              </a:xfrm>
              <a:blipFill>
                <a:blip r:embed="rId2"/>
                <a:stretch>
                  <a:fillRect l="-689" t="-445" r="-413"/>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185910" y="3507854"/>
            <a:ext cx="6516009" cy="1200318"/>
          </a:xfrm>
          <a:prstGeom prst="rect">
            <a:avLst/>
          </a:prstGeom>
        </p:spPr>
      </p:pic>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对称矩阵的压缩存储</a:t>
            </a:r>
          </a:p>
        </p:txBody>
      </p:sp>
    </p:spTree>
    <p:extLst>
      <p:ext uri="{BB962C8B-B14F-4D97-AF65-F5344CB8AC3E}">
        <p14:creationId xmlns:p14="http://schemas.microsoft.com/office/powerpoint/2010/main" val="38668598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496" y="843558"/>
                <a:ext cx="9108504" cy="3507876"/>
              </a:xfrm>
            </p:spPr>
            <p:txBody>
              <a:bodyPr/>
              <a:lstStyle/>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有些非对称矩阵可采用此方法存储，如</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a:t>
                </a:r>
                <a:r>
                  <a:rPr lang="zh-CN" altLang="zh-CN" sz="1600" dirty="0">
                    <a:solidFill>
                      <a:srgbClr val="C00000"/>
                    </a:solidFill>
                    <a:latin typeface="Times New Roman" panose="02020603050405020304" pitchFamily="18" charset="0"/>
                    <a:cs typeface="Times New Roman" panose="02020603050405020304" pitchFamily="18" charset="0"/>
                  </a:rPr>
                  <a:t>上（下）三角矩阵</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阶上（下）三角矩阵是指矩阵的下（上）三角（不包括对角线）中的元素均为常数</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或零的</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阶矩阵。</a:t>
                </a:r>
                <a:endParaRPr lang="en-US"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与对称矩阵类似，假设以一维数组</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𝑠</m:t>
                        </m:r>
                      </m:sub>
                    </m:sSub>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+1)/2]</m:t>
                    </m:r>
                  </m:oMath>
                </a14:m>
                <a:r>
                  <a:rPr lang="zh-CN" altLang="zh-CN" sz="1600" dirty="0">
                    <a:latin typeface="Times New Roman" panose="02020603050405020304" pitchFamily="18" charset="0"/>
                    <a:cs typeface="Times New Roman" panose="02020603050405020304" pitchFamily="18" charset="0"/>
                  </a:rPr>
                  <a:t>作为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阶三角矩阵</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的存储结构，则</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𝑠</m:t>
                        </m:r>
                      </m:sub>
                    </m:sSub>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d>
                  </m:oMath>
                </a14:m>
                <a:r>
                  <a:rPr lang="zh-CN" altLang="zh-CN" sz="1600" dirty="0">
                    <a:latin typeface="Times New Roman" panose="02020603050405020304" pitchFamily="18" charset="0"/>
                    <a:cs typeface="Times New Roman" panose="02020603050405020304" pitchFamily="18" charset="0"/>
                  </a:rPr>
                  <a:t>和矩阵元素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oMath>
                </a14:m>
                <a:r>
                  <a:rPr lang="zh-CN" altLang="zh-CN" sz="1600" dirty="0">
                    <a:latin typeface="Times New Roman" panose="02020603050405020304" pitchFamily="18" charset="0"/>
                    <a:cs typeface="Times New Roman" panose="02020603050405020304" pitchFamily="18" charset="0"/>
                  </a:rPr>
                  <a:t>之间存在一一对应关系如下：</a:t>
                </a: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上三角矩阵：</a:t>
                </a: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𝑘</m:t>
                      </m:r>
                      <m:r>
                        <a:rPr lang="en-US" altLang="zh-CN" sz="1400">
                          <a:latin typeface="Cambria Math" panose="02040503050406030204" pitchFamily="18" charset="0"/>
                        </a:rPr>
                        <m:t>=</m:t>
                      </m:r>
                      <m:d>
                        <m:dPr>
                          <m:begChr m:val="{"/>
                          <m:endChr m:val=""/>
                          <m:ctrlPr>
                            <a:rPr lang="zh-CN" altLang="zh-CN" sz="1400" i="1">
                              <a:latin typeface="Cambria Math" panose="02040503050406030204" pitchFamily="18" charset="0"/>
                            </a:rPr>
                          </m:ctrlPr>
                        </m:dPr>
                        <m:e>
                          <m:eqArr>
                            <m:eqArrPr>
                              <m:ctrlPr>
                                <a:rPr lang="zh-CN" altLang="zh-CN" sz="1400" i="1">
                                  <a:latin typeface="Cambria Math" panose="02040503050406030204" pitchFamily="18" charset="0"/>
                                </a:rPr>
                              </m:ctrlPr>
                            </m:eqArrPr>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𝑖</m:t>
                                  </m:r>
                                  <m:r>
                                    <a:rPr lang="en-US" altLang="zh-CN" sz="1400" i="1">
                                      <a:latin typeface="Cambria Math" panose="02040503050406030204" pitchFamily="18" charset="0"/>
                                    </a:rPr>
                                    <m:t>(2</m:t>
                                  </m:r>
                                  <m:r>
                                    <a:rPr lang="en-US" altLang="zh-CN" sz="1400" i="1">
                                      <a:latin typeface="Cambria Math" panose="02040503050406030204" pitchFamily="18" charset="0"/>
                                    </a:rPr>
                                    <m:t>𝑛</m:t>
                                  </m:r>
                                  <m:r>
                                    <a:rPr lang="en-US" altLang="zh-CN" sz="1400" i="1">
                                      <a:latin typeface="Cambria Math" panose="02040503050406030204" pitchFamily="18" charset="0"/>
                                    </a:rPr>
                                    <m:t>−</m:t>
                                  </m:r>
                                  <m:r>
                                    <a:rPr lang="en-US" altLang="zh-CN" sz="1400" i="1">
                                      <a:latin typeface="Cambria Math" panose="02040503050406030204" pitchFamily="18" charset="0"/>
                                    </a:rPr>
                                    <m:t>𝑖</m:t>
                                  </m:r>
                                  <m:r>
                                    <a:rPr lang="en-US" altLang="zh-CN" sz="1400" i="1">
                                      <a:latin typeface="Cambria Math" panose="02040503050406030204" pitchFamily="18" charset="0"/>
                                    </a:rPr>
                                    <m:t>+1)</m:t>
                                  </m:r>
                                </m:num>
                                <m:den>
                                  <m:r>
                                    <a:rPr lang="en-US" altLang="zh-CN" sz="1400" i="1">
                                      <a:latin typeface="Cambria Math" panose="02040503050406030204" pitchFamily="18" charset="0"/>
                                    </a:rPr>
                                    <m:t>2</m:t>
                                  </m:r>
                                </m:den>
                              </m:f>
                              <m:r>
                                <a:rPr lang="en-US" altLang="zh-CN" sz="1400" i="1">
                                  <a:latin typeface="Cambria Math" panose="02040503050406030204" pitchFamily="18" charset="0"/>
                                </a:rPr>
                                <m:t>+</m:t>
                              </m:r>
                              <m:r>
                                <a:rPr lang="en-US" altLang="zh-CN" sz="1400" i="1">
                                  <a:latin typeface="Cambria Math" panose="02040503050406030204" pitchFamily="18" charset="0"/>
                                </a:rPr>
                                <m:t>𝑗</m:t>
                              </m:r>
                              <m:r>
                                <a:rPr lang="en-US" altLang="zh-CN" sz="1400" i="1">
                                  <a:latin typeface="Cambria Math" panose="02040503050406030204" pitchFamily="18" charset="0"/>
                                </a:rPr>
                                <m:t>−</m:t>
                              </m:r>
                              <m:r>
                                <a:rPr lang="en-US" altLang="zh-CN" sz="1400" i="1">
                                  <a:latin typeface="Cambria Math" panose="02040503050406030204" pitchFamily="18" charset="0"/>
                                </a:rPr>
                                <m:t>𝑖</m:t>
                              </m:r>
                              <m:r>
                                <a:rPr lang="en-US" altLang="zh-CN" sz="1400" i="1">
                                  <a:latin typeface="Cambria Math" panose="02040503050406030204" pitchFamily="18" charset="0"/>
                                </a:rPr>
                                <m:t>           </m:t>
                              </m:r>
                              <m:r>
                                <a:rPr lang="en-US" altLang="zh-CN" sz="1400" i="1">
                                  <a:latin typeface="Cambria Math" panose="02040503050406030204" pitchFamily="18" charset="0"/>
                                </a:rPr>
                                <m:t>𝑖</m:t>
                              </m:r>
                              <m:r>
                                <a:rPr lang="en-US" altLang="zh-CN" sz="1400" i="1">
                                  <a:latin typeface="Cambria Math" panose="02040503050406030204" pitchFamily="18" charset="0"/>
                                </a:rPr>
                                <m:t>≤</m:t>
                              </m:r>
                              <m:r>
                                <a:rPr lang="en-US" altLang="zh-CN" sz="1400" i="1">
                                  <a:latin typeface="Cambria Math" panose="02040503050406030204" pitchFamily="18" charset="0"/>
                                </a:rPr>
                                <m:t>𝑗</m:t>
                              </m:r>
                            </m:e>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𝑛</m:t>
                                  </m:r>
                                  <m:r>
                                    <a:rPr lang="en-US" altLang="zh-CN" sz="1400" i="1">
                                      <a:latin typeface="Cambria Math" panose="02040503050406030204" pitchFamily="18" charset="0"/>
                                    </a:rPr>
                                    <m:t>(</m:t>
                                  </m:r>
                                  <m:r>
                                    <a:rPr lang="en-US" altLang="zh-CN" sz="1400" i="1">
                                      <a:latin typeface="Cambria Math" panose="02040503050406030204" pitchFamily="18" charset="0"/>
                                    </a:rPr>
                                    <m:t>𝑛</m:t>
                                  </m:r>
                                  <m:r>
                                    <a:rPr lang="en-US" altLang="zh-CN" sz="1400" i="1">
                                      <a:latin typeface="Cambria Math" panose="02040503050406030204" pitchFamily="18" charset="0"/>
                                    </a:rPr>
                                    <m:t>+1)</m:t>
                                  </m:r>
                                </m:num>
                                <m:den>
                                  <m:r>
                                    <a:rPr lang="en-US" altLang="zh-CN" sz="1400" i="1">
                                      <a:latin typeface="Cambria Math" panose="02040503050406030204" pitchFamily="18" charset="0"/>
                                    </a:rPr>
                                    <m:t>2</m:t>
                                  </m:r>
                                </m:den>
                              </m:f>
                              <m:r>
                                <a:rPr lang="en-US" altLang="zh-CN" sz="1400" i="1">
                                  <a:latin typeface="Cambria Math" panose="02040503050406030204" pitchFamily="18" charset="0"/>
                                </a:rPr>
                                <m:t>                                </m:t>
                              </m:r>
                              <m:r>
                                <a:rPr lang="en-US" altLang="zh-CN" sz="1400" i="1">
                                  <a:latin typeface="Cambria Math" panose="02040503050406030204" pitchFamily="18" charset="0"/>
                                </a:rPr>
                                <m:t>𝑖</m:t>
                              </m:r>
                              <m:r>
                                <a:rPr lang="en-US" altLang="zh-CN" sz="1400" i="1">
                                  <a:latin typeface="Cambria Math" panose="02040503050406030204" pitchFamily="18" charset="0"/>
                                </a:rPr>
                                <m:t>&gt;</m:t>
                              </m:r>
                              <m:r>
                                <a:rPr lang="en-US" altLang="zh-CN" sz="1400" i="1">
                                  <a:latin typeface="Cambria Math" panose="02040503050406030204" pitchFamily="18" charset="0"/>
                                </a:rPr>
                                <m:t>𝑗</m:t>
                              </m:r>
                            </m:e>
                          </m:eqArr>
                        </m:e>
                      </m:d>
                    </m:oMath>
                  </m:oMathPara>
                </a14:m>
                <a:endParaRPr lang="zh-CN" altLang="zh-CN" sz="1600" dirty="0">
                  <a:latin typeface="隶书" panose="02010509060101010101" pitchFamily="49" charset="-122"/>
                  <a:ea typeface="隶书" panose="02010509060101010101" pitchFamily="49" charset="-122"/>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下三角矩阵：</a:t>
                </a: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𝑘</m:t>
                      </m:r>
                      <m:r>
                        <a:rPr lang="en-US" altLang="zh-CN" sz="1400">
                          <a:latin typeface="Cambria Math" panose="02040503050406030204" pitchFamily="18" charset="0"/>
                        </a:rPr>
                        <m:t>=</m:t>
                      </m:r>
                      <m:d>
                        <m:dPr>
                          <m:begChr m:val="{"/>
                          <m:endChr m:val=""/>
                          <m:ctrlPr>
                            <a:rPr lang="zh-CN" altLang="zh-CN" sz="1400" i="1">
                              <a:latin typeface="Cambria Math" panose="02040503050406030204" pitchFamily="18" charset="0"/>
                            </a:rPr>
                          </m:ctrlPr>
                        </m:dPr>
                        <m:e>
                          <m:eqArr>
                            <m:eqArrPr>
                              <m:ctrlPr>
                                <a:rPr lang="zh-CN" altLang="zh-CN" sz="1400" i="1">
                                  <a:latin typeface="Cambria Math" panose="02040503050406030204" pitchFamily="18" charset="0"/>
                                </a:rPr>
                              </m:ctrlPr>
                            </m:eqArrPr>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𝑖</m:t>
                                  </m:r>
                                  <m:r>
                                    <a:rPr lang="en-US" altLang="zh-CN" sz="1400" i="1">
                                      <a:latin typeface="Cambria Math" panose="02040503050406030204" pitchFamily="18" charset="0"/>
                                    </a:rPr>
                                    <m:t>(</m:t>
                                  </m:r>
                                  <m:r>
                                    <a:rPr lang="en-US" altLang="zh-CN" sz="1400" i="1">
                                      <a:latin typeface="Cambria Math" panose="02040503050406030204" pitchFamily="18" charset="0"/>
                                    </a:rPr>
                                    <m:t>𝑖</m:t>
                                  </m:r>
                                  <m:r>
                                    <a:rPr lang="en-US" altLang="zh-CN" sz="1400" i="1">
                                      <a:latin typeface="Cambria Math" panose="02040503050406030204" pitchFamily="18" charset="0"/>
                                    </a:rPr>
                                    <m:t>+1)</m:t>
                                  </m:r>
                                </m:num>
                                <m:den>
                                  <m:r>
                                    <a:rPr lang="en-US" altLang="zh-CN" sz="1400" i="1">
                                      <a:latin typeface="Cambria Math" panose="02040503050406030204" pitchFamily="18" charset="0"/>
                                    </a:rPr>
                                    <m:t>2</m:t>
                                  </m:r>
                                </m:den>
                              </m:f>
                              <m:r>
                                <a:rPr lang="en-US" altLang="zh-CN" sz="1400" i="1">
                                  <a:latin typeface="Cambria Math" panose="02040503050406030204" pitchFamily="18" charset="0"/>
                                </a:rPr>
                                <m:t>+</m:t>
                              </m:r>
                              <m:r>
                                <a:rPr lang="en-US" altLang="zh-CN" sz="1400" i="1">
                                  <a:latin typeface="Cambria Math" panose="02040503050406030204" pitchFamily="18" charset="0"/>
                                </a:rPr>
                                <m:t>𝑗</m:t>
                              </m:r>
                              <m:r>
                                <a:rPr lang="en-US" altLang="zh-CN" sz="1400" i="1">
                                  <a:latin typeface="Cambria Math" panose="02040503050406030204" pitchFamily="18" charset="0"/>
                                </a:rPr>
                                <m:t>                     </m:t>
                              </m:r>
                              <m:r>
                                <a:rPr lang="en-US" altLang="zh-CN" sz="1400" i="1">
                                  <a:latin typeface="Cambria Math" panose="02040503050406030204" pitchFamily="18" charset="0"/>
                                </a:rPr>
                                <m:t>𝑖</m:t>
                              </m:r>
                              <m:r>
                                <a:rPr lang="en-US" altLang="zh-CN" sz="1400" i="1">
                                  <a:latin typeface="Cambria Math" panose="02040503050406030204" pitchFamily="18" charset="0"/>
                                </a:rPr>
                                <m:t>≥</m:t>
                              </m:r>
                              <m:r>
                                <a:rPr lang="en-US" altLang="zh-CN" sz="1400" i="1">
                                  <a:latin typeface="Cambria Math" panose="02040503050406030204" pitchFamily="18" charset="0"/>
                                </a:rPr>
                                <m:t>𝑗</m:t>
                              </m:r>
                            </m:e>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𝑛</m:t>
                                  </m:r>
                                  <m:r>
                                    <a:rPr lang="en-US" altLang="zh-CN" sz="1400" i="1">
                                      <a:latin typeface="Cambria Math" panose="02040503050406030204" pitchFamily="18" charset="0"/>
                                    </a:rPr>
                                    <m:t>(</m:t>
                                  </m:r>
                                  <m:r>
                                    <a:rPr lang="en-US" altLang="zh-CN" sz="1400" i="1">
                                      <a:latin typeface="Cambria Math" panose="02040503050406030204" pitchFamily="18" charset="0"/>
                                    </a:rPr>
                                    <m:t>𝑛</m:t>
                                  </m:r>
                                  <m:r>
                                    <a:rPr lang="en-US" altLang="zh-CN" sz="1400" i="1">
                                      <a:latin typeface="Cambria Math" panose="02040503050406030204" pitchFamily="18" charset="0"/>
                                    </a:rPr>
                                    <m:t>+1)</m:t>
                                  </m:r>
                                </m:num>
                                <m:den>
                                  <m:r>
                                    <a:rPr lang="en-US" altLang="zh-CN" sz="1400" i="1">
                                      <a:latin typeface="Cambria Math" panose="02040503050406030204" pitchFamily="18" charset="0"/>
                                    </a:rPr>
                                    <m:t>2</m:t>
                                  </m:r>
                                </m:den>
                              </m:f>
                              <m:r>
                                <a:rPr lang="en-US" altLang="zh-CN" sz="1400" i="1">
                                  <a:latin typeface="Cambria Math" panose="02040503050406030204" pitchFamily="18" charset="0"/>
                                </a:rPr>
                                <m:t>                         </m:t>
                              </m:r>
                              <m:r>
                                <a:rPr lang="en-US" altLang="zh-CN" sz="1400" i="1">
                                  <a:latin typeface="Cambria Math" panose="02040503050406030204" pitchFamily="18" charset="0"/>
                                </a:rPr>
                                <m:t>𝑖</m:t>
                              </m:r>
                              <m:r>
                                <a:rPr lang="en-US" altLang="zh-CN" sz="1400" i="1">
                                  <a:latin typeface="Cambria Math" panose="02040503050406030204" pitchFamily="18" charset="0"/>
                                </a:rPr>
                                <m:t>&lt;</m:t>
                              </m:r>
                              <m:r>
                                <a:rPr lang="en-US" altLang="zh-CN" sz="1400" i="1">
                                  <a:latin typeface="Cambria Math" panose="02040503050406030204" pitchFamily="18" charset="0"/>
                                </a:rPr>
                                <m:t>𝑗</m:t>
                              </m:r>
                            </m:e>
                          </m:eqArr>
                        </m:e>
                      </m:d>
                    </m:oMath>
                  </m:oMathPara>
                </a14:m>
                <a:endParaRPr lang="zh-CN" altLang="zh-CN" sz="1600" dirty="0">
                  <a:latin typeface="隶书" panose="02010509060101010101" pitchFamily="49" charset="-122"/>
                  <a:ea typeface="隶书" panose="02010509060101010101" pitchFamily="49" charset="-122"/>
                </a:endParaRP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其中，元素</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𝐴</m:t>
                        </m:r>
                      </m:e>
                      <m:sub>
                        <m:r>
                          <a:rPr lang="en-US" altLang="zh-CN" sz="1600">
                            <a:latin typeface="Cambria Math" panose="02040503050406030204" pitchFamily="18" charset="0"/>
                            <a:cs typeface="Times New Roman" panose="02020603050405020304" pitchFamily="18" charset="0"/>
                          </a:rPr>
                          <m:t>𝑠</m:t>
                        </m:r>
                      </m:sub>
                    </m:sSub>
                    <m:d>
                      <m:dPr>
                        <m:begChr m:val="["/>
                        <m:endChr m:val="]"/>
                        <m:ctrlPr>
                          <a:rPr lang="zh-CN" altLang="zh-CN" sz="1600" i="1">
                            <a:latin typeface="Cambria Math" panose="02040503050406030204" pitchFamily="18" charset="0"/>
                            <a:cs typeface="Times New Roman" panose="02020603050405020304" pitchFamily="18" charset="0"/>
                          </a:rPr>
                        </m:ctrlPr>
                      </m:dPr>
                      <m:e>
                        <m:f>
                          <m:fPr>
                            <m:ctrlPr>
                              <a:rPr lang="zh-CN" altLang="zh-CN" sz="1600" i="1">
                                <a:latin typeface="Cambria Math" panose="02040503050406030204" pitchFamily="18" charset="0"/>
                                <a:cs typeface="Times New Roman" panose="02020603050405020304" pitchFamily="18" charset="0"/>
                              </a:rPr>
                            </m:ctrlPr>
                          </m:fPr>
                          <m:num>
                            <m:r>
                              <a:rPr lang="en-US" altLang="zh-CN" sz="1600">
                                <a:latin typeface="Cambria Math" panose="02040503050406030204" pitchFamily="18" charset="0"/>
                                <a:cs typeface="Times New Roman" panose="02020603050405020304" pitchFamily="18" charset="0"/>
                              </a:rPr>
                              <m:t>𝑛</m:t>
                            </m:r>
                            <m:d>
                              <m:dPr>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𝑛</m:t>
                                </m:r>
                                <m:r>
                                  <a:rPr lang="en-US" altLang="zh-CN" sz="1600">
                                    <a:latin typeface="Cambria Math" panose="02040503050406030204" pitchFamily="18" charset="0"/>
                                    <a:cs typeface="Times New Roman" panose="02020603050405020304" pitchFamily="18" charset="0"/>
                                  </a:rPr>
                                  <m:t>+1</m:t>
                                </m:r>
                              </m:e>
                            </m:d>
                          </m:num>
                          <m:den>
                            <m:r>
                              <a:rPr lang="en-US" altLang="zh-CN" sz="1600">
                                <a:latin typeface="Cambria Math" panose="02040503050406030204" pitchFamily="18" charset="0"/>
                                <a:cs typeface="Times New Roman" panose="02020603050405020304" pitchFamily="18" charset="0"/>
                              </a:rPr>
                              <m:t>2</m:t>
                            </m:r>
                          </m:den>
                        </m:f>
                      </m:e>
                    </m:d>
                  </m:oMath>
                </a14:m>
                <a:r>
                  <a:rPr lang="zh-CN" altLang="zh-CN" sz="1600" dirty="0">
                    <a:latin typeface="Times New Roman" panose="02020603050405020304" pitchFamily="18" charset="0"/>
                    <a:cs typeface="Times New Roman" panose="02020603050405020304" pitchFamily="18" charset="0"/>
                  </a:rPr>
                  <a:t>中存放常数</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a:t>
                </a:r>
              </a:p>
              <a:p>
                <a:pPr marL="0" indent="0" algn="just">
                  <a:lnSpc>
                    <a:spcPct val="100000"/>
                  </a:lnSpc>
                  <a:spcBef>
                    <a:spcPts val="0"/>
                  </a:spcBef>
                  <a:buNone/>
                </a:pPr>
                <a:endParaRPr lang="zh-CN" altLang="en-US" sz="16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496" y="843558"/>
                <a:ext cx="9108504" cy="3507876"/>
              </a:xfrm>
              <a:blipFill>
                <a:blip r:embed="rId2"/>
                <a:stretch>
                  <a:fillRect l="-602" t="-868" r="-669" b="-17361"/>
                </a:stretch>
              </a:blipFill>
            </p:spPr>
            <p:txBody>
              <a:bodyPr/>
              <a:lstStyle/>
              <a:p>
                <a:r>
                  <a:rPr lang="zh-CN" altLang="en-US">
                    <a:noFill/>
                  </a:rPr>
                  <a:t> </a:t>
                </a:r>
              </a:p>
            </p:txBody>
          </p:sp>
        </mc:Fallback>
      </mc:AlternateContent>
      <p:sp>
        <p:nvSpPr>
          <p:cNvPr id="4" name="文本框 3"/>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非对称矩阵的压缩存储</a:t>
            </a:r>
          </a:p>
        </p:txBody>
      </p:sp>
    </p:spTree>
    <p:extLst>
      <p:ext uri="{BB962C8B-B14F-4D97-AF65-F5344CB8AC3E}">
        <p14:creationId xmlns:p14="http://schemas.microsoft.com/office/powerpoint/2010/main" val="37578588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987574"/>
                <a:ext cx="2736304" cy="1579634"/>
              </a:xfrm>
            </p:spPr>
            <p:txBody>
              <a:bodyPr/>
              <a:lstStyle/>
              <a:p>
                <a:pPr marL="0" indent="0" algn="just">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a:t>
                </a:r>
                <a:r>
                  <a:rPr lang="zh-CN" altLang="zh-CN" sz="1600" dirty="0">
                    <a:solidFill>
                      <a:srgbClr val="C00000"/>
                    </a:solidFill>
                    <a:latin typeface="Times New Roman" panose="02020603050405020304" pitchFamily="18" charset="0"/>
                    <a:cs typeface="Times New Roman" panose="02020603050405020304" pitchFamily="18" charset="0"/>
                  </a:rPr>
                  <a:t>对角矩阵</a:t>
                </a:r>
                <a:r>
                  <a:rPr lang="zh-CN" altLang="zh-CN" sz="1600" dirty="0">
                    <a:latin typeface="Times New Roman" panose="02020603050405020304" pitchFamily="18" charset="0"/>
                    <a:cs typeface="Times New Roman" panose="02020603050405020304" pitchFamily="18" charset="0"/>
                  </a:rPr>
                  <a:t>是指</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阶方阵</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的所有非零数据元素都集中在以主对角线为中心的带状区域中的矩阵，即除了主对角线上和主对角线相邻两侧的</a:t>
                </a:r>
                <a14:m>
                  <m:oMath xmlns:m="http://schemas.openxmlformats.org/officeDocument/2006/math">
                    <m:r>
                      <a:rPr lang="en-US" altLang="zh-CN" sz="1600" i="1">
                        <a:latin typeface="Cambria Math" panose="02040503050406030204" pitchFamily="18" charset="0"/>
                      </a:rPr>
                      <m:t>𝑏</m:t>
                    </m:r>
                  </m:oMath>
                </a14:m>
                <a:r>
                  <a:rPr lang="zh-CN" altLang="zh-CN" sz="1600" dirty="0">
                    <a:latin typeface="Times New Roman" panose="02020603050405020304" pitchFamily="18" charset="0"/>
                    <a:cs typeface="Times New Roman" panose="02020603050405020304" pitchFamily="18" charset="0"/>
                  </a:rPr>
                  <a:t>条次对角线上的数据元素之外，其余所有数据元素皆为零数据元素。其中</a:t>
                </a:r>
                <a14:m>
                  <m:oMath xmlns:m="http://schemas.openxmlformats.org/officeDocument/2006/math">
                    <m:r>
                      <a:rPr lang="en-US" altLang="zh-CN" sz="1600" i="1">
                        <a:latin typeface="Cambria Math" panose="02040503050406030204" pitchFamily="18" charset="0"/>
                      </a:rPr>
                      <m:t>𝑏</m:t>
                    </m:r>
                  </m:oMath>
                </a14:m>
                <a:r>
                  <a:rPr lang="zh-CN" altLang="zh-CN" sz="1600" dirty="0">
                    <a:latin typeface="Times New Roman" panose="02020603050405020304" pitchFamily="18" charset="0"/>
                    <a:cs typeface="Times New Roman" panose="02020603050405020304" pitchFamily="18" charset="0"/>
                  </a:rPr>
                  <a:t>称为矩阵半带宽，</a:t>
                </a:r>
                <a14:m>
                  <m:oMath xmlns:m="http://schemas.openxmlformats.org/officeDocument/2006/math">
                    <m:r>
                      <a:rPr lang="en-US" altLang="zh-CN" sz="1600">
                        <a:latin typeface="Cambria Math" panose="02040503050406030204" pitchFamily="18" charset="0"/>
                      </a:rPr>
                      <m:t>2</m:t>
                    </m:r>
                    <m:r>
                      <a:rPr lang="en-US" altLang="zh-CN" sz="1600" i="1">
                        <a:latin typeface="Cambria Math" panose="02040503050406030204" pitchFamily="18" charset="0"/>
                      </a:rPr>
                      <m:t>𝑏</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为矩阵带宽，如</a:t>
                </a:r>
                <a:r>
                  <a:rPr lang="zh-CN" altLang="en-US" sz="1600" dirty="0">
                    <a:latin typeface="Times New Roman" panose="02020603050405020304" pitchFamily="18" charset="0"/>
                    <a:cs typeface="Times New Roman" panose="02020603050405020304" pitchFamily="18" charset="0"/>
                  </a:rPr>
                  <a:t>右</a:t>
                </a:r>
                <a:r>
                  <a:rPr lang="zh-CN" altLang="zh-CN" sz="1600" dirty="0">
                    <a:latin typeface="Times New Roman" panose="02020603050405020304" pitchFamily="18" charset="0"/>
                    <a:cs typeface="Times New Roman" panose="02020603050405020304" pitchFamily="18" charset="0"/>
                  </a:rPr>
                  <a:t>图所示。</a:t>
                </a:r>
              </a:p>
              <a:p>
                <a:pPr algn="just"/>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987574"/>
                <a:ext cx="2736304" cy="1579634"/>
              </a:xfrm>
              <a:blipFill>
                <a:blip r:embed="rId2"/>
                <a:stretch>
                  <a:fillRect l="-2004" t="-1158" r="-2004" b="-92664"/>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635896" y="1275606"/>
            <a:ext cx="5077018" cy="2376264"/>
          </a:xfrm>
          <a:prstGeom prst="rect">
            <a:avLst/>
          </a:prstGeom>
        </p:spPr>
      </p:pic>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对角矩阵的压缩存储</a:t>
            </a:r>
          </a:p>
        </p:txBody>
      </p:sp>
    </p:spTree>
    <p:extLst>
      <p:ext uri="{BB962C8B-B14F-4D97-AF65-F5344CB8AC3E}">
        <p14:creationId xmlns:p14="http://schemas.microsoft.com/office/powerpoint/2010/main" val="38638854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179512" y="987574"/>
                <a:ext cx="8856984" cy="1393843"/>
              </a:xfrm>
              <a:prstGeom prst="rect">
                <a:avLst/>
              </a:prstGeom>
              <a:noFill/>
            </p:spPr>
            <p:txBody>
              <a:bodyPr wrap="square" rtlCol="0">
                <a:spAutoFit/>
              </a:bodyPr>
              <a:lstStyle/>
              <a:p>
                <a:pPr algn="just"/>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对于</a:t>
                </a:r>
                <a14:m>
                  <m:oMath xmlns:m="http://schemas.openxmlformats.org/officeDocument/2006/math">
                    <m:r>
                      <a:rPr lang="en-US" altLang="zh-CN" sz="1600" i="1">
                        <a:latin typeface="Cambria Math" panose="02040503050406030204" pitchFamily="18" charset="0"/>
                      </a:rPr>
                      <m:t>𝑏</m:t>
                    </m:r>
                    <m:r>
                      <a:rPr lang="en-US" altLang="zh-CN" sz="1600" i="1">
                        <a:latin typeface="Cambria Math" panose="02040503050406030204" pitchFamily="18" charset="0"/>
                      </a:rPr>
                      <m:t>=1</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的三对角矩阵（如</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左</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图所示），按行优先顺序将非零数据元素存储到一维数组</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𝑏</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中，即将</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的非零元素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存储到</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𝑏</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𝑏</m:t>
                        </m:r>
                      </m:sub>
                    </m:sSub>
                    <m:r>
                      <a:rPr lang="en-US" altLang="zh-CN" sz="1600" i="1">
                        <a:latin typeface="Cambria Math" panose="02040503050406030204" pitchFamily="18" charset="0"/>
                      </a:rPr>
                      <m:t>[</m:t>
                    </m:r>
                    <m:r>
                      <a:rPr lang="en-US" altLang="zh-CN" sz="1600" i="1">
                        <a:latin typeface="Cambria Math" panose="02040503050406030204" pitchFamily="18" charset="0"/>
                      </a:rPr>
                      <m:t>𝑘</m:t>
                    </m:r>
                    <m:r>
                      <a:rPr lang="en-US" altLang="zh-CN" sz="1600" i="1">
                        <a:latin typeface="Cambria Math" panose="02040503050406030204" pitchFamily="18" charset="0"/>
                      </a:rPr>
                      <m:t>]</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𝑗</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的对应关系如下：</a:t>
                </a:r>
              </a:p>
              <a:p>
                <a:pPr algn="just"/>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𝑘</m:t>
                      </m:r>
                      <m:r>
                        <a:rPr lang="en-US" altLang="zh-CN" sz="1600" i="1">
                          <a:latin typeface="Cambria Math" panose="02040503050406030204" pitchFamily="18" charset="0"/>
                        </a:rPr>
                        <m:t>=2+3</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𝑖</m:t>
                          </m:r>
                          <m:r>
                            <a:rPr lang="en-US" altLang="zh-CN" sz="1600" i="1">
                              <a:latin typeface="Cambria Math" panose="02040503050406030204" pitchFamily="18" charset="0"/>
                            </a:rPr>
                            <m:t>−1</m:t>
                          </m:r>
                        </m:e>
                      </m:d>
                      <m:r>
                        <a:rPr lang="en-US" altLang="zh-CN" sz="1600" i="1">
                          <a:latin typeface="Cambria Math" panose="02040503050406030204" pitchFamily="18" charset="0"/>
                        </a:rPr>
                        <m:t>+</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𝑗</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+1</m:t>
                          </m:r>
                        </m:e>
                      </m:d>
                      <m:r>
                        <a:rPr lang="en-US" altLang="zh-CN" sz="1600" i="1">
                          <a:latin typeface="Cambria Math" panose="02040503050406030204" pitchFamily="18" charset="0"/>
                        </a:rPr>
                        <m:t>=2</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oMath>
                  </m:oMathPara>
                </a14:m>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下标</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与元素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𝑖𝑗</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对应关系如</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右</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图所示。</a:t>
                </a: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79512" y="987574"/>
                <a:ext cx="8856984" cy="1393843"/>
              </a:xfrm>
              <a:prstGeom prst="rect">
                <a:avLst/>
              </a:prstGeom>
              <a:blipFill>
                <a:blip r:embed="rId2"/>
                <a:stretch>
                  <a:fillRect l="-344" t="-1747" r="-413"/>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11560" y="2355726"/>
            <a:ext cx="2232248" cy="1709947"/>
          </a:xfrm>
          <a:prstGeom prst="rect">
            <a:avLst/>
          </a:prstGeom>
        </p:spPr>
      </p:pic>
      <p:pic>
        <p:nvPicPr>
          <p:cNvPr id="5" name="图片 4"/>
          <p:cNvPicPr>
            <a:picLocks noChangeAspect="1"/>
          </p:cNvPicPr>
          <p:nvPr/>
        </p:nvPicPr>
        <p:blipFill>
          <a:blip r:embed="rId4"/>
          <a:stretch>
            <a:fillRect/>
          </a:stretch>
        </p:blipFill>
        <p:spPr>
          <a:xfrm>
            <a:off x="3275856" y="2859782"/>
            <a:ext cx="5287342" cy="856118"/>
          </a:xfrm>
          <a:prstGeom prst="rect">
            <a:avLst/>
          </a:prstGeom>
        </p:spPr>
      </p:pic>
      <p:sp>
        <p:nvSpPr>
          <p:cNvPr id="6" name="文本框 5"/>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三对角矩阵的压缩存储</a:t>
            </a:r>
          </a:p>
        </p:txBody>
      </p:sp>
    </p:spTree>
    <p:extLst>
      <p:ext uri="{BB962C8B-B14F-4D97-AF65-F5344CB8AC3E}">
        <p14:creationId xmlns:p14="http://schemas.microsoft.com/office/powerpoint/2010/main" val="37003622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705842" y="1131590"/>
                <a:ext cx="7754589" cy="3507876"/>
              </a:xfrm>
            </p:spPr>
            <p:txBody>
              <a:bodyPr/>
              <a:lstStyle/>
              <a:p>
                <a:pPr marL="0" indent="0">
                  <a:lnSpc>
                    <a:spcPts val="26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一个阶数较大的矩阵</a:t>
                </a:r>
                <a14:m>
                  <m:oMath xmlns:m="http://schemas.openxmlformats.org/officeDocument/2006/math">
                    <m:r>
                      <a:rPr lang="en-US" altLang="zh-CN" sz="1600" i="1">
                        <a:latin typeface="Cambria Math" panose="02040503050406030204" pitchFamily="18" charset="0"/>
                      </a:rPr>
                      <m:t>𝐴</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𝑚</m:t>
                        </m:r>
                      </m:e>
                    </m:d>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中非零元素个数</a:t>
                </a:r>
                <a14:m>
                  <m:oMath xmlns:m="http://schemas.openxmlformats.org/officeDocument/2006/math">
                    <m:r>
                      <a:rPr lang="en-US" altLang="zh-CN" sz="1600" i="1">
                        <a:latin typeface="Cambria Math" panose="02040503050406030204" pitchFamily="18" charset="0"/>
                      </a:rPr>
                      <m:t>𝑠</m:t>
                    </m:r>
                  </m:oMath>
                </a14:m>
                <a:r>
                  <a:rPr lang="zh-CN" altLang="zh-CN" sz="1600" dirty="0">
                    <a:latin typeface="Times New Roman" panose="02020603050405020304" pitchFamily="18" charset="0"/>
                    <a:cs typeface="Times New Roman" panose="02020603050405020304" pitchFamily="18" charset="0"/>
                  </a:rPr>
                  <a:t>远小于矩阵元素的总数</a:t>
                </a:r>
                <a14:m>
                  <m:oMath xmlns:m="http://schemas.openxmlformats.org/officeDocument/2006/math">
                    <m:r>
                      <a:rPr lang="en-US" altLang="zh-CN" sz="1600" i="1">
                        <a:latin typeface="Cambria Math" panose="02040503050406030204" pitchFamily="18" charset="0"/>
                      </a:rPr>
                      <m:t>𝑚</m:t>
                    </m:r>
                    <m:r>
                      <a:rPr lang="en-US" altLang="zh-CN" sz="1600">
                        <a:latin typeface="Cambria Math" panose="02040503050406030204" pitchFamily="18" charset="0"/>
                      </a:rPr>
                      <m: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，即</a:t>
                </a:r>
                <a14:m>
                  <m:oMath xmlns:m="http://schemas.openxmlformats.org/officeDocument/2006/math">
                    <m:r>
                      <a:rPr lang="en-US" altLang="zh-CN" sz="1600" i="1">
                        <a:latin typeface="Cambria Math" panose="02040503050406030204" pitchFamily="18" charset="0"/>
                      </a:rPr>
                      <m:t>𝑠</m:t>
                    </m:r>
                    <m:r>
                      <a:rPr lang="en-US" altLang="zh-CN" sz="1600" i="1">
                        <a:latin typeface="Cambria Math" panose="02040503050406030204" pitchFamily="18" charset="0"/>
                      </a:rPr>
                      <m:t>≪</m:t>
                    </m:r>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，则称该矩阵</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为</a:t>
                </a:r>
                <a:r>
                  <a:rPr lang="zh-CN" altLang="zh-CN" sz="1600" dirty="0">
                    <a:solidFill>
                      <a:srgbClr val="C00000"/>
                    </a:solidFill>
                    <a:latin typeface="Times New Roman" panose="02020603050405020304" pitchFamily="18" charset="0"/>
                    <a:cs typeface="Times New Roman" panose="02020603050405020304" pitchFamily="18" charset="0"/>
                  </a:rPr>
                  <a:t>稀疏矩阵</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zh-CN" altLang="en-US" sz="1600" dirty="0">
                    <a:solidFill>
                      <a:srgbClr val="C00000"/>
                    </a:solidFill>
                    <a:latin typeface="Times New Roman" panose="02020603050405020304" pitchFamily="18" charset="0"/>
                    <a:cs typeface="Times New Roman" panose="02020603050405020304" pitchFamily="18" charset="0"/>
                  </a:rPr>
                  <a:t>    稀疏矩阵可以用三元组和十字链表表示。</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705842" y="1131590"/>
                <a:ext cx="7754589" cy="3507876"/>
              </a:xfrm>
              <a:blipFill>
                <a:blip r:embed="rId2"/>
                <a:stretch>
                  <a:fillRect/>
                </a:stretch>
              </a:blipFill>
            </p:spPr>
            <p:txBody>
              <a:bodyPr/>
              <a:lstStyle/>
              <a:p>
                <a:r>
                  <a:rPr lang="zh-CN" altLang="en-US">
                    <a:noFill/>
                  </a:rPr>
                  <a:t> </a:t>
                </a:r>
              </a:p>
            </p:txBody>
          </p:sp>
        </mc:Fallback>
      </mc:AlternateContent>
      <p:sp>
        <p:nvSpPr>
          <p:cNvPr id="4" name="文本框 3"/>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稀疏矩阵的压缩存储</a:t>
            </a:r>
          </a:p>
        </p:txBody>
      </p:sp>
    </p:spTree>
    <p:extLst>
      <p:ext uri="{BB962C8B-B14F-4D97-AF65-F5344CB8AC3E}">
        <p14:creationId xmlns:p14="http://schemas.microsoft.com/office/powerpoint/2010/main" val="5833173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15516" y="761228"/>
                <a:ext cx="8856984" cy="1366255"/>
              </a:xfrm>
            </p:spPr>
            <p:txBody>
              <a:bodyPr/>
              <a:lstStyle/>
              <a:p>
                <a:pPr marL="0" indent="0" algn="just">
                  <a:lnSpc>
                    <a:spcPts val="25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在存储稀疏矩阵时，为了节省存储单元，不存储</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元素。由于非零元素的分布一般是没有规律的，因此在存储非零元素的同时，必须同时存储其所在的行和列的位置</a:t>
                </a:r>
                <a14:m>
                  <m:oMath xmlns:m="http://schemas.openxmlformats.org/officeDocument/2006/math">
                    <m:r>
                      <a:rPr lang="en-US" altLang="zh-CN" sz="1600" i="1" smtClean="0">
                        <a:solidFill>
                          <a:srgbClr val="C00000"/>
                        </a:solidFill>
                        <a:latin typeface="Cambria Math" panose="02040503050406030204" pitchFamily="18" charset="0"/>
                      </a:rPr>
                      <m:t>(</m:t>
                    </m:r>
                    <m:r>
                      <a:rPr lang="en-US" altLang="zh-CN" sz="1600" i="1" smtClean="0">
                        <a:solidFill>
                          <a:srgbClr val="C00000"/>
                        </a:solidFill>
                        <a:latin typeface="Cambria Math" panose="02040503050406030204" pitchFamily="18" charset="0"/>
                      </a:rPr>
                      <m:t>𝑖</m:t>
                    </m:r>
                    <m:r>
                      <a:rPr lang="en-US" altLang="zh-CN" sz="1600" i="1" smtClean="0">
                        <a:solidFill>
                          <a:srgbClr val="C00000"/>
                        </a:solidFill>
                        <a:latin typeface="Cambria Math" panose="02040503050406030204" pitchFamily="18" charset="0"/>
                      </a:rPr>
                      <m:t>,</m:t>
                    </m:r>
                    <m:r>
                      <a:rPr lang="en-US" altLang="zh-CN" sz="1600" i="1" smtClean="0">
                        <a:solidFill>
                          <a:srgbClr val="C00000"/>
                        </a:solidFill>
                        <a:latin typeface="Cambria Math" panose="02040503050406030204" pitchFamily="18" charset="0"/>
                      </a:rPr>
                      <m:t>𝑗</m:t>
                    </m:r>
                    <m:r>
                      <a:rPr lang="en-US" altLang="zh-CN" sz="1600" i="1" smtClean="0">
                        <a:solidFill>
                          <a:srgbClr val="C00000"/>
                        </a:solidFill>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。稀疏矩阵中的每个非零元由一个三元组</a:t>
                </a:r>
                <a14:m>
                  <m:oMath xmlns:m="http://schemas.openxmlformats.org/officeDocument/2006/math">
                    <m:r>
                      <a:rPr lang="en-US" altLang="zh-CN" sz="1600" i="1" smtClean="0">
                        <a:solidFill>
                          <a:srgbClr val="C00000"/>
                        </a:solidFill>
                        <a:latin typeface="Cambria Math" panose="02040503050406030204" pitchFamily="18" charset="0"/>
                      </a:rPr>
                      <m:t>(</m:t>
                    </m:r>
                    <m:r>
                      <a:rPr lang="en-US" altLang="zh-CN" sz="1600" i="1" smtClean="0">
                        <a:solidFill>
                          <a:srgbClr val="C00000"/>
                        </a:solidFill>
                        <a:latin typeface="Cambria Math" panose="02040503050406030204" pitchFamily="18" charset="0"/>
                      </a:rPr>
                      <m:t>𝑖</m:t>
                    </m:r>
                    <m:r>
                      <a:rPr lang="en-US" altLang="zh-CN" sz="1600" i="1" smtClean="0">
                        <a:solidFill>
                          <a:srgbClr val="C00000"/>
                        </a:solidFill>
                        <a:latin typeface="Cambria Math" panose="02040503050406030204" pitchFamily="18" charset="0"/>
                      </a:rPr>
                      <m:t>,</m:t>
                    </m:r>
                    <m:r>
                      <a:rPr lang="en-US" altLang="zh-CN" sz="1600" i="1" smtClean="0">
                        <a:solidFill>
                          <a:srgbClr val="C00000"/>
                        </a:solidFill>
                        <a:latin typeface="Cambria Math" panose="02040503050406030204" pitchFamily="18" charset="0"/>
                      </a:rPr>
                      <m:t>𝑗</m:t>
                    </m:r>
                    <m:r>
                      <a:rPr lang="en-US" altLang="zh-CN" sz="1600" i="1" smtClean="0">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𝑎</m:t>
                        </m:r>
                      </m:e>
                      <m:sub>
                        <m:r>
                          <a:rPr lang="en-US" altLang="zh-CN" sz="1600" i="1">
                            <a:solidFill>
                              <a:srgbClr val="C00000"/>
                            </a:solidFill>
                            <a:latin typeface="Cambria Math" panose="02040503050406030204" pitchFamily="18" charset="0"/>
                          </a:rPr>
                          <m:t>𝑖𝑗</m:t>
                        </m:r>
                      </m:sub>
                    </m:sSub>
                    <m:r>
                      <a:rPr lang="en-US" altLang="zh-CN" sz="1600" i="1">
                        <a:solidFill>
                          <a:srgbClr val="C00000"/>
                        </a:solidFill>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唯一确定，稀疏矩阵中的所有非零元素构成三元组的线性表。若将稀疏矩阵的三元组线性表采用顺序存储结构存储，则称为稀疏矩阵的三元组顺序表</a:t>
                </a:r>
                <a:r>
                  <a:rPr lang="zh-CN" altLang="en-US"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ct val="100000"/>
                  </a:lnSpc>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15516" y="761228"/>
                <a:ext cx="8856984" cy="1366255"/>
              </a:xfrm>
              <a:blipFill>
                <a:blip r:embed="rId2"/>
                <a:stretch>
                  <a:fillRect l="-619" r="-619" b="-13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5496" y="2619426"/>
                <a:ext cx="5256584" cy="2184572"/>
              </a:xfrm>
              <a:prstGeom prst="rect">
                <a:avLst/>
              </a:prstGeom>
              <a:noFill/>
            </p:spPr>
            <p:txBody>
              <a:bodyPr wrap="square" rtlCol="0">
                <a:spAutoFit/>
              </a:bodyPr>
              <a:lstStyle/>
              <a:p>
                <a:r>
                  <a:rPr lang="zh-CN" altLang="zh-CN" dirty="0">
                    <a:latin typeface="隶书" panose="02010509060101010101" pitchFamily="49" charset="-122"/>
                    <a:ea typeface="隶书" panose="02010509060101010101" pitchFamily="49" charset="-122"/>
                  </a:rPr>
                  <a:t>例如，一个</a:t>
                </a:r>
                <a14:m>
                  <m:oMath xmlns:m="http://schemas.openxmlformats.org/officeDocument/2006/math">
                    <m:r>
                      <a:rPr lang="en-US" altLang="zh-CN">
                        <a:latin typeface="Cambria Math" panose="02040503050406030204" pitchFamily="18" charset="0"/>
                      </a:rPr>
                      <m:t>7×8</m:t>
                    </m:r>
                  </m:oMath>
                </a14:m>
                <a:r>
                  <a:rPr lang="zh-CN" altLang="zh-CN" dirty="0">
                    <a:latin typeface="隶书" panose="02010509060101010101" pitchFamily="49" charset="-122"/>
                    <a:ea typeface="隶书" panose="02010509060101010101" pitchFamily="49" charset="-122"/>
                  </a:rPr>
                  <a:t>的稀疏矩阵</a:t>
                </a:r>
                <a14:m>
                  <m:oMath xmlns:m="http://schemas.openxmlformats.org/officeDocument/2006/math">
                    <m:r>
                      <a:rPr lang="en-US" altLang="zh-CN" i="1">
                        <a:latin typeface="Cambria Math" panose="02040503050406030204" pitchFamily="18" charset="0"/>
                      </a:rPr>
                      <m:t>𝐴</m:t>
                    </m:r>
                  </m:oMath>
                </a14:m>
                <a:r>
                  <a:rPr lang="zh-CN" altLang="zh-CN" dirty="0">
                    <a:latin typeface="隶书" panose="02010509060101010101" pitchFamily="49" charset="-122"/>
                    <a:ea typeface="隶书" panose="02010509060101010101" pitchFamily="49" charset="-122"/>
                  </a:rPr>
                  <a:t>如下：</a:t>
                </a:r>
              </a:p>
              <a:p>
                <a:pPr algn="ctr"/>
                <a:r>
                  <a:rPr lang="en-US" altLang="zh-CN" i="1" dirty="0">
                    <a:latin typeface="隶书" panose="02010509060101010101" pitchFamily="49" charset="-122"/>
                    <a:ea typeface="隶书" panose="02010509060101010101" pitchFamily="49" charset="-122"/>
                  </a:rPr>
                  <a:t>A</a:t>
                </a:r>
                <a:r>
                  <a:rPr lang="en-US" altLang="zh-CN" dirty="0">
                    <a:latin typeface="隶书" panose="02010509060101010101" pitchFamily="49" charset="-122"/>
                    <a:ea typeface="隶书" panose="02010509060101010101" pitchFamily="49" charset="-122"/>
                  </a:rPr>
                  <a:t>=</a:t>
                </a:r>
                <a14:m>
                  <m:oMath xmlns:m="http://schemas.openxmlformats.org/officeDocument/2006/math">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i="1" smtClean="0">
                                <a:solidFill>
                                  <a:srgbClr val="C00000"/>
                                </a:solidFill>
                                <a:latin typeface="Cambria Math" panose="02040503050406030204" pitchFamily="18" charset="0"/>
                              </a:rPr>
                              <m:t>1</m:t>
                            </m:r>
                            <m:r>
                              <a:rPr lang="en-US" altLang="zh-CN" i="1">
                                <a:latin typeface="Cambria Math" panose="02040503050406030204" pitchFamily="18" charset="0"/>
                              </a:rPr>
                              <m:t>  0  </m:t>
                            </m:r>
                            <m:r>
                              <a:rPr lang="en-US" altLang="zh-CN" i="1" smtClean="0">
                                <a:solidFill>
                                  <a:srgbClr val="002060"/>
                                </a:solidFill>
                                <a:latin typeface="Cambria Math" panose="02040503050406030204" pitchFamily="18" charset="0"/>
                              </a:rPr>
                              <m:t>7</m:t>
                            </m:r>
                            <m:r>
                              <a:rPr lang="en-US" altLang="zh-CN" i="1">
                                <a:latin typeface="Cambria Math" panose="02040503050406030204" pitchFamily="18" charset="0"/>
                              </a:rPr>
                              <m:t>  0  0  0  0  0</m:t>
                            </m:r>
                          </m:e>
                          <m:e>
                            <m:r>
                              <a:rPr lang="en-US" altLang="zh-CN" i="1">
                                <a:latin typeface="Cambria Math" panose="02040503050406030204" pitchFamily="18" charset="0"/>
                              </a:rPr>
                              <m:t>0  0  0  0  </m:t>
                            </m:r>
                            <m:r>
                              <a:rPr lang="en-US" altLang="zh-CN" i="1" smtClean="0">
                                <a:solidFill>
                                  <a:srgbClr val="7030A0"/>
                                </a:solidFill>
                                <a:latin typeface="Cambria Math" panose="02040503050406030204" pitchFamily="18" charset="0"/>
                              </a:rPr>
                              <m:t>3</m:t>
                            </m:r>
                            <m:r>
                              <a:rPr lang="en-US" altLang="zh-CN" i="1">
                                <a:latin typeface="Cambria Math" panose="02040503050406030204" pitchFamily="18" charset="0"/>
                              </a:rPr>
                              <m:t>  0  6  0</m:t>
                            </m:r>
                          </m:e>
                          <m:e>
                            <m:r>
                              <a:rPr lang="en-US" altLang="zh-CN" i="1">
                                <a:latin typeface="Cambria Math" panose="02040503050406030204" pitchFamily="18" charset="0"/>
                              </a:rPr>
                              <m:t>0  0  0  5  0  0  0  1</m:t>
                            </m:r>
                          </m:e>
                          <m:e>
                            <m:r>
                              <a:rPr lang="en-US" altLang="zh-CN" i="1">
                                <a:latin typeface="Cambria Math" panose="02040503050406030204" pitchFamily="18" charset="0"/>
                              </a:rPr>
                              <m:t>0  0  1  0  0  3  0  0</m:t>
                            </m:r>
                          </m:e>
                          <m:e>
                            <m:r>
                              <a:rPr lang="en-US" altLang="zh-CN" i="1">
                                <a:latin typeface="Cambria Math" panose="02040503050406030204" pitchFamily="18" charset="0"/>
                              </a:rPr>
                              <m:t>0  0  0  0  0  0  0  0</m:t>
                            </m:r>
                          </m:e>
                          <m:e>
                            <m:r>
                              <a:rPr lang="en-US" altLang="zh-CN" i="1">
                                <a:latin typeface="Cambria Math" panose="02040503050406030204" pitchFamily="18" charset="0"/>
                              </a:rPr>
                              <m:t>0  0  0  0  2  0  0  0</m:t>
                            </m:r>
                          </m:e>
                          <m:e>
                            <m:r>
                              <a:rPr lang="en-US" altLang="zh-CN" i="1">
                                <a:latin typeface="Cambria Math" panose="02040503050406030204" pitchFamily="18" charset="0"/>
                              </a:rPr>
                              <m:t>0  1  0  0  0  5  0  0</m:t>
                            </m:r>
                          </m:e>
                        </m:eqArr>
                      </m:e>
                    </m:d>
                  </m:oMath>
                </a14:m>
                <a:endParaRPr lang="zh-CN" altLang="zh-CN" dirty="0">
                  <a:latin typeface="隶书" panose="02010509060101010101" pitchFamily="49" charset="-122"/>
                  <a:ea typeface="隶书" panose="02010509060101010101" pitchFamily="49"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5496" y="2619426"/>
                <a:ext cx="5256584" cy="2184572"/>
              </a:xfrm>
              <a:prstGeom prst="rect">
                <a:avLst/>
              </a:prstGeom>
              <a:blipFill>
                <a:blip r:embed="rId3"/>
                <a:stretch>
                  <a:fillRect l="-1044" t="-2235"/>
                </a:stretch>
              </a:blipFill>
            </p:spPr>
            <p:txBody>
              <a:bodyPr/>
              <a:lstStyle/>
              <a:p>
                <a:r>
                  <a:rPr lang="zh-CN" altLang="en-US">
                    <a:noFill/>
                  </a:rPr>
                  <a:t> </a:t>
                </a:r>
              </a:p>
            </p:txBody>
          </p:sp>
        </mc:Fallback>
      </mc:AlternateContent>
      <p:sp>
        <p:nvSpPr>
          <p:cNvPr id="5" name="文本框 4"/>
          <p:cNvSpPr txBox="1"/>
          <p:nvPr/>
        </p:nvSpPr>
        <p:spPr>
          <a:xfrm>
            <a:off x="4427984" y="2971415"/>
            <a:ext cx="4392488" cy="1754326"/>
          </a:xfrm>
          <a:prstGeom prst="rect">
            <a:avLst/>
          </a:prstGeom>
          <a:noFill/>
        </p:spPr>
        <p:txBody>
          <a:bodyPr wrap="square" rtlCol="0">
            <a:spAutoFit/>
          </a:bodyPr>
          <a:lstStyle/>
          <a:p>
            <a:r>
              <a:rPr lang="zh-CN" altLang="zh-CN" b="1" dirty="0">
                <a:latin typeface="隶书" panose="02010509060101010101" pitchFamily="49" charset="-122"/>
                <a:ea typeface="隶书" panose="02010509060101010101" pitchFamily="49" charset="-122"/>
              </a:rPr>
              <a:t>其对应的三元组线性表为：</a:t>
            </a:r>
          </a:p>
          <a:p>
            <a:r>
              <a:rPr lang="en-US" altLang="zh-CN" b="1" dirty="0">
                <a:latin typeface="隶书" panose="02010509060101010101" pitchFamily="49" charset="-122"/>
                <a:ea typeface="隶书" panose="02010509060101010101" pitchFamily="49" charset="-122"/>
              </a:rPr>
              <a:t>((</a:t>
            </a:r>
            <a:r>
              <a:rPr lang="en-US" altLang="zh-CN" b="1" dirty="0">
                <a:solidFill>
                  <a:srgbClr val="C00000"/>
                </a:solidFill>
                <a:latin typeface="隶书" panose="02010509060101010101" pitchFamily="49" charset="-122"/>
                <a:ea typeface="隶书" panose="02010509060101010101" pitchFamily="49" charset="-122"/>
              </a:rPr>
              <a:t>0,0,1</a:t>
            </a:r>
            <a:r>
              <a:rPr lang="en-US" altLang="zh-CN" b="1" dirty="0">
                <a:latin typeface="隶书" panose="02010509060101010101" pitchFamily="49" charset="-122"/>
                <a:ea typeface="隶书" panose="02010509060101010101" pitchFamily="49" charset="-122"/>
              </a:rPr>
              <a:t>),(</a:t>
            </a:r>
            <a:r>
              <a:rPr lang="en-US" altLang="zh-CN" b="1" dirty="0">
                <a:solidFill>
                  <a:srgbClr val="002060"/>
                </a:solidFill>
                <a:latin typeface="隶书" panose="02010509060101010101" pitchFamily="49" charset="-122"/>
                <a:ea typeface="隶书" panose="02010509060101010101" pitchFamily="49" charset="-122"/>
              </a:rPr>
              <a:t>0,2,7</a:t>
            </a:r>
            <a:r>
              <a:rPr lang="en-US" altLang="zh-CN" b="1" dirty="0">
                <a:latin typeface="隶书" panose="02010509060101010101" pitchFamily="49" charset="-122"/>
                <a:ea typeface="隶书" panose="02010509060101010101" pitchFamily="49" charset="-122"/>
              </a:rPr>
              <a:t>),(</a:t>
            </a:r>
            <a:r>
              <a:rPr lang="en-US" altLang="zh-CN" b="1" dirty="0">
                <a:solidFill>
                  <a:srgbClr val="7030A0"/>
                </a:solidFill>
                <a:latin typeface="隶书" panose="02010509060101010101" pitchFamily="49" charset="-122"/>
                <a:ea typeface="隶书" panose="02010509060101010101" pitchFamily="49" charset="-122"/>
              </a:rPr>
              <a:t>1,4,3</a:t>
            </a:r>
            <a:r>
              <a:rPr lang="en-US" altLang="zh-CN" b="1" dirty="0">
                <a:latin typeface="隶书" panose="02010509060101010101" pitchFamily="49" charset="-122"/>
                <a:ea typeface="隶书" panose="02010509060101010101" pitchFamily="49" charset="-122"/>
              </a:rPr>
              <a:t>),(1,6,6),(2,3,5),(2,7,1),(3,2,1),(3,5,3),(5,4,2),(6,1,1),(6,5,5))</a:t>
            </a:r>
            <a:endParaRPr lang="zh-CN" altLang="zh-CN" b="1" dirty="0">
              <a:latin typeface="隶书" panose="02010509060101010101" pitchFamily="49" charset="-122"/>
              <a:ea typeface="隶书" panose="02010509060101010101" pitchFamily="49" charset="-122"/>
            </a:endParaRPr>
          </a:p>
          <a:p>
            <a:endParaRPr lang="zh-CN" altLang="en-US" dirty="0"/>
          </a:p>
          <a:p>
            <a:endParaRPr lang="zh-CN" altLang="en-US" dirty="0"/>
          </a:p>
        </p:txBody>
      </p:sp>
      <p:sp>
        <p:nvSpPr>
          <p:cNvPr id="6" name="椭圆 5"/>
          <p:cNvSpPr/>
          <p:nvPr/>
        </p:nvSpPr>
        <p:spPr>
          <a:xfrm>
            <a:off x="1883641" y="2925242"/>
            <a:ext cx="216024" cy="227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644008" y="3336862"/>
            <a:ext cx="792088"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2077453" y="2610800"/>
            <a:ext cx="2887579" cy="714480"/>
          </a:xfrm>
          <a:custGeom>
            <a:avLst/>
            <a:gdLst>
              <a:gd name="connsiteX0" fmla="*/ 0 w 2887579"/>
              <a:gd name="connsiteY0" fmla="*/ 385616 h 714480"/>
              <a:gd name="connsiteX1" fmla="*/ 1147010 w 2887579"/>
              <a:gd name="connsiteY1" fmla="*/ 8627 h 714480"/>
              <a:gd name="connsiteX2" fmla="*/ 2887579 w 2887579"/>
              <a:gd name="connsiteY2" fmla="*/ 714480 h 714480"/>
            </a:gdLst>
            <a:ahLst/>
            <a:cxnLst>
              <a:cxn ang="0">
                <a:pos x="connsiteX0" y="connsiteY0"/>
              </a:cxn>
              <a:cxn ang="0">
                <a:pos x="connsiteX1" y="connsiteY1"/>
              </a:cxn>
              <a:cxn ang="0">
                <a:pos x="connsiteX2" y="connsiteY2"/>
              </a:cxn>
            </a:cxnLst>
            <a:rect l="l" t="t" r="r" b="b"/>
            <a:pathLst>
              <a:path w="2887579" h="714480">
                <a:moveTo>
                  <a:pt x="0" y="385616"/>
                </a:moveTo>
                <a:cubicBezTo>
                  <a:pt x="332873" y="169716"/>
                  <a:pt x="665747" y="-46184"/>
                  <a:pt x="1147010" y="8627"/>
                </a:cubicBezTo>
                <a:cubicBezTo>
                  <a:pt x="1628273" y="63438"/>
                  <a:pt x="2257926" y="388959"/>
                  <a:pt x="2887579" y="714480"/>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331731" y="2951998"/>
            <a:ext cx="216024" cy="184882"/>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80112" y="3351336"/>
            <a:ext cx="768115" cy="2015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11"/>
          <p:cNvSpPr/>
          <p:nvPr/>
        </p:nvSpPr>
        <p:spPr>
          <a:xfrm>
            <a:off x="2542674" y="2648593"/>
            <a:ext cx="3449052" cy="708771"/>
          </a:xfrm>
          <a:custGeom>
            <a:avLst/>
            <a:gdLst>
              <a:gd name="connsiteX0" fmla="*/ 0 w 3449052"/>
              <a:gd name="connsiteY0" fmla="*/ 347823 h 708771"/>
              <a:gd name="connsiteX1" fmla="*/ 1275347 w 3449052"/>
              <a:gd name="connsiteY1" fmla="*/ 10939 h 708771"/>
              <a:gd name="connsiteX2" fmla="*/ 3449052 w 3449052"/>
              <a:gd name="connsiteY2" fmla="*/ 708771 h 708771"/>
              <a:gd name="connsiteX3" fmla="*/ 3449052 w 3449052"/>
              <a:gd name="connsiteY3" fmla="*/ 708771 h 708771"/>
            </a:gdLst>
            <a:ahLst/>
            <a:cxnLst>
              <a:cxn ang="0">
                <a:pos x="connsiteX0" y="connsiteY0"/>
              </a:cxn>
              <a:cxn ang="0">
                <a:pos x="connsiteX1" y="connsiteY1"/>
              </a:cxn>
              <a:cxn ang="0">
                <a:pos x="connsiteX2" y="connsiteY2"/>
              </a:cxn>
              <a:cxn ang="0">
                <a:pos x="connsiteX3" y="connsiteY3"/>
              </a:cxn>
            </a:cxnLst>
            <a:rect l="l" t="t" r="r" b="b"/>
            <a:pathLst>
              <a:path w="3449052" h="708771">
                <a:moveTo>
                  <a:pt x="0" y="347823"/>
                </a:moveTo>
                <a:cubicBezTo>
                  <a:pt x="350252" y="149302"/>
                  <a:pt x="700505" y="-49219"/>
                  <a:pt x="1275347" y="10939"/>
                </a:cubicBezTo>
                <a:cubicBezTo>
                  <a:pt x="1850189" y="71097"/>
                  <a:pt x="3449052" y="708771"/>
                  <a:pt x="3449052" y="708771"/>
                </a:cubicBezTo>
                <a:lnTo>
                  <a:pt x="3449052" y="708771"/>
                </a:ln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767408" y="3192846"/>
            <a:ext cx="234689" cy="259265"/>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6492243" y="3333906"/>
            <a:ext cx="796511" cy="21898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2959768" y="2739018"/>
            <a:ext cx="3970421" cy="586262"/>
          </a:xfrm>
          <a:custGeom>
            <a:avLst/>
            <a:gdLst>
              <a:gd name="connsiteX0" fmla="*/ 0 w 3970421"/>
              <a:gd name="connsiteY0" fmla="*/ 490009 h 586262"/>
              <a:gd name="connsiteX1" fmla="*/ 1949116 w 3970421"/>
              <a:gd name="connsiteY1" fmla="*/ 725 h 586262"/>
              <a:gd name="connsiteX2" fmla="*/ 3970421 w 3970421"/>
              <a:gd name="connsiteY2" fmla="*/ 586262 h 586262"/>
              <a:gd name="connsiteX3" fmla="*/ 3970421 w 3970421"/>
              <a:gd name="connsiteY3" fmla="*/ 586262 h 586262"/>
            </a:gdLst>
            <a:ahLst/>
            <a:cxnLst>
              <a:cxn ang="0">
                <a:pos x="connsiteX0" y="connsiteY0"/>
              </a:cxn>
              <a:cxn ang="0">
                <a:pos x="connsiteX1" y="connsiteY1"/>
              </a:cxn>
              <a:cxn ang="0">
                <a:pos x="connsiteX2" y="connsiteY2"/>
              </a:cxn>
              <a:cxn ang="0">
                <a:pos x="connsiteX3" y="connsiteY3"/>
              </a:cxn>
            </a:cxnLst>
            <a:rect l="l" t="t" r="r" b="b"/>
            <a:pathLst>
              <a:path w="3970421" h="586262">
                <a:moveTo>
                  <a:pt x="0" y="490009"/>
                </a:moveTo>
                <a:cubicBezTo>
                  <a:pt x="643689" y="237346"/>
                  <a:pt x="1287379" y="-15317"/>
                  <a:pt x="1949116" y="725"/>
                </a:cubicBezTo>
                <a:cubicBezTo>
                  <a:pt x="2610853" y="16767"/>
                  <a:pt x="3970421" y="586262"/>
                  <a:pt x="3970421" y="586262"/>
                </a:cubicBezTo>
                <a:lnTo>
                  <a:pt x="3970421" y="586262"/>
                </a:ln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稀疏矩阵的三元组表示</a:t>
            </a:r>
          </a:p>
        </p:txBody>
      </p:sp>
    </p:spTree>
    <p:extLst>
      <p:ext uri="{BB962C8B-B14F-4D97-AF65-F5344CB8AC3E}">
        <p14:creationId xmlns:p14="http://schemas.microsoft.com/office/powerpoint/2010/main" val="8470951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1000"/>
                                        <p:tgtEl>
                                          <p:spTgt spid="11"/>
                                        </p:tgtEl>
                                      </p:cBhvr>
                                    </p:animEffect>
                                    <p:anim calcmode="lin" valueType="num">
                                      <p:cBhvr>
                                        <p:cTn id="46" dur="1000" fill="hold"/>
                                        <p:tgtEl>
                                          <p:spTgt spid="11"/>
                                        </p:tgtEl>
                                        <p:attrNameLst>
                                          <p:attrName>ppt_x</p:attrName>
                                        </p:attrNameLst>
                                      </p:cBhvr>
                                      <p:tavLst>
                                        <p:tav tm="0">
                                          <p:val>
                                            <p:strVal val="#ppt_x"/>
                                          </p:val>
                                        </p:tav>
                                        <p:tav tm="100000">
                                          <p:val>
                                            <p:strVal val="#ppt_x"/>
                                          </p:val>
                                        </p:tav>
                                      </p:tavLst>
                                    </p:anim>
                                    <p:anim calcmode="lin" valueType="num">
                                      <p:cBhvr>
                                        <p:cTn id="47" dur="1000" fill="hold"/>
                                        <p:tgtEl>
                                          <p:spTgt spid="11"/>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anim calcmode="lin" valueType="num">
                                      <p:cBhvr>
                                        <p:cTn id="51" dur="1000" fill="hold"/>
                                        <p:tgtEl>
                                          <p:spTgt spid="12"/>
                                        </p:tgtEl>
                                        <p:attrNameLst>
                                          <p:attrName>ppt_x</p:attrName>
                                        </p:attrNameLst>
                                      </p:cBhvr>
                                      <p:tavLst>
                                        <p:tav tm="0">
                                          <p:val>
                                            <p:strVal val="#ppt_x"/>
                                          </p:val>
                                        </p:tav>
                                        <p:tav tm="100000">
                                          <p:val>
                                            <p:strVal val="#ppt_x"/>
                                          </p:val>
                                        </p:tav>
                                      </p:tavLst>
                                    </p:anim>
                                    <p:anim calcmode="lin" valueType="num">
                                      <p:cBhvr>
                                        <p:cTn id="52" dur="1000" fill="hold"/>
                                        <p:tgtEl>
                                          <p:spTgt spid="1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1000"/>
                                        <p:tgtEl>
                                          <p:spTgt spid="15"/>
                                        </p:tgtEl>
                                      </p:cBhvr>
                                    </p:animEffect>
                                    <p:anim calcmode="lin" valueType="num">
                                      <p:cBhvr>
                                        <p:cTn id="63" dur="1000" fill="hold"/>
                                        <p:tgtEl>
                                          <p:spTgt spid="15"/>
                                        </p:tgtEl>
                                        <p:attrNameLst>
                                          <p:attrName>ppt_x</p:attrName>
                                        </p:attrNameLst>
                                      </p:cBhvr>
                                      <p:tavLst>
                                        <p:tav tm="0">
                                          <p:val>
                                            <p:strVal val="#ppt_x"/>
                                          </p:val>
                                        </p:tav>
                                        <p:tav tm="100000">
                                          <p:val>
                                            <p:strVal val="#ppt_x"/>
                                          </p:val>
                                        </p:tav>
                                      </p:tavLst>
                                    </p:anim>
                                    <p:anim calcmode="lin" valueType="num">
                                      <p:cBhvr>
                                        <p:cTn id="64" dur="100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animBg="1"/>
      <p:bldP spid="7" grpId="0" animBg="1"/>
      <p:bldP spid="9" grpId="0" animBg="1"/>
      <p:bldP spid="10" grpId="0" animBg="1"/>
      <p:bldP spid="11" grpId="0" animBg="1"/>
      <p:bldP spid="12" grpId="0" animBg="1"/>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5544616" cy="3507876"/>
          </a:xfrm>
        </p:spPr>
        <p:txBody>
          <a:bodyPr/>
          <a:lstStyle/>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#define </a:t>
            </a:r>
            <a:r>
              <a:rPr lang="en-US" altLang="zh-CN" sz="1600" dirty="0" err="1">
                <a:latin typeface="Times New Roman" panose="02020603050405020304" pitchFamily="18" charset="0"/>
                <a:cs typeface="Times New Roman" panose="02020603050405020304" pitchFamily="18" charset="0"/>
              </a:rPr>
              <a:t>MaxSize</a:t>
            </a:r>
            <a:r>
              <a:rPr lang="en-US" altLang="zh-CN" sz="1600" dirty="0">
                <a:latin typeface="Times New Roman" panose="02020603050405020304" pitchFamily="18" charset="0"/>
                <a:cs typeface="Times New Roman" panose="02020603050405020304" pitchFamily="18" charset="0"/>
              </a:rPr>
              <a:t> 1000   //</a:t>
            </a:r>
            <a:r>
              <a:rPr lang="zh-CN" altLang="zh-CN" sz="1600" dirty="0">
                <a:latin typeface="Times New Roman" panose="02020603050405020304" pitchFamily="18" charset="0"/>
                <a:cs typeface="Times New Roman" panose="02020603050405020304" pitchFamily="18" charset="0"/>
              </a:rPr>
              <a:t>自定义顺序表最大空间数 </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#define </a:t>
            </a:r>
            <a:r>
              <a:rPr lang="en-US" altLang="zh-CN" sz="1600" dirty="0" err="1">
                <a:latin typeface="Times New Roman" panose="02020603050405020304" pitchFamily="18" charset="0"/>
                <a:cs typeface="Times New Roman" panose="02020603050405020304" pitchFamily="18" charset="0"/>
              </a:rPr>
              <a:t>MaxRow</a:t>
            </a:r>
            <a:r>
              <a:rPr lang="en-US" altLang="zh-CN" sz="1600" dirty="0">
                <a:latin typeface="Times New Roman" panose="02020603050405020304" pitchFamily="18" charset="0"/>
                <a:cs typeface="Times New Roman" panose="02020603050405020304" pitchFamily="18" charset="0"/>
              </a:rPr>
              <a:t>  100  //</a:t>
            </a:r>
            <a:r>
              <a:rPr lang="zh-CN" altLang="zh-CN" sz="1600" dirty="0">
                <a:latin typeface="Times New Roman" panose="02020603050405020304" pitchFamily="18" charset="0"/>
                <a:cs typeface="Times New Roman" panose="02020603050405020304" pitchFamily="18" charset="0"/>
              </a:rPr>
              <a:t>行数</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#define </a:t>
            </a:r>
            <a:r>
              <a:rPr lang="en-US" altLang="zh-CN" sz="1600" dirty="0" err="1">
                <a:latin typeface="Times New Roman" panose="02020603050405020304" pitchFamily="18" charset="0"/>
                <a:cs typeface="Times New Roman" panose="02020603050405020304" pitchFamily="18" charset="0"/>
              </a:rPr>
              <a:t>MaxCol</a:t>
            </a:r>
            <a:r>
              <a:rPr lang="en-US" altLang="zh-CN" sz="1600" dirty="0">
                <a:latin typeface="Times New Roman" panose="02020603050405020304" pitchFamily="18" charset="0"/>
                <a:cs typeface="Times New Roman" panose="02020603050405020304" pitchFamily="18" charset="0"/>
              </a:rPr>
              <a:t>   100  //</a:t>
            </a:r>
            <a:r>
              <a:rPr lang="zh-CN" altLang="zh-CN" sz="1600" dirty="0">
                <a:latin typeface="Times New Roman" panose="02020603050405020304" pitchFamily="18" charset="0"/>
                <a:cs typeface="Times New Roman" panose="02020603050405020304" pitchFamily="18" charset="0"/>
              </a:rPr>
              <a:t>列数</a:t>
            </a:r>
          </a:p>
          <a:p>
            <a:pPr marL="0" indent="0">
              <a:lnSpc>
                <a:spcPts val="2160"/>
              </a:lnSpc>
              <a:spcBef>
                <a:spcPts val="0"/>
              </a:spcBef>
              <a:buNone/>
            </a:pPr>
            <a:r>
              <a:rPr lang="en-US" altLang="zh-CN" sz="1600" dirty="0" err="1">
                <a:latin typeface="Times New Roman" panose="02020603050405020304" pitchFamily="18" charset="0"/>
                <a:cs typeface="Times New Roman" panose="02020603050405020304" pitchFamily="18" charset="0"/>
              </a:rPr>
              <a:t>typedef</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struct</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三元组定义</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int row;           //</a:t>
            </a:r>
            <a:r>
              <a:rPr lang="zh-CN" altLang="zh-CN" sz="1600" dirty="0">
                <a:latin typeface="Times New Roman" panose="02020603050405020304" pitchFamily="18" charset="0"/>
                <a:cs typeface="Times New Roman" panose="02020603050405020304" pitchFamily="18" charset="0"/>
              </a:rPr>
              <a:t>行号</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int col;            //</a:t>
            </a:r>
            <a:r>
              <a:rPr lang="zh-CN" altLang="zh-CN" sz="1600" dirty="0">
                <a:latin typeface="Times New Roman" panose="02020603050405020304" pitchFamily="18" charset="0"/>
                <a:cs typeface="Times New Roman" panose="02020603050405020304" pitchFamily="18" charset="0"/>
              </a:rPr>
              <a:t>列号</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ev</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矩阵元素的值，</a:t>
            </a:r>
            <a:r>
              <a:rPr lang="en-US" altLang="zh-CN" sz="1600" dirty="0" err="1">
                <a:latin typeface="Times New Roman" panose="02020603050405020304" pitchFamily="18" charset="0"/>
                <a:cs typeface="Times New Roman" panose="02020603050405020304" pitchFamily="18" charset="0"/>
              </a:rPr>
              <a:t>ElemType</a:t>
            </a:r>
            <a:r>
              <a:rPr lang="zh-CN" altLang="zh-CN" sz="1600" dirty="0">
                <a:latin typeface="Times New Roman" panose="02020603050405020304" pitchFamily="18" charset="0"/>
                <a:cs typeface="Times New Roman" panose="02020603050405020304" pitchFamily="18" charset="0"/>
              </a:rPr>
              <a:t>为值类型</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TupNode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class </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 {       //</a:t>
            </a:r>
            <a:r>
              <a:rPr lang="zh-CN" altLang="zh-CN" sz="1600" dirty="0">
                <a:latin typeface="Times New Roman" panose="02020603050405020304" pitchFamily="18" charset="0"/>
                <a:cs typeface="Times New Roman" panose="02020603050405020304" pitchFamily="18" charset="0"/>
              </a:rPr>
              <a:t>三元组顺序表类定义</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private: </a:t>
            </a:r>
            <a:endParaRPr lang="zh-CN" altLang="zh-CN" sz="1600" dirty="0">
              <a:latin typeface="Times New Roman" panose="02020603050405020304" pitchFamily="18" charset="0"/>
              <a:cs typeface="Times New Roman" panose="02020603050405020304" pitchFamily="18" charset="0"/>
            </a:endParaRP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int rows;           //</a:t>
            </a:r>
            <a:r>
              <a:rPr lang="zh-CN" altLang="zh-CN" sz="1600" dirty="0">
                <a:latin typeface="Times New Roman" panose="02020603050405020304" pitchFamily="18" charset="0"/>
                <a:cs typeface="Times New Roman" panose="02020603050405020304" pitchFamily="18" charset="0"/>
              </a:rPr>
              <a:t>行数</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int cols;           //</a:t>
            </a:r>
            <a:r>
              <a:rPr lang="zh-CN" altLang="zh-CN" sz="1600" dirty="0">
                <a:latin typeface="Times New Roman" panose="02020603050405020304" pitchFamily="18" charset="0"/>
                <a:cs typeface="Times New Roman" panose="02020603050405020304" pitchFamily="18" charset="0"/>
              </a:rPr>
              <a:t>列数</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int </a:t>
            </a:r>
            <a:r>
              <a:rPr lang="en-US" altLang="zh-CN" sz="1600" dirty="0" err="1">
                <a:latin typeface="Times New Roman" panose="02020603050405020304" pitchFamily="18" charset="0"/>
                <a:cs typeface="Times New Roman" panose="02020603050405020304" pitchFamily="18" charset="0"/>
              </a:rPr>
              <a:t>nznum</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非零元个数</a:t>
            </a:r>
          </a:p>
          <a:p>
            <a:pPr marL="0" indent="0">
              <a:lnSpc>
                <a:spcPts val="216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TupNode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MaxSize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16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endPar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160"/>
              </a:lnSpc>
              <a:spcBef>
                <a:spcPts val="0"/>
              </a:spcBef>
              <a:buNone/>
            </a:pPr>
            <a:endParaRPr lang="zh-CN" altLang="en-US" sz="1800" dirty="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4" name="文本框 3"/>
          <p:cNvSpPr txBox="1"/>
          <p:nvPr/>
        </p:nvSpPr>
        <p:spPr>
          <a:xfrm>
            <a:off x="3491880" y="915566"/>
            <a:ext cx="5472608" cy="3190617"/>
          </a:xfrm>
          <a:prstGeom prst="rect">
            <a:avLst/>
          </a:prstGeom>
          <a:solidFill>
            <a:schemeClr val="accent2"/>
          </a:solidFill>
        </p:spPr>
        <p:txBody>
          <a:bodyPr wrap="square" rtlCol="0">
            <a:spAutoFit/>
          </a:bodyPr>
          <a:lstStyle/>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public:</a:t>
            </a:r>
            <a:endParaRPr lang="zh-CN" altLang="zh-CN" sz="1600" dirty="0">
              <a:latin typeface="Times New Roman" panose="02020603050405020304" pitchFamily="18" charset="0"/>
              <a:cs typeface="Times New Roman" panose="02020603050405020304" pitchFamily="18" charset="0"/>
            </a:endParaRP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(){rows=0;cols=0;nznum=0;} </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构造函数，初始化空三元组</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CreateTMatrix</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a[</a:t>
            </a:r>
            <a:r>
              <a:rPr lang="en-US" altLang="zh-CN" sz="1600" dirty="0" err="1">
                <a:latin typeface="Times New Roman" panose="02020603050405020304" pitchFamily="18" charset="0"/>
                <a:cs typeface="Times New Roman" panose="02020603050405020304" pitchFamily="18" charset="0"/>
              </a:rPr>
              <a:t>MaxRow</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MaxCol</a:t>
            </a:r>
            <a:r>
              <a:rPr lang="en-US" altLang="zh-CN" sz="1600" dirty="0">
                <a:latin typeface="Times New Roman" panose="02020603050405020304" pitchFamily="18" charset="0"/>
                <a:cs typeface="Times New Roman" panose="02020603050405020304" pitchFamily="18" charset="0"/>
              </a:rPr>
              <a:t>]);      </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根据矩阵创建三元组</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SaveValue</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i,int</a:t>
            </a:r>
            <a:r>
              <a:rPr lang="en-US" altLang="zh-CN" sz="1600" dirty="0">
                <a:latin typeface="Times New Roman" panose="02020603050405020304" pitchFamily="18" charset="0"/>
                <a:cs typeface="Times New Roman" panose="02020603050405020304" pitchFamily="18" charset="0"/>
              </a:rPr>
              <a:t> j);  //</a:t>
            </a:r>
            <a:r>
              <a:rPr lang="zh-CN" altLang="zh-CN" sz="1600" dirty="0">
                <a:latin typeface="Times New Roman" panose="02020603050405020304" pitchFamily="18" charset="0"/>
                <a:cs typeface="Times New Roman" panose="02020603050405020304" pitchFamily="18" charset="0"/>
              </a:rPr>
              <a:t>存元素</a:t>
            </a:r>
            <a:r>
              <a:rPr lang="en-US" altLang="zh-CN" sz="1600" dirty="0">
                <a:latin typeface="Times New Roman" panose="02020603050405020304" pitchFamily="18" charset="0"/>
                <a:cs typeface="Times New Roman" panose="02020603050405020304" pitchFamily="18" charset="0"/>
              </a:rPr>
              <a:t>      </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FetchValue</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&amp;</a:t>
            </a:r>
            <a:r>
              <a:rPr lang="en-US" altLang="zh-CN" sz="1600" dirty="0" err="1">
                <a:latin typeface="Times New Roman" panose="02020603050405020304" pitchFamily="18" charset="0"/>
                <a:cs typeface="Times New Roman" panose="02020603050405020304" pitchFamily="18" charset="0"/>
              </a:rPr>
              <a:t>e,int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i,int</a:t>
            </a:r>
            <a:r>
              <a:rPr lang="en-US" altLang="zh-CN" sz="1600" dirty="0">
                <a:latin typeface="Times New Roman" panose="02020603050405020304" pitchFamily="18" charset="0"/>
                <a:cs typeface="Times New Roman" panose="02020603050405020304" pitchFamily="18" charset="0"/>
              </a:rPr>
              <a:t> j);    //</a:t>
            </a:r>
            <a:r>
              <a:rPr lang="zh-CN" altLang="zh-CN" sz="1600" dirty="0">
                <a:latin typeface="Times New Roman" panose="02020603050405020304" pitchFamily="18" charset="0"/>
                <a:cs typeface="Times New Roman" panose="02020603050405020304" pitchFamily="18" charset="0"/>
              </a:rPr>
              <a:t>取元素</a:t>
            </a: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TranSMatrix</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 a);         //</a:t>
            </a:r>
            <a:r>
              <a:rPr lang="zh-CN" altLang="zh-CN" sz="1600" dirty="0">
                <a:latin typeface="Times New Roman" panose="02020603050405020304" pitchFamily="18" charset="0"/>
                <a:cs typeface="Times New Roman" panose="02020603050405020304" pitchFamily="18" charset="0"/>
              </a:rPr>
              <a:t>矩阵转置</a:t>
            </a: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AddMatrix</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 a, </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 b);//</a:t>
            </a:r>
            <a:r>
              <a:rPr lang="zh-CN" altLang="zh-CN" sz="1600" dirty="0">
                <a:latin typeface="Times New Roman" panose="02020603050405020304" pitchFamily="18" charset="0"/>
                <a:cs typeface="Times New Roman" panose="02020603050405020304" pitchFamily="18" charset="0"/>
              </a:rPr>
              <a:t>矩阵加法</a:t>
            </a: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nSpc>
                <a:spcPts val="2160"/>
              </a:lnSpc>
              <a:spcBef>
                <a:spcPts val="0"/>
              </a:spcBef>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zh-CN" sz="2000" dirty="0"/>
              <a:t>三元组顺序表的类定义</a:t>
            </a:r>
            <a:endParaRPr lang="zh-CN" altLang="en-US" sz="2000" dirty="0"/>
          </a:p>
        </p:txBody>
      </p:sp>
    </p:spTree>
    <p:extLst>
      <p:ext uri="{BB962C8B-B14F-4D97-AF65-F5344CB8AC3E}">
        <p14:creationId xmlns:p14="http://schemas.microsoft.com/office/powerpoint/2010/main" val="29002558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
                                            <p:txEl>
                                              <p:pRg st="14" end="14"/>
                                            </p:txEl>
                                          </p:spTgt>
                                        </p:tgtEl>
                                        <p:attrNameLst>
                                          <p:attrName>style.visibility</p:attrName>
                                        </p:attrNameLst>
                                      </p:cBhvr>
                                      <p:to>
                                        <p:strVal val="visible"/>
                                      </p:to>
                                    </p:set>
                                    <p:animEffect transition="in" filter="fade">
                                      <p:cBhvr>
                                        <p:cTn id="105" dur="1000"/>
                                        <p:tgtEl>
                                          <p:spTgt spid="3">
                                            <p:txEl>
                                              <p:pRg st="14" end="14"/>
                                            </p:txEl>
                                          </p:spTgt>
                                        </p:tgtEl>
                                      </p:cBhvr>
                                    </p:animEffect>
                                    <p:anim calcmode="lin" valueType="num">
                                      <p:cBhvr>
                                        <p:cTn id="106"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fade">
                                      <p:cBhvr>
                                        <p:cTn id="112" dur="1000"/>
                                        <p:tgtEl>
                                          <p:spTgt spid="4"/>
                                        </p:tgtEl>
                                      </p:cBhvr>
                                    </p:animEffect>
                                    <p:anim calcmode="lin" valueType="num">
                                      <p:cBhvr>
                                        <p:cTn id="113" dur="1000" fill="hold"/>
                                        <p:tgtEl>
                                          <p:spTgt spid="4"/>
                                        </p:tgtEl>
                                        <p:attrNameLst>
                                          <p:attrName>ppt_x</p:attrName>
                                        </p:attrNameLst>
                                      </p:cBhvr>
                                      <p:tavLst>
                                        <p:tav tm="0">
                                          <p:val>
                                            <p:strVal val="#ppt_x"/>
                                          </p:val>
                                        </p:tav>
                                        <p:tav tm="100000">
                                          <p:val>
                                            <p:strVal val="#ppt_x"/>
                                          </p:val>
                                        </p:tav>
                                      </p:tavLst>
                                    </p:anim>
                                    <p:anim calcmode="lin" valueType="num">
                                      <p:cBhvr>
                                        <p:cTn id="1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xEl>
                                              <p:pRg st="0" end="0"/>
                                            </p:txEl>
                                          </p:spTgt>
                                        </p:tgtEl>
                                        <p:attrNameLst>
                                          <p:attrName>style.visibility</p:attrName>
                                        </p:attrNameLst>
                                      </p:cBhvr>
                                      <p:to>
                                        <p:strVal val="visible"/>
                                      </p:to>
                                    </p:set>
                                    <p:animEffect transition="in" filter="fade">
                                      <p:cBhvr>
                                        <p:cTn id="119" dur="1000"/>
                                        <p:tgtEl>
                                          <p:spTgt spid="4">
                                            <p:txEl>
                                              <p:pRg st="0" end="0"/>
                                            </p:txEl>
                                          </p:spTgt>
                                        </p:tgtEl>
                                      </p:cBhvr>
                                    </p:animEffect>
                                    <p:anim calcmode="lin" valueType="num">
                                      <p:cBhvr>
                                        <p:cTn id="12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21"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4">
                                            <p:txEl>
                                              <p:pRg st="1" end="1"/>
                                            </p:txEl>
                                          </p:spTgt>
                                        </p:tgtEl>
                                        <p:attrNameLst>
                                          <p:attrName>style.visibility</p:attrName>
                                        </p:attrNameLst>
                                      </p:cBhvr>
                                      <p:to>
                                        <p:strVal val="visible"/>
                                      </p:to>
                                    </p:set>
                                    <p:animEffect transition="in" filter="fade">
                                      <p:cBhvr>
                                        <p:cTn id="124" dur="1000"/>
                                        <p:tgtEl>
                                          <p:spTgt spid="4">
                                            <p:txEl>
                                              <p:pRg st="1" end="1"/>
                                            </p:txEl>
                                          </p:spTgt>
                                        </p:tgtEl>
                                      </p:cBhvr>
                                    </p:animEffect>
                                    <p:anim calcmode="lin" valueType="num">
                                      <p:cBhvr>
                                        <p:cTn id="12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2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8" dur="1" fill="hold">
                                          <p:stCondLst>
                                            <p:cond delay="0"/>
                                          </p:stCondLst>
                                        </p:cTn>
                                        <p:tgtEl>
                                          <p:spTgt spid="4">
                                            <p:txEl>
                                              <p:pRg st="2" end="2"/>
                                            </p:txEl>
                                          </p:spTgt>
                                        </p:tgtEl>
                                        <p:attrNameLst>
                                          <p:attrName>style.visibility</p:attrName>
                                        </p:attrNameLst>
                                      </p:cBhvr>
                                      <p:to>
                                        <p:strVal val="visible"/>
                                      </p:to>
                                    </p:set>
                                    <p:animEffect transition="in" filter="fade">
                                      <p:cBhvr>
                                        <p:cTn id="129" dur="1000"/>
                                        <p:tgtEl>
                                          <p:spTgt spid="4">
                                            <p:txEl>
                                              <p:pRg st="2" end="2"/>
                                            </p:txEl>
                                          </p:spTgt>
                                        </p:tgtEl>
                                      </p:cBhvr>
                                    </p:animEffect>
                                    <p:anim calcmode="lin" valueType="num">
                                      <p:cBhvr>
                                        <p:cTn id="13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3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nodeType="clickEffect">
                                  <p:stCondLst>
                                    <p:cond delay="0"/>
                                  </p:stCondLst>
                                  <p:childTnLst>
                                    <p:set>
                                      <p:cBhvr>
                                        <p:cTn id="135" dur="1" fill="hold">
                                          <p:stCondLst>
                                            <p:cond delay="0"/>
                                          </p:stCondLst>
                                        </p:cTn>
                                        <p:tgtEl>
                                          <p:spTgt spid="4">
                                            <p:txEl>
                                              <p:pRg st="3" end="3"/>
                                            </p:txEl>
                                          </p:spTgt>
                                        </p:tgtEl>
                                        <p:attrNameLst>
                                          <p:attrName>style.visibility</p:attrName>
                                        </p:attrNameLst>
                                      </p:cBhvr>
                                      <p:to>
                                        <p:strVal val="visible"/>
                                      </p:to>
                                    </p:set>
                                    <p:animEffect transition="in" filter="fade">
                                      <p:cBhvr>
                                        <p:cTn id="136" dur="1000"/>
                                        <p:tgtEl>
                                          <p:spTgt spid="4">
                                            <p:txEl>
                                              <p:pRg st="3" end="3"/>
                                            </p:txEl>
                                          </p:spTgt>
                                        </p:tgtEl>
                                      </p:cBhvr>
                                    </p:animEffect>
                                    <p:anim calcmode="lin" valueType="num">
                                      <p:cBhvr>
                                        <p:cTn id="13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3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4">
                                            <p:txEl>
                                              <p:pRg st="4" end="4"/>
                                            </p:txEl>
                                          </p:spTgt>
                                        </p:tgtEl>
                                        <p:attrNameLst>
                                          <p:attrName>style.visibility</p:attrName>
                                        </p:attrNameLst>
                                      </p:cBhvr>
                                      <p:to>
                                        <p:strVal val="visible"/>
                                      </p:to>
                                    </p:set>
                                    <p:animEffect transition="in" filter="fade">
                                      <p:cBhvr>
                                        <p:cTn id="141" dur="1000"/>
                                        <p:tgtEl>
                                          <p:spTgt spid="4">
                                            <p:txEl>
                                              <p:pRg st="4" end="4"/>
                                            </p:txEl>
                                          </p:spTgt>
                                        </p:tgtEl>
                                      </p:cBhvr>
                                    </p:animEffect>
                                    <p:anim calcmode="lin" valueType="num">
                                      <p:cBhvr>
                                        <p:cTn id="14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4">
                                            <p:txEl>
                                              <p:pRg st="5" end="5"/>
                                            </p:txEl>
                                          </p:spTgt>
                                        </p:tgtEl>
                                        <p:attrNameLst>
                                          <p:attrName>style.visibility</p:attrName>
                                        </p:attrNameLst>
                                      </p:cBhvr>
                                      <p:to>
                                        <p:strVal val="visible"/>
                                      </p:to>
                                    </p:set>
                                    <p:animEffect transition="in" filter="fade">
                                      <p:cBhvr>
                                        <p:cTn id="148" dur="1000"/>
                                        <p:tgtEl>
                                          <p:spTgt spid="4">
                                            <p:txEl>
                                              <p:pRg st="5" end="5"/>
                                            </p:txEl>
                                          </p:spTgt>
                                        </p:tgtEl>
                                      </p:cBhvr>
                                    </p:animEffect>
                                    <p:anim calcmode="lin" valueType="num">
                                      <p:cBhvr>
                                        <p:cTn id="14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5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42" presetClass="entr" presetSubtype="0" fill="hold" nodeType="clickEffect">
                                  <p:stCondLst>
                                    <p:cond delay="0"/>
                                  </p:stCondLst>
                                  <p:childTnLst>
                                    <p:set>
                                      <p:cBhvr>
                                        <p:cTn id="154" dur="1" fill="hold">
                                          <p:stCondLst>
                                            <p:cond delay="0"/>
                                          </p:stCondLst>
                                        </p:cTn>
                                        <p:tgtEl>
                                          <p:spTgt spid="4">
                                            <p:txEl>
                                              <p:pRg st="6" end="6"/>
                                            </p:txEl>
                                          </p:spTgt>
                                        </p:tgtEl>
                                        <p:attrNameLst>
                                          <p:attrName>style.visibility</p:attrName>
                                        </p:attrNameLst>
                                      </p:cBhvr>
                                      <p:to>
                                        <p:strVal val="visible"/>
                                      </p:to>
                                    </p:set>
                                    <p:animEffect transition="in" filter="fade">
                                      <p:cBhvr>
                                        <p:cTn id="155" dur="1000"/>
                                        <p:tgtEl>
                                          <p:spTgt spid="4">
                                            <p:txEl>
                                              <p:pRg st="6" end="6"/>
                                            </p:txEl>
                                          </p:spTgt>
                                        </p:tgtEl>
                                      </p:cBhvr>
                                    </p:animEffect>
                                    <p:anim calcmode="lin" valueType="num">
                                      <p:cBhvr>
                                        <p:cTn id="15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5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42" presetClass="entr" presetSubtype="0" fill="hold" nodeType="clickEffect">
                                  <p:stCondLst>
                                    <p:cond delay="0"/>
                                  </p:stCondLst>
                                  <p:childTnLst>
                                    <p:set>
                                      <p:cBhvr>
                                        <p:cTn id="161" dur="1" fill="hold">
                                          <p:stCondLst>
                                            <p:cond delay="0"/>
                                          </p:stCondLst>
                                        </p:cTn>
                                        <p:tgtEl>
                                          <p:spTgt spid="4">
                                            <p:txEl>
                                              <p:pRg st="7" end="7"/>
                                            </p:txEl>
                                          </p:spTgt>
                                        </p:tgtEl>
                                        <p:attrNameLst>
                                          <p:attrName>style.visibility</p:attrName>
                                        </p:attrNameLst>
                                      </p:cBhvr>
                                      <p:to>
                                        <p:strVal val="visible"/>
                                      </p:to>
                                    </p:set>
                                    <p:animEffect transition="in" filter="fade">
                                      <p:cBhvr>
                                        <p:cTn id="162" dur="1000"/>
                                        <p:tgtEl>
                                          <p:spTgt spid="4">
                                            <p:txEl>
                                              <p:pRg st="7" end="7"/>
                                            </p:txEl>
                                          </p:spTgt>
                                        </p:tgtEl>
                                      </p:cBhvr>
                                    </p:animEffect>
                                    <p:anim calcmode="lin" valueType="num">
                                      <p:cBhvr>
                                        <p:cTn id="16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6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42" presetClass="entr" presetSubtype="0" fill="hold" nodeType="clickEffect">
                                  <p:stCondLst>
                                    <p:cond delay="0"/>
                                  </p:stCondLst>
                                  <p:childTnLst>
                                    <p:set>
                                      <p:cBhvr>
                                        <p:cTn id="168" dur="1" fill="hold">
                                          <p:stCondLst>
                                            <p:cond delay="0"/>
                                          </p:stCondLst>
                                        </p:cTn>
                                        <p:tgtEl>
                                          <p:spTgt spid="4">
                                            <p:txEl>
                                              <p:pRg st="8" end="8"/>
                                            </p:txEl>
                                          </p:spTgt>
                                        </p:tgtEl>
                                        <p:attrNameLst>
                                          <p:attrName>style.visibility</p:attrName>
                                        </p:attrNameLst>
                                      </p:cBhvr>
                                      <p:to>
                                        <p:strVal val="visible"/>
                                      </p:to>
                                    </p:set>
                                    <p:animEffect transition="in" filter="fade">
                                      <p:cBhvr>
                                        <p:cTn id="169" dur="1000"/>
                                        <p:tgtEl>
                                          <p:spTgt spid="4">
                                            <p:txEl>
                                              <p:pRg st="8" end="8"/>
                                            </p:txEl>
                                          </p:spTgt>
                                        </p:tgtEl>
                                      </p:cBhvr>
                                    </p:animEffect>
                                    <p:anim calcmode="lin" valueType="num">
                                      <p:cBhvr>
                                        <p:cTn id="17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7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72" presetID="42" presetClass="entr" presetSubtype="0" fill="hold" nodeType="withEffect">
                                  <p:stCondLst>
                                    <p:cond delay="0"/>
                                  </p:stCondLst>
                                  <p:childTnLst>
                                    <p:set>
                                      <p:cBhvr>
                                        <p:cTn id="173" dur="1" fill="hold">
                                          <p:stCondLst>
                                            <p:cond delay="0"/>
                                          </p:stCondLst>
                                        </p:cTn>
                                        <p:tgtEl>
                                          <p:spTgt spid="4">
                                            <p:txEl>
                                              <p:pRg st="9" end="9"/>
                                            </p:txEl>
                                          </p:spTgt>
                                        </p:tgtEl>
                                        <p:attrNameLst>
                                          <p:attrName>style.visibility</p:attrName>
                                        </p:attrNameLst>
                                      </p:cBhvr>
                                      <p:to>
                                        <p:strVal val="visible"/>
                                      </p:to>
                                    </p:set>
                                    <p:animEffect transition="in" filter="fade">
                                      <p:cBhvr>
                                        <p:cTn id="174" dur="1000"/>
                                        <p:tgtEl>
                                          <p:spTgt spid="4">
                                            <p:txEl>
                                              <p:pRg st="9" end="9"/>
                                            </p:txEl>
                                          </p:spTgt>
                                        </p:tgtEl>
                                      </p:cBhvr>
                                    </p:animEffect>
                                    <p:anim calcmode="lin" valueType="num">
                                      <p:cBhvr>
                                        <p:cTn id="17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7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15566"/>
            <a:ext cx="8856984" cy="2304256"/>
          </a:xfrm>
        </p:spPr>
        <p:txBody>
          <a:bodyPr/>
          <a:lstStyle/>
          <a:p>
            <a:pPr marL="0" indent="0">
              <a:lnSpc>
                <a:spcPts val="2500"/>
              </a:lnSpc>
              <a:spcBef>
                <a:spcPts val="0"/>
              </a:spcBef>
              <a:buNone/>
            </a:pPr>
            <a:r>
              <a:rPr lang="en-US" altLang="zh-CN" sz="1800" dirty="0">
                <a:latin typeface="隶书" panose="02010509060101010101" pitchFamily="49" charset="-122"/>
                <a:ea typeface="隶书" panose="02010509060101010101" pitchFamily="49" charset="-122"/>
              </a:rPr>
              <a:t>   </a:t>
            </a:r>
            <a:endParaRPr lang="zh-CN" altLang="en-US" sz="1800" dirty="0">
              <a:latin typeface="隶书" panose="02010509060101010101" pitchFamily="49" charset="-122"/>
              <a:ea typeface="隶书" panose="02010509060101010101" pitchFamily="49" charset="-122"/>
            </a:endParaRPr>
          </a:p>
        </p:txBody>
      </p:sp>
      <p:sp>
        <p:nvSpPr>
          <p:cNvPr id="6" name="文本框 5"/>
          <p:cNvSpPr txBox="1"/>
          <p:nvPr/>
        </p:nvSpPr>
        <p:spPr>
          <a:xfrm>
            <a:off x="251520" y="619185"/>
            <a:ext cx="8712968" cy="4524315"/>
          </a:xfrm>
          <a:prstGeom prst="rect">
            <a:avLst/>
          </a:prstGeom>
          <a:noFill/>
        </p:spPr>
        <p:txBody>
          <a:bodyPr wrap="square" rtlCol="0">
            <a:spAutoFit/>
          </a:bodyPr>
          <a:lstStyle/>
          <a:p>
            <a:r>
              <a:rPr lang="zh-CN" altLang="zh-CN" sz="1600" dirty="0">
                <a:latin typeface="黑体" panose="02010609060101010101" pitchFamily="49" charset="-122"/>
                <a:ea typeface="黑体" panose="02010609060101010101" pitchFamily="49" charset="-122"/>
              </a:rPr>
              <a:t>以行序方式扫描二维矩阵，并将其非零元插入三元组</a:t>
            </a:r>
            <a:endParaRPr lang="en-US" altLang="zh-CN" sz="1600" dirty="0">
              <a:latin typeface="黑体" panose="02010609060101010101" pitchFamily="49" charset="-122"/>
              <a:ea typeface="黑体" panose="02010609060101010101" pitchFamily="49" charset="-122"/>
            </a:endParaRPr>
          </a:p>
          <a:p>
            <a:r>
              <a:rPr lang="en-US" altLang="zh-CN" dirty="0">
                <a:solidFill>
                  <a:srgbClr val="7030A0"/>
                </a:solidFill>
                <a:latin typeface="Times New Roman" panose="02020603050405020304" pitchFamily="18" charset="0"/>
                <a:cs typeface="Times New Roman" panose="02020603050405020304" pitchFamily="18" charset="0"/>
              </a:rPr>
              <a:t>void </a:t>
            </a:r>
            <a:r>
              <a:rPr lang="en-US" altLang="zh-CN" dirty="0" err="1">
                <a:solidFill>
                  <a:srgbClr val="7030A0"/>
                </a:solidFill>
                <a:latin typeface="Times New Roman" panose="02020603050405020304" pitchFamily="18" charset="0"/>
                <a:cs typeface="Times New Roman" panose="02020603050405020304" pitchFamily="18" charset="0"/>
              </a:rPr>
              <a:t>TSMatrix</a:t>
            </a:r>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CreateTMatrix</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ElemType</a:t>
            </a:r>
            <a:r>
              <a:rPr lang="en-US" altLang="zh-CN" dirty="0">
                <a:solidFill>
                  <a:srgbClr val="7030A0"/>
                </a:solidFill>
                <a:latin typeface="Times New Roman" panose="02020603050405020304" pitchFamily="18" charset="0"/>
                <a:cs typeface="Times New Roman" panose="02020603050405020304" pitchFamily="18" charset="0"/>
              </a:rPr>
              <a:t> a[</a:t>
            </a:r>
            <a:r>
              <a:rPr lang="en-US" altLang="zh-CN" dirty="0" err="1">
                <a:solidFill>
                  <a:srgbClr val="7030A0"/>
                </a:solidFill>
                <a:latin typeface="Times New Roman" panose="02020603050405020304" pitchFamily="18" charset="0"/>
                <a:cs typeface="Times New Roman" panose="02020603050405020304" pitchFamily="18" charset="0"/>
              </a:rPr>
              <a:t>MaxRow</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MaxCol</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rows=</a:t>
            </a:r>
            <a:r>
              <a:rPr lang="en-US" altLang="zh-CN" dirty="0" err="1">
                <a:solidFill>
                  <a:srgbClr val="7030A0"/>
                </a:solidFill>
                <a:latin typeface="Times New Roman" panose="02020603050405020304" pitchFamily="18" charset="0"/>
                <a:cs typeface="Times New Roman" panose="02020603050405020304" pitchFamily="18" charset="0"/>
              </a:rPr>
              <a:t>MaxRow</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cols=</a:t>
            </a:r>
            <a:r>
              <a:rPr lang="en-US" altLang="zh-CN" dirty="0" err="1">
                <a:solidFill>
                  <a:srgbClr val="7030A0"/>
                </a:solidFill>
                <a:latin typeface="Times New Roman" panose="02020603050405020304" pitchFamily="18" charset="0"/>
                <a:cs typeface="Times New Roman" panose="02020603050405020304" pitchFamily="18" charset="0"/>
              </a:rPr>
              <a:t>MaxCol</a:t>
            </a:r>
            <a:r>
              <a:rPr lang="en-US" altLang="zh-CN" dirty="0">
                <a:solidFill>
                  <a:srgbClr val="7030A0"/>
                </a:solidFill>
                <a:latin typeface="Times New Roman" panose="02020603050405020304" pitchFamily="18" charset="0"/>
                <a:cs typeface="Times New Roman" panose="02020603050405020304" pitchFamily="18" charset="0"/>
              </a:rPr>
              <a:t>;</a:t>
            </a: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nznum</a:t>
            </a:r>
            <a:r>
              <a:rPr lang="en-US" altLang="zh-CN" dirty="0">
                <a:solidFill>
                  <a:srgbClr val="7030A0"/>
                </a:solidFill>
                <a:latin typeface="Times New Roman" panose="02020603050405020304" pitchFamily="18" charset="0"/>
                <a:cs typeface="Times New Roman" panose="02020603050405020304" pitchFamily="18" charset="0"/>
              </a:rPr>
              <a:t>=0;</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int</a:t>
            </a:r>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i,j</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for(</a:t>
            </a:r>
            <a:r>
              <a:rPr lang="en-US" altLang="zh-CN" dirty="0" err="1">
                <a:solidFill>
                  <a:srgbClr val="7030A0"/>
                </a:solidFill>
                <a:latin typeface="Times New Roman" panose="02020603050405020304" pitchFamily="18" charset="0"/>
                <a:cs typeface="Times New Roman" panose="02020603050405020304" pitchFamily="18" charset="0"/>
              </a:rPr>
              <a:t>i</a:t>
            </a:r>
            <a:r>
              <a:rPr lang="en-US" altLang="zh-CN" dirty="0">
                <a:solidFill>
                  <a:srgbClr val="7030A0"/>
                </a:solidFill>
                <a:latin typeface="Times New Roman" panose="02020603050405020304" pitchFamily="18" charset="0"/>
                <a:cs typeface="Times New Roman" panose="02020603050405020304" pitchFamily="18" charset="0"/>
              </a:rPr>
              <a:t>=0;i&lt;</a:t>
            </a:r>
            <a:r>
              <a:rPr lang="en-US" altLang="zh-CN" dirty="0" err="1">
                <a:solidFill>
                  <a:srgbClr val="7030A0"/>
                </a:solidFill>
                <a:latin typeface="Times New Roman" panose="02020603050405020304" pitchFamily="18" charset="0"/>
                <a:cs typeface="Times New Roman" panose="02020603050405020304" pitchFamily="18" charset="0"/>
              </a:rPr>
              <a:t>MaxRow;i</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for(j=0;j&lt;</a:t>
            </a:r>
            <a:r>
              <a:rPr lang="en-US" altLang="zh-CN" dirty="0" err="1">
                <a:solidFill>
                  <a:srgbClr val="7030A0"/>
                </a:solidFill>
                <a:latin typeface="Times New Roman" panose="02020603050405020304" pitchFamily="18" charset="0"/>
                <a:cs typeface="Times New Roman" panose="02020603050405020304" pitchFamily="18" charset="0"/>
              </a:rPr>
              <a:t>MaxCol;j</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if(a[</a:t>
            </a:r>
            <a:r>
              <a:rPr lang="en-US" altLang="zh-CN" dirty="0" err="1">
                <a:solidFill>
                  <a:srgbClr val="7030A0"/>
                </a:solidFill>
                <a:latin typeface="Times New Roman" panose="02020603050405020304" pitchFamily="18" charset="0"/>
                <a:cs typeface="Times New Roman" panose="02020603050405020304" pitchFamily="18" charset="0"/>
              </a:rPr>
              <a:t>i</a:t>
            </a:r>
            <a:r>
              <a:rPr lang="en-US" altLang="zh-CN" dirty="0">
                <a:solidFill>
                  <a:srgbClr val="7030A0"/>
                </a:solidFill>
                <a:latin typeface="Times New Roman" panose="02020603050405020304" pitchFamily="18" charset="0"/>
                <a:cs typeface="Times New Roman" panose="02020603050405020304" pitchFamily="18" charset="0"/>
              </a:rPr>
              <a:t>][j]!=0){</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elem</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nznum</a:t>
            </a:r>
            <a:r>
              <a:rPr lang="en-US" altLang="zh-CN" dirty="0">
                <a:solidFill>
                  <a:srgbClr val="7030A0"/>
                </a:solidFill>
                <a:latin typeface="Times New Roman" panose="02020603050405020304" pitchFamily="18" charset="0"/>
                <a:cs typeface="Times New Roman" panose="02020603050405020304" pitchFamily="18" charset="0"/>
              </a:rPr>
              <a:t>].row=</a:t>
            </a:r>
            <a:r>
              <a:rPr lang="en-US" altLang="zh-CN" dirty="0" err="1">
                <a:solidFill>
                  <a:srgbClr val="7030A0"/>
                </a:solidFill>
                <a:latin typeface="Times New Roman" panose="02020603050405020304" pitchFamily="18" charset="0"/>
                <a:cs typeface="Times New Roman" panose="02020603050405020304" pitchFamily="18" charset="0"/>
              </a:rPr>
              <a:t>i</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elem</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nznum</a:t>
            </a:r>
            <a:r>
              <a:rPr lang="en-US" altLang="zh-CN" dirty="0">
                <a:solidFill>
                  <a:srgbClr val="7030A0"/>
                </a:solidFill>
                <a:latin typeface="Times New Roman" panose="02020603050405020304" pitchFamily="18" charset="0"/>
                <a:cs typeface="Times New Roman" panose="02020603050405020304" pitchFamily="18" charset="0"/>
              </a:rPr>
              <a:t>].col=j;</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elem</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nznum</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ev</a:t>
            </a:r>
            <a:r>
              <a:rPr lang="en-US" altLang="zh-CN" dirty="0">
                <a:solidFill>
                  <a:srgbClr val="7030A0"/>
                </a:solidFill>
                <a:latin typeface="Times New Roman" panose="02020603050405020304" pitchFamily="18" charset="0"/>
                <a:cs typeface="Times New Roman" panose="02020603050405020304" pitchFamily="18" charset="0"/>
              </a:rPr>
              <a:t>=a[</a:t>
            </a:r>
            <a:r>
              <a:rPr lang="en-US" altLang="zh-CN" dirty="0" err="1">
                <a:solidFill>
                  <a:srgbClr val="7030A0"/>
                </a:solidFill>
                <a:latin typeface="Times New Roman" panose="02020603050405020304" pitchFamily="18" charset="0"/>
                <a:cs typeface="Times New Roman" panose="02020603050405020304" pitchFamily="18" charset="0"/>
              </a:rPr>
              <a:t>i</a:t>
            </a:r>
            <a:r>
              <a:rPr lang="en-US" altLang="zh-CN" dirty="0">
                <a:solidFill>
                  <a:srgbClr val="7030A0"/>
                </a:solidFill>
                <a:latin typeface="Times New Roman" panose="02020603050405020304" pitchFamily="18" charset="0"/>
                <a:cs typeface="Times New Roman" panose="02020603050405020304" pitchFamily="18" charset="0"/>
              </a:rPr>
              <a:t>][j];</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nznum</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endParaRPr lang="zh-CN" altLang="zh-CN" dirty="0">
              <a:solidFill>
                <a:srgbClr val="7030A0"/>
              </a:solidFill>
              <a:latin typeface="Times New Roman" panose="02020603050405020304" pitchFamily="18" charset="0"/>
              <a:cs typeface="Times New Roman" panose="02020603050405020304" pitchFamily="18" charset="0"/>
            </a:endParaRPr>
          </a:p>
          <a:p>
            <a:endParaRPr lang="zh-CN" altLang="en-US" dirty="0"/>
          </a:p>
        </p:txBody>
      </p:sp>
      <p:pic>
        <p:nvPicPr>
          <p:cNvPr id="12" name="图片 11"/>
          <p:cNvPicPr>
            <a:picLocks noChangeAspect="1"/>
          </p:cNvPicPr>
          <p:nvPr/>
        </p:nvPicPr>
        <p:blipFill>
          <a:blip r:embed="rId2"/>
          <a:stretch>
            <a:fillRect/>
          </a:stretch>
        </p:blipFill>
        <p:spPr>
          <a:xfrm>
            <a:off x="4427984" y="1306312"/>
            <a:ext cx="4464496" cy="3023941"/>
          </a:xfrm>
          <a:prstGeom prst="rect">
            <a:avLst/>
          </a:prstGeom>
        </p:spPr>
      </p:pic>
      <p:sp>
        <p:nvSpPr>
          <p:cNvPr id="7" name="文本框 6"/>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创建三元组</a:t>
            </a:r>
          </a:p>
        </p:txBody>
      </p:sp>
    </p:spTree>
    <p:extLst>
      <p:ext uri="{BB962C8B-B14F-4D97-AF65-F5344CB8AC3E}">
        <p14:creationId xmlns:p14="http://schemas.microsoft.com/office/powerpoint/2010/main" val="10142776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additive="base">
                                        <p:cTn id="2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 calcmode="lin" valueType="num">
                                      <p:cBhvr additive="base">
                                        <p:cTn id="2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fade">
                                      <p:cBhvr>
                                        <p:cTn id="35" dur="1000"/>
                                        <p:tgtEl>
                                          <p:spTgt spid="6">
                                            <p:txEl>
                                              <p:pRg st="5" end="5"/>
                                            </p:txEl>
                                          </p:spTgt>
                                        </p:tgtEl>
                                      </p:cBhvr>
                                    </p:animEffect>
                                    <p:anim calcmode="lin" valueType="num">
                                      <p:cBhvr>
                                        <p:cTn id="3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anim calcmode="lin" valueType="num">
                                      <p:cBhvr>
                                        <p:cTn id="4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1000"/>
                                        <p:tgtEl>
                                          <p:spTgt spid="6">
                                            <p:txEl>
                                              <p:pRg st="7" end="7"/>
                                            </p:txEl>
                                          </p:spTgt>
                                        </p:tgtEl>
                                      </p:cBhvr>
                                    </p:animEffect>
                                    <p:anim calcmode="lin" valueType="num">
                                      <p:cBhvr>
                                        <p:cTn id="5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1000"/>
                                        <p:tgtEl>
                                          <p:spTgt spid="6">
                                            <p:txEl>
                                              <p:pRg st="8" end="8"/>
                                            </p:txEl>
                                          </p:spTgt>
                                        </p:tgtEl>
                                      </p:cBhvr>
                                    </p:animEffect>
                                    <p:anim calcmode="lin" valueType="num">
                                      <p:cBhvr>
                                        <p:cTn id="5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6">
                                            <p:txEl>
                                              <p:pRg st="9" end="9"/>
                                            </p:txEl>
                                          </p:spTgt>
                                        </p:tgtEl>
                                        <p:attrNameLst>
                                          <p:attrName>style.visibility</p:attrName>
                                        </p:attrNameLst>
                                      </p:cBhvr>
                                      <p:to>
                                        <p:strVal val="visible"/>
                                      </p:to>
                                    </p:set>
                                    <p:animEffect transition="in" filter="fade">
                                      <p:cBhvr>
                                        <p:cTn id="63" dur="1000"/>
                                        <p:tgtEl>
                                          <p:spTgt spid="6">
                                            <p:txEl>
                                              <p:pRg st="9" end="9"/>
                                            </p:txEl>
                                          </p:spTgt>
                                        </p:tgtEl>
                                      </p:cBhvr>
                                    </p:animEffect>
                                    <p:anim calcmode="lin" valueType="num">
                                      <p:cBhvr>
                                        <p:cTn id="64"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6">
                                            <p:txEl>
                                              <p:pRg st="10" end="10"/>
                                            </p:txEl>
                                          </p:spTgt>
                                        </p:tgtEl>
                                        <p:attrNameLst>
                                          <p:attrName>style.visibility</p:attrName>
                                        </p:attrNameLst>
                                      </p:cBhvr>
                                      <p:to>
                                        <p:strVal val="visible"/>
                                      </p:to>
                                    </p:set>
                                    <p:animEffect transition="in" filter="fade">
                                      <p:cBhvr>
                                        <p:cTn id="70" dur="1000"/>
                                        <p:tgtEl>
                                          <p:spTgt spid="6">
                                            <p:txEl>
                                              <p:pRg st="10" end="10"/>
                                            </p:txEl>
                                          </p:spTgt>
                                        </p:tgtEl>
                                      </p:cBhvr>
                                    </p:animEffect>
                                    <p:anim calcmode="lin" valueType="num">
                                      <p:cBhvr>
                                        <p:cTn id="71"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6">
                                            <p:txEl>
                                              <p:pRg st="11" end="11"/>
                                            </p:txEl>
                                          </p:spTgt>
                                        </p:tgtEl>
                                        <p:attrNameLst>
                                          <p:attrName>style.visibility</p:attrName>
                                        </p:attrNameLst>
                                      </p:cBhvr>
                                      <p:to>
                                        <p:strVal val="visible"/>
                                      </p:to>
                                    </p:set>
                                    <p:animEffect transition="in" filter="fade">
                                      <p:cBhvr>
                                        <p:cTn id="77" dur="1000"/>
                                        <p:tgtEl>
                                          <p:spTgt spid="6">
                                            <p:txEl>
                                              <p:pRg st="11" end="11"/>
                                            </p:txEl>
                                          </p:spTgt>
                                        </p:tgtEl>
                                      </p:cBhvr>
                                    </p:animEffect>
                                    <p:anim calcmode="lin" valueType="num">
                                      <p:cBhvr>
                                        <p:cTn id="78"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6">
                                            <p:txEl>
                                              <p:pRg st="12" end="12"/>
                                            </p:txEl>
                                          </p:spTgt>
                                        </p:tgtEl>
                                        <p:attrNameLst>
                                          <p:attrName>style.visibility</p:attrName>
                                        </p:attrNameLst>
                                      </p:cBhvr>
                                      <p:to>
                                        <p:strVal val="visible"/>
                                      </p:to>
                                    </p:set>
                                    <p:animEffect transition="in" filter="fade">
                                      <p:cBhvr>
                                        <p:cTn id="84" dur="1000"/>
                                        <p:tgtEl>
                                          <p:spTgt spid="6">
                                            <p:txEl>
                                              <p:pRg st="12" end="12"/>
                                            </p:txEl>
                                          </p:spTgt>
                                        </p:tgtEl>
                                      </p:cBhvr>
                                    </p:animEffect>
                                    <p:anim calcmode="lin" valueType="num">
                                      <p:cBhvr>
                                        <p:cTn id="85"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6">
                                            <p:txEl>
                                              <p:pRg st="13" end="13"/>
                                            </p:txEl>
                                          </p:spTgt>
                                        </p:tgtEl>
                                        <p:attrNameLst>
                                          <p:attrName>style.visibility</p:attrName>
                                        </p:attrNameLst>
                                      </p:cBhvr>
                                      <p:to>
                                        <p:strVal val="visible"/>
                                      </p:to>
                                    </p:set>
                                    <p:animEffect transition="in" filter="fade">
                                      <p:cBhvr>
                                        <p:cTn id="89" dur="1000"/>
                                        <p:tgtEl>
                                          <p:spTgt spid="6">
                                            <p:txEl>
                                              <p:pRg st="13" end="13"/>
                                            </p:txEl>
                                          </p:spTgt>
                                        </p:tgtEl>
                                      </p:cBhvr>
                                    </p:animEffect>
                                    <p:anim calcmode="lin" valueType="num">
                                      <p:cBhvr>
                                        <p:cTn id="90"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91" dur="1000" fill="hold"/>
                                        <p:tgtEl>
                                          <p:spTgt spid="6">
                                            <p:txEl>
                                              <p:pRg st="13" end="13"/>
                                            </p:txEl>
                                          </p:spTgt>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6">
                                            <p:txEl>
                                              <p:pRg st="14" end="14"/>
                                            </p:txEl>
                                          </p:spTgt>
                                        </p:tgtEl>
                                        <p:attrNameLst>
                                          <p:attrName>style.visibility</p:attrName>
                                        </p:attrNameLst>
                                      </p:cBhvr>
                                      <p:to>
                                        <p:strVal val="visible"/>
                                      </p:to>
                                    </p:set>
                                    <p:animEffect transition="in" filter="fade">
                                      <p:cBhvr>
                                        <p:cTn id="94" dur="1000"/>
                                        <p:tgtEl>
                                          <p:spTgt spid="6">
                                            <p:txEl>
                                              <p:pRg st="14" end="14"/>
                                            </p:txEl>
                                          </p:spTgt>
                                        </p:tgtEl>
                                      </p:cBhvr>
                                    </p:animEffect>
                                    <p:anim calcmode="lin" valueType="num">
                                      <p:cBhvr>
                                        <p:cTn id="95"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96"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717" y="617385"/>
            <a:ext cx="8784976" cy="715538"/>
          </a:xfrm>
        </p:spPr>
        <p:txBody>
          <a:bodyPr/>
          <a:lstStyle/>
          <a:p>
            <a:pPr marL="0" indent="0">
              <a:lnSpc>
                <a:spcPts val="2200"/>
              </a:lnSpc>
              <a:spcBef>
                <a:spcPts val="0"/>
              </a:spcBef>
              <a:buNone/>
            </a:pPr>
            <a:r>
              <a:rPr lang="en-US" altLang="zh-CN" sz="1600" dirty="0" err="1">
                <a:latin typeface="Times New Roman" panose="02020603050405020304" pitchFamily="18" charset="0"/>
                <a:cs typeface="Times New Roman" panose="02020603050405020304" pitchFamily="18" charset="0"/>
              </a:rPr>
              <a:t>SaveValue</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函数对三元组赋值</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即在三元组中找到合适的位置 </a:t>
            </a:r>
            <a:r>
              <a:rPr lang="en-US" altLang="zh-CN" sz="1600" dirty="0">
                <a:latin typeface="Times New Roman" panose="02020603050405020304" pitchFamily="18" charset="0"/>
                <a:cs typeface="Times New Roman" panose="02020603050405020304" pitchFamily="18" charset="0"/>
              </a:rPr>
              <a:t>k, </a:t>
            </a:r>
            <a:r>
              <a:rPr lang="zh-CN" altLang="en-US" sz="1600" dirty="0">
                <a:latin typeface="Times New Roman" panose="02020603050405020304" pitchFamily="18" charset="0"/>
                <a:cs typeface="Times New Roman" panose="02020603050405020304" pitchFamily="18" charset="0"/>
              </a:rPr>
              <a:t>将 </a:t>
            </a:r>
            <a:r>
              <a:rPr lang="en-US" altLang="zh-CN" sz="1600" dirty="0">
                <a:latin typeface="Times New Roman" panose="02020603050405020304" pitchFamily="18" charset="0"/>
                <a:cs typeface="Times New Roman" panose="02020603050405020304" pitchFamily="18" charset="0"/>
              </a:rPr>
              <a:t>k-</a:t>
            </a:r>
            <a:r>
              <a:rPr lang="en-US" altLang="zh-CN" sz="1600" dirty="0" err="1">
                <a:latin typeface="Times New Roman" panose="02020603050405020304" pitchFamily="18" charset="0"/>
                <a:cs typeface="Times New Roman" panose="02020603050405020304" pitchFamily="18" charset="0"/>
              </a:rPr>
              <a:t>nznum</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位置的元素后移一个位置后插入</a:t>
            </a:r>
            <a:r>
              <a:rPr lang="en-US" altLang="zh-CN" sz="1600" dirty="0">
                <a:latin typeface="Times New Roman" panose="02020603050405020304" pitchFamily="18" charset="0"/>
                <a:cs typeface="Times New Roman" panose="02020603050405020304" pitchFamily="18" charset="0"/>
              </a:rPr>
              <a:t>e, </a:t>
            </a:r>
            <a:r>
              <a:rPr lang="zh-CN" altLang="en-US" sz="1600" dirty="0">
                <a:latin typeface="Times New Roman" panose="02020603050405020304" pitchFamily="18" charset="0"/>
                <a:cs typeface="Times New Roman" panose="02020603050405020304" pitchFamily="18" charset="0"/>
              </a:rPr>
              <a:t>假设插入元素时三元组顺序表没满。</a:t>
            </a: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107504" y="1563638"/>
            <a:ext cx="6408712" cy="286232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TSMatrix</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SaveValue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i,int</a:t>
            </a:r>
            <a:r>
              <a:rPr lang="en-US" altLang="zh-CN" dirty="0">
                <a:latin typeface="Times New Roman" panose="02020603050405020304" pitchFamily="18" charset="0"/>
                <a:cs typeface="Times New Roman" panose="02020603050405020304" pitchFamily="18" charset="0"/>
              </a:rPr>
              <a:t> j){</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k=0,h;</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&lt;0||j&lt;0||</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&gt;rows||j&gt;cols)  return;    //</a:t>
            </a:r>
            <a:r>
              <a:rPr lang="zh-CN" altLang="zh-CN" dirty="0">
                <a:latin typeface="Times New Roman" panose="02020603050405020304" pitchFamily="18" charset="0"/>
                <a:cs typeface="Times New Roman" panose="02020603050405020304" pitchFamily="18" charset="0"/>
              </a:rPr>
              <a:t>位置不合理</a:t>
            </a:r>
          </a:p>
          <a:p>
            <a:r>
              <a:rPr lang="en-US" altLang="zh-CN" dirty="0">
                <a:latin typeface="Times New Roman" panose="02020603050405020304" pitchFamily="18" charset="0"/>
                <a:cs typeface="Times New Roman" panose="02020603050405020304" pitchFamily="18" charset="0"/>
              </a:rPr>
              <a:t>   while(k&lt;</a:t>
            </a:r>
            <a:r>
              <a:rPr lang="en-US" altLang="zh-CN" dirty="0" err="1">
                <a:latin typeface="Times New Roman" panose="02020603050405020304" pitchFamily="18" charset="0"/>
                <a:cs typeface="Times New Roman" panose="02020603050405020304" pitchFamily="18" charset="0"/>
              </a:rPr>
              <a:t>nznum</a:t>
            </a:r>
            <a:r>
              <a:rPr lang="en-US" altLang="zh-CN" dirty="0">
                <a:latin typeface="Times New Roman" panose="02020603050405020304" pitchFamily="18" charset="0"/>
                <a:cs typeface="Times New Roman" panose="02020603050405020304" pitchFamily="18" charset="0"/>
              </a:rPr>
              <a:t>&amp;&amp;</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[k].row)  //</a:t>
            </a:r>
            <a:r>
              <a:rPr lang="zh-CN" altLang="zh-CN" dirty="0">
                <a:latin typeface="Times New Roman" panose="02020603050405020304" pitchFamily="18" charset="0"/>
                <a:cs typeface="Times New Roman" panose="02020603050405020304" pitchFamily="18" charset="0"/>
              </a:rPr>
              <a:t>查找行</a:t>
            </a:r>
          </a:p>
          <a:p>
            <a:r>
              <a:rPr lang="en-US" altLang="zh-CN" dirty="0">
                <a:latin typeface="Times New Roman" panose="02020603050405020304" pitchFamily="18" charset="0"/>
                <a:cs typeface="Times New Roman" panose="02020603050405020304" pitchFamily="18" charset="0"/>
              </a:rPr>
              <a:t>      k++;</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while(k&lt;</a:t>
            </a:r>
            <a:r>
              <a:rPr lang="en-US" altLang="zh-CN" dirty="0" err="1">
                <a:latin typeface="Times New Roman" panose="02020603050405020304" pitchFamily="18" charset="0"/>
                <a:cs typeface="Times New Roman" panose="02020603050405020304" pitchFamily="18" charset="0"/>
              </a:rPr>
              <a:t>nznum</a:t>
            </a:r>
            <a:r>
              <a:rPr lang="en-US" altLang="zh-CN" dirty="0">
                <a:latin typeface="Times New Roman" panose="02020603050405020304" pitchFamily="18" charset="0"/>
                <a:cs typeface="Times New Roman" panose="02020603050405020304" pitchFamily="18" charset="0"/>
              </a:rPr>
              <a:t>&amp;&amp;</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[k].row&amp;&amp;j&gt;</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[k].col) //</a:t>
            </a:r>
            <a:r>
              <a:rPr lang="zh-CN" altLang="zh-CN" dirty="0">
                <a:latin typeface="Times New Roman" panose="02020603050405020304" pitchFamily="18" charset="0"/>
                <a:cs typeface="Times New Roman" panose="02020603050405020304" pitchFamily="18" charset="0"/>
              </a:rPr>
              <a:t>查找列</a:t>
            </a:r>
          </a:p>
          <a:p>
            <a:r>
              <a:rPr lang="en-US" altLang="zh-CN" dirty="0">
                <a:latin typeface="Times New Roman" panose="02020603050405020304" pitchFamily="18" charset="0"/>
                <a:cs typeface="Times New Roman" panose="02020603050405020304" pitchFamily="18" charset="0"/>
              </a:rPr>
              <a:t>      k++;</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[k].row==</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&amp;&amp;</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[k].col==j)  //</a:t>
            </a:r>
            <a:r>
              <a:rPr lang="zh-CN" altLang="zh-CN" dirty="0">
                <a:latin typeface="Times New Roman" panose="02020603050405020304" pitchFamily="18" charset="0"/>
                <a:cs typeface="Times New Roman" panose="02020603050405020304" pitchFamily="18" charset="0"/>
              </a:rPr>
              <a:t>存在元素</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a:t>
            </a:r>
            <a:r>
              <a:rPr lang="en-US" altLang="zh-CN" dirty="0" err="1">
                <a:latin typeface="Times New Roman" panose="02020603050405020304" pitchFamily="18" charset="0"/>
                <a:cs typeface="Times New Roman" panose="02020603050405020304" pitchFamily="18" charset="0"/>
              </a:rPr>
              <a:t>ev</a:t>
            </a:r>
            <a:r>
              <a:rPr lang="en-US" altLang="zh-CN" dirty="0">
                <a:latin typeface="Times New Roman" panose="02020603050405020304" pitchFamily="18" charset="0"/>
                <a:cs typeface="Times New Roman" panose="02020603050405020304" pitchFamily="18" charset="0"/>
              </a:rPr>
              <a:t>=e;</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else{</a:t>
            </a:r>
            <a:endParaRPr lang="zh-CN" altLang="zh-CN"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4097814" y="840894"/>
            <a:ext cx="5040560" cy="3693319"/>
          </a:xfrm>
          <a:prstGeom prst="rect">
            <a:avLst/>
          </a:prstGeom>
          <a:solidFill>
            <a:schemeClr val="accent2"/>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    for(h=nznum-1;h&gt;=</a:t>
            </a:r>
            <a:r>
              <a:rPr lang="en-US" altLang="zh-CN" dirty="0" err="1">
                <a:latin typeface="Times New Roman" panose="02020603050405020304" pitchFamily="18" charset="0"/>
                <a:cs typeface="Times New Roman" panose="02020603050405020304" pitchFamily="18" charset="0"/>
              </a:rPr>
              <a:t>k;h</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不存在元素，将</a:t>
            </a:r>
            <a:r>
              <a:rPr lang="en-US" altLang="zh-CN" sz="1600" dirty="0" err="1">
                <a:latin typeface="Times New Roman" panose="02020603050405020304" pitchFamily="18" charset="0"/>
                <a:cs typeface="Times New Roman" panose="02020603050405020304" pitchFamily="18" charset="0"/>
              </a:rPr>
              <a:t>k~nznum</a:t>
            </a:r>
            <a:r>
              <a:rPr lang="zh-CN" altLang="zh-CN" sz="1600" dirty="0">
                <a:latin typeface="Times New Roman" panose="02020603050405020304" pitchFamily="18" charset="0"/>
                <a:cs typeface="Times New Roman" panose="02020603050405020304" pitchFamily="18" charset="0"/>
              </a:rPr>
              <a:t>位置的元素后移一个位置</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[h+1].row=</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[h].row;</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[h+1].col=</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[h].col;</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[h+1].</a:t>
            </a:r>
            <a:r>
              <a:rPr lang="en-US" altLang="zh-CN" dirty="0" err="1">
                <a:latin typeface="Times New Roman" panose="02020603050405020304" pitchFamily="18" charset="0"/>
                <a:cs typeface="Times New Roman" panose="02020603050405020304" pitchFamily="18" charset="0"/>
              </a:rPr>
              <a:t>ev</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[h].</a:t>
            </a:r>
            <a:r>
              <a:rPr lang="en-US" altLang="zh-CN" dirty="0" err="1">
                <a:latin typeface="Times New Roman" panose="02020603050405020304" pitchFamily="18" charset="0"/>
                <a:cs typeface="Times New Roman" panose="02020603050405020304" pitchFamily="18" charset="0"/>
              </a:rPr>
              <a:t>ev</a:t>
            </a: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[k].row=</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[k].col=j;</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[k].</a:t>
            </a:r>
            <a:r>
              <a:rPr lang="en-US" altLang="zh-CN" dirty="0" err="1">
                <a:latin typeface="Times New Roman" panose="02020603050405020304" pitchFamily="18" charset="0"/>
                <a:cs typeface="Times New Roman" panose="02020603050405020304" pitchFamily="18" charset="0"/>
              </a:rPr>
              <a:t>ev</a:t>
            </a:r>
            <a:r>
              <a:rPr lang="en-US" altLang="zh-CN" dirty="0">
                <a:latin typeface="Times New Roman" panose="02020603050405020304" pitchFamily="18" charset="0"/>
                <a:cs typeface="Times New Roman" panose="02020603050405020304" pitchFamily="18" charset="0"/>
              </a:rPr>
              <a:t>=e;</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nznum</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三元组赋值</a:t>
            </a:r>
          </a:p>
        </p:txBody>
      </p:sp>
    </p:spTree>
    <p:extLst>
      <p:ext uri="{BB962C8B-B14F-4D97-AF65-F5344CB8AC3E}">
        <p14:creationId xmlns:p14="http://schemas.microsoft.com/office/powerpoint/2010/main" val="26452222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1000"/>
                                        <p:tgtEl>
                                          <p:spTgt spid="4">
                                            <p:txEl>
                                              <p:pRg st="1" end="1"/>
                                            </p:txEl>
                                          </p:spTgt>
                                        </p:tgtEl>
                                      </p:cBhvr>
                                    </p:animEffect>
                                    <p:anim calcmode="lin" valueType="num">
                                      <p:cBhvr>
                                        <p:cTn id="2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1000"/>
                                        <p:tgtEl>
                                          <p:spTgt spid="4">
                                            <p:txEl>
                                              <p:pRg st="2" end="2"/>
                                            </p:txEl>
                                          </p:spTgt>
                                        </p:tgtEl>
                                      </p:cBhvr>
                                    </p:animEffect>
                                    <p:anim calcmode="lin" valueType="num">
                                      <p:cBhvr>
                                        <p:cTn id="2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1000"/>
                                        <p:tgtEl>
                                          <p:spTgt spid="4">
                                            <p:txEl>
                                              <p:pRg st="3" end="3"/>
                                            </p:txEl>
                                          </p:spTgt>
                                        </p:tgtEl>
                                      </p:cBhvr>
                                    </p:animEffect>
                                    <p:anim calcmode="lin" valueType="num">
                                      <p:cBhvr>
                                        <p:cTn id="3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fade">
                                      <p:cBhvr>
                                        <p:cTn id="40" dur="1000"/>
                                        <p:tgtEl>
                                          <p:spTgt spid="4">
                                            <p:txEl>
                                              <p:pRg st="4" end="4"/>
                                            </p:txEl>
                                          </p:spTgt>
                                        </p:tgtEl>
                                      </p:cBhvr>
                                    </p:animEffect>
                                    <p:anim calcmode="lin" valueType="num">
                                      <p:cBhvr>
                                        <p:cTn id="4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1000"/>
                                        <p:tgtEl>
                                          <p:spTgt spid="4">
                                            <p:txEl>
                                              <p:pRg st="5" end="5"/>
                                            </p:txEl>
                                          </p:spTgt>
                                        </p:tgtEl>
                                      </p:cBhvr>
                                    </p:animEffect>
                                    <p:anim calcmode="lin" valueType="num">
                                      <p:cBhvr>
                                        <p:cTn id="4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Effect transition="in" filter="fade">
                                      <p:cBhvr>
                                        <p:cTn id="52" dur="1000"/>
                                        <p:tgtEl>
                                          <p:spTgt spid="4">
                                            <p:txEl>
                                              <p:pRg st="6" end="6"/>
                                            </p:txEl>
                                          </p:spTgt>
                                        </p:tgtEl>
                                      </p:cBhvr>
                                    </p:animEffect>
                                    <p:anim calcmode="lin" valueType="num">
                                      <p:cBhvr>
                                        <p:cTn id="5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4">
                                            <p:txEl>
                                              <p:pRg st="7" end="7"/>
                                            </p:txEl>
                                          </p:spTgt>
                                        </p:tgtEl>
                                        <p:attrNameLst>
                                          <p:attrName>style.visibility</p:attrName>
                                        </p:attrNameLst>
                                      </p:cBhvr>
                                      <p:to>
                                        <p:strVal val="visible"/>
                                      </p:to>
                                    </p:set>
                                    <p:animEffect transition="in" filter="fade">
                                      <p:cBhvr>
                                        <p:cTn id="59" dur="1000"/>
                                        <p:tgtEl>
                                          <p:spTgt spid="4">
                                            <p:txEl>
                                              <p:pRg st="7" end="7"/>
                                            </p:txEl>
                                          </p:spTgt>
                                        </p:tgtEl>
                                      </p:cBhvr>
                                    </p:animEffect>
                                    <p:anim calcmode="lin" valueType="num">
                                      <p:cBhvr>
                                        <p:cTn id="6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1" dur="1000" fill="hold"/>
                                        <p:tgtEl>
                                          <p:spTgt spid="4">
                                            <p:txEl>
                                              <p:pRg st="7" end="7"/>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
                                            <p:txEl>
                                              <p:pRg st="8" end="8"/>
                                            </p:txEl>
                                          </p:spTgt>
                                        </p:tgtEl>
                                        <p:attrNameLst>
                                          <p:attrName>style.visibility</p:attrName>
                                        </p:attrNameLst>
                                      </p:cBhvr>
                                      <p:to>
                                        <p:strVal val="visible"/>
                                      </p:to>
                                    </p:set>
                                    <p:animEffect transition="in" filter="fade">
                                      <p:cBhvr>
                                        <p:cTn id="64" dur="1000"/>
                                        <p:tgtEl>
                                          <p:spTgt spid="4">
                                            <p:txEl>
                                              <p:pRg st="8" end="8"/>
                                            </p:txEl>
                                          </p:spTgt>
                                        </p:tgtEl>
                                      </p:cBhvr>
                                    </p:animEffect>
                                    <p:anim calcmode="lin" valueType="num">
                                      <p:cBhvr>
                                        <p:cTn id="65"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4">
                                            <p:txEl>
                                              <p:pRg st="9" end="9"/>
                                            </p:txEl>
                                          </p:spTgt>
                                        </p:tgtEl>
                                        <p:attrNameLst>
                                          <p:attrName>style.visibility</p:attrName>
                                        </p:attrNameLst>
                                      </p:cBhvr>
                                      <p:to>
                                        <p:strVal val="visible"/>
                                      </p:to>
                                    </p:set>
                                    <p:animEffect transition="in" filter="fade">
                                      <p:cBhvr>
                                        <p:cTn id="71" dur="1000"/>
                                        <p:tgtEl>
                                          <p:spTgt spid="4">
                                            <p:txEl>
                                              <p:pRg st="9" end="9"/>
                                            </p:txEl>
                                          </p:spTgt>
                                        </p:tgtEl>
                                      </p:cBhvr>
                                    </p:animEffect>
                                    <p:anim calcmode="lin" valueType="num">
                                      <p:cBhvr>
                                        <p:cTn id="7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fade">
                                      <p:cBhvr>
                                        <p:cTn id="78" dur="1000"/>
                                        <p:tgtEl>
                                          <p:spTgt spid="5"/>
                                        </p:tgtEl>
                                      </p:cBhvr>
                                    </p:animEffect>
                                    <p:anim calcmode="lin" valueType="num">
                                      <p:cBhvr>
                                        <p:cTn id="79" dur="1000" fill="hold"/>
                                        <p:tgtEl>
                                          <p:spTgt spid="5"/>
                                        </p:tgtEl>
                                        <p:attrNameLst>
                                          <p:attrName>ppt_x</p:attrName>
                                        </p:attrNameLst>
                                      </p:cBhvr>
                                      <p:tavLst>
                                        <p:tav tm="0">
                                          <p:val>
                                            <p:strVal val="#ppt_x"/>
                                          </p:val>
                                        </p:tav>
                                        <p:tav tm="100000">
                                          <p:val>
                                            <p:strVal val="#ppt_x"/>
                                          </p:val>
                                        </p:tav>
                                      </p:tavLst>
                                    </p:anim>
                                    <p:anim calcmode="lin" valueType="num">
                                      <p:cBhvr>
                                        <p:cTn id="8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5">
                                            <p:txEl>
                                              <p:pRg st="0" end="0"/>
                                            </p:txEl>
                                          </p:spTgt>
                                        </p:tgtEl>
                                        <p:attrNameLst>
                                          <p:attrName>style.visibility</p:attrName>
                                        </p:attrNameLst>
                                      </p:cBhvr>
                                      <p:to>
                                        <p:strVal val="visible"/>
                                      </p:to>
                                    </p:set>
                                    <p:animEffect transition="in" filter="fade">
                                      <p:cBhvr>
                                        <p:cTn id="85" dur="1000"/>
                                        <p:tgtEl>
                                          <p:spTgt spid="5">
                                            <p:txEl>
                                              <p:pRg st="0" end="0"/>
                                            </p:txEl>
                                          </p:spTgt>
                                        </p:tgtEl>
                                      </p:cBhvr>
                                    </p:animEffect>
                                    <p:anim calcmode="lin" valueType="num">
                                      <p:cBhvr>
                                        <p:cTn id="8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87" dur="1000" fill="hold"/>
                                        <p:tgtEl>
                                          <p:spTgt spid="5">
                                            <p:txEl>
                                              <p:pRg st="0" end="0"/>
                                            </p:txEl>
                                          </p:spTgt>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5">
                                            <p:txEl>
                                              <p:pRg st="1" end="1"/>
                                            </p:txEl>
                                          </p:spTgt>
                                        </p:tgtEl>
                                        <p:attrNameLst>
                                          <p:attrName>style.visibility</p:attrName>
                                        </p:attrNameLst>
                                      </p:cBhvr>
                                      <p:to>
                                        <p:strVal val="visible"/>
                                      </p:to>
                                    </p:set>
                                    <p:animEffect transition="in" filter="fade">
                                      <p:cBhvr>
                                        <p:cTn id="90" dur="1000"/>
                                        <p:tgtEl>
                                          <p:spTgt spid="5">
                                            <p:txEl>
                                              <p:pRg st="1" end="1"/>
                                            </p:txEl>
                                          </p:spTgt>
                                        </p:tgtEl>
                                      </p:cBhvr>
                                    </p:animEffect>
                                    <p:anim calcmode="lin" valueType="num">
                                      <p:cBhvr>
                                        <p:cTn id="91"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2"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nodeType="clickEffect">
                                  <p:stCondLst>
                                    <p:cond delay="0"/>
                                  </p:stCondLst>
                                  <p:childTnLst>
                                    <p:set>
                                      <p:cBhvr>
                                        <p:cTn id="96" dur="1" fill="hold">
                                          <p:stCondLst>
                                            <p:cond delay="0"/>
                                          </p:stCondLst>
                                        </p:cTn>
                                        <p:tgtEl>
                                          <p:spTgt spid="5">
                                            <p:txEl>
                                              <p:pRg st="2" end="2"/>
                                            </p:txEl>
                                          </p:spTgt>
                                        </p:tgtEl>
                                        <p:attrNameLst>
                                          <p:attrName>style.visibility</p:attrName>
                                        </p:attrNameLst>
                                      </p:cBhvr>
                                      <p:to>
                                        <p:strVal val="visible"/>
                                      </p:to>
                                    </p:set>
                                    <p:animEffect transition="in" filter="fade">
                                      <p:cBhvr>
                                        <p:cTn id="97" dur="1000"/>
                                        <p:tgtEl>
                                          <p:spTgt spid="5">
                                            <p:txEl>
                                              <p:pRg st="2" end="2"/>
                                            </p:txEl>
                                          </p:spTgt>
                                        </p:tgtEl>
                                      </p:cBhvr>
                                    </p:animEffect>
                                    <p:anim calcmode="lin" valueType="num">
                                      <p:cBhvr>
                                        <p:cTn id="9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5">
                                            <p:txEl>
                                              <p:pRg st="3" end="3"/>
                                            </p:txEl>
                                          </p:spTgt>
                                        </p:tgtEl>
                                        <p:attrNameLst>
                                          <p:attrName>style.visibility</p:attrName>
                                        </p:attrNameLst>
                                      </p:cBhvr>
                                      <p:to>
                                        <p:strVal val="visible"/>
                                      </p:to>
                                    </p:set>
                                    <p:animEffect transition="in" filter="fade">
                                      <p:cBhvr>
                                        <p:cTn id="102" dur="1000"/>
                                        <p:tgtEl>
                                          <p:spTgt spid="5">
                                            <p:txEl>
                                              <p:pRg st="3" end="3"/>
                                            </p:txEl>
                                          </p:spTgt>
                                        </p:tgtEl>
                                      </p:cBhvr>
                                    </p:animEffect>
                                    <p:anim calcmode="lin" valueType="num">
                                      <p:cBhvr>
                                        <p:cTn id="10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0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5">
                                            <p:txEl>
                                              <p:pRg st="4" end="4"/>
                                            </p:txEl>
                                          </p:spTgt>
                                        </p:tgtEl>
                                        <p:attrNameLst>
                                          <p:attrName>style.visibility</p:attrName>
                                        </p:attrNameLst>
                                      </p:cBhvr>
                                      <p:to>
                                        <p:strVal val="visible"/>
                                      </p:to>
                                    </p:set>
                                    <p:animEffect transition="in" filter="fade">
                                      <p:cBhvr>
                                        <p:cTn id="107" dur="1000"/>
                                        <p:tgtEl>
                                          <p:spTgt spid="5">
                                            <p:txEl>
                                              <p:pRg st="4" end="4"/>
                                            </p:txEl>
                                          </p:spTgt>
                                        </p:tgtEl>
                                      </p:cBhvr>
                                    </p:animEffect>
                                    <p:anim calcmode="lin" valueType="num">
                                      <p:cBhvr>
                                        <p:cTn id="10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0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5">
                                            <p:txEl>
                                              <p:pRg st="5" end="5"/>
                                            </p:txEl>
                                          </p:spTgt>
                                        </p:tgtEl>
                                        <p:attrNameLst>
                                          <p:attrName>style.visibility</p:attrName>
                                        </p:attrNameLst>
                                      </p:cBhvr>
                                      <p:to>
                                        <p:strVal val="visible"/>
                                      </p:to>
                                    </p:set>
                                    <p:animEffect transition="in" filter="fade">
                                      <p:cBhvr>
                                        <p:cTn id="112" dur="1000"/>
                                        <p:tgtEl>
                                          <p:spTgt spid="5">
                                            <p:txEl>
                                              <p:pRg st="5" end="5"/>
                                            </p:txEl>
                                          </p:spTgt>
                                        </p:tgtEl>
                                      </p:cBhvr>
                                    </p:animEffect>
                                    <p:anim calcmode="lin" valueType="num">
                                      <p:cBhvr>
                                        <p:cTn id="1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5">
                                            <p:txEl>
                                              <p:pRg st="6" end="6"/>
                                            </p:txEl>
                                          </p:spTgt>
                                        </p:tgtEl>
                                        <p:attrNameLst>
                                          <p:attrName>style.visibility</p:attrName>
                                        </p:attrNameLst>
                                      </p:cBhvr>
                                      <p:to>
                                        <p:strVal val="visible"/>
                                      </p:to>
                                    </p:set>
                                    <p:animEffect transition="in" filter="fade">
                                      <p:cBhvr>
                                        <p:cTn id="119" dur="1000"/>
                                        <p:tgtEl>
                                          <p:spTgt spid="5">
                                            <p:txEl>
                                              <p:pRg st="6" end="6"/>
                                            </p:txEl>
                                          </p:spTgt>
                                        </p:tgtEl>
                                      </p:cBhvr>
                                    </p:animEffect>
                                    <p:anim calcmode="lin" valueType="num">
                                      <p:cBhvr>
                                        <p:cTn id="12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21"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5">
                                            <p:txEl>
                                              <p:pRg st="7" end="7"/>
                                            </p:txEl>
                                          </p:spTgt>
                                        </p:tgtEl>
                                        <p:attrNameLst>
                                          <p:attrName>style.visibility</p:attrName>
                                        </p:attrNameLst>
                                      </p:cBhvr>
                                      <p:to>
                                        <p:strVal val="visible"/>
                                      </p:to>
                                    </p:set>
                                    <p:animEffect transition="in" filter="fade">
                                      <p:cBhvr>
                                        <p:cTn id="126" dur="1000"/>
                                        <p:tgtEl>
                                          <p:spTgt spid="5">
                                            <p:txEl>
                                              <p:pRg st="7" end="7"/>
                                            </p:txEl>
                                          </p:spTgt>
                                        </p:tgtEl>
                                      </p:cBhvr>
                                    </p:animEffect>
                                    <p:anim calcmode="lin" valueType="num">
                                      <p:cBhvr>
                                        <p:cTn id="127"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28"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5">
                                            <p:txEl>
                                              <p:pRg st="8" end="8"/>
                                            </p:txEl>
                                          </p:spTgt>
                                        </p:tgtEl>
                                        <p:attrNameLst>
                                          <p:attrName>style.visibility</p:attrName>
                                        </p:attrNameLst>
                                      </p:cBhvr>
                                      <p:to>
                                        <p:strVal val="visible"/>
                                      </p:to>
                                    </p:set>
                                    <p:animEffect transition="in" filter="fade">
                                      <p:cBhvr>
                                        <p:cTn id="133" dur="1000"/>
                                        <p:tgtEl>
                                          <p:spTgt spid="5">
                                            <p:txEl>
                                              <p:pRg st="8" end="8"/>
                                            </p:txEl>
                                          </p:spTgt>
                                        </p:tgtEl>
                                      </p:cBhvr>
                                    </p:animEffect>
                                    <p:anim calcmode="lin" valueType="num">
                                      <p:cBhvr>
                                        <p:cTn id="134"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35"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nodeType="clickEffect">
                                  <p:stCondLst>
                                    <p:cond delay="0"/>
                                  </p:stCondLst>
                                  <p:childTnLst>
                                    <p:set>
                                      <p:cBhvr>
                                        <p:cTn id="139" dur="1" fill="hold">
                                          <p:stCondLst>
                                            <p:cond delay="0"/>
                                          </p:stCondLst>
                                        </p:cTn>
                                        <p:tgtEl>
                                          <p:spTgt spid="5">
                                            <p:txEl>
                                              <p:pRg st="9" end="9"/>
                                            </p:txEl>
                                          </p:spTgt>
                                        </p:tgtEl>
                                        <p:attrNameLst>
                                          <p:attrName>style.visibility</p:attrName>
                                        </p:attrNameLst>
                                      </p:cBhvr>
                                      <p:to>
                                        <p:strVal val="visible"/>
                                      </p:to>
                                    </p:set>
                                    <p:animEffect transition="in" filter="fade">
                                      <p:cBhvr>
                                        <p:cTn id="140" dur="1000"/>
                                        <p:tgtEl>
                                          <p:spTgt spid="5">
                                            <p:txEl>
                                              <p:pRg st="9" end="9"/>
                                            </p:txEl>
                                          </p:spTgt>
                                        </p:tgtEl>
                                      </p:cBhvr>
                                    </p:animEffect>
                                    <p:anim calcmode="lin" valueType="num">
                                      <p:cBhvr>
                                        <p:cTn id="141"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42" dur="1000" fill="hold"/>
                                        <p:tgtEl>
                                          <p:spTgt spid="5">
                                            <p:txEl>
                                              <p:pRg st="9" end="9"/>
                                            </p:txEl>
                                          </p:spTgt>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5">
                                            <p:txEl>
                                              <p:pRg st="10" end="10"/>
                                            </p:txEl>
                                          </p:spTgt>
                                        </p:tgtEl>
                                        <p:attrNameLst>
                                          <p:attrName>style.visibility</p:attrName>
                                        </p:attrNameLst>
                                      </p:cBhvr>
                                      <p:to>
                                        <p:strVal val="visible"/>
                                      </p:to>
                                    </p:set>
                                    <p:animEffect transition="in" filter="fade">
                                      <p:cBhvr>
                                        <p:cTn id="145" dur="1000"/>
                                        <p:tgtEl>
                                          <p:spTgt spid="5">
                                            <p:txEl>
                                              <p:pRg st="10" end="10"/>
                                            </p:txEl>
                                          </p:spTgt>
                                        </p:tgtEl>
                                      </p:cBhvr>
                                    </p:animEffect>
                                    <p:anim calcmode="lin" valueType="num">
                                      <p:cBhvr>
                                        <p:cTn id="146"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147"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9" dur="1" fill="hold">
                                          <p:stCondLst>
                                            <p:cond delay="0"/>
                                          </p:stCondLst>
                                        </p:cTn>
                                        <p:tgtEl>
                                          <p:spTgt spid="5">
                                            <p:txEl>
                                              <p:pRg st="11" end="11"/>
                                            </p:txEl>
                                          </p:spTgt>
                                        </p:tgtEl>
                                        <p:attrNameLst>
                                          <p:attrName>style.visibility</p:attrName>
                                        </p:attrNameLst>
                                      </p:cBhvr>
                                      <p:to>
                                        <p:strVal val="visible"/>
                                      </p:to>
                                    </p:set>
                                    <p:animEffect transition="in" filter="fade">
                                      <p:cBhvr>
                                        <p:cTn id="150" dur="1000"/>
                                        <p:tgtEl>
                                          <p:spTgt spid="5">
                                            <p:txEl>
                                              <p:pRg st="11" end="11"/>
                                            </p:txEl>
                                          </p:spTgt>
                                        </p:tgtEl>
                                      </p:cBhvr>
                                    </p:animEffect>
                                    <p:anim calcmode="lin" valueType="num">
                                      <p:cBhvr>
                                        <p:cTn id="151"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152" dur="1000" fill="hold"/>
                                        <p:tgtEl>
                                          <p:spTgt spid="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705843" y="915566"/>
            <a:ext cx="7137400" cy="3507876"/>
          </a:xfrm>
        </p:spPr>
        <p:txBody>
          <a:bodyPr/>
          <a:lstStyle/>
          <a:p>
            <a:pPr marL="0" indent="0">
              <a:lnSpc>
                <a:spcPts val="2200"/>
              </a:lnSpc>
              <a:spcBef>
                <a:spcPts val="0"/>
              </a:spcBef>
              <a:buNone/>
            </a:pPr>
            <a:r>
              <a:rPr lang="zh-CN" altLang="zh-CN" sz="1600" dirty="0">
                <a:solidFill>
                  <a:srgbClr val="C00000"/>
                </a:solidFill>
                <a:cs typeface="Times New Roman" panose="02020603050405020304" pitchFamily="18" charset="0"/>
              </a:rPr>
              <a:t>在三元组中找到指定的位置，并将值赋给</a:t>
            </a:r>
            <a:r>
              <a:rPr lang="en-US" altLang="zh-CN" sz="1600" dirty="0">
                <a:solidFill>
                  <a:srgbClr val="C00000"/>
                </a:solidFill>
                <a:cs typeface="Times New Roman" panose="02020603050405020304" pitchFamily="18" charset="0"/>
              </a:rPr>
              <a:t>e</a:t>
            </a:r>
            <a:r>
              <a:rPr lang="zh-CN" altLang="en-US" sz="1600" dirty="0">
                <a:solidFill>
                  <a:srgbClr val="C00000"/>
                </a:solidFill>
                <a:cs typeface="Times New Roman" panose="02020603050405020304" pitchFamily="18" charset="0"/>
              </a:rPr>
              <a:t>。</a:t>
            </a:r>
            <a:endParaRPr lang="zh-CN" altLang="zh-CN" sz="1600" dirty="0">
              <a:solidFill>
                <a:srgbClr val="C00000"/>
              </a:solidFill>
              <a:cs typeface="Times New Roman" panose="02020603050405020304" pitchFamily="18" charset="0"/>
            </a:endParaRPr>
          </a:p>
          <a:p>
            <a:pPr marL="0" indent="0">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TSMatrix</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FetchValue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ElemType</a:t>
            </a:r>
            <a:r>
              <a:rPr lang="en-US" altLang="zh-CN" sz="1800" dirty="0">
                <a:latin typeface="Times New Roman" panose="02020603050405020304" pitchFamily="18" charset="0"/>
                <a:cs typeface="Times New Roman" panose="02020603050405020304" pitchFamily="18" charset="0"/>
              </a:rPr>
              <a:t> &amp;</a:t>
            </a:r>
            <a:r>
              <a:rPr lang="en-US" altLang="zh-CN" sz="1800" dirty="0" err="1">
                <a:latin typeface="Times New Roman" panose="02020603050405020304" pitchFamily="18" charset="0"/>
                <a:cs typeface="Times New Roman" panose="02020603050405020304" pitchFamily="18" charset="0"/>
              </a:rPr>
              <a:t>e,int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i,int</a:t>
            </a:r>
            <a:r>
              <a:rPr lang="en-US" altLang="zh-CN" sz="1800" dirty="0">
                <a:latin typeface="Times New Roman" panose="02020603050405020304" pitchFamily="18" charset="0"/>
                <a:cs typeface="Times New Roman" panose="02020603050405020304" pitchFamily="18" charset="0"/>
              </a:rPr>
              <a:t> j){</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k=0;</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if(</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&lt;0||j&lt;0||</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&gt;rows||j&gt;cols) return;    //</a:t>
            </a:r>
            <a:r>
              <a:rPr lang="zh-CN" altLang="zh-CN" sz="1800" dirty="0">
                <a:latin typeface="Times New Roman" panose="02020603050405020304" pitchFamily="18" charset="0"/>
                <a:cs typeface="Times New Roman" panose="02020603050405020304" pitchFamily="18" charset="0"/>
              </a:rPr>
              <a:t>位置不合理</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while(k&lt;</a:t>
            </a:r>
            <a:r>
              <a:rPr lang="en-US" altLang="zh-CN" sz="1800" dirty="0" err="1">
                <a:latin typeface="Times New Roman" panose="02020603050405020304" pitchFamily="18" charset="0"/>
                <a:cs typeface="Times New Roman" panose="02020603050405020304" pitchFamily="18" charset="0"/>
              </a:rPr>
              <a:t>nznum</a:t>
            </a:r>
            <a:r>
              <a:rPr lang="en-US" altLang="zh-CN" sz="1800" dirty="0">
                <a:latin typeface="Times New Roman" panose="02020603050405020304" pitchFamily="18" charset="0"/>
                <a:cs typeface="Times New Roman" panose="02020603050405020304" pitchFamily="18" charset="0"/>
              </a:rPr>
              <a:t>&amp;&amp;</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&gt;</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[k].row)  //</a:t>
            </a:r>
            <a:r>
              <a:rPr lang="zh-CN" altLang="zh-CN" sz="1800" dirty="0">
                <a:latin typeface="Times New Roman" panose="02020603050405020304" pitchFamily="18" charset="0"/>
                <a:cs typeface="Times New Roman" panose="02020603050405020304" pitchFamily="18" charset="0"/>
              </a:rPr>
              <a:t>查找行</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k++;</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while(k&lt;</a:t>
            </a:r>
            <a:r>
              <a:rPr lang="en-US" altLang="zh-CN" sz="1800" dirty="0" err="1">
                <a:latin typeface="Times New Roman" panose="02020603050405020304" pitchFamily="18" charset="0"/>
                <a:cs typeface="Times New Roman" panose="02020603050405020304" pitchFamily="18" charset="0"/>
              </a:rPr>
              <a:t>nznum</a:t>
            </a:r>
            <a:r>
              <a:rPr lang="en-US" altLang="zh-CN" sz="1800" dirty="0">
                <a:latin typeface="Times New Roman" panose="02020603050405020304" pitchFamily="18" charset="0"/>
                <a:cs typeface="Times New Roman" panose="02020603050405020304" pitchFamily="18" charset="0"/>
              </a:rPr>
              <a:t>&amp;&amp;</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[k].row&amp;&amp;j&gt;</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[k].col) //</a:t>
            </a:r>
            <a:r>
              <a:rPr lang="zh-CN" altLang="zh-CN" sz="1800" dirty="0">
                <a:latin typeface="Times New Roman" panose="02020603050405020304" pitchFamily="18" charset="0"/>
                <a:cs typeface="Times New Roman" panose="02020603050405020304" pitchFamily="18" charset="0"/>
              </a:rPr>
              <a:t>查找列</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k++;</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if(</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[k].row==</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&amp;&amp;</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[k].col==j)</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e=</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[k].</a:t>
            </a:r>
            <a:r>
              <a:rPr lang="en-US" altLang="zh-CN" sz="1800" dirty="0" err="1">
                <a:latin typeface="Times New Roman" panose="02020603050405020304" pitchFamily="18" charset="0"/>
                <a:cs typeface="Times New Roman" panose="02020603050405020304" pitchFamily="18" charset="0"/>
              </a:rPr>
              <a:t>ev</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else e=0;</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读取三元组值</a:t>
            </a:r>
          </a:p>
        </p:txBody>
      </p:sp>
    </p:spTree>
    <p:extLst>
      <p:ext uri="{BB962C8B-B14F-4D97-AF65-F5344CB8AC3E}">
        <p14:creationId xmlns:p14="http://schemas.microsoft.com/office/powerpoint/2010/main" val="22414757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1" end="11"/>
                                            </p:txEl>
                                          </p:spTgt>
                                        </p:tgtEl>
                                        <p:attrNameLst>
                                          <p:attrName>style.visibility</p:attrName>
                                        </p:attrNameLst>
                                      </p:cBhvr>
                                      <p:to>
                                        <p:strVal val="visible"/>
                                      </p:to>
                                    </p:set>
                                    <p:animEffect transition="in" filter="fade">
                                      <p:cBhvr>
                                        <p:cTn id="77" dur="1000"/>
                                        <p:tgtEl>
                                          <p:spTgt spid="3">
                                            <p:txEl>
                                              <p:pRg st="11" end="11"/>
                                            </p:txEl>
                                          </p:spTgt>
                                        </p:tgtEl>
                                      </p:cBhvr>
                                    </p:animEffect>
                                    <p:anim calcmode="lin" valueType="num">
                                      <p:cBhvr>
                                        <p:cTn id="7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2" end="12"/>
                                            </p:txEl>
                                          </p:spTgt>
                                        </p:tgtEl>
                                        <p:attrNameLst>
                                          <p:attrName>style.visibility</p:attrName>
                                        </p:attrNameLst>
                                      </p:cBhvr>
                                      <p:to>
                                        <p:strVal val="visible"/>
                                      </p:to>
                                    </p:set>
                                    <p:animEffect transition="in" filter="fade">
                                      <p:cBhvr>
                                        <p:cTn id="84" dur="1000"/>
                                        <p:tgtEl>
                                          <p:spTgt spid="3">
                                            <p:txEl>
                                              <p:pRg st="12" end="12"/>
                                            </p:txEl>
                                          </p:spTgt>
                                        </p:tgtEl>
                                      </p:cBhvr>
                                    </p:animEffect>
                                    <p:anim calcmode="lin" valueType="num">
                                      <p:cBhvr>
                                        <p:cTn id="85"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856984" cy="859554"/>
              </a:xfrm>
            </p:spPr>
            <p:txBody>
              <a:bodyPr/>
              <a:lstStyle/>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一个</a:t>
                </a:r>
                <a14:m>
                  <m:oMath xmlns:m="http://schemas.openxmlformats.org/officeDocument/2006/math">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的矩阵</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，它的转置</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是一个</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𝑚</m:t>
                    </m:r>
                  </m:oMath>
                </a14:m>
                <a:r>
                  <a:rPr lang="zh-CN" altLang="zh-CN" sz="1600" dirty="0">
                    <a:latin typeface="Times New Roman" panose="02020603050405020304" pitchFamily="18" charset="0"/>
                    <a:cs typeface="Times New Roman" panose="02020603050405020304" pitchFamily="18" charset="0"/>
                  </a:rPr>
                  <a:t>的矩阵，且</a:t>
                </a:r>
                <a14:m>
                  <m:oMath xmlns:m="http://schemas.openxmlformats.org/officeDocument/2006/math">
                    <m:r>
                      <a:rPr lang="en-US" altLang="zh-CN" sz="1600" i="1">
                        <a:latin typeface="Cambria Math" panose="02040503050406030204" pitchFamily="18" charset="0"/>
                      </a:rPr>
                      <m:t>𝑏</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𝑖</m:t>
                        </m:r>
                      </m:e>
                    </m:d>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𝑗</m:t>
                        </m:r>
                      </m:e>
                    </m:d>
                    <m:r>
                      <a:rPr lang="en-US" altLang="zh-CN" sz="1600" i="1">
                        <a:latin typeface="Cambria Math" panose="02040503050406030204" pitchFamily="18" charset="0"/>
                      </a:rPr>
                      <m:t>=</m:t>
                    </m:r>
                    <m:r>
                      <a:rPr lang="en-US" altLang="zh-CN" sz="1600" i="1">
                        <a:latin typeface="Cambria Math" panose="02040503050406030204" pitchFamily="18" charset="0"/>
                      </a:rPr>
                      <m:t>𝑎</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𝑗</m:t>
                        </m:r>
                      </m:e>
                    </m:d>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0≤</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𝑚</m:t>
                    </m:r>
                    <m:r>
                      <a:rPr lang="en-US" altLang="zh-CN" sz="1600" i="1">
                        <a:latin typeface="Cambria Math" panose="02040503050406030204" pitchFamily="18" charset="0"/>
                      </a:rPr>
                      <m:t>−1,0≤</m:t>
                    </m:r>
                    <m:r>
                      <a:rPr lang="en-US" altLang="zh-CN" sz="1600" i="1">
                        <a:latin typeface="Cambria Math" panose="02040503050406030204" pitchFamily="18" charset="0"/>
                      </a:rPr>
                      <m:t>𝑗</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，即</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的行是</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的列，</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的列是</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的行。</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856984" cy="859554"/>
              </a:xfrm>
              <a:blipFill>
                <a:blip r:embed="rId2"/>
                <a:stretch>
                  <a:fillRect l="-688" t="-3546"/>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467544" y="2340316"/>
            <a:ext cx="1818211" cy="1554477"/>
          </a:xfrm>
          <a:prstGeom prst="rect">
            <a:avLst/>
          </a:prstGeom>
        </p:spPr>
      </p:pic>
      <p:pic>
        <p:nvPicPr>
          <p:cNvPr id="8" name="图片 7"/>
          <p:cNvPicPr>
            <a:picLocks noChangeAspect="1"/>
          </p:cNvPicPr>
          <p:nvPr/>
        </p:nvPicPr>
        <p:blipFill>
          <a:blip r:embed="rId4"/>
          <a:stretch>
            <a:fillRect/>
          </a:stretch>
        </p:blipFill>
        <p:spPr>
          <a:xfrm>
            <a:off x="2411760" y="2139702"/>
            <a:ext cx="1899437" cy="1878064"/>
          </a:xfrm>
          <a:prstGeom prst="rect">
            <a:avLst/>
          </a:prstGeom>
        </p:spPr>
      </p:pic>
      <p:pic>
        <p:nvPicPr>
          <p:cNvPr id="9" name="图片 8"/>
          <p:cNvPicPr>
            <a:picLocks noChangeAspect="1"/>
          </p:cNvPicPr>
          <p:nvPr/>
        </p:nvPicPr>
        <p:blipFill>
          <a:blip r:embed="rId5"/>
          <a:stretch>
            <a:fillRect/>
          </a:stretch>
        </p:blipFill>
        <p:spPr>
          <a:xfrm>
            <a:off x="4860032" y="1707654"/>
            <a:ext cx="2736304" cy="2592337"/>
          </a:xfrm>
          <a:prstGeom prst="rect">
            <a:avLst/>
          </a:prstGeom>
        </p:spPr>
      </p:pic>
      <p:sp>
        <p:nvSpPr>
          <p:cNvPr id="7" name="文本框 6"/>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矩阵转置</a:t>
            </a:r>
          </a:p>
        </p:txBody>
      </p:sp>
    </p:spTree>
    <p:extLst>
      <p:ext uri="{BB962C8B-B14F-4D97-AF65-F5344CB8AC3E}">
        <p14:creationId xmlns:p14="http://schemas.microsoft.com/office/powerpoint/2010/main" val="768749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9552" y="771550"/>
            <a:ext cx="8820472" cy="4308872"/>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void </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TranSMatrix</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TSMatrix</a:t>
            </a:r>
            <a:r>
              <a:rPr lang="en-US" altLang="zh-CN" sz="1600" dirty="0">
                <a:latin typeface="Times New Roman" panose="02020603050405020304" pitchFamily="18" charset="0"/>
                <a:cs typeface="Times New Roman" panose="02020603050405020304" pitchFamily="18" charset="0"/>
              </a:rPr>
              <a:t> a){//</a:t>
            </a:r>
            <a:r>
              <a:rPr lang="zh-CN" altLang="zh-CN" sz="1600" dirty="0">
                <a:latin typeface="Times New Roman" panose="02020603050405020304" pitchFamily="18" charset="0"/>
                <a:cs typeface="Times New Roman" panose="02020603050405020304" pitchFamily="18" charset="0"/>
              </a:rPr>
              <a:t>将</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转置，转置后存放在私有成员中</a:t>
            </a:r>
          </a:p>
          <a:p>
            <a:r>
              <a:rPr lang="en-US" altLang="zh-CN" sz="1600" dirty="0">
                <a:latin typeface="Times New Roman" panose="02020603050405020304" pitchFamily="18" charset="0"/>
                <a:cs typeface="Times New Roman" panose="02020603050405020304" pitchFamily="18" charset="0"/>
              </a:rPr>
              <a:t>   cols =</a:t>
            </a:r>
            <a:r>
              <a:rPr lang="en-US" altLang="zh-CN" sz="1600" dirty="0" err="1">
                <a:latin typeface="Times New Roman" panose="02020603050405020304" pitchFamily="18" charset="0"/>
                <a:cs typeface="Times New Roman" panose="02020603050405020304" pitchFamily="18" charset="0"/>
              </a:rPr>
              <a:t>a.rows</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rows=</a:t>
            </a:r>
            <a:r>
              <a:rPr lang="en-US" altLang="zh-CN" sz="1600" dirty="0" err="1">
                <a:latin typeface="Times New Roman" panose="02020603050405020304" pitchFamily="18" charset="0"/>
                <a:cs typeface="Times New Roman" panose="02020603050405020304" pitchFamily="18" charset="0"/>
              </a:rPr>
              <a:t>a.cols</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nznum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a.nznum</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i,j,k</a:t>
            </a:r>
            <a:r>
              <a:rPr lang="en-US" altLang="zh-CN" sz="1600" dirty="0">
                <a:latin typeface="Times New Roman" panose="02020603050405020304" pitchFamily="18" charset="0"/>
                <a:cs typeface="Times New Roman" panose="02020603050405020304" pitchFamily="18" charset="0"/>
              </a:rPr>
              <a:t>=0;</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a:t>
            </a:r>
            <a:r>
              <a:rPr lang="en-US" altLang="zh-CN" sz="1600" dirty="0" err="1">
                <a:latin typeface="Times New Roman" panose="02020603050405020304" pitchFamily="18" charset="0"/>
                <a:cs typeface="Times New Roman" panose="02020603050405020304" pitchFamily="18" charset="0"/>
              </a:rPr>
              <a:t>a.nznum</a:t>
            </a:r>
            <a:r>
              <a:rPr lang="en-US" altLang="zh-CN" sz="1600" dirty="0">
                <a:latin typeface="Times New Roman" panose="02020603050405020304" pitchFamily="18" charset="0"/>
                <a:cs typeface="Times New Roman" panose="02020603050405020304" pitchFamily="18" charset="0"/>
              </a:rPr>
              <a:t>!=0){</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=0;i&lt;</a:t>
            </a:r>
            <a:r>
              <a:rPr lang="en-US" altLang="zh-CN" sz="1600" dirty="0" err="1">
                <a:latin typeface="Times New Roman" panose="02020603050405020304" pitchFamily="18" charset="0"/>
                <a:cs typeface="Times New Roman" panose="02020603050405020304" pitchFamily="18" charset="0"/>
              </a:rPr>
              <a:t>a.cols;i</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for(j=0;j&lt;</a:t>
            </a:r>
            <a:r>
              <a:rPr lang="en-US" altLang="zh-CN" sz="1600" dirty="0" err="1">
                <a:latin typeface="Times New Roman" panose="02020603050405020304" pitchFamily="18" charset="0"/>
                <a:cs typeface="Times New Roman" panose="02020603050405020304" pitchFamily="18" charset="0"/>
              </a:rPr>
              <a:t>a.nznum;j</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if(</a:t>
            </a:r>
            <a:r>
              <a:rPr lang="en-US" altLang="zh-CN" sz="1600" dirty="0" err="1">
                <a:latin typeface="Times New Roman" panose="02020603050405020304" pitchFamily="18" charset="0"/>
                <a:cs typeface="Times New Roman" panose="02020603050405020304" pitchFamily="18" charset="0"/>
              </a:rPr>
              <a:t>a.elem</a:t>
            </a:r>
            <a:r>
              <a:rPr lang="en-US" altLang="zh-CN" sz="1600" dirty="0">
                <a:latin typeface="Times New Roman" panose="02020603050405020304" pitchFamily="18" charset="0"/>
                <a:cs typeface="Times New Roman" panose="02020603050405020304" pitchFamily="18" charset="0"/>
              </a:rPr>
              <a:t>[j].col==</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[k].row=</a:t>
            </a:r>
            <a:r>
              <a:rPr lang="en-US" altLang="zh-CN" sz="1600" dirty="0" err="1">
                <a:latin typeface="Times New Roman" panose="02020603050405020304" pitchFamily="18" charset="0"/>
                <a:cs typeface="Times New Roman" panose="02020603050405020304" pitchFamily="18" charset="0"/>
              </a:rPr>
              <a:t>a.elem</a:t>
            </a:r>
            <a:r>
              <a:rPr lang="en-US" altLang="zh-CN" sz="1600" dirty="0">
                <a:latin typeface="Times New Roman" panose="02020603050405020304" pitchFamily="18" charset="0"/>
                <a:cs typeface="Times New Roman" panose="02020603050405020304" pitchFamily="18" charset="0"/>
              </a:rPr>
              <a:t>[j].col;</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[k].col=</a:t>
            </a:r>
            <a:r>
              <a:rPr lang="en-US" altLang="zh-CN" sz="1600" dirty="0" err="1">
                <a:latin typeface="Times New Roman" panose="02020603050405020304" pitchFamily="18" charset="0"/>
                <a:cs typeface="Times New Roman" panose="02020603050405020304" pitchFamily="18" charset="0"/>
              </a:rPr>
              <a:t>a.elem</a:t>
            </a:r>
            <a:r>
              <a:rPr lang="en-US" altLang="zh-CN" sz="1600" dirty="0">
                <a:latin typeface="Times New Roman" panose="02020603050405020304" pitchFamily="18" charset="0"/>
                <a:cs typeface="Times New Roman" panose="02020603050405020304" pitchFamily="18" charset="0"/>
              </a:rPr>
              <a:t>[j].row;</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[k].</a:t>
            </a:r>
            <a:r>
              <a:rPr lang="en-US" altLang="zh-CN" sz="1600" dirty="0" err="1">
                <a:latin typeface="Times New Roman" panose="02020603050405020304" pitchFamily="18" charset="0"/>
                <a:cs typeface="Times New Roman" panose="02020603050405020304" pitchFamily="18" charset="0"/>
              </a:rPr>
              <a:t>ev</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a.elem</a:t>
            </a:r>
            <a:r>
              <a:rPr lang="en-US" altLang="zh-CN" sz="1600" dirty="0">
                <a:latin typeface="Times New Roman" panose="02020603050405020304" pitchFamily="18" charset="0"/>
                <a:cs typeface="Times New Roman" panose="02020603050405020304" pitchFamily="18" charset="0"/>
              </a:rPr>
              <a:t>[j].</a:t>
            </a:r>
            <a:r>
              <a:rPr lang="en-US" altLang="zh-CN" sz="1600" dirty="0" err="1">
                <a:latin typeface="Times New Roman" panose="02020603050405020304" pitchFamily="18" charset="0"/>
                <a:cs typeface="Times New Roman" panose="02020603050405020304" pitchFamily="18" charset="0"/>
              </a:rPr>
              <a:t>ev</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k++;</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endParaRPr lang="zh-CN" altLang="en-US" dirty="0"/>
          </a:p>
        </p:txBody>
      </p:sp>
      <p:pic>
        <p:nvPicPr>
          <p:cNvPr id="5" name="图片 4"/>
          <p:cNvPicPr>
            <a:picLocks noChangeAspect="1"/>
          </p:cNvPicPr>
          <p:nvPr/>
        </p:nvPicPr>
        <p:blipFill>
          <a:blip r:embed="rId2"/>
          <a:stretch>
            <a:fillRect/>
          </a:stretch>
        </p:blipFill>
        <p:spPr>
          <a:xfrm>
            <a:off x="4716016" y="1203598"/>
            <a:ext cx="3168352" cy="3001654"/>
          </a:xfrm>
          <a:prstGeom prst="rect">
            <a:avLst/>
          </a:prstGeom>
        </p:spPr>
      </p:pic>
      <p:sp>
        <p:nvSpPr>
          <p:cNvPr id="6" name="文本框 5"/>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矩阵转置算法</a:t>
            </a:r>
          </a:p>
        </p:txBody>
      </p:sp>
    </p:spTree>
    <p:extLst>
      <p:ext uri="{BB962C8B-B14F-4D97-AF65-F5344CB8AC3E}">
        <p14:creationId xmlns:p14="http://schemas.microsoft.com/office/powerpoint/2010/main" val="30573030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additive="base">
                                        <p:cTn id="14"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 calcmode="lin" valueType="num">
                                      <p:cBhvr additive="base">
                                        <p:cTn id="18"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Effect transition="in" filter="fade">
                                      <p:cBhvr>
                                        <p:cTn id="45" dur="1000"/>
                                        <p:tgtEl>
                                          <p:spTgt spid="4">
                                            <p:txEl>
                                              <p:pRg st="6" end="6"/>
                                            </p:txEl>
                                          </p:spTgt>
                                        </p:tgtEl>
                                      </p:cBhvr>
                                    </p:animEffect>
                                    <p:anim calcmode="lin" valueType="num">
                                      <p:cBhvr>
                                        <p:cTn id="4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4">
                                            <p:txEl>
                                              <p:pRg st="7" end="7"/>
                                            </p:txEl>
                                          </p:spTgt>
                                        </p:tgtEl>
                                        <p:attrNameLst>
                                          <p:attrName>style.visibility</p:attrName>
                                        </p:attrNameLst>
                                      </p:cBhvr>
                                      <p:to>
                                        <p:strVal val="visible"/>
                                      </p:to>
                                    </p:set>
                                    <p:animEffect transition="in" filter="fade">
                                      <p:cBhvr>
                                        <p:cTn id="50" dur="1000"/>
                                        <p:tgtEl>
                                          <p:spTgt spid="4">
                                            <p:txEl>
                                              <p:pRg st="7" end="7"/>
                                            </p:txEl>
                                          </p:spTgt>
                                        </p:tgtEl>
                                      </p:cBhvr>
                                    </p:animEffect>
                                    <p:anim calcmode="lin" valueType="num">
                                      <p:cBhvr>
                                        <p:cTn id="5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animEffect transition="in" filter="fade">
                                      <p:cBhvr>
                                        <p:cTn id="57" dur="1000"/>
                                        <p:tgtEl>
                                          <p:spTgt spid="4">
                                            <p:txEl>
                                              <p:pRg st="8" end="8"/>
                                            </p:txEl>
                                          </p:spTgt>
                                        </p:tgtEl>
                                      </p:cBhvr>
                                    </p:animEffect>
                                    <p:anim calcmode="lin" valueType="num">
                                      <p:cBhvr>
                                        <p:cTn id="5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4">
                                            <p:txEl>
                                              <p:pRg st="9" end="9"/>
                                            </p:txEl>
                                          </p:spTgt>
                                        </p:tgtEl>
                                        <p:attrNameLst>
                                          <p:attrName>style.visibility</p:attrName>
                                        </p:attrNameLst>
                                      </p:cBhvr>
                                      <p:to>
                                        <p:strVal val="visible"/>
                                      </p:to>
                                    </p:set>
                                    <p:animEffect transition="in" filter="fade">
                                      <p:cBhvr>
                                        <p:cTn id="64" dur="1000"/>
                                        <p:tgtEl>
                                          <p:spTgt spid="4">
                                            <p:txEl>
                                              <p:pRg st="9" end="9"/>
                                            </p:txEl>
                                          </p:spTgt>
                                        </p:tgtEl>
                                      </p:cBhvr>
                                    </p:animEffect>
                                    <p:anim calcmode="lin" valueType="num">
                                      <p:cBhvr>
                                        <p:cTn id="6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4">
                                            <p:txEl>
                                              <p:pRg st="10" end="10"/>
                                            </p:txEl>
                                          </p:spTgt>
                                        </p:tgtEl>
                                        <p:attrNameLst>
                                          <p:attrName>style.visibility</p:attrName>
                                        </p:attrNameLst>
                                      </p:cBhvr>
                                      <p:to>
                                        <p:strVal val="visible"/>
                                      </p:to>
                                    </p:set>
                                    <p:animEffect transition="in" filter="fade">
                                      <p:cBhvr>
                                        <p:cTn id="71" dur="1000"/>
                                        <p:tgtEl>
                                          <p:spTgt spid="4">
                                            <p:txEl>
                                              <p:pRg st="10" end="10"/>
                                            </p:txEl>
                                          </p:spTgt>
                                        </p:tgtEl>
                                      </p:cBhvr>
                                    </p:animEffect>
                                    <p:anim calcmode="lin" valueType="num">
                                      <p:cBhvr>
                                        <p:cTn id="7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4">
                                            <p:txEl>
                                              <p:pRg st="11" end="11"/>
                                            </p:txEl>
                                          </p:spTgt>
                                        </p:tgtEl>
                                        <p:attrNameLst>
                                          <p:attrName>style.visibility</p:attrName>
                                        </p:attrNameLst>
                                      </p:cBhvr>
                                      <p:to>
                                        <p:strVal val="visible"/>
                                      </p:to>
                                    </p:set>
                                    <p:animEffect transition="in" filter="fade">
                                      <p:cBhvr>
                                        <p:cTn id="78" dur="1000"/>
                                        <p:tgtEl>
                                          <p:spTgt spid="4">
                                            <p:txEl>
                                              <p:pRg st="11" end="11"/>
                                            </p:txEl>
                                          </p:spTgt>
                                        </p:tgtEl>
                                      </p:cBhvr>
                                    </p:animEffect>
                                    <p:anim calcmode="lin" valueType="num">
                                      <p:cBhvr>
                                        <p:cTn id="7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4">
                                            <p:txEl>
                                              <p:pRg st="12" end="12"/>
                                            </p:txEl>
                                          </p:spTgt>
                                        </p:tgtEl>
                                        <p:attrNameLst>
                                          <p:attrName>style.visibility</p:attrName>
                                        </p:attrNameLst>
                                      </p:cBhvr>
                                      <p:to>
                                        <p:strVal val="visible"/>
                                      </p:to>
                                    </p:set>
                                    <p:animEffect transition="in" filter="fade">
                                      <p:cBhvr>
                                        <p:cTn id="85" dur="1000"/>
                                        <p:tgtEl>
                                          <p:spTgt spid="4">
                                            <p:txEl>
                                              <p:pRg st="12" end="12"/>
                                            </p:txEl>
                                          </p:spTgt>
                                        </p:tgtEl>
                                      </p:cBhvr>
                                    </p:animEffect>
                                    <p:anim calcmode="lin" valueType="num">
                                      <p:cBhvr>
                                        <p:cTn id="86"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7"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4">
                                            <p:txEl>
                                              <p:pRg st="13" end="13"/>
                                            </p:txEl>
                                          </p:spTgt>
                                        </p:tgtEl>
                                        <p:attrNameLst>
                                          <p:attrName>style.visibility</p:attrName>
                                        </p:attrNameLst>
                                      </p:cBhvr>
                                      <p:to>
                                        <p:strVal val="visible"/>
                                      </p:to>
                                    </p:set>
                                    <p:animEffect transition="in" filter="fade">
                                      <p:cBhvr>
                                        <p:cTn id="90" dur="1000"/>
                                        <p:tgtEl>
                                          <p:spTgt spid="4">
                                            <p:txEl>
                                              <p:pRg st="13" end="13"/>
                                            </p:txEl>
                                          </p:spTgt>
                                        </p:tgtEl>
                                      </p:cBhvr>
                                    </p:animEffect>
                                    <p:anim calcmode="lin" valueType="num">
                                      <p:cBhvr>
                                        <p:cTn id="91"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2"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4">
                                            <p:txEl>
                                              <p:pRg st="14" end="14"/>
                                            </p:txEl>
                                          </p:spTgt>
                                        </p:tgtEl>
                                        <p:attrNameLst>
                                          <p:attrName>style.visibility</p:attrName>
                                        </p:attrNameLst>
                                      </p:cBhvr>
                                      <p:to>
                                        <p:strVal val="visible"/>
                                      </p:to>
                                    </p:set>
                                    <p:animEffect transition="in" filter="fade">
                                      <p:cBhvr>
                                        <p:cTn id="95" dur="1000"/>
                                        <p:tgtEl>
                                          <p:spTgt spid="4">
                                            <p:txEl>
                                              <p:pRg st="14" end="14"/>
                                            </p:txEl>
                                          </p:spTgt>
                                        </p:tgtEl>
                                      </p:cBhvr>
                                    </p:animEffect>
                                    <p:anim calcmode="lin" valueType="num">
                                      <p:cBhvr>
                                        <p:cTn id="96"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97"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4">
                                            <p:txEl>
                                              <p:pRg st="15" end="15"/>
                                            </p:txEl>
                                          </p:spTgt>
                                        </p:tgtEl>
                                        <p:attrNameLst>
                                          <p:attrName>style.visibility</p:attrName>
                                        </p:attrNameLst>
                                      </p:cBhvr>
                                      <p:to>
                                        <p:strVal val="visible"/>
                                      </p:to>
                                    </p:set>
                                    <p:animEffect transition="in" filter="fade">
                                      <p:cBhvr>
                                        <p:cTn id="100" dur="1000"/>
                                        <p:tgtEl>
                                          <p:spTgt spid="4">
                                            <p:txEl>
                                              <p:pRg st="15" end="15"/>
                                            </p:txEl>
                                          </p:spTgt>
                                        </p:tgtEl>
                                      </p:cBhvr>
                                    </p:animEffect>
                                    <p:anim calcmode="lin" valueType="num">
                                      <p:cBhvr>
                                        <p:cTn id="101"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02"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079603"/>
            <a:ext cx="8424936" cy="792088"/>
          </a:xfrm>
        </p:spPr>
        <p:txBody>
          <a:bodyPr/>
          <a:lstStyle/>
          <a:p>
            <a:pPr marL="0" indent="0">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AddMatrix</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函数实现矩阵加法。已知矩阵</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B, </a:t>
            </a:r>
            <a:r>
              <a:rPr lang="zh-CN" altLang="en-US" sz="1600" dirty="0">
                <a:latin typeface="Times New Roman" panose="02020603050405020304" pitchFamily="18" charset="0"/>
                <a:cs typeface="Times New Roman" panose="02020603050405020304" pitchFamily="18" charset="0"/>
              </a:rPr>
              <a:t>用</a:t>
            </a:r>
            <a:r>
              <a:rPr lang="en-US" altLang="zh-CN" sz="1600" dirty="0">
                <a:latin typeface="Times New Roman" panose="02020603050405020304" pitchFamily="18" charset="0"/>
                <a:cs typeface="Times New Roman" panose="02020603050405020304" pitchFamily="18" charset="0"/>
              </a:rPr>
              <a:t>C++</a:t>
            </a:r>
            <a:r>
              <a:rPr lang="zh-CN" altLang="en-US" sz="1600" dirty="0">
                <a:latin typeface="Times New Roman" panose="02020603050405020304" pitchFamily="18" charset="0"/>
                <a:cs typeface="Times New Roman" panose="02020603050405020304" pitchFamily="18" charset="0"/>
              </a:rPr>
              <a:t>描述 </a:t>
            </a:r>
            <a:r>
              <a:rPr lang="en-US" altLang="zh-CN" sz="1600" dirty="0">
                <a:latin typeface="Times New Roman" panose="02020603050405020304" pitchFamily="18" charset="0"/>
                <a:cs typeface="Times New Roman" panose="02020603050405020304" pitchFamily="18" charset="0"/>
              </a:rPr>
              <a:t>A+B </a:t>
            </a:r>
            <a:r>
              <a:rPr lang="zh-CN" altLang="en-US" sz="1600" dirty="0">
                <a:latin typeface="Times New Roman" panose="02020603050405020304" pitchFamily="18" charset="0"/>
                <a:cs typeface="Times New Roman" panose="02020603050405020304" pitchFamily="18" charset="0"/>
              </a:rPr>
              <a:t>并将结果存储于私有成员中。</a:t>
            </a:r>
          </a:p>
        </p:txBody>
      </p:sp>
      <p:sp>
        <p:nvSpPr>
          <p:cNvPr id="4" name="文本框 3"/>
          <p:cNvSpPr txBox="1"/>
          <p:nvPr/>
        </p:nvSpPr>
        <p:spPr>
          <a:xfrm>
            <a:off x="683568" y="1981933"/>
            <a:ext cx="3024336" cy="369332"/>
          </a:xfrm>
          <a:prstGeom prst="rect">
            <a:avLst/>
          </a:prstGeom>
          <a:noFill/>
        </p:spPr>
        <p:txBody>
          <a:bodyPr wrap="square" rtlCol="0">
            <a:spAutoFit/>
          </a:bodyPr>
          <a:lstStyle/>
          <a:p>
            <a:r>
              <a:rPr lang="zh-CN" altLang="en-US" dirty="0">
                <a:solidFill>
                  <a:srgbClr val="C00000"/>
                </a:solidFill>
                <a:latin typeface="华文行楷" panose="02010800040101010101" pitchFamily="2" charset="-122"/>
                <a:ea typeface="华文行楷" panose="02010800040101010101" pitchFamily="2" charset="-122"/>
                <a:hlinkClick r:id="rId2" action="ppaction://hlinkfile"/>
              </a:rPr>
              <a:t>矩阵加法链接</a:t>
            </a:r>
            <a:endParaRPr lang="zh-CN" altLang="en-US" dirty="0">
              <a:solidFill>
                <a:srgbClr val="C00000"/>
              </a:solidFill>
              <a:latin typeface="华文行楷" panose="02010800040101010101" pitchFamily="2" charset="-122"/>
              <a:ea typeface="华文行楷" panose="02010800040101010101" pitchFamily="2" charset="-122"/>
            </a:endParaRPr>
          </a:p>
        </p:txBody>
      </p:sp>
      <mc:AlternateContent xmlns:mc="http://schemas.openxmlformats.org/markup-compatibility/2006" xmlns:a14="http://schemas.microsoft.com/office/drawing/2010/main">
        <mc:Choice Requires="a14">
          <p:sp>
            <p:nvSpPr>
              <p:cNvPr id="5" name="文本框 4"/>
              <p:cNvSpPr txBox="1"/>
              <p:nvPr/>
            </p:nvSpPr>
            <p:spPr>
              <a:xfrm>
                <a:off x="323528" y="2571750"/>
                <a:ext cx="8568952" cy="861774"/>
              </a:xfrm>
              <a:prstGeom prst="rect">
                <a:avLst/>
              </a:prstGeom>
              <a:noFill/>
            </p:spPr>
            <p:txBody>
              <a:bodyPr wrap="square" rtlCol="0">
                <a:spAutoFit/>
              </a:bodyPr>
              <a:lstStyle/>
              <a:p>
                <a:pPr algn="just"/>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矩阵加法算法新增对象</a:t>
                </a:r>
                <a14:m>
                  <m:oMath xmlns:m="http://schemas.openxmlformats.org/officeDocument/2006/math">
                    <m:r>
                      <a:rPr lang="en-US" altLang="zh-CN" sz="1600" i="1" dirty="0" smtClean="0">
                        <a:latin typeface="Cambria Math" panose="02040503050406030204" pitchFamily="18" charset="0"/>
                        <a:ea typeface="隶书" panose="02010509060101010101" pitchFamily="49" charset="-122"/>
                      </a:rPr>
                      <m:t>𝑐</m:t>
                    </m:r>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计算</a:t>
                </a:r>
                <a14:m>
                  <m:oMath xmlns:m="http://schemas.openxmlformats.org/officeDocument/2006/math">
                    <m:r>
                      <a:rPr lang="en-US" altLang="zh-CN" sz="1600" i="1" dirty="0" smtClean="0">
                        <a:latin typeface="Cambria Math" panose="02040503050406030204" pitchFamily="18" charset="0"/>
                        <a:ea typeface="隶书" panose="02010509060101010101" pitchFamily="49" charset="-122"/>
                      </a:rPr>
                      <m:t>𝑐</m:t>
                    </m:r>
                    <m:r>
                      <a:rPr lang="en-US" altLang="zh-CN" sz="1600" i="1" dirty="0" smtClean="0">
                        <a:latin typeface="Cambria Math" panose="02040503050406030204" pitchFamily="18" charset="0"/>
                        <a:ea typeface="隶书" panose="02010509060101010101" pitchFamily="49" charset="-122"/>
                      </a:rPr>
                      <m:t>=</m:t>
                    </m:r>
                    <m:r>
                      <a:rPr lang="en-US" altLang="zh-CN" sz="1600" i="1" dirty="0" err="1" smtClean="0">
                        <a:latin typeface="Cambria Math" panose="02040503050406030204" pitchFamily="18" charset="0"/>
                        <a:ea typeface="隶书" panose="02010509060101010101" pitchFamily="49" charset="-122"/>
                      </a:rPr>
                      <m:t>𝑎</m:t>
                    </m:r>
                    <m:r>
                      <a:rPr lang="en-US" altLang="zh-CN" sz="1600" i="1" dirty="0" err="1" smtClean="0">
                        <a:latin typeface="Cambria Math" panose="02040503050406030204" pitchFamily="18" charset="0"/>
                        <a:ea typeface="隶书" panose="02010509060101010101" pitchFamily="49" charset="-122"/>
                      </a:rPr>
                      <m:t>+</m:t>
                    </m:r>
                    <m:r>
                      <a:rPr lang="en-US" altLang="zh-CN" sz="1600" i="1" dirty="0" err="1" smtClean="0">
                        <a:latin typeface="Cambria Math" panose="02040503050406030204" pitchFamily="18" charset="0"/>
                        <a:ea typeface="隶书" panose="02010509060101010101" pitchFamily="49" charset="-122"/>
                      </a:rPr>
                      <m:t>𝑏</m:t>
                    </m:r>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算法相对简单。 若计算</a:t>
                </a:r>
                <a14:m>
                  <m:oMath xmlns:m="http://schemas.openxmlformats.org/officeDocument/2006/math">
                    <m:r>
                      <a:rPr lang="en-US" altLang="zh-CN" sz="1600" i="1" dirty="0" smtClean="0">
                        <a:latin typeface="Cambria Math" panose="02040503050406030204" pitchFamily="18" charset="0"/>
                        <a:ea typeface="隶书" panose="02010509060101010101" pitchFamily="49" charset="-122"/>
                      </a:rPr>
                      <m:t>𝑎</m:t>
                    </m:r>
                    <m:r>
                      <a:rPr lang="en-US" altLang="zh-CN" sz="1600" i="1" dirty="0" smtClean="0">
                        <a:latin typeface="Cambria Math" panose="02040503050406030204" pitchFamily="18" charset="0"/>
                        <a:ea typeface="隶书" panose="02010509060101010101" pitchFamily="49" charset="-122"/>
                      </a:rPr>
                      <m:t>=</m:t>
                    </m:r>
                    <m:r>
                      <a:rPr lang="en-US" altLang="zh-CN" sz="1600" i="1" dirty="0" err="1" smtClean="0">
                        <a:latin typeface="Cambria Math" panose="02040503050406030204" pitchFamily="18" charset="0"/>
                        <a:ea typeface="隶书" panose="02010509060101010101" pitchFamily="49" charset="-122"/>
                      </a:rPr>
                      <m:t>𝑎</m:t>
                    </m:r>
                    <m:r>
                      <a:rPr lang="en-US" altLang="zh-CN" sz="1600" i="1" dirty="0" err="1" smtClean="0">
                        <a:latin typeface="Cambria Math" panose="02040503050406030204" pitchFamily="18" charset="0"/>
                        <a:ea typeface="隶书" panose="02010509060101010101" pitchFamily="49" charset="-122"/>
                      </a:rPr>
                      <m:t>+</m:t>
                    </m:r>
                    <m:r>
                      <a:rPr lang="en-US" altLang="zh-CN" sz="1600" i="1" dirty="0" err="1" smtClean="0">
                        <a:latin typeface="Cambria Math" panose="02040503050406030204" pitchFamily="18" charset="0"/>
                        <a:ea typeface="隶书" panose="02010509060101010101" pitchFamily="49" charset="-122"/>
                      </a:rPr>
                      <m:t>𝑏</m:t>
                    </m:r>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则三元组顺序表中非</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元素的插入或删除操作会引起</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a.elem</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中元素的移动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算法的效率明显下降。为此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可以采用稀疏矩阵的十字链表表示三元组以避免三元组的移动</a:t>
                </a:r>
                <a:r>
                  <a:rPr lang="zh-CN" altLang="en-US" dirty="0">
                    <a:latin typeface="隶书" panose="02010509060101010101" pitchFamily="49" charset="-122"/>
                    <a:ea typeface="隶书" panose="02010509060101010101" pitchFamily="49" charset="-122"/>
                  </a:rPr>
                  <a:t>。</a:t>
                </a:r>
              </a:p>
            </p:txBody>
          </p:sp>
        </mc:Choice>
        <mc:Fallback xmlns="">
          <p:sp>
            <p:nvSpPr>
              <p:cNvPr id="5" name="文本框 4"/>
              <p:cNvSpPr txBox="1">
                <a:spLocks noRot="1" noChangeAspect="1" noMove="1" noResize="1" noEditPoints="1" noAdjustHandles="1" noChangeArrowheads="1" noChangeShapeType="1" noTextEdit="1"/>
              </p:cNvSpPr>
              <p:nvPr/>
            </p:nvSpPr>
            <p:spPr>
              <a:xfrm>
                <a:off x="323528" y="2571750"/>
                <a:ext cx="8568952" cy="861774"/>
              </a:xfrm>
              <a:prstGeom prst="rect">
                <a:avLst/>
              </a:prstGeom>
              <a:blipFill>
                <a:blip r:embed="rId3"/>
                <a:stretch>
                  <a:fillRect l="-356" t="-2837" r="-427" b="-10638"/>
                </a:stretch>
              </a:blipFill>
            </p:spPr>
            <p:txBody>
              <a:bodyPr/>
              <a:lstStyle/>
              <a:p>
                <a:r>
                  <a:rPr lang="zh-CN" altLang="en-US">
                    <a:noFill/>
                  </a:rPr>
                  <a:t> </a:t>
                </a:r>
              </a:p>
            </p:txBody>
          </p:sp>
        </mc:Fallback>
      </mc:AlternateContent>
      <p:sp>
        <p:nvSpPr>
          <p:cNvPr id="6" name="文本框 5"/>
          <p:cNvSpPr txBox="1"/>
          <p:nvPr/>
        </p:nvSpPr>
        <p:spPr>
          <a:xfrm>
            <a:off x="683568" y="3867894"/>
            <a:ext cx="5040560" cy="646331"/>
          </a:xfrm>
          <a:prstGeom prst="rect">
            <a:avLst/>
          </a:prstGeom>
          <a:noFill/>
        </p:spPr>
        <p:txBody>
          <a:bodyPr wrap="square" rtlCol="0">
            <a:spAutoFit/>
          </a:bodyPr>
          <a:lstStyle/>
          <a:p>
            <a:r>
              <a:rPr lang="zh-CN" altLang="en-US" dirty="0">
                <a:solidFill>
                  <a:srgbClr val="C00000"/>
                </a:solidFill>
                <a:latin typeface="华文隶书" panose="02010800040101010101" pitchFamily="2" charset="-122"/>
                <a:ea typeface="华文隶书" panose="02010800040101010101" pitchFamily="2" charset="-122"/>
                <a:hlinkClick r:id="rId4" action="ppaction://hlinkfile"/>
              </a:rPr>
              <a:t>稀疏矩阵的三元组表示存储链接</a:t>
            </a:r>
            <a:endParaRPr lang="zh-CN" altLang="en-US" dirty="0">
              <a:solidFill>
                <a:srgbClr val="C00000"/>
              </a:solidFill>
              <a:latin typeface="华文隶书" panose="02010800040101010101" pitchFamily="2" charset="-122"/>
              <a:ea typeface="华文隶书" panose="02010800040101010101" pitchFamily="2" charset="-122"/>
            </a:endParaRPr>
          </a:p>
          <a:p>
            <a:endParaRPr lang="zh-CN" altLang="en-US" dirty="0"/>
          </a:p>
        </p:txBody>
      </p:sp>
      <p:sp>
        <p:nvSpPr>
          <p:cNvPr id="7" name="文本框 6"/>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矩阵加法</a:t>
            </a:r>
          </a:p>
        </p:txBody>
      </p:sp>
    </p:spTree>
    <p:extLst>
      <p:ext uri="{BB962C8B-B14F-4D97-AF65-F5344CB8AC3E}">
        <p14:creationId xmlns:p14="http://schemas.microsoft.com/office/powerpoint/2010/main" val="2218706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467544" y="1563638"/>
            <a:ext cx="7776864" cy="1872208"/>
          </a:xfrm>
        </p:spPr>
        <p:txBody>
          <a:bodyPr/>
          <a:lstStyle/>
          <a:p>
            <a:pPr marL="0" indent="0" algn="just">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十字链表为稀疏矩阵的每一行设置一个单链表，同时为每列设置一个单链表。如此，稀疏矩阵的每个非零元同时包含在两个链表中，即所在行的行链表和所在列的列链表中。</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十字链表存储降低了行方向和列方向的搜索时间，避免了三元组元素的移动，降低了算法的时间复杂度。</a:t>
            </a:r>
          </a:p>
          <a:p>
            <a:pPr marL="0" indent="0" algn="just">
              <a:lnSpc>
                <a:spcPts val="2200"/>
              </a:lnSpc>
              <a:spcBef>
                <a:spcPts val="0"/>
              </a:spcBef>
              <a:buNone/>
            </a:pPr>
            <a:r>
              <a:rPr lang="en-US" altLang="zh-CN" sz="1800" dirty="0">
                <a:latin typeface="隶书" panose="02010509060101010101" pitchFamily="49" charset="-122"/>
                <a:ea typeface="隶书" panose="02010509060101010101" pitchFamily="49" charset="-122"/>
              </a:rPr>
              <a:t>    </a:t>
            </a: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611380" y="115457"/>
            <a:ext cx="30245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稀疏矩阵的十字链表表示</a:t>
            </a:r>
          </a:p>
        </p:txBody>
      </p:sp>
    </p:spTree>
    <p:extLst>
      <p:ext uri="{BB962C8B-B14F-4D97-AF65-F5344CB8AC3E}">
        <p14:creationId xmlns:p14="http://schemas.microsoft.com/office/powerpoint/2010/main" val="30669490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7056784" cy="1944216"/>
              </a:xfrm>
            </p:spPr>
            <p:txBody>
              <a:bodyPr/>
              <a:lstStyle/>
              <a:p>
                <a:pPr marL="0" indent="0" algn="just">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solidFill>
                      <a:srgbClr val="7030A0"/>
                    </a:solidFill>
                    <a:latin typeface="Times New Roman" panose="02020603050405020304" pitchFamily="18" charset="0"/>
                    <a:cs typeface="Times New Roman" panose="02020603050405020304" pitchFamily="18" charset="0"/>
                  </a:rPr>
                  <a:t>对于一个</a:t>
                </a:r>
                <a14:m>
                  <m:oMath xmlns:m="http://schemas.openxmlformats.org/officeDocument/2006/math">
                    <m:r>
                      <a:rPr lang="en-US" altLang="zh-CN" sz="1600" i="1">
                        <a:solidFill>
                          <a:srgbClr val="7030A0"/>
                        </a:solidFill>
                        <a:latin typeface="Cambria Math" panose="02040503050406030204" pitchFamily="18" charset="0"/>
                      </a:rPr>
                      <m:t>𝑚</m:t>
                    </m:r>
                    <m:r>
                      <a:rPr lang="en-US" altLang="zh-CN" sz="1600" i="1">
                        <a:solidFill>
                          <a:srgbClr val="7030A0"/>
                        </a:solidFill>
                        <a:latin typeface="Cambria Math" panose="02040503050406030204" pitchFamily="18" charset="0"/>
                      </a:rPr>
                      <m:t>×</m:t>
                    </m:r>
                    <m:r>
                      <a:rPr lang="en-US" altLang="zh-CN" sz="1600" i="1">
                        <a:solidFill>
                          <a:srgbClr val="7030A0"/>
                        </a:solidFill>
                        <a:latin typeface="Cambria Math" panose="02040503050406030204" pitchFamily="18" charset="0"/>
                      </a:rPr>
                      <m:t>𝑛</m:t>
                    </m:r>
                    <m:r>
                      <m:rPr>
                        <m:nor/>
                      </m:rPr>
                      <a:rPr lang="zh-CN" altLang="zh-CN" sz="1600" dirty="0">
                        <a:solidFill>
                          <a:srgbClr val="7030A0"/>
                        </a:solidFill>
                        <a:latin typeface="Times New Roman" panose="02020603050405020304" pitchFamily="18" charset="0"/>
                        <a:cs typeface="Times New Roman" panose="02020603050405020304" pitchFamily="18" charset="0"/>
                      </a:rPr>
                      <m:t>稀疏</m:t>
                    </m:r>
                  </m:oMath>
                </a14:m>
                <a:r>
                  <a:rPr lang="zh-CN" altLang="zh-CN" sz="1600" dirty="0">
                    <a:solidFill>
                      <a:srgbClr val="7030A0"/>
                    </a:solidFill>
                    <a:latin typeface="Times New Roman" panose="02020603050405020304" pitchFamily="18" charset="0"/>
                    <a:cs typeface="Times New Roman" panose="02020603050405020304" pitchFamily="18" charset="0"/>
                  </a:rPr>
                  <a:t>矩阵，每个非零元素用一个结点存储，结点结构如图</a:t>
                </a:r>
                <a:r>
                  <a:rPr lang="en-US" altLang="zh-CN" sz="1600" dirty="0">
                    <a:solidFill>
                      <a:srgbClr val="7030A0"/>
                    </a:solidFill>
                    <a:latin typeface="Times New Roman" panose="02020603050405020304" pitchFamily="18" charset="0"/>
                    <a:cs typeface="Times New Roman" panose="02020603050405020304" pitchFamily="18" charset="0"/>
                  </a:rPr>
                  <a:t>(a)</a:t>
                </a:r>
                <a:r>
                  <a:rPr lang="zh-CN" altLang="zh-CN" sz="1600" dirty="0">
                    <a:solidFill>
                      <a:srgbClr val="7030A0"/>
                    </a:solidFill>
                    <a:latin typeface="Times New Roman" panose="02020603050405020304" pitchFamily="18" charset="0"/>
                    <a:cs typeface="Times New Roman" panose="02020603050405020304" pitchFamily="18" charset="0"/>
                  </a:rPr>
                  <a:t>所示。其中</a:t>
                </a:r>
                <a:r>
                  <a:rPr lang="en-US" altLang="zh-CN" sz="1600" dirty="0">
                    <a:solidFill>
                      <a:srgbClr val="7030A0"/>
                    </a:solidFill>
                    <a:latin typeface="Times New Roman" panose="02020603050405020304" pitchFamily="18" charset="0"/>
                    <a:cs typeface="Times New Roman" panose="02020603050405020304" pitchFamily="18" charset="0"/>
                  </a:rPr>
                  <a:t>row</a:t>
                </a:r>
                <a:r>
                  <a:rPr lang="zh-CN" altLang="zh-CN" sz="1600" dirty="0">
                    <a:solidFill>
                      <a:srgbClr val="7030A0"/>
                    </a:solidFill>
                    <a:latin typeface="Times New Roman" panose="02020603050405020304" pitchFamily="18" charset="0"/>
                    <a:cs typeface="Times New Roman" panose="02020603050405020304" pitchFamily="18" charset="0"/>
                  </a:rPr>
                  <a:t>、</a:t>
                </a:r>
                <a:r>
                  <a:rPr lang="en-US" altLang="zh-CN" sz="1600" dirty="0">
                    <a:solidFill>
                      <a:srgbClr val="7030A0"/>
                    </a:solidFill>
                    <a:latin typeface="Times New Roman" panose="02020603050405020304" pitchFamily="18" charset="0"/>
                    <a:cs typeface="Times New Roman" panose="02020603050405020304" pitchFamily="18" charset="0"/>
                  </a:rPr>
                  <a:t>col</a:t>
                </a:r>
                <a:r>
                  <a:rPr lang="zh-CN" altLang="zh-CN" sz="1600" dirty="0">
                    <a:solidFill>
                      <a:srgbClr val="7030A0"/>
                    </a:solidFill>
                    <a:latin typeface="Times New Roman" panose="02020603050405020304" pitchFamily="18" charset="0"/>
                    <a:cs typeface="Times New Roman" panose="02020603050405020304" pitchFamily="18" charset="0"/>
                  </a:rPr>
                  <a:t>和</a:t>
                </a:r>
                <a:r>
                  <a:rPr lang="en-US" altLang="zh-CN" sz="1600" dirty="0">
                    <a:solidFill>
                      <a:srgbClr val="7030A0"/>
                    </a:solidFill>
                    <a:latin typeface="Times New Roman" panose="02020603050405020304" pitchFamily="18" charset="0"/>
                    <a:cs typeface="Times New Roman" panose="02020603050405020304" pitchFamily="18" charset="0"/>
                  </a:rPr>
                  <a:t>value</a:t>
                </a:r>
                <a:r>
                  <a:rPr lang="zh-CN" altLang="zh-CN" sz="1600" dirty="0">
                    <a:solidFill>
                      <a:srgbClr val="7030A0"/>
                    </a:solidFill>
                    <a:latin typeface="Times New Roman" panose="02020603050405020304" pitchFamily="18" charset="0"/>
                    <a:cs typeface="Times New Roman" panose="02020603050405020304" pitchFamily="18" charset="0"/>
                  </a:rPr>
                  <a:t>分别记录非零元素所在的行号、列号和相应的非零元的值；</a:t>
                </a:r>
                <a:r>
                  <a:rPr lang="en-US" altLang="zh-CN" sz="1600" dirty="0">
                    <a:solidFill>
                      <a:srgbClr val="7030A0"/>
                    </a:solidFill>
                    <a:latin typeface="Times New Roman" panose="02020603050405020304" pitchFamily="18" charset="0"/>
                    <a:cs typeface="Times New Roman" panose="02020603050405020304" pitchFamily="18" charset="0"/>
                  </a:rPr>
                  <a:t>right</a:t>
                </a:r>
                <a:r>
                  <a:rPr lang="zh-CN" altLang="zh-CN" sz="1600" dirty="0">
                    <a:solidFill>
                      <a:srgbClr val="7030A0"/>
                    </a:solidFill>
                    <a:latin typeface="Times New Roman" panose="02020603050405020304" pitchFamily="18" charset="0"/>
                    <a:cs typeface="Times New Roman" panose="02020603050405020304" pitchFamily="18" charset="0"/>
                  </a:rPr>
                  <a:t>和</a:t>
                </a:r>
                <a:r>
                  <a:rPr lang="en-US" altLang="zh-CN" sz="1600" dirty="0">
                    <a:solidFill>
                      <a:srgbClr val="7030A0"/>
                    </a:solidFill>
                    <a:latin typeface="Times New Roman" panose="02020603050405020304" pitchFamily="18" charset="0"/>
                    <a:cs typeface="Times New Roman" panose="02020603050405020304" pitchFamily="18" charset="0"/>
                  </a:rPr>
                  <a:t>down</a:t>
                </a:r>
                <a:r>
                  <a:rPr lang="zh-CN" altLang="zh-CN" sz="1600" dirty="0">
                    <a:solidFill>
                      <a:srgbClr val="7030A0"/>
                    </a:solidFill>
                    <a:latin typeface="Times New Roman" panose="02020603050405020304" pitchFamily="18" charset="0"/>
                    <a:cs typeface="Times New Roman" panose="02020603050405020304" pitchFamily="18" charset="0"/>
                  </a:rPr>
                  <a:t>指针分别指向同行中和同列中的下一个非零元素结点。即稀疏矩阵中的同一行的所有非零元素通过</a:t>
                </a:r>
                <a:r>
                  <a:rPr lang="en-US" altLang="zh-CN" sz="1600" dirty="0">
                    <a:solidFill>
                      <a:srgbClr val="7030A0"/>
                    </a:solidFill>
                    <a:latin typeface="Times New Roman" panose="02020603050405020304" pitchFamily="18" charset="0"/>
                    <a:cs typeface="Times New Roman" panose="02020603050405020304" pitchFamily="18" charset="0"/>
                  </a:rPr>
                  <a:t>right</a:t>
                </a:r>
                <a:r>
                  <a:rPr lang="zh-CN" altLang="zh-CN" sz="1600" dirty="0">
                    <a:solidFill>
                      <a:srgbClr val="7030A0"/>
                    </a:solidFill>
                    <a:latin typeface="Times New Roman" panose="02020603050405020304" pitchFamily="18" charset="0"/>
                    <a:cs typeface="Times New Roman" panose="02020603050405020304" pitchFamily="18" charset="0"/>
                  </a:rPr>
                  <a:t>指针链接成一个行链表。同一列的所有非零元素通过</a:t>
                </a:r>
                <a:r>
                  <a:rPr lang="en-US" altLang="zh-CN" sz="1600" dirty="0">
                    <a:solidFill>
                      <a:srgbClr val="7030A0"/>
                    </a:solidFill>
                    <a:latin typeface="Times New Roman" panose="02020603050405020304" pitchFamily="18" charset="0"/>
                    <a:cs typeface="Times New Roman" panose="02020603050405020304" pitchFamily="18" charset="0"/>
                  </a:rPr>
                  <a:t>down</a:t>
                </a:r>
                <a:r>
                  <a:rPr lang="zh-CN" altLang="zh-CN" sz="1600" dirty="0">
                    <a:solidFill>
                      <a:srgbClr val="7030A0"/>
                    </a:solidFill>
                    <a:latin typeface="Times New Roman" panose="02020603050405020304" pitchFamily="18" charset="0"/>
                    <a:cs typeface="Times New Roman" panose="02020603050405020304" pitchFamily="18" charset="0"/>
                  </a:rPr>
                  <a:t>指针链接成一个列链表。</a:t>
                </a:r>
              </a:p>
              <a:p>
                <a:pPr marL="0" indent="0" algn="just">
                  <a:lnSpc>
                    <a:spcPts val="2200"/>
                  </a:lnSpc>
                  <a:spcBef>
                    <a:spcPts val="0"/>
                  </a:spcBef>
                  <a:buNone/>
                </a:pPr>
                <a:r>
                  <a:rPr lang="zh-CN" altLang="en-US" sz="1800" dirty="0">
                    <a:latin typeface="隶书" panose="02010509060101010101" pitchFamily="49" charset="-122"/>
                    <a:ea typeface="隶书" panose="02010509060101010101" pitchFamily="49" charset="-122"/>
                  </a:rPr>
                  <a:t>    </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7056784" cy="1944216"/>
              </a:xfrm>
              <a:blipFill>
                <a:blip r:embed="rId2"/>
                <a:stretch>
                  <a:fillRect l="-864" t="-1567" r="-778"/>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7397620" y="1131590"/>
            <a:ext cx="1386604" cy="936104"/>
          </a:xfrm>
          <a:prstGeom prst="rect">
            <a:avLst/>
          </a:prstGeom>
        </p:spPr>
      </p:pic>
      <p:pic>
        <p:nvPicPr>
          <p:cNvPr id="6" name="图片 5"/>
          <p:cNvPicPr>
            <a:picLocks noChangeAspect="1"/>
          </p:cNvPicPr>
          <p:nvPr/>
        </p:nvPicPr>
        <p:blipFill>
          <a:blip r:embed="rId4"/>
          <a:stretch>
            <a:fillRect/>
          </a:stretch>
        </p:blipFill>
        <p:spPr>
          <a:xfrm>
            <a:off x="7397620" y="2355726"/>
            <a:ext cx="1488703" cy="1025131"/>
          </a:xfrm>
          <a:prstGeom prst="rect">
            <a:avLst/>
          </a:prstGeom>
        </p:spPr>
      </p:pic>
      <p:sp>
        <p:nvSpPr>
          <p:cNvPr id="7" name="文本框 6"/>
          <p:cNvSpPr txBox="1"/>
          <p:nvPr/>
        </p:nvSpPr>
        <p:spPr>
          <a:xfrm>
            <a:off x="179512" y="2427734"/>
            <a:ext cx="7056784" cy="2434000"/>
          </a:xfrm>
          <a:prstGeom prst="rect">
            <a:avLst/>
          </a:prstGeom>
          <a:solidFill>
            <a:schemeClr val="accent2">
              <a:lumMod val="20000"/>
              <a:lumOff val="80000"/>
            </a:schemeClr>
          </a:solidFill>
        </p:spPr>
        <p:txBody>
          <a:bodyPr wrap="square" rtlCol="0">
            <a:spAutoFit/>
          </a:bodyPr>
          <a:lstStyle/>
          <a:p>
            <a:pPr algn="just" defTabSz="685800">
              <a:lnSpc>
                <a:spcPts val="2300"/>
              </a:lnSpc>
              <a:spcBef>
                <a:spcPts val="0"/>
              </a:spcBef>
            </a:pPr>
            <a:r>
              <a:rPr lang="zh-CN" altLang="en-US" sz="1600" dirty="0">
                <a:latin typeface="Times New Roman" panose="02020603050405020304" pitchFamily="18" charset="0"/>
                <a:ea typeface="黑体" pitchFamily="49" charset="-122"/>
                <a:cs typeface="Times New Roman" panose="02020603050405020304" pitchFamily="18" charset="0"/>
              </a:rPr>
              <a:t>十字链表中设置行头结点、 列头结点和链表头结点</a:t>
            </a:r>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en-US" sz="1600" dirty="0">
                <a:latin typeface="Times New Roman" panose="02020603050405020304" pitchFamily="18" charset="0"/>
                <a:ea typeface="黑体" pitchFamily="49" charset="-122"/>
                <a:cs typeface="Times New Roman" panose="02020603050405020304" pitchFamily="18" charset="0"/>
              </a:rPr>
              <a:t>它们采用与非</a:t>
            </a:r>
            <a:r>
              <a:rPr lang="en-US" altLang="zh-CN" sz="1600" dirty="0">
                <a:latin typeface="Times New Roman" panose="02020603050405020304" pitchFamily="18" charset="0"/>
                <a:ea typeface="黑体" pitchFamily="49" charset="-122"/>
                <a:cs typeface="Times New Roman" panose="02020603050405020304" pitchFamily="18" charset="0"/>
              </a:rPr>
              <a:t>0</a:t>
            </a:r>
            <a:r>
              <a:rPr lang="zh-CN" altLang="en-US" sz="1600" dirty="0">
                <a:latin typeface="Times New Roman" panose="02020603050405020304" pitchFamily="18" charset="0"/>
                <a:ea typeface="黑体" pitchFamily="49" charset="-122"/>
                <a:cs typeface="Times New Roman" panose="02020603050405020304" pitchFamily="18" charset="0"/>
              </a:rPr>
              <a:t>元素类似的结构</a:t>
            </a:r>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en-US" sz="1600" dirty="0">
                <a:latin typeface="Times New Roman" panose="02020603050405020304" pitchFamily="18" charset="0"/>
                <a:ea typeface="黑体" pitchFamily="49" charset="-122"/>
                <a:cs typeface="Times New Roman" panose="02020603050405020304" pitchFamily="18" charset="0"/>
              </a:rPr>
              <a:t>如图</a:t>
            </a:r>
            <a:r>
              <a:rPr lang="en-US" altLang="zh-CN" sz="1600" dirty="0">
                <a:latin typeface="Times New Roman" panose="02020603050405020304" pitchFamily="18" charset="0"/>
                <a:ea typeface="黑体" pitchFamily="49" charset="-122"/>
                <a:cs typeface="Times New Roman" panose="02020603050405020304" pitchFamily="18" charset="0"/>
              </a:rPr>
              <a:t>(b)</a:t>
            </a:r>
            <a:r>
              <a:rPr lang="zh-CN" altLang="en-US" sz="1600" dirty="0">
                <a:latin typeface="Times New Roman" panose="02020603050405020304" pitchFamily="18" charset="0"/>
                <a:ea typeface="黑体" pitchFamily="49" charset="-122"/>
                <a:cs typeface="Times New Roman" panose="02020603050405020304" pitchFamily="18" charset="0"/>
              </a:rPr>
              <a:t>所示。其中行头结点和列头结点的</a:t>
            </a:r>
            <a:r>
              <a:rPr lang="en-US" altLang="zh-CN" sz="1600" dirty="0">
                <a:latin typeface="Times New Roman" panose="02020603050405020304" pitchFamily="18" charset="0"/>
                <a:ea typeface="黑体" pitchFamily="49" charset="-122"/>
                <a:cs typeface="Times New Roman" panose="02020603050405020304" pitchFamily="18" charset="0"/>
              </a:rPr>
              <a:t>row</a:t>
            </a:r>
            <a:r>
              <a:rPr lang="zh-CN" altLang="en-US" sz="1600" dirty="0">
                <a:latin typeface="Times New Roman" panose="02020603050405020304" pitchFamily="18" charset="0"/>
                <a:ea typeface="黑体" pitchFamily="49" charset="-122"/>
                <a:cs typeface="Times New Roman" panose="02020603050405020304" pitchFamily="18" charset="0"/>
              </a:rPr>
              <a:t>、</a:t>
            </a:r>
            <a:r>
              <a:rPr lang="en-US" altLang="zh-CN" sz="1600" dirty="0">
                <a:latin typeface="Times New Roman" panose="02020603050405020304" pitchFamily="18" charset="0"/>
                <a:ea typeface="黑体" pitchFamily="49" charset="-122"/>
                <a:cs typeface="Times New Roman" panose="02020603050405020304" pitchFamily="18" charset="0"/>
              </a:rPr>
              <a:t>col</a:t>
            </a:r>
            <a:r>
              <a:rPr lang="zh-CN" altLang="en-US" sz="1600" dirty="0">
                <a:latin typeface="Times New Roman" panose="02020603050405020304" pitchFamily="18" charset="0"/>
                <a:ea typeface="黑体" pitchFamily="49" charset="-122"/>
                <a:cs typeface="Times New Roman" panose="02020603050405020304" pitchFamily="18" charset="0"/>
              </a:rPr>
              <a:t>域值为空</a:t>
            </a:r>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en-US" sz="1600" dirty="0">
                <a:latin typeface="Times New Roman" panose="02020603050405020304" pitchFamily="18" charset="0"/>
                <a:ea typeface="黑体" pitchFamily="49" charset="-122"/>
                <a:cs typeface="Times New Roman" panose="02020603050405020304" pitchFamily="18" charset="0"/>
              </a:rPr>
              <a:t>行头结点的</a:t>
            </a:r>
            <a:r>
              <a:rPr lang="en-US" altLang="zh-CN" sz="1600" dirty="0">
                <a:latin typeface="Times New Roman" panose="02020603050405020304" pitchFamily="18" charset="0"/>
                <a:ea typeface="黑体" pitchFamily="49" charset="-122"/>
                <a:cs typeface="Times New Roman" panose="02020603050405020304" pitchFamily="18" charset="0"/>
              </a:rPr>
              <a:t>right</a:t>
            </a:r>
            <a:r>
              <a:rPr lang="zh-CN" altLang="en-US" sz="1600" dirty="0">
                <a:latin typeface="Times New Roman" panose="02020603050405020304" pitchFamily="18" charset="0"/>
                <a:ea typeface="黑体" pitchFamily="49" charset="-122"/>
                <a:cs typeface="Times New Roman" panose="02020603050405020304" pitchFamily="18" charset="0"/>
              </a:rPr>
              <a:t>指针指向对应链表的第一个结点</a:t>
            </a:r>
            <a:r>
              <a:rPr lang="en-US" altLang="zh-CN" sz="1600" dirty="0">
                <a:latin typeface="Times New Roman" panose="02020603050405020304" pitchFamily="18" charset="0"/>
                <a:ea typeface="黑体" pitchFamily="49" charset="-122"/>
                <a:cs typeface="Times New Roman" panose="02020603050405020304" pitchFamily="18" charset="0"/>
              </a:rPr>
              <a:t>,down</a:t>
            </a:r>
            <a:r>
              <a:rPr lang="zh-CN" altLang="en-US" sz="1600" dirty="0">
                <a:latin typeface="Times New Roman" panose="02020603050405020304" pitchFamily="18" charset="0"/>
                <a:ea typeface="黑体" pitchFamily="49" charset="-122"/>
                <a:cs typeface="Times New Roman" panose="02020603050405020304" pitchFamily="18" charset="0"/>
              </a:rPr>
              <a:t>指针域为空</a:t>
            </a:r>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en-US" sz="1600" dirty="0">
                <a:latin typeface="Times New Roman" panose="02020603050405020304" pitchFamily="18" charset="0"/>
                <a:ea typeface="黑体" pitchFamily="49" charset="-122"/>
                <a:cs typeface="Times New Roman" panose="02020603050405020304" pitchFamily="18" charset="0"/>
              </a:rPr>
              <a:t>列头结点的</a:t>
            </a:r>
            <a:r>
              <a:rPr lang="en-US" altLang="zh-CN" sz="1600" dirty="0">
                <a:latin typeface="Times New Roman" panose="02020603050405020304" pitchFamily="18" charset="0"/>
                <a:ea typeface="黑体" pitchFamily="49" charset="-122"/>
                <a:cs typeface="Times New Roman" panose="02020603050405020304" pitchFamily="18" charset="0"/>
              </a:rPr>
              <a:t>down</a:t>
            </a:r>
            <a:r>
              <a:rPr lang="zh-CN" altLang="en-US" sz="1600" dirty="0">
                <a:latin typeface="Times New Roman" panose="02020603050405020304" pitchFamily="18" charset="0"/>
                <a:ea typeface="黑体" pitchFamily="49" charset="-122"/>
                <a:cs typeface="Times New Roman" panose="02020603050405020304" pitchFamily="18" charset="0"/>
              </a:rPr>
              <a:t>指针指向对应链表的第一个结点</a:t>
            </a:r>
            <a:r>
              <a:rPr lang="en-US" altLang="zh-CN" sz="1600" dirty="0">
                <a:latin typeface="Times New Roman" panose="02020603050405020304" pitchFamily="18" charset="0"/>
                <a:ea typeface="黑体" pitchFamily="49" charset="-122"/>
                <a:cs typeface="Times New Roman" panose="02020603050405020304" pitchFamily="18" charset="0"/>
              </a:rPr>
              <a:t>,right</a:t>
            </a:r>
            <a:r>
              <a:rPr lang="zh-CN" altLang="en-US" sz="1600" dirty="0">
                <a:latin typeface="Times New Roman" panose="02020603050405020304" pitchFamily="18" charset="0"/>
                <a:ea typeface="黑体" pitchFamily="49" charset="-122"/>
                <a:cs typeface="Times New Roman" panose="02020603050405020304" pitchFamily="18" charset="0"/>
              </a:rPr>
              <a:t>指针域为空。具体实现时</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行</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列</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头结点顺序连接且行头结点和列头结点可以合用</a:t>
            </a:r>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en-US" sz="1600" dirty="0">
                <a:latin typeface="Times New Roman" panose="02020603050405020304" pitchFamily="18" charset="0"/>
                <a:ea typeface="黑体" pitchFamily="49" charset="-122"/>
                <a:cs typeface="Times New Roman" panose="02020603050405020304" pitchFamily="18" charset="0"/>
              </a:rPr>
              <a:t>根据</a:t>
            </a:r>
            <a:r>
              <a:rPr lang="en-US" altLang="zh-CN" sz="1600" dirty="0">
                <a:latin typeface="Times New Roman" panose="02020603050405020304" pitchFamily="18" charset="0"/>
                <a:ea typeface="黑体" pitchFamily="49" charset="-122"/>
                <a:cs typeface="Times New Roman" panose="02020603050405020304" pitchFamily="18" charset="0"/>
              </a:rPr>
              <a:t>right</a:t>
            </a:r>
            <a:r>
              <a:rPr lang="zh-CN" altLang="en-US" sz="1600" dirty="0">
                <a:latin typeface="Times New Roman" panose="02020603050405020304" pitchFamily="18" charset="0"/>
                <a:ea typeface="黑体" pitchFamily="49" charset="-122"/>
                <a:cs typeface="Times New Roman" panose="02020603050405020304" pitchFamily="18" charset="0"/>
              </a:rPr>
              <a:t>和</a:t>
            </a:r>
            <a:r>
              <a:rPr lang="en-US" altLang="zh-CN" sz="1600" dirty="0">
                <a:latin typeface="Times New Roman" panose="02020603050405020304" pitchFamily="18" charset="0"/>
                <a:ea typeface="黑体" pitchFamily="49" charset="-122"/>
                <a:cs typeface="Times New Roman" panose="02020603050405020304" pitchFamily="18" charset="0"/>
              </a:rPr>
              <a:t>down</a:t>
            </a:r>
            <a:r>
              <a:rPr lang="zh-CN" altLang="en-US" sz="1600" dirty="0">
                <a:latin typeface="Times New Roman" panose="02020603050405020304" pitchFamily="18" charset="0"/>
                <a:ea typeface="黑体" pitchFamily="49" charset="-122"/>
                <a:cs typeface="Times New Roman" panose="02020603050405020304" pitchFamily="18" charset="0"/>
              </a:rPr>
              <a:t>的取值来区分行头结点和列头结点。 链表头结点的</a:t>
            </a:r>
            <a:r>
              <a:rPr lang="en-US" altLang="zh-CN" sz="1600" dirty="0">
                <a:latin typeface="Times New Roman" panose="02020603050405020304" pitchFamily="18" charset="0"/>
                <a:ea typeface="黑体" pitchFamily="49" charset="-122"/>
                <a:cs typeface="Times New Roman" panose="02020603050405020304" pitchFamily="18" charset="0"/>
              </a:rPr>
              <a:t>row</a:t>
            </a:r>
            <a:r>
              <a:rPr lang="zh-CN" altLang="en-US" sz="1600" dirty="0">
                <a:latin typeface="Times New Roman" panose="02020603050405020304" pitchFamily="18" charset="0"/>
                <a:ea typeface="黑体" pitchFamily="49" charset="-122"/>
                <a:cs typeface="Times New Roman" panose="02020603050405020304" pitchFamily="18" charset="0"/>
              </a:rPr>
              <a:t>和</a:t>
            </a:r>
            <a:r>
              <a:rPr lang="en-US" altLang="zh-CN" sz="1600" dirty="0">
                <a:latin typeface="Times New Roman" panose="02020603050405020304" pitchFamily="18" charset="0"/>
                <a:ea typeface="黑体" pitchFamily="49" charset="-122"/>
                <a:cs typeface="Times New Roman" panose="02020603050405020304" pitchFamily="18" charset="0"/>
              </a:rPr>
              <a:t>col</a:t>
            </a:r>
            <a:r>
              <a:rPr lang="zh-CN" altLang="en-US" sz="1600" dirty="0">
                <a:latin typeface="Times New Roman" panose="02020603050405020304" pitchFamily="18" charset="0"/>
                <a:ea typeface="黑体" pitchFamily="49" charset="-122"/>
                <a:cs typeface="Times New Roman" panose="02020603050405020304" pitchFamily="18" charset="0"/>
              </a:rPr>
              <a:t>分别记录稀疏矩阵的行数和列数</a:t>
            </a:r>
            <a:r>
              <a:rPr lang="en-US" altLang="zh-CN" sz="1600" dirty="0">
                <a:latin typeface="Times New Roman" panose="02020603050405020304" pitchFamily="18" charset="0"/>
                <a:ea typeface="黑体" pitchFamily="49" charset="-122"/>
                <a:cs typeface="Times New Roman" panose="02020603050405020304" pitchFamily="18" charset="0"/>
              </a:rPr>
              <a:t>,link </a:t>
            </a:r>
            <a:r>
              <a:rPr lang="zh-CN" altLang="en-US" sz="1600" dirty="0">
                <a:latin typeface="Times New Roman" panose="02020603050405020304" pitchFamily="18" charset="0"/>
                <a:ea typeface="黑体" pitchFamily="49" charset="-122"/>
                <a:cs typeface="Times New Roman" panose="02020603050405020304" pitchFamily="18" charset="0"/>
              </a:rPr>
              <a:t>指针指向行</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列</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头结点链表中第一个行 </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列</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en-US" sz="1600" dirty="0">
                <a:latin typeface="Times New Roman" panose="02020603050405020304" pitchFamily="18" charset="0"/>
                <a:ea typeface="黑体" pitchFamily="49" charset="-122"/>
                <a:cs typeface="Times New Roman" panose="02020603050405020304" pitchFamily="18" charset="0"/>
              </a:rPr>
              <a:t>结点。</a:t>
            </a:r>
          </a:p>
          <a:p>
            <a:pPr algn="just"/>
            <a:endParaRPr lang="zh-CN" altLang="en-US" dirty="0"/>
          </a:p>
        </p:txBody>
      </p:sp>
      <p:sp>
        <p:nvSpPr>
          <p:cNvPr id="8" name="文本框 7"/>
          <p:cNvSpPr txBox="1"/>
          <p:nvPr/>
        </p:nvSpPr>
        <p:spPr>
          <a:xfrm>
            <a:off x="611380" y="115457"/>
            <a:ext cx="30245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稀疏矩阵的十字链表表示</a:t>
            </a:r>
          </a:p>
        </p:txBody>
      </p:sp>
    </p:spTree>
    <p:extLst>
      <p:ext uri="{BB962C8B-B14F-4D97-AF65-F5344CB8AC3E}">
        <p14:creationId xmlns:p14="http://schemas.microsoft.com/office/powerpoint/2010/main" val="23172447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15816" y="771550"/>
            <a:ext cx="3810238" cy="3507257"/>
          </a:xfrm>
          <a:prstGeom prst="rect">
            <a:avLst/>
          </a:prstGeom>
        </p:spPr>
      </p:pic>
      <p:pic>
        <p:nvPicPr>
          <p:cNvPr id="3" name="图片 2"/>
          <p:cNvPicPr>
            <a:picLocks noChangeAspect="1"/>
          </p:cNvPicPr>
          <p:nvPr/>
        </p:nvPicPr>
        <p:blipFill>
          <a:blip r:embed="rId3"/>
          <a:stretch>
            <a:fillRect/>
          </a:stretch>
        </p:blipFill>
        <p:spPr>
          <a:xfrm>
            <a:off x="1090149" y="1491630"/>
            <a:ext cx="1820253" cy="1872208"/>
          </a:xfrm>
          <a:prstGeom prst="rect">
            <a:avLst/>
          </a:prstGeom>
        </p:spPr>
      </p:pic>
      <p:sp>
        <p:nvSpPr>
          <p:cNvPr id="6" name="文本框 5"/>
          <p:cNvSpPr txBox="1"/>
          <p:nvPr/>
        </p:nvSpPr>
        <p:spPr>
          <a:xfrm>
            <a:off x="611380" y="115457"/>
            <a:ext cx="36005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稀疏矩阵的十字链表表示示例</a:t>
            </a:r>
          </a:p>
        </p:txBody>
      </p:sp>
    </p:spTree>
    <p:extLst>
      <p:ext uri="{BB962C8B-B14F-4D97-AF65-F5344CB8AC3E}">
        <p14:creationId xmlns:p14="http://schemas.microsoft.com/office/powerpoint/2010/main" val="35930675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3" y="987574"/>
            <a:ext cx="5904656" cy="3507876"/>
          </a:xfrm>
        </p:spPr>
        <p:txBody>
          <a:bodyPr/>
          <a:lstStyle/>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#define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MaxRow</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100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行数</a:t>
            </a: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#define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MaxCol</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100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列数</a:t>
            </a: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#define max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MaxRow</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)&gt;(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MaxCol</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MaxRow</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MaxCol</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typedef</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struct</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int</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row;</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int</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col;</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*down,*right;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union{</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ElemType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val</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*link;</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}tag;</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3347864" y="861510"/>
                <a:ext cx="5796136" cy="3760004"/>
              </a:xfrm>
              <a:prstGeom prst="rect">
                <a:avLst/>
              </a:prstGeom>
              <a:solidFill>
                <a:schemeClr val="accent2">
                  <a:lumMod val="40000"/>
                  <a:lumOff val="60000"/>
                </a:schemeClr>
              </a:solidFill>
            </p:spPr>
            <p:txBody>
              <a:bodyPr wrap="square" rtlCol="0">
                <a:spAutoFit/>
              </a:bodyPr>
              <a:lstStyle/>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class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XSMatrix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private:</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headm</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public:</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XSMatrix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r>
                  <a:rPr lang="zh-CN" altLang="zh-CN" dirty="0">
                    <a:latin typeface="Times New Roman" panose="02020603050405020304" pitchFamily="18" charset="0"/>
                    <a:ea typeface="隶书" panose="02010509060101010101" pitchFamily="49" charset="-122"/>
                    <a:cs typeface="Times New Roman" panose="02020603050405020304" pitchFamily="18" charset="0"/>
                  </a:rPr>
                  <a:t>构造函数，创建链表头结点</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headm</a:t>
                </a:r>
                <a:r>
                  <a:rPr lang="en-US" altLang="zh-CN" dirty="0">
                    <a:latin typeface="Times New Roman" panose="02020603050405020304" pitchFamily="18" charset="0"/>
                    <a:ea typeface="隶书" panose="02010509060101010101" pitchFamily="49" charset="-122"/>
                    <a:cs typeface="Times New Roman" panose="02020603050405020304" pitchFamily="18" charset="0"/>
                  </a:rPr>
                  <a:t>=new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MatXnode</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headm</a:t>
                </a:r>
                <a:r>
                  <a:rPr lang="en-US" altLang="zh-CN" dirty="0">
                    <a:latin typeface="Times New Roman" panose="02020603050405020304" pitchFamily="18" charset="0"/>
                    <a:ea typeface="隶书" panose="02010509060101010101" pitchFamily="49" charset="-122"/>
                    <a:cs typeface="Times New Roman" panose="02020603050405020304" pitchFamily="18" charset="0"/>
                  </a:rPr>
                  <a:t>-&gt;</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tag.link</a:t>
                </a:r>
                <a:r>
                  <a:rPr lang="en-US" altLang="zh-CN" dirty="0">
                    <a:latin typeface="Times New Roman" panose="02020603050405020304" pitchFamily="18" charset="0"/>
                    <a:ea typeface="隶书" panose="02010509060101010101" pitchFamily="49" charset="-122"/>
                    <a:cs typeface="Times New Roman" panose="02020603050405020304" pitchFamily="18" charset="0"/>
                  </a:rPr>
                  <a:t>=NULL;</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 </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void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CreateMat</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ElemType</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MaxRow</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MaxCol</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zh-CN" altLang="zh-CN" dirty="0">
                    <a:latin typeface="Times New Roman" panose="02020603050405020304" pitchFamily="18" charset="0"/>
                    <a:ea typeface="隶书" panose="02010509060101010101" pitchFamily="49" charset="-122"/>
                    <a:cs typeface="Times New Roman" panose="02020603050405020304" pitchFamily="18" charset="0"/>
                  </a:rPr>
                  <a:t>创建十字链表</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void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XSMatrix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AddMatrix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XSMatrix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&amp;a,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XSMatrix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b);</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zh-CN" altLang="zh-CN" dirty="0">
                    <a:latin typeface="Times New Roman" panose="02020603050405020304" pitchFamily="18" charset="0"/>
                    <a:ea typeface="隶书" panose="02010509060101010101" pitchFamily="49" charset="-122"/>
                    <a:cs typeface="Times New Roman" panose="02020603050405020304" pitchFamily="18" charset="0"/>
                  </a:rPr>
                  <a:t>计算</a:t>
                </a:r>
                <a14:m>
                  <m:oMath xmlns:m="http://schemas.openxmlformats.org/officeDocument/2006/math">
                    <m:r>
                      <m:rPr>
                        <m:sty m:val="p"/>
                      </m:rPr>
                      <a:rPr lang="en-US" altLang="zh-CN">
                        <a:latin typeface="Cambria Math" panose="02040503050406030204" pitchFamily="18" charset="0"/>
                      </a:rPr>
                      <m:t>a</m:t>
                    </m:r>
                    <m:r>
                      <a:rPr lang="en-US" altLang="zh-CN">
                        <a:latin typeface="Cambria Math" panose="02040503050406030204" pitchFamily="18" charset="0"/>
                      </a:rPr>
                      <m:t>=</m:t>
                    </m:r>
                    <m:r>
                      <m:rPr>
                        <m:sty m:val="p"/>
                      </m:rPr>
                      <a:rPr lang="en-US" altLang="zh-CN">
                        <a:latin typeface="Cambria Math" panose="02040503050406030204" pitchFamily="18" charset="0"/>
                      </a:rPr>
                      <m:t>a</m:t>
                    </m:r>
                    <m:r>
                      <a:rPr lang="en-US" altLang="zh-CN">
                        <a:latin typeface="Cambria Math" panose="02040503050406030204" pitchFamily="18" charset="0"/>
                      </a:rPr>
                      <m:t>+</m:t>
                    </m:r>
                    <m:r>
                      <m:rPr>
                        <m:sty m:val="p"/>
                      </m:rPr>
                      <a:rPr lang="en-US" altLang="zh-CN">
                        <a:latin typeface="Cambria Math" panose="02040503050406030204" pitchFamily="18" charset="0"/>
                      </a:rPr>
                      <m:t>b</m:t>
                    </m:r>
                  </m:oMath>
                </a14:m>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    void </a:t>
                </a:r>
                <a:r>
                  <a:rPr lang="en-US" altLang="zh-CN" dirty="0" err="1">
                    <a:latin typeface="Times New Roman" panose="02020603050405020304" pitchFamily="18" charset="0"/>
                    <a:ea typeface="隶书" panose="02010509060101010101" pitchFamily="49" charset="-122"/>
                    <a:cs typeface="Times New Roman" panose="02020603050405020304" pitchFamily="18" charset="0"/>
                  </a:rPr>
                  <a:t>DispMatrix</a:t>
                </a:r>
                <a:r>
                  <a:rPr lang="en-US" altLang="zh-CN" dirty="0">
                    <a:latin typeface="Times New Roman" panose="02020603050405020304" pitchFamily="18" charset="0"/>
                    <a:ea typeface="隶书" panose="02010509060101010101" pitchFamily="49" charset="-122"/>
                    <a:cs typeface="Times New Roman" panose="02020603050405020304" pitchFamily="18" charset="0"/>
                  </a:rPr>
                  <a:t>();        //</a:t>
                </a:r>
                <a:r>
                  <a:rPr lang="zh-CN" altLang="zh-CN" dirty="0">
                    <a:latin typeface="Times New Roman" panose="02020603050405020304" pitchFamily="18" charset="0"/>
                    <a:ea typeface="隶书" panose="02010509060101010101" pitchFamily="49" charset="-122"/>
                    <a:cs typeface="Times New Roman" panose="02020603050405020304" pitchFamily="18" charset="0"/>
                  </a:rPr>
                  <a:t>输出十字链表矩阵</a:t>
                </a:r>
              </a:p>
              <a:p>
                <a:pPr>
                  <a:lnSpc>
                    <a:spcPts val="2200"/>
                  </a:lnSpc>
                  <a:spcBef>
                    <a:spcPts val="0"/>
                  </a:spcBef>
                </a:pPr>
                <a:r>
                  <a:rPr lang="en-US" altLang="zh-CN"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latin typeface="Times New Roman" panose="02020603050405020304" pitchFamily="18" charset="0"/>
                  <a:ea typeface="隶书" panose="02010509060101010101" pitchFamily="49"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347864" y="861510"/>
                <a:ext cx="5796136" cy="3760004"/>
              </a:xfrm>
              <a:prstGeom prst="rect">
                <a:avLst/>
              </a:prstGeom>
              <a:blipFill>
                <a:blip r:embed="rId2"/>
                <a:stretch>
                  <a:fillRect l="-841" t="-1135" b="-1135"/>
                </a:stretch>
              </a:blipFill>
            </p:spPr>
            <p:txBody>
              <a:bodyPr/>
              <a:lstStyle/>
              <a:p>
                <a:r>
                  <a:rPr lang="zh-CN" altLang="en-US">
                    <a:noFill/>
                  </a:rPr>
                  <a:t> </a:t>
                </a:r>
              </a:p>
            </p:txBody>
          </p:sp>
        </mc:Fallback>
      </mc:AlternateContent>
      <p:sp>
        <p:nvSpPr>
          <p:cNvPr id="5" name="文本框 4"/>
          <p:cNvSpPr txBox="1"/>
          <p:nvPr/>
        </p:nvSpPr>
        <p:spPr>
          <a:xfrm>
            <a:off x="539552" y="4659982"/>
            <a:ext cx="3744416" cy="369332"/>
          </a:xfrm>
          <a:prstGeom prst="rect">
            <a:avLst/>
          </a:prstGeom>
          <a:noFill/>
        </p:spPr>
        <p:txBody>
          <a:bodyPr wrap="square" rtlCol="0">
            <a:spAutoFit/>
          </a:bodyPr>
          <a:lstStyle/>
          <a:p>
            <a:r>
              <a:rPr lang="zh-CN" altLang="zh-CN" dirty="0">
                <a:solidFill>
                  <a:srgbClr val="7030A0"/>
                </a:solidFill>
                <a:latin typeface="华文隶书" panose="02010800040101010101" pitchFamily="2" charset="-122"/>
                <a:ea typeface="华文隶书" panose="02010800040101010101" pitchFamily="2" charset="-122"/>
                <a:hlinkClick r:id="rId3" action="ppaction://hlinkfile"/>
              </a:rPr>
              <a:t>稀疏矩阵的十字链表存储</a:t>
            </a:r>
            <a:endParaRPr lang="zh-CN" altLang="en-US" dirty="0">
              <a:solidFill>
                <a:srgbClr val="7030A0"/>
              </a:solidFill>
              <a:latin typeface="华文隶书" panose="02010800040101010101" pitchFamily="2" charset="-122"/>
              <a:ea typeface="华文隶书" panose="02010800040101010101" pitchFamily="2" charset="-122"/>
            </a:endParaRPr>
          </a:p>
        </p:txBody>
      </p:sp>
      <p:sp>
        <p:nvSpPr>
          <p:cNvPr id="6" name="文本框 5"/>
          <p:cNvSpPr txBox="1"/>
          <p:nvPr/>
        </p:nvSpPr>
        <p:spPr>
          <a:xfrm>
            <a:off x="611380" y="115457"/>
            <a:ext cx="45366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zh-CN" sz="2000" dirty="0"/>
              <a:t>稀疏矩阵的十字链表存储结构的类定义</a:t>
            </a:r>
            <a:endParaRPr lang="zh-CN" altLang="zh-CN" sz="2000" dirty="0">
              <a:latin typeface="Times New Roman" panose="02020603050405020304" pitchFamily="18" charset="0"/>
              <a:ea typeface="隶书"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34229752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
                                        </p:tgtEl>
                                        <p:attrNameLst>
                                          <p:attrName>style.visibility</p:attrName>
                                        </p:attrNameLst>
                                      </p:cBhvr>
                                      <p:to>
                                        <p:strVal val="visible"/>
                                      </p:to>
                                    </p:set>
                                    <p:animEffect transition="in" filter="fade">
                                      <p:cBhvr>
                                        <p:cTn id="91" dur="1000"/>
                                        <p:tgtEl>
                                          <p:spTgt spid="4"/>
                                        </p:tgtEl>
                                      </p:cBhvr>
                                    </p:animEffect>
                                    <p:anim calcmode="lin" valueType="num">
                                      <p:cBhvr>
                                        <p:cTn id="92" dur="1000" fill="hold"/>
                                        <p:tgtEl>
                                          <p:spTgt spid="4"/>
                                        </p:tgtEl>
                                        <p:attrNameLst>
                                          <p:attrName>ppt_x</p:attrName>
                                        </p:attrNameLst>
                                      </p:cBhvr>
                                      <p:tavLst>
                                        <p:tav tm="0">
                                          <p:val>
                                            <p:strVal val="#ppt_x"/>
                                          </p:val>
                                        </p:tav>
                                        <p:tav tm="100000">
                                          <p:val>
                                            <p:strVal val="#ppt_x"/>
                                          </p:val>
                                        </p:tav>
                                      </p:tavLst>
                                    </p:anim>
                                    <p:anim calcmode="lin" valueType="num">
                                      <p:cBhvr>
                                        <p:cTn id="9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0" end="0"/>
                                            </p:txEl>
                                          </p:spTgt>
                                        </p:tgtEl>
                                        <p:attrNameLst>
                                          <p:attrName>style.visibility</p:attrName>
                                        </p:attrNameLst>
                                      </p:cBhvr>
                                      <p:to>
                                        <p:strVal val="visible"/>
                                      </p:to>
                                    </p:set>
                                    <p:animEffect transition="in" filter="fade">
                                      <p:cBhvr>
                                        <p:cTn id="98" dur="1000"/>
                                        <p:tgtEl>
                                          <p:spTgt spid="4">
                                            <p:txEl>
                                              <p:pRg st="0" end="0"/>
                                            </p:txEl>
                                          </p:spTgt>
                                        </p:tgtEl>
                                      </p:cBhvr>
                                    </p:animEffect>
                                    <p:anim calcmode="lin" valueType="num">
                                      <p:cBhvr>
                                        <p:cTn id="9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1" end="1"/>
                                            </p:txEl>
                                          </p:spTgt>
                                        </p:tgtEl>
                                        <p:attrNameLst>
                                          <p:attrName>style.visibility</p:attrName>
                                        </p:attrNameLst>
                                      </p:cBhvr>
                                      <p:to>
                                        <p:strVal val="visible"/>
                                      </p:to>
                                    </p:set>
                                    <p:animEffect transition="in" filter="fade">
                                      <p:cBhvr>
                                        <p:cTn id="105" dur="1000"/>
                                        <p:tgtEl>
                                          <p:spTgt spid="4">
                                            <p:txEl>
                                              <p:pRg st="1" end="1"/>
                                            </p:txEl>
                                          </p:spTgt>
                                        </p:tgtEl>
                                      </p:cBhvr>
                                    </p:animEffect>
                                    <p:anim calcmode="lin" valueType="num">
                                      <p:cBhvr>
                                        <p:cTn id="10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2" end="2"/>
                                            </p:txEl>
                                          </p:spTgt>
                                        </p:tgtEl>
                                        <p:attrNameLst>
                                          <p:attrName>style.visibility</p:attrName>
                                        </p:attrNameLst>
                                      </p:cBhvr>
                                      <p:to>
                                        <p:strVal val="visible"/>
                                      </p:to>
                                    </p:set>
                                    <p:animEffect transition="in" filter="fade">
                                      <p:cBhvr>
                                        <p:cTn id="110" dur="1000"/>
                                        <p:tgtEl>
                                          <p:spTgt spid="4">
                                            <p:txEl>
                                              <p:pRg st="2" end="2"/>
                                            </p:txEl>
                                          </p:spTgt>
                                        </p:tgtEl>
                                      </p:cBhvr>
                                    </p:animEffect>
                                    <p:anim calcmode="lin" valueType="num">
                                      <p:cBhvr>
                                        <p:cTn id="11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
                                            <p:txEl>
                                              <p:pRg st="3" end="3"/>
                                            </p:txEl>
                                          </p:spTgt>
                                        </p:tgtEl>
                                        <p:attrNameLst>
                                          <p:attrName>style.visibility</p:attrName>
                                        </p:attrNameLst>
                                      </p:cBhvr>
                                      <p:to>
                                        <p:strVal val="visible"/>
                                      </p:to>
                                    </p:set>
                                    <p:animEffect transition="in" filter="fade">
                                      <p:cBhvr>
                                        <p:cTn id="117" dur="1000"/>
                                        <p:tgtEl>
                                          <p:spTgt spid="4">
                                            <p:txEl>
                                              <p:pRg st="3" end="3"/>
                                            </p:txEl>
                                          </p:spTgt>
                                        </p:tgtEl>
                                      </p:cBhvr>
                                    </p:animEffect>
                                    <p:anim calcmode="lin" valueType="num">
                                      <p:cBhvr>
                                        <p:cTn id="1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nodeType="clickEffect">
                                  <p:stCondLst>
                                    <p:cond delay="0"/>
                                  </p:stCondLst>
                                  <p:childTnLst>
                                    <p:set>
                                      <p:cBhvr>
                                        <p:cTn id="123" dur="1" fill="hold">
                                          <p:stCondLst>
                                            <p:cond delay="0"/>
                                          </p:stCondLst>
                                        </p:cTn>
                                        <p:tgtEl>
                                          <p:spTgt spid="4">
                                            <p:txEl>
                                              <p:pRg st="4" end="4"/>
                                            </p:txEl>
                                          </p:spTgt>
                                        </p:tgtEl>
                                        <p:attrNameLst>
                                          <p:attrName>style.visibility</p:attrName>
                                        </p:attrNameLst>
                                      </p:cBhvr>
                                      <p:to>
                                        <p:strVal val="visible"/>
                                      </p:to>
                                    </p:set>
                                    <p:animEffect transition="in" filter="fade">
                                      <p:cBhvr>
                                        <p:cTn id="124" dur="1000"/>
                                        <p:tgtEl>
                                          <p:spTgt spid="4">
                                            <p:txEl>
                                              <p:pRg st="4" end="4"/>
                                            </p:txEl>
                                          </p:spTgt>
                                        </p:tgtEl>
                                      </p:cBhvr>
                                    </p:animEffect>
                                    <p:anim calcmode="lin" valueType="num">
                                      <p:cBhvr>
                                        <p:cTn id="12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26"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8" dur="1" fill="hold">
                                          <p:stCondLst>
                                            <p:cond delay="0"/>
                                          </p:stCondLst>
                                        </p:cTn>
                                        <p:tgtEl>
                                          <p:spTgt spid="4">
                                            <p:txEl>
                                              <p:pRg st="5" end="5"/>
                                            </p:txEl>
                                          </p:spTgt>
                                        </p:tgtEl>
                                        <p:attrNameLst>
                                          <p:attrName>style.visibility</p:attrName>
                                        </p:attrNameLst>
                                      </p:cBhvr>
                                      <p:to>
                                        <p:strVal val="visible"/>
                                      </p:to>
                                    </p:set>
                                    <p:animEffect transition="in" filter="fade">
                                      <p:cBhvr>
                                        <p:cTn id="129" dur="1000"/>
                                        <p:tgtEl>
                                          <p:spTgt spid="4">
                                            <p:txEl>
                                              <p:pRg st="5" end="5"/>
                                            </p:txEl>
                                          </p:spTgt>
                                        </p:tgtEl>
                                      </p:cBhvr>
                                    </p:animEffect>
                                    <p:anim calcmode="lin" valueType="num">
                                      <p:cBhvr>
                                        <p:cTn id="13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31"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4">
                                            <p:txEl>
                                              <p:pRg st="6" end="6"/>
                                            </p:txEl>
                                          </p:spTgt>
                                        </p:tgtEl>
                                        <p:attrNameLst>
                                          <p:attrName>style.visibility</p:attrName>
                                        </p:attrNameLst>
                                      </p:cBhvr>
                                      <p:to>
                                        <p:strVal val="visible"/>
                                      </p:to>
                                    </p:set>
                                    <p:animEffect transition="in" filter="fade">
                                      <p:cBhvr>
                                        <p:cTn id="134" dur="1000"/>
                                        <p:tgtEl>
                                          <p:spTgt spid="4">
                                            <p:txEl>
                                              <p:pRg st="6" end="6"/>
                                            </p:txEl>
                                          </p:spTgt>
                                        </p:tgtEl>
                                      </p:cBhvr>
                                    </p:animEffect>
                                    <p:anim calcmode="lin" valueType="num">
                                      <p:cBhvr>
                                        <p:cTn id="135"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36"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4">
                                            <p:txEl>
                                              <p:pRg st="7" end="7"/>
                                            </p:txEl>
                                          </p:spTgt>
                                        </p:tgtEl>
                                        <p:attrNameLst>
                                          <p:attrName>style.visibility</p:attrName>
                                        </p:attrNameLst>
                                      </p:cBhvr>
                                      <p:to>
                                        <p:strVal val="visible"/>
                                      </p:to>
                                    </p:set>
                                    <p:animEffect transition="in" filter="fade">
                                      <p:cBhvr>
                                        <p:cTn id="141" dur="1000"/>
                                        <p:tgtEl>
                                          <p:spTgt spid="4">
                                            <p:txEl>
                                              <p:pRg st="7" end="7"/>
                                            </p:txEl>
                                          </p:spTgt>
                                        </p:tgtEl>
                                      </p:cBhvr>
                                    </p:animEffect>
                                    <p:anim calcmode="lin" valueType="num">
                                      <p:cBhvr>
                                        <p:cTn id="14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7" end="7"/>
                                            </p:txEl>
                                          </p:spTgt>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4">
                                            <p:txEl>
                                              <p:pRg st="8" end="8"/>
                                            </p:txEl>
                                          </p:spTgt>
                                        </p:tgtEl>
                                        <p:attrNameLst>
                                          <p:attrName>style.visibility</p:attrName>
                                        </p:attrNameLst>
                                      </p:cBhvr>
                                      <p:to>
                                        <p:strVal val="visible"/>
                                      </p:to>
                                    </p:set>
                                    <p:animEffect transition="in" filter="fade">
                                      <p:cBhvr>
                                        <p:cTn id="146" dur="1000"/>
                                        <p:tgtEl>
                                          <p:spTgt spid="4">
                                            <p:txEl>
                                              <p:pRg st="8" end="8"/>
                                            </p:txEl>
                                          </p:spTgt>
                                        </p:tgtEl>
                                      </p:cBhvr>
                                    </p:animEffect>
                                    <p:anim calcmode="lin" valueType="num">
                                      <p:cBhvr>
                                        <p:cTn id="14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48"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4">
                                            <p:txEl>
                                              <p:pRg st="9" end="9"/>
                                            </p:txEl>
                                          </p:spTgt>
                                        </p:tgtEl>
                                        <p:attrNameLst>
                                          <p:attrName>style.visibility</p:attrName>
                                        </p:attrNameLst>
                                      </p:cBhvr>
                                      <p:to>
                                        <p:strVal val="visible"/>
                                      </p:to>
                                    </p:set>
                                    <p:animEffect transition="in" filter="fade">
                                      <p:cBhvr>
                                        <p:cTn id="153" dur="1000"/>
                                        <p:tgtEl>
                                          <p:spTgt spid="4">
                                            <p:txEl>
                                              <p:pRg st="9" end="9"/>
                                            </p:txEl>
                                          </p:spTgt>
                                        </p:tgtEl>
                                      </p:cBhvr>
                                    </p:animEffect>
                                    <p:anim calcmode="lin" valueType="num">
                                      <p:cBhvr>
                                        <p:cTn id="15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55" dur="1000" fill="hold"/>
                                        <p:tgtEl>
                                          <p:spTgt spid="4">
                                            <p:txEl>
                                              <p:pRg st="9" end="9"/>
                                            </p:txEl>
                                          </p:spTgt>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0"/>
                                  </p:stCondLst>
                                  <p:childTnLst>
                                    <p:set>
                                      <p:cBhvr>
                                        <p:cTn id="157" dur="1" fill="hold">
                                          <p:stCondLst>
                                            <p:cond delay="0"/>
                                          </p:stCondLst>
                                        </p:cTn>
                                        <p:tgtEl>
                                          <p:spTgt spid="4">
                                            <p:txEl>
                                              <p:pRg st="10" end="10"/>
                                            </p:txEl>
                                          </p:spTgt>
                                        </p:tgtEl>
                                        <p:attrNameLst>
                                          <p:attrName>style.visibility</p:attrName>
                                        </p:attrNameLst>
                                      </p:cBhvr>
                                      <p:to>
                                        <p:strVal val="visible"/>
                                      </p:to>
                                    </p:set>
                                    <p:animEffect transition="in" filter="fade">
                                      <p:cBhvr>
                                        <p:cTn id="158" dur="1000"/>
                                        <p:tgtEl>
                                          <p:spTgt spid="4">
                                            <p:txEl>
                                              <p:pRg st="10" end="10"/>
                                            </p:txEl>
                                          </p:spTgt>
                                        </p:tgtEl>
                                      </p:cBhvr>
                                    </p:animEffect>
                                    <p:anim calcmode="lin" valueType="num">
                                      <p:cBhvr>
                                        <p:cTn id="159"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60"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nodeType="clickEffect">
                                  <p:stCondLst>
                                    <p:cond delay="0"/>
                                  </p:stCondLst>
                                  <p:childTnLst>
                                    <p:set>
                                      <p:cBhvr>
                                        <p:cTn id="164" dur="1" fill="hold">
                                          <p:stCondLst>
                                            <p:cond delay="0"/>
                                          </p:stCondLst>
                                        </p:cTn>
                                        <p:tgtEl>
                                          <p:spTgt spid="4">
                                            <p:txEl>
                                              <p:pRg st="11" end="11"/>
                                            </p:txEl>
                                          </p:spTgt>
                                        </p:tgtEl>
                                        <p:attrNameLst>
                                          <p:attrName>style.visibility</p:attrName>
                                        </p:attrNameLst>
                                      </p:cBhvr>
                                      <p:to>
                                        <p:strVal val="visible"/>
                                      </p:to>
                                    </p:set>
                                    <p:animEffect transition="in" filter="fade">
                                      <p:cBhvr>
                                        <p:cTn id="165" dur="1000"/>
                                        <p:tgtEl>
                                          <p:spTgt spid="4">
                                            <p:txEl>
                                              <p:pRg st="11" end="11"/>
                                            </p:txEl>
                                          </p:spTgt>
                                        </p:tgtEl>
                                      </p:cBhvr>
                                    </p:animEffect>
                                    <p:anim calcmode="lin" valueType="num">
                                      <p:cBhvr>
                                        <p:cTn id="166"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167"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9" dur="1" fill="hold">
                                          <p:stCondLst>
                                            <p:cond delay="0"/>
                                          </p:stCondLst>
                                        </p:cTn>
                                        <p:tgtEl>
                                          <p:spTgt spid="4">
                                            <p:txEl>
                                              <p:pRg st="12" end="12"/>
                                            </p:txEl>
                                          </p:spTgt>
                                        </p:tgtEl>
                                        <p:attrNameLst>
                                          <p:attrName>style.visibility</p:attrName>
                                        </p:attrNameLst>
                                      </p:cBhvr>
                                      <p:to>
                                        <p:strVal val="visible"/>
                                      </p:to>
                                    </p:set>
                                    <p:animEffect transition="in" filter="fade">
                                      <p:cBhvr>
                                        <p:cTn id="170" dur="1000"/>
                                        <p:tgtEl>
                                          <p:spTgt spid="4">
                                            <p:txEl>
                                              <p:pRg st="12" end="12"/>
                                            </p:txEl>
                                          </p:spTgt>
                                        </p:tgtEl>
                                      </p:cBhvr>
                                    </p:animEffect>
                                    <p:anim calcmode="lin" valueType="num">
                                      <p:cBhvr>
                                        <p:cTn id="171"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172"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31" presetClass="entr" presetSubtype="0" fill="hold" grpId="0" nodeType="clickEffect">
                                  <p:stCondLst>
                                    <p:cond delay="0"/>
                                  </p:stCondLst>
                                  <p:childTnLst>
                                    <p:set>
                                      <p:cBhvr>
                                        <p:cTn id="176" dur="1" fill="hold">
                                          <p:stCondLst>
                                            <p:cond delay="0"/>
                                          </p:stCondLst>
                                        </p:cTn>
                                        <p:tgtEl>
                                          <p:spTgt spid="5"/>
                                        </p:tgtEl>
                                        <p:attrNameLst>
                                          <p:attrName>style.visibility</p:attrName>
                                        </p:attrNameLst>
                                      </p:cBhvr>
                                      <p:to>
                                        <p:strVal val="visible"/>
                                      </p:to>
                                    </p:set>
                                    <p:anim calcmode="lin" valueType="num">
                                      <p:cBhvr>
                                        <p:cTn id="177" dur="1000" fill="hold"/>
                                        <p:tgtEl>
                                          <p:spTgt spid="5"/>
                                        </p:tgtEl>
                                        <p:attrNameLst>
                                          <p:attrName>ppt_w</p:attrName>
                                        </p:attrNameLst>
                                      </p:cBhvr>
                                      <p:tavLst>
                                        <p:tav tm="0">
                                          <p:val>
                                            <p:fltVal val="0"/>
                                          </p:val>
                                        </p:tav>
                                        <p:tav tm="100000">
                                          <p:val>
                                            <p:strVal val="#ppt_w"/>
                                          </p:val>
                                        </p:tav>
                                      </p:tavLst>
                                    </p:anim>
                                    <p:anim calcmode="lin" valueType="num">
                                      <p:cBhvr>
                                        <p:cTn id="178" dur="1000" fill="hold"/>
                                        <p:tgtEl>
                                          <p:spTgt spid="5"/>
                                        </p:tgtEl>
                                        <p:attrNameLst>
                                          <p:attrName>ppt_h</p:attrName>
                                        </p:attrNameLst>
                                      </p:cBhvr>
                                      <p:tavLst>
                                        <p:tav tm="0">
                                          <p:val>
                                            <p:fltVal val="0"/>
                                          </p:val>
                                        </p:tav>
                                        <p:tav tm="100000">
                                          <p:val>
                                            <p:strVal val="#ppt_h"/>
                                          </p:val>
                                        </p:tav>
                                      </p:tavLst>
                                    </p:anim>
                                    <p:anim calcmode="lin" valueType="num">
                                      <p:cBhvr>
                                        <p:cTn id="179" dur="1000" fill="hold"/>
                                        <p:tgtEl>
                                          <p:spTgt spid="5"/>
                                        </p:tgtEl>
                                        <p:attrNameLst>
                                          <p:attrName>style.rotation</p:attrName>
                                        </p:attrNameLst>
                                      </p:cBhvr>
                                      <p:tavLst>
                                        <p:tav tm="0">
                                          <p:val>
                                            <p:fltVal val="90"/>
                                          </p:val>
                                        </p:tav>
                                        <p:tav tm="100000">
                                          <p:val>
                                            <p:fltVal val="0"/>
                                          </p:val>
                                        </p:tav>
                                      </p:tavLst>
                                    </p:anim>
                                    <p:animEffect transition="in" filter="fade">
                                      <p:cBhvr>
                                        <p:cTn id="18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广义表</a:t>
            </a:r>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554043534"/>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467544" y="1064124"/>
            <a:ext cx="8064896" cy="3507876"/>
          </a:xfrm>
        </p:spPr>
        <p:txBody>
          <a:bodyPr/>
          <a:lstStyle/>
          <a:p>
            <a:pPr marL="0" indent="0" algn="just">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广义表是一种特殊的结构，它兼有线性表、树、图等结构的特点。</a:t>
            </a:r>
            <a:r>
              <a:rPr lang="zh-CN" altLang="zh-CN" sz="1600" dirty="0">
                <a:solidFill>
                  <a:srgbClr val="FF0000"/>
                </a:solidFill>
                <a:latin typeface="Times New Roman" panose="02020603050405020304" pitchFamily="18" charset="0"/>
                <a:cs typeface="Times New Roman" panose="02020603050405020304" pitchFamily="18" charset="0"/>
              </a:rPr>
              <a:t>不同于线性表，广义表的数据元素不仅可以为基本数据类型，而且还可以为广义表</a:t>
            </a:r>
            <a:r>
              <a:rPr lang="zh-CN" altLang="zh-CN" sz="1600" dirty="0">
                <a:latin typeface="Times New Roman" panose="02020603050405020304" pitchFamily="18" charset="0"/>
                <a:cs typeface="Times New Roman" panose="02020603050405020304" pitchFamily="18" charset="0"/>
              </a:rPr>
              <a:t>。从基本数据元素的角度来看，广义表的数据元素之间已经不再是单纯的线性关系，而且还存在层次关系。</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广义表是人工智能语言</a:t>
            </a:r>
            <a:r>
              <a:rPr lang="en-US" altLang="zh-CN" sz="1600" dirty="0">
                <a:latin typeface="Times New Roman" panose="02020603050405020304" pitchFamily="18" charset="0"/>
                <a:cs typeface="Times New Roman" panose="02020603050405020304" pitchFamily="18" charset="0"/>
              </a:rPr>
              <a:t>LISP</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PROLOG</a:t>
            </a:r>
            <a:r>
              <a:rPr lang="zh-CN" altLang="zh-CN" sz="1600" dirty="0">
                <a:latin typeface="Times New Roman" panose="02020603050405020304" pitchFamily="18" charset="0"/>
                <a:cs typeface="Times New Roman" panose="02020603050405020304" pitchFamily="18" charset="0"/>
              </a:rPr>
              <a:t>等语言中的基本数据结构。</a:t>
            </a:r>
          </a:p>
          <a:p>
            <a:pPr marL="0" indent="0" algn="just">
              <a:buNone/>
            </a:pPr>
            <a:endParaRPr lang="zh-CN" altLang="en-US" dirty="0"/>
          </a:p>
        </p:txBody>
      </p:sp>
      <p:sp>
        <p:nvSpPr>
          <p:cNvPr id="5" name="文本框 4"/>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a:t>
            </a:r>
          </a:p>
        </p:txBody>
      </p:sp>
    </p:spTree>
    <p:extLst>
      <p:ext uri="{BB962C8B-B14F-4D97-AF65-F5344CB8AC3E}">
        <p14:creationId xmlns:p14="http://schemas.microsoft.com/office/powerpoint/2010/main" val="38953155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568952" cy="2155698"/>
              </a:xfrm>
            </p:spPr>
            <p:txBody>
              <a:bodyPr/>
              <a:lstStyle/>
              <a:p>
                <a:pPr marL="0" indent="0" algn="just">
                  <a:lnSpc>
                    <a:spcPts val="22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广义表</a:t>
                </a:r>
                <a:r>
                  <a:rPr lang="zh-CN" altLang="zh-CN" sz="1600" dirty="0">
                    <a:latin typeface="Times New Roman" panose="02020603050405020304" pitchFamily="18" charset="0"/>
                    <a:cs typeface="Times New Roman" panose="02020603050405020304" pitchFamily="18" charset="0"/>
                  </a:rPr>
                  <a:t>是线性表的推广，简称为表。与线性类似，广义表一般记为</a:t>
                </a: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BL</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表示广义表的长度，</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时称为空表；若</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a:latin typeface="Cambria Math" panose="02040503050406030204" pitchFamily="18" charset="0"/>
                      </a:rPr>
                      <m:t>(</m:t>
                    </m:r>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为单个数据元素，则称称其为广义表</a:t>
                </a:r>
                <a14:m>
                  <m:oMath xmlns:m="http://schemas.openxmlformats.org/officeDocument/2006/math">
                    <m:r>
                      <m:rPr>
                        <m:sty m:val="p"/>
                      </m:rPr>
                      <a:rPr lang="en-US" altLang="zh-CN" sz="1600">
                        <a:latin typeface="Cambria Math" panose="02040503050406030204" pitchFamily="18" charset="0"/>
                      </a:rPr>
                      <m:t>BL</m:t>
                    </m:r>
                  </m:oMath>
                </a14:m>
                <a:r>
                  <a:rPr lang="zh-CN" altLang="zh-CN" sz="1600" dirty="0">
                    <a:latin typeface="Times New Roman" panose="02020603050405020304" pitchFamily="18" charset="0"/>
                    <a:cs typeface="Times New Roman" panose="02020603050405020304" pitchFamily="18" charset="0"/>
                  </a:rPr>
                  <a:t>的</a:t>
                </a:r>
                <a:r>
                  <a:rPr lang="zh-CN" altLang="zh-CN" sz="1600" dirty="0">
                    <a:solidFill>
                      <a:srgbClr val="C00000"/>
                    </a:solidFill>
                    <a:latin typeface="Times New Roman" panose="02020603050405020304" pitchFamily="18" charset="0"/>
                    <a:cs typeface="Times New Roman" panose="02020603050405020304" pitchFamily="18" charset="0"/>
                  </a:rPr>
                  <a:t>原子</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本身是一个广义表，则称其为广义表</a:t>
                </a:r>
                <a14:m>
                  <m:oMath xmlns:m="http://schemas.openxmlformats.org/officeDocument/2006/math">
                    <m:r>
                      <m:rPr>
                        <m:sty m:val="p"/>
                      </m:rPr>
                      <a:rPr lang="en-US" altLang="zh-CN" sz="1600">
                        <a:latin typeface="Cambria Math" panose="02040503050406030204" pitchFamily="18" charset="0"/>
                      </a:rPr>
                      <m:t>BL</m:t>
                    </m:r>
                  </m:oMath>
                </a14:m>
                <a:r>
                  <a:rPr lang="zh-CN" altLang="zh-CN" sz="1600" dirty="0">
                    <a:latin typeface="Times New Roman" panose="02020603050405020304" pitchFamily="18" charset="0"/>
                    <a:cs typeface="Times New Roman" panose="02020603050405020304" pitchFamily="18" charset="0"/>
                  </a:rPr>
                  <a:t>的子表；当广义表</a:t>
                </a:r>
                <a14:m>
                  <m:oMath xmlns:m="http://schemas.openxmlformats.org/officeDocument/2006/math">
                    <m:r>
                      <m:rPr>
                        <m:sty m:val="p"/>
                      </m:rPr>
                      <a:rPr lang="en-US" altLang="zh-CN" sz="1600">
                        <a:latin typeface="Cambria Math" panose="02040503050406030204" pitchFamily="18" charset="0"/>
                      </a:rPr>
                      <m:t>BL</m:t>
                    </m:r>
                  </m:oMath>
                </a14:m>
                <a:r>
                  <a:rPr lang="zh-CN" altLang="zh-CN" sz="1600" dirty="0">
                    <a:latin typeface="Times New Roman" panose="02020603050405020304" pitchFamily="18" charset="0"/>
                    <a:cs typeface="Times New Roman" panose="02020603050405020304" pitchFamily="18" charset="0"/>
                  </a:rPr>
                  <a:t>非空时，第一个数据元素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称为</a:t>
                </a:r>
                <a14:m>
                  <m:oMath xmlns:m="http://schemas.openxmlformats.org/officeDocument/2006/math">
                    <m:r>
                      <m:rPr>
                        <m:sty m:val="p"/>
                      </m:rPr>
                      <a:rPr lang="en-US" altLang="zh-CN" sz="1600">
                        <a:latin typeface="Cambria Math" panose="02040503050406030204" pitchFamily="18" charset="0"/>
                      </a:rPr>
                      <m:t>BL</m:t>
                    </m:r>
                  </m:oMath>
                </a14:m>
                <a:r>
                  <a:rPr lang="zh-CN" altLang="zh-CN" sz="1600" dirty="0">
                    <a:latin typeface="Times New Roman" panose="02020603050405020304" pitchFamily="18" charset="0"/>
                    <a:cs typeface="Times New Roman" panose="02020603050405020304" pitchFamily="18" charset="0"/>
                  </a:rPr>
                  <a:t>的</a:t>
                </a:r>
                <a:r>
                  <a:rPr lang="zh-CN" altLang="zh-CN" sz="1600" dirty="0">
                    <a:solidFill>
                      <a:srgbClr val="C00000"/>
                    </a:solidFill>
                    <a:latin typeface="Times New Roman" panose="02020603050405020304" pitchFamily="18" charset="0"/>
                    <a:cs typeface="Times New Roman" panose="02020603050405020304" pitchFamily="18" charset="0"/>
                  </a:rPr>
                  <a:t>表头</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head</a:t>
                </a:r>
                <a:r>
                  <a:rPr lang="zh-CN" altLang="zh-CN" sz="1600" dirty="0">
                    <a:latin typeface="Times New Roman" panose="02020603050405020304" pitchFamily="18" charset="0"/>
                    <a:cs typeface="Times New Roman" panose="02020603050405020304" pitchFamily="18" charset="0"/>
                  </a:rPr>
                  <a:t>），即</a:t>
                </a:r>
                <a14:m>
                  <m:oMath xmlns:m="http://schemas.openxmlformats.org/officeDocument/2006/math">
                    <m:r>
                      <m:rPr>
                        <m:sty m:val="p"/>
                      </m:rPr>
                      <a:rPr lang="en-US" altLang="zh-CN" sz="1600">
                        <a:latin typeface="Cambria Math" panose="02040503050406030204" pitchFamily="18" charset="0"/>
                      </a:rPr>
                      <m:t>head</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BL</m:t>
                        </m:r>
                      </m:e>
                    </m:d>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，其余数据元素组成的表</a:t>
                </a:r>
                <a:r>
                  <a:rPr lang="en-US"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称为</a:t>
                </a:r>
                <a:r>
                  <a:rPr lang="zh-CN" altLang="zh-CN" sz="1600" dirty="0">
                    <a:solidFill>
                      <a:srgbClr val="C00000"/>
                    </a:solidFill>
                    <a:latin typeface="Times New Roman" panose="02020603050405020304" pitchFamily="18" charset="0"/>
                    <a:cs typeface="Times New Roman" panose="02020603050405020304" pitchFamily="18" charset="0"/>
                  </a:rPr>
                  <a:t>表尾</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tail</a:t>
                </a:r>
                <a:r>
                  <a:rPr lang="zh-CN" altLang="zh-CN" sz="1600" dirty="0">
                    <a:latin typeface="Times New Roman" panose="02020603050405020304" pitchFamily="18" charset="0"/>
                    <a:cs typeface="Times New Roman" panose="02020603050405020304" pitchFamily="18" charset="0"/>
                  </a:rPr>
                  <a:t>），即</a:t>
                </a:r>
                <a14:m>
                  <m:oMath xmlns:m="http://schemas.openxmlformats.org/officeDocument/2006/math">
                    <m:r>
                      <m:rPr>
                        <m:sty m:val="p"/>
                      </m:rPr>
                      <a:rPr lang="en-US" altLang="zh-CN" sz="1600">
                        <a:latin typeface="Cambria Math" panose="02040503050406030204" pitchFamily="18" charset="0"/>
                      </a:rPr>
                      <m:t>tail</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BL</m:t>
                        </m:r>
                      </m:e>
                    </m:d>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。显然，一个广义表的表尾始终是一个广义表。空表无表头和表尾。</a:t>
                </a:r>
              </a:p>
              <a:p>
                <a:pPr marL="0" indent="0">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568952" cy="2155698"/>
              </a:xfrm>
              <a:blipFill>
                <a:blip r:embed="rId2"/>
                <a:stretch>
                  <a:fillRect l="-640" t="-1416" r="-640"/>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广义表的定义</a:t>
            </a:r>
          </a:p>
        </p:txBody>
      </p:sp>
    </p:spTree>
    <p:extLst>
      <p:ext uri="{BB962C8B-B14F-4D97-AF65-F5344CB8AC3E}">
        <p14:creationId xmlns:p14="http://schemas.microsoft.com/office/powerpoint/2010/main" val="10573675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864877"/>
                <a:ext cx="8640959" cy="3507876"/>
              </a:xfrm>
            </p:spPr>
            <p:txBody>
              <a:bodyPr/>
              <a:lstStyle/>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是一个空表，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的长度为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m:t>
                    </m:r>
                  </m:oMath>
                </a14:m>
                <a:r>
                  <a:rPr lang="zh-CN" altLang="zh-CN" sz="1600" dirty="0">
                    <a:latin typeface="Times New Roman" panose="02020603050405020304" pitchFamily="18" charset="0"/>
                    <a:cs typeface="Times New Roman" panose="02020603050405020304" pitchFamily="18" charset="0"/>
                  </a:rPr>
                  <a:t>只有一个原子</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m:t>
                    </m:r>
                  </m:oMath>
                </a14:m>
                <a:r>
                  <a:rPr lang="zh-CN" altLang="zh-CN" sz="1600" dirty="0">
                    <a:latin typeface="Times New Roman" panose="02020603050405020304" pitchFamily="18" charset="0"/>
                    <a:cs typeface="Times New Roman" panose="02020603050405020304" pitchFamily="18" charset="0"/>
                  </a:rPr>
                  <a:t>的长度为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C</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b</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c</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d</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C</m:t>
                    </m:r>
                  </m:oMath>
                </a14:m>
                <a:r>
                  <a:rPr lang="zh-CN" altLang="zh-CN" sz="1600" dirty="0">
                    <a:latin typeface="Times New Roman" panose="02020603050405020304" pitchFamily="18" charset="0"/>
                    <a:cs typeface="Times New Roman" panose="02020603050405020304" pitchFamily="18" charset="0"/>
                  </a:rPr>
                  <a:t>有两个元素，一个是原子</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m:t>
                    </m:r>
                  </m:oMath>
                </a14:m>
                <a:r>
                  <a:rPr lang="zh-CN" altLang="zh-CN" sz="1600" dirty="0">
                    <a:latin typeface="Times New Roman" panose="02020603050405020304" pitchFamily="18" charset="0"/>
                    <a:cs typeface="Times New Roman" panose="02020603050405020304" pitchFamily="18" charset="0"/>
                  </a:rPr>
                  <a:t>，另一个是子表</a:t>
                </a:r>
                <a14:m>
                  <m:oMath xmlns:m="http://schemas.openxmlformats.org/officeDocument/2006/math">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c</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d</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C</m:t>
                    </m:r>
                  </m:oMath>
                </a14:m>
                <a:r>
                  <a:rPr lang="zh-CN" altLang="zh-CN" sz="1600" dirty="0">
                    <a:latin typeface="Times New Roman" panose="02020603050405020304" pitchFamily="18" charset="0"/>
                    <a:cs typeface="Times New Roman" panose="02020603050405020304" pitchFamily="18" charset="0"/>
                  </a:rPr>
                  <a:t>的长度为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D</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B</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c</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d</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D</m:t>
                    </m:r>
                  </m:oMath>
                </a14:m>
                <a:r>
                  <a:rPr lang="zh-CN" altLang="zh-CN" sz="1600" dirty="0">
                    <a:latin typeface="Times New Roman" panose="02020603050405020304" pitchFamily="18" charset="0"/>
                    <a:cs typeface="Times New Roman" panose="02020603050405020304" pitchFamily="18" charset="0"/>
                  </a:rPr>
                  <a:t>有三个元素，三个元素均为表，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D</m:t>
                    </m:r>
                  </m:oMath>
                </a14:m>
                <a:r>
                  <a:rPr lang="zh-CN" altLang="zh-CN" sz="1600" dirty="0">
                    <a:latin typeface="Times New Roman" panose="02020603050405020304" pitchFamily="18" charset="0"/>
                    <a:cs typeface="Times New Roman" panose="02020603050405020304" pitchFamily="18" charset="0"/>
                  </a:rPr>
                  <a:t>的长度为</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：一个递归的表，它的长度为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E</m:t>
                    </m:r>
                  </m:oMath>
                </a14:m>
                <a:r>
                  <a:rPr lang="zh-CN" altLang="zh-CN" sz="1600" dirty="0">
                    <a:latin typeface="Times New Roman" panose="02020603050405020304" pitchFamily="18" charset="0"/>
                    <a:cs typeface="Times New Roman" panose="02020603050405020304" pitchFamily="18" charset="0"/>
                  </a:rPr>
                  <a:t>相当于一个无限的表</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E</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若用圆圈表示表，方框表示原子，用线段把表和它的元素连接起来，则可得到广义表的图形表示。</a:t>
                </a:r>
                <a:r>
                  <a:rPr lang="zh-CN" altLang="en-US" sz="1600" dirty="0">
                    <a:latin typeface="Times New Roman" panose="02020603050405020304" pitchFamily="18" charset="0"/>
                    <a:cs typeface="Times New Roman" panose="02020603050405020304" pitchFamily="18" charset="0"/>
                  </a:rPr>
                  <a:t>下</a:t>
                </a:r>
                <a:r>
                  <a:rPr lang="zh-CN" altLang="zh-CN" sz="1600" dirty="0">
                    <a:latin typeface="Times New Roman" panose="02020603050405020304" pitchFamily="18" charset="0"/>
                    <a:cs typeface="Times New Roman" panose="02020603050405020304" pitchFamily="18" charset="0"/>
                  </a:rPr>
                  <a:t>图是上述</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个广义表的图形表示。</a:t>
                </a:r>
              </a:p>
              <a:p>
                <a:pPr marL="0" indent="0" algn="just">
                  <a:lnSpc>
                    <a:spcPts val="2200"/>
                  </a:lnSpc>
                  <a:spcBef>
                    <a:spcPts val="0"/>
                  </a:spcBef>
                  <a:buNone/>
                </a:pPr>
                <a:endParaRPr lang="zh-CN" altLang="zh-CN"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864877"/>
                <a:ext cx="8640959" cy="3507876"/>
              </a:xfrm>
              <a:blipFill>
                <a:blip r:embed="rId2"/>
                <a:stretch>
                  <a:fillRect l="-635" t="-522" r="-63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187624" y="3291830"/>
            <a:ext cx="6038795" cy="1520688"/>
          </a:xfrm>
          <a:prstGeom prst="rect">
            <a:avLst/>
          </a:prstGeom>
        </p:spPr>
      </p:pic>
      <p:sp>
        <p:nvSpPr>
          <p:cNvPr id="5" name="文本框 4"/>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广义表示例</a:t>
            </a:r>
          </a:p>
        </p:txBody>
      </p:sp>
    </p:spTree>
    <p:extLst>
      <p:ext uri="{BB962C8B-B14F-4D97-AF65-F5344CB8AC3E}">
        <p14:creationId xmlns:p14="http://schemas.microsoft.com/office/powerpoint/2010/main" val="6976398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1000"/>
                                        <p:tgtEl>
                                          <p:spTgt spid="4"/>
                                        </p:tgtEl>
                                      </p:cBhvr>
                                    </p:animEffect>
                                    <p:anim calcmode="lin" valueType="num">
                                      <p:cBhvr>
                                        <p:cTn id="50" dur="1000" fill="hold"/>
                                        <p:tgtEl>
                                          <p:spTgt spid="4"/>
                                        </p:tgtEl>
                                        <p:attrNameLst>
                                          <p:attrName>ppt_x</p:attrName>
                                        </p:attrNameLst>
                                      </p:cBhvr>
                                      <p:tavLst>
                                        <p:tav tm="0">
                                          <p:val>
                                            <p:strVal val="#ppt_x"/>
                                          </p:val>
                                        </p:tav>
                                        <p:tav tm="100000">
                                          <p:val>
                                            <p:strVal val="#ppt_x"/>
                                          </p:val>
                                        </p:tav>
                                      </p:tavLst>
                                    </p:anim>
                                    <p:anim calcmode="lin" valueType="num">
                                      <p:cBhvr>
                                        <p:cTn id="5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15566"/>
                <a:ext cx="8964487" cy="3507876"/>
              </a:xfrm>
            </p:spPr>
            <p:txBody>
              <a:bodyPr/>
              <a:lstStyle/>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ADT </a:t>
                </a:r>
                <a:r>
                  <a:rPr lang="en-US" altLang="zh-CN" sz="1600" dirty="0" err="1">
                    <a:solidFill>
                      <a:srgbClr val="002060"/>
                    </a:solidFill>
                    <a:latin typeface="Times New Roman" panose="02020603050405020304" pitchFamily="18" charset="0"/>
                    <a:cs typeface="Times New Roman" panose="02020603050405020304" pitchFamily="18" charset="0"/>
                  </a:rPr>
                  <a:t>Blist</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数据对象：</a:t>
                </a: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i="1">
                          <a:solidFill>
                            <a:srgbClr val="002060"/>
                          </a:solidFill>
                          <a:latin typeface="Cambria Math" panose="02040503050406030204" pitchFamily="18" charset="0"/>
                        </a:rPr>
                        <m:t>𝐷</m:t>
                      </m:r>
                      <m:r>
                        <a:rPr lang="en-US" altLang="zh-CN" sz="1600">
                          <a:solidFill>
                            <a:srgbClr val="002060"/>
                          </a:solidFill>
                          <a:latin typeface="Cambria Math" panose="02040503050406030204" pitchFamily="18" charset="0"/>
                        </a:rPr>
                        <m:t>=</m:t>
                      </m:r>
                      <m:d>
                        <m:dPr>
                          <m:begChr m:val="{"/>
                          <m:endChr m:val="}"/>
                          <m:ctrlPr>
                            <a:rPr lang="zh-CN" altLang="zh-CN" sz="1600" i="1">
                              <a:solidFill>
                                <a:srgbClr val="002060"/>
                              </a:solidFill>
                              <a:latin typeface="Cambria Math" panose="02040503050406030204" pitchFamily="18" charset="0"/>
                            </a:rPr>
                          </m:ctrlPr>
                        </m:d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e>
                        <m:e>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=1,2,⋯,</m:t>
                          </m:r>
                          <m:r>
                            <a:rPr lang="en-US" altLang="zh-CN" sz="1600" i="1">
                              <a:solidFill>
                                <a:srgbClr val="002060"/>
                              </a:solidFill>
                              <a:latin typeface="Cambria Math" panose="02040503050406030204" pitchFamily="18" charset="0"/>
                            </a:rPr>
                            <m:t>𝑛</m:t>
                          </m:r>
                          <m:d>
                            <m:dPr>
                              <m:ctrlPr>
                                <a:rPr lang="zh-CN" altLang="zh-CN" sz="1600" i="1">
                                  <a:solidFill>
                                    <a:srgbClr val="002060"/>
                                  </a:solidFill>
                                  <a:latin typeface="Cambria Math" panose="02040503050406030204" pitchFamily="18" charset="0"/>
                                </a:rPr>
                              </m:ctrlPr>
                            </m:dPr>
                            <m:e>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≥0</m:t>
                              </m:r>
                            </m:e>
                          </m:d>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AtomSet</m:t>
                          </m:r>
                          <m:r>
                            <a:rPr lang="zh-CN" altLang="zh-CN" sz="1600">
                              <a:solidFill>
                                <a:srgbClr val="002060"/>
                              </a:solidFill>
                              <a:latin typeface="Cambria Math" panose="02040503050406030204" pitchFamily="18" charset="0"/>
                            </a:rPr>
                            <m:t>或</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BL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AtomSet</m:t>
                          </m:r>
                          <m:r>
                            <a:rPr lang="zh-CN" altLang="zh-CN" sz="1600">
                              <a:solidFill>
                                <a:srgbClr val="002060"/>
                              </a:solidFill>
                              <a:latin typeface="Cambria Math" panose="02040503050406030204" pitchFamily="18" charset="0"/>
                            </a:rPr>
                            <m:t>为某数据对象</m:t>
                          </m:r>
                        </m:e>
                      </m:d>
                    </m:oMath>
                  </m:oMathPara>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数据关系：</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solidFill>
                          <a:srgbClr val="002060"/>
                        </a:solidFill>
                        <a:latin typeface="Cambria Math" panose="02040503050406030204" pitchFamily="18" charset="0"/>
                      </a:rPr>
                      <m:t>𝑅</m:t>
                    </m:r>
                    <m:r>
                      <a:rPr lang="en-US" altLang="zh-CN" sz="1600">
                        <a:solidFill>
                          <a:srgbClr val="002060"/>
                        </a:solidFill>
                        <a:latin typeface="Cambria Math" panose="02040503050406030204" pitchFamily="18" charset="0"/>
                      </a:rPr>
                      <m:t>=</m:t>
                    </m:r>
                    <m:d>
                      <m:dPr>
                        <m:begChr m:val="{"/>
                        <m:endChr m:val="}"/>
                        <m:ctrlPr>
                          <a:rPr lang="zh-CN" altLang="zh-CN" sz="1600" i="1">
                            <a:solidFill>
                              <a:srgbClr val="002060"/>
                            </a:solidFill>
                            <a:latin typeface="Cambria Math" panose="02040503050406030204" pitchFamily="18" charset="0"/>
                          </a:rPr>
                        </m:ctrlPr>
                      </m:dPr>
                      <m:e>
                        <m:d>
                          <m:dPr>
                            <m:ctrlPr>
                              <a:rPr lang="zh-CN" altLang="zh-CN" sz="1600" i="1">
                                <a:solidFill>
                                  <a:srgbClr val="002060"/>
                                </a:solidFill>
                                <a:latin typeface="Cambria Math" panose="02040503050406030204" pitchFamily="18" charset="0"/>
                              </a:rPr>
                            </m:ctrlPr>
                          </m:d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e>
                        </m:d>
                      </m:e>
                      <m:e>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𝐷</m:t>
                        </m:r>
                      </m:e>
                    </m:d>
                  </m:oMath>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基本操作：</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InitBlist</a:t>
                </a:r>
                <a:r>
                  <a:rPr lang="en-US" altLang="zh-CN" sz="1600" dirty="0">
                    <a:solidFill>
                      <a:srgbClr val="002060"/>
                    </a:solidFill>
                    <a:latin typeface="Times New Roman" panose="02020603050405020304" pitchFamily="18" charset="0"/>
                    <a:cs typeface="Times New Roman" panose="02020603050405020304" pitchFamily="18" charset="0"/>
                  </a:rPr>
                  <a:t>(&amp;</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：创建空的广义表</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CreateBlist</a:t>
                </a:r>
                <a:r>
                  <a:rPr lang="en-US" altLang="zh-CN" sz="1600" dirty="0">
                    <a:solidFill>
                      <a:srgbClr val="002060"/>
                    </a:solidFill>
                    <a:latin typeface="Times New Roman" panose="02020603050405020304" pitchFamily="18" charset="0"/>
                    <a:cs typeface="Times New Roman" panose="02020603050405020304" pitchFamily="18" charset="0"/>
                  </a:rPr>
                  <a:t>(&amp;</a:t>
                </a:r>
                <a:r>
                  <a:rPr lang="en-US" altLang="zh-CN" sz="1600" dirty="0" err="1">
                    <a:solidFill>
                      <a:srgbClr val="002060"/>
                    </a:solidFill>
                    <a:latin typeface="Times New Roman" panose="02020603050405020304" pitchFamily="18" charset="0"/>
                    <a:cs typeface="Times New Roman" panose="02020603050405020304" pitchFamily="18" charset="0"/>
                  </a:rPr>
                  <a:t>bl,s</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：由广义表格式的</a:t>
                </a:r>
                <a:r>
                  <a:rPr lang="en-US" altLang="zh-CN" sz="1600" dirty="0">
                    <a:solidFill>
                      <a:srgbClr val="002060"/>
                    </a:solidFill>
                    <a:latin typeface="Times New Roman" panose="02020603050405020304" pitchFamily="18" charset="0"/>
                    <a:cs typeface="Times New Roman" panose="02020603050405020304" pitchFamily="18" charset="0"/>
                  </a:rPr>
                  <a:t>s</a:t>
                </a:r>
                <a:r>
                  <a:rPr lang="zh-CN" altLang="zh-CN" sz="1600" dirty="0">
                    <a:solidFill>
                      <a:srgbClr val="002060"/>
                    </a:solidFill>
                    <a:latin typeface="Times New Roman" panose="02020603050405020304" pitchFamily="18" charset="0"/>
                    <a:cs typeface="Times New Roman" panose="02020603050405020304" pitchFamily="18" charset="0"/>
                  </a:rPr>
                  <a:t>创建广义表</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DestroyBlist</a:t>
                </a:r>
                <a:r>
                  <a:rPr lang="en-US" altLang="zh-CN" sz="1600" dirty="0">
                    <a:solidFill>
                      <a:srgbClr val="002060"/>
                    </a:solidFill>
                    <a:latin typeface="Times New Roman" panose="02020603050405020304" pitchFamily="18" charset="0"/>
                    <a:cs typeface="Times New Roman" panose="02020603050405020304" pitchFamily="18" charset="0"/>
                  </a:rPr>
                  <a:t>(&amp;</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：销毁广义表</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BlistLength</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：计算广义表长度</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BlistDepth</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：计算广义表深度</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DispBlist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：输出广义表</a:t>
                </a:r>
              </a:p>
              <a:p>
                <a:pPr marL="0" indent="0">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}ADT </a:t>
                </a:r>
                <a:r>
                  <a:rPr lang="en-US" altLang="zh-CN" sz="1600" dirty="0" err="1">
                    <a:solidFill>
                      <a:srgbClr val="002060"/>
                    </a:solidFill>
                    <a:latin typeface="Times New Roman" panose="02020603050405020304" pitchFamily="18" charset="0"/>
                    <a:cs typeface="Times New Roman" panose="02020603050405020304" pitchFamily="18" charset="0"/>
                  </a:rPr>
                  <a:t>Blist</a:t>
                </a:r>
                <a:endParaRPr lang="zh-CN" altLang="zh-CN" sz="1600" dirty="0">
                  <a:solidFill>
                    <a:srgbClr val="002060"/>
                  </a:solidFill>
                  <a:latin typeface="Times New Roman" panose="02020603050405020304" pitchFamily="18" charset="0"/>
                  <a:cs typeface="Times New Roman" panose="02020603050405020304" pitchFamily="18" charset="0"/>
                </a:endParaRPr>
              </a:p>
              <a:p>
                <a:pPr>
                  <a:lnSpc>
                    <a:spcPts val="22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8964487" cy="3507876"/>
              </a:xfrm>
              <a:blipFill>
                <a:blip r:embed="rId2"/>
                <a:stretch>
                  <a:fillRect l="-612" t="-521" b="-7292"/>
                </a:stretch>
              </a:blipFill>
            </p:spPr>
            <p:txBody>
              <a:bodyPr/>
              <a:lstStyle/>
              <a:p>
                <a:r>
                  <a:rPr lang="zh-CN" altLang="en-US">
                    <a:noFill/>
                  </a:rPr>
                  <a:t> </a:t>
                </a:r>
              </a:p>
            </p:txBody>
          </p:sp>
        </mc:Fallback>
      </mc:AlternateContent>
      <p:sp>
        <p:nvSpPr>
          <p:cNvPr id="4" name="文本框 3"/>
          <p:cNvSpPr txBox="1"/>
          <p:nvPr/>
        </p:nvSpPr>
        <p:spPr>
          <a:xfrm>
            <a:off x="611380" y="115457"/>
            <a:ext cx="32405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广义表的</a:t>
            </a:r>
            <a:r>
              <a:rPr lang="zh-CN" altLang="zh-CN" sz="2000" dirty="0"/>
              <a:t>抽象数据类型定义</a:t>
            </a:r>
            <a:endParaRPr lang="zh-CN" altLang="en-US" sz="2000" dirty="0"/>
          </a:p>
        </p:txBody>
      </p:sp>
    </p:spTree>
    <p:extLst>
      <p:ext uri="{BB962C8B-B14F-4D97-AF65-F5344CB8AC3E}">
        <p14:creationId xmlns:p14="http://schemas.microsoft.com/office/powerpoint/2010/main" val="37753175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712968" cy="3507876"/>
          </a:xfrm>
        </p:spPr>
        <p:txBody>
          <a:bodyPr/>
          <a:lstStyle/>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广义表是一种递归的数据结构</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且数据元素可以是原子或表</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因此难以用顺序存储结构表示</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通常采用链式存储结构表示。</a:t>
            </a:r>
            <a:endParaRPr lang="en-US" altLang="zh-CN" sz="1600" dirty="0">
              <a:solidFill>
                <a:srgbClr val="C00000"/>
              </a:solidFill>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广义表的结构定义如下</a:t>
            </a:r>
            <a:r>
              <a:rPr lang="en-US" altLang="zh-CN" sz="1600" dirty="0">
                <a:solidFill>
                  <a:srgbClr val="C00000"/>
                </a:solidFill>
                <a:latin typeface="Times New Roman" panose="02020603050405020304" pitchFamily="18" charset="0"/>
                <a:cs typeface="Times New Roman" panose="02020603050405020304" pitchFamily="18" charset="0"/>
              </a:rPr>
              <a:t>:</a:t>
            </a:r>
            <a:endParaRPr lang="zh-CN" altLang="en-US" sz="1600" dirty="0">
              <a:solidFill>
                <a:srgbClr val="C00000"/>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2195736" y="1995686"/>
            <a:ext cx="3917490" cy="504056"/>
          </a:xfrm>
          <a:prstGeom prst="rect">
            <a:avLst/>
          </a:prstGeom>
        </p:spPr>
      </p:pic>
      <p:sp>
        <p:nvSpPr>
          <p:cNvPr id="5" name="文本框 4"/>
          <p:cNvSpPr txBox="1"/>
          <p:nvPr/>
        </p:nvSpPr>
        <p:spPr>
          <a:xfrm>
            <a:off x="107504" y="2643758"/>
            <a:ext cx="5040560" cy="1760162"/>
          </a:xfrm>
          <a:prstGeom prst="rect">
            <a:avLst/>
          </a:prstGeom>
          <a:noFill/>
        </p:spPr>
        <p:txBody>
          <a:bodyPr wrap="square" rtlCol="0">
            <a:spAutoFit/>
          </a:bodyPr>
          <a:lstStyle/>
          <a:p>
            <a:pPr algn="just">
              <a:lnSpc>
                <a:spcPts val="2200"/>
              </a:lnSpc>
            </a:pPr>
            <a:r>
              <a:rPr lang="zh-CN" altLang="en-US"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,tag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为标志位域</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用于区分结点类型。</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atom/</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sublist</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域由</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tag</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确定</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,tag=0</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表示该结点为原子结点</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第二个域为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atom,</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存放相应原子元素的值</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;tag=1</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表示该结点为子表</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第二个域为</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sublist</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存放相应子表第一个元素对应结点的地址。</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link</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域存放与本元素同一层的下一个元素所在结点的地址</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最后一个结点的</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link</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NULL</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5220072" y="2656248"/>
            <a:ext cx="3869872" cy="1776000"/>
          </a:xfrm>
          <a:prstGeom prst="rect">
            <a:avLst/>
          </a:prstGeom>
        </p:spPr>
      </p:pic>
      <p:sp>
        <p:nvSpPr>
          <p:cNvPr id="8" name="文本框 7"/>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广义表的存储结构</a:t>
            </a:r>
          </a:p>
        </p:txBody>
      </p:sp>
    </p:spTree>
    <p:extLst>
      <p:ext uri="{BB962C8B-B14F-4D97-AF65-F5344CB8AC3E}">
        <p14:creationId xmlns:p14="http://schemas.microsoft.com/office/powerpoint/2010/main" val="30129875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1000"/>
                                        <p:tgtEl>
                                          <p:spTgt spid="5">
                                            <p:txEl>
                                              <p:pRg st="0" end="0"/>
                                            </p:txEl>
                                          </p:spTgt>
                                        </p:tgtEl>
                                      </p:cBhvr>
                                    </p:animEffect>
                                    <p:anim calcmode="lin" valueType="num">
                                      <p:cBhvr>
                                        <p:cTn id="2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87574"/>
            <a:ext cx="7137400" cy="3507876"/>
          </a:xfrm>
        </p:spPr>
        <p:txBody>
          <a:bodyPr/>
          <a:lstStyle/>
          <a:p>
            <a:pPr marL="0" indent="0">
              <a:lnSpc>
                <a:spcPts val="2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typedef</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struct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tag;</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union{</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AtomType</a:t>
            </a:r>
            <a:r>
              <a:rPr lang="en-US" altLang="zh-CN" sz="1600" dirty="0">
                <a:solidFill>
                  <a:srgbClr val="002060"/>
                </a:solidFill>
                <a:latin typeface="Times New Roman" panose="02020603050405020304" pitchFamily="18" charset="0"/>
                <a:cs typeface="Times New Roman" panose="02020603050405020304" pitchFamily="18" charset="0"/>
              </a:rPr>
              <a:t> atom;  //</a:t>
            </a:r>
            <a:r>
              <a:rPr lang="zh-CN" altLang="zh-CN" sz="1600" dirty="0">
                <a:solidFill>
                  <a:srgbClr val="002060"/>
                </a:solidFill>
                <a:latin typeface="Times New Roman" panose="02020603050405020304" pitchFamily="18" charset="0"/>
                <a:cs typeface="Times New Roman" panose="02020603050405020304" pitchFamily="18" charset="0"/>
              </a:rPr>
              <a:t>原子结点的值，类型</a:t>
            </a:r>
            <a:r>
              <a:rPr lang="en-US" altLang="zh-CN" sz="1600" dirty="0" err="1">
                <a:solidFill>
                  <a:srgbClr val="002060"/>
                </a:solidFill>
                <a:latin typeface="Times New Roman" panose="02020603050405020304" pitchFamily="18" charset="0"/>
                <a:cs typeface="Times New Roman" panose="02020603050405020304" pitchFamily="18" charset="0"/>
              </a:rPr>
              <a:t>AtomType</a:t>
            </a:r>
            <a:r>
              <a:rPr lang="zh-CN" altLang="zh-CN" sz="1600" dirty="0">
                <a:solidFill>
                  <a:srgbClr val="002060"/>
                </a:solidFill>
                <a:latin typeface="Times New Roman" panose="02020603050405020304" pitchFamily="18" charset="0"/>
                <a:cs typeface="Times New Roman" panose="02020603050405020304" pitchFamily="18" charset="0"/>
              </a:rPr>
              <a:t>由用户自定义</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sublist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指向子表的指针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}value;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*link;</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class </a:t>
            </a:r>
            <a:r>
              <a:rPr lang="en-US" altLang="zh-CN" sz="1600" dirty="0" err="1">
                <a:solidFill>
                  <a:srgbClr val="002060"/>
                </a:solidFill>
                <a:latin typeface="Times New Roman" panose="02020603050405020304" pitchFamily="18" charset="0"/>
                <a:cs typeface="Times New Roman" panose="02020603050405020304" pitchFamily="18" charset="0"/>
              </a:rPr>
              <a:t>Blist</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private: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bhead</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BClist</a:t>
            </a:r>
            <a:r>
              <a:rPr lang="en-US" altLang="zh-CN" sz="1600" dirty="0">
                <a:solidFill>
                  <a:srgbClr val="002060"/>
                </a:solidFill>
                <a:latin typeface="Times New Roman" panose="02020603050405020304" pitchFamily="18" charset="0"/>
                <a:cs typeface="Times New Roman" panose="02020603050405020304" pitchFamily="18" charset="0"/>
              </a:rPr>
              <a:t>(char *</a:t>
            </a:r>
            <a:r>
              <a:rPr lang="en-US" altLang="zh-CN" sz="1600" dirty="0" err="1">
                <a:solidFill>
                  <a:srgbClr val="002060"/>
                </a:solidFill>
                <a:latin typeface="Times New Roman" panose="02020603050405020304" pitchFamily="18" charset="0"/>
                <a:cs typeface="Times New Roman" panose="02020603050405020304" pitchFamily="18" charset="0"/>
              </a:rPr>
              <a:t>st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由广义表格式的</a:t>
            </a:r>
            <a:r>
              <a:rPr lang="en-US" altLang="zh-CN" sz="1600" dirty="0" err="1">
                <a:solidFill>
                  <a:srgbClr val="002060"/>
                </a:solidFill>
                <a:latin typeface="Times New Roman" panose="02020603050405020304" pitchFamily="18" charset="0"/>
                <a:cs typeface="Times New Roman" panose="02020603050405020304" pitchFamily="18" charset="0"/>
              </a:rPr>
              <a:t>st</a:t>
            </a:r>
            <a:r>
              <a:rPr lang="zh-CN" altLang="zh-CN" sz="1600" dirty="0">
                <a:solidFill>
                  <a:srgbClr val="002060"/>
                </a:solidFill>
                <a:latin typeface="Times New Roman" panose="02020603050405020304" pitchFamily="18" charset="0"/>
                <a:cs typeface="Times New Roman" panose="02020603050405020304" pitchFamily="18" charset="0"/>
              </a:rPr>
              <a:t>递归创建广义表</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Depth(</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递归计算广义表深度</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*Copy (</a:t>
            </a:r>
            <a:r>
              <a:rPr lang="en-US" altLang="zh-CN" sz="1600" dirty="0" err="1">
                <a:solidFill>
                  <a:srgbClr val="002060"/>
                </a:solidFill>
                <a:latin typeface="Times New Roman" panose="02020603050405020304" pitchFamily="18" charset="0"/>
                <a:cs typeface="Times New Roman" panose="02020603050405020304" pitchFamily="18" charset="0"/>
              </a:rPr>
              <a:t>BLNode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bs,BLNode</a:t>
            </a:r>
            <a:r>
              <a:rPr lang="en-US" altLang="zh-CN" sz="1600" dirty="0">
                <a:solidFill>
                  <a:srgbClr val="002060"/>
                </a:solidFill>
                <a:latin typeface="Times New Roman" panose="02020603050405020304" pitchFamily="18" charset="0"/>
                <a:cs typeface="Times New Roman" panose="02020603050405020304" pitchFamily="18" charset="0"/>
              </a:rPr>
              <a:t> *&amp;</a:t>
            </a:r>
            <a:r>
              <a:rPr lang="en-US" altLang="zh-CN" sz="1600" dirty="0" err="1">
                <a:solidFill>
                  <a:srgbClr val="002060"/>
                </a:solidFill>
                <a:latin typeface="Times New Roman" panose="02020603050405020304" pitchFamily="18" charset="0"/>
                <a:cs typeface="Times New Roman" panose="02020603050405020304" pitchFamily="18" charset="0"/>
              </a:rPr>
              <a:t>bt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广义表复制递归算法</a:t>
            </a:r>
          </a:p>
          <a:p>
            <a:pPr>
              <a:lnSpc>
                <a:spcPts val="2000"/>
              </a:lnSpc>
              <a:spcBef>
                <a:spcPts val="0"/>
              </a:spcBef>
            </a:pPr>
            <a:endParaRPr lang="zh-CN" altLang="en-US" sz="16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3258362" y="1419622"/>
            <a:ext cx="5868144" cy="3190617"/>
          </a:xfrm>
          <a:prstGeom prst="rect">
            <a:avLst/>
          </a:prstGeom>
          <a:solidFill>
            <a:schemeClr val="accent2">
              <a:lumMod val="40000"/>
              <a:lumOff val="60000"/>
            </a:schemeClr>
          </a:solidFill>
        </p:spPr>
        <p:txBody>
          <a:bodyPr wrap="square" rtlCol="0">
            <a:spAutoFit/>
          </a:bodyPr>
          <a:lstStyle/>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void Print(</a:t>
            </a: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 *ls);           //</a:t>
            </a:r>
            <a:r>
              <a:rPr lang="zh-CN" altLang="zh-CN" sz="1600" dirty="0">
                <a:latin typeface="Times New Roman" panose="02020603050405020304" pitchFamily="18" charset="0"/>
                <a:cs typeface="Times New Roman" panose="02020603050405020304" pitchFamily="18" charset="0"/>
              </a:rPr>
              <a:t>将</a:t>
            </a:r>
            <a:r>
              <a:rPr lang="en-US" altLang="zh-CN" sz="1600" dirty="0">
                <a:latin typeface="Times New Roman" panose="02020603050405020304" pitchFamily="18" charset="0"/>
                <a:cs typeface="Times New Roman" panose="02020603050405020304" pitchFamily="18" charset="0"/>
              </a:rPr>
              <a:t>ls</a:t>
            </a:r>
            <a:r>
              <a:rPr lang="zh-CN" altLang="zh-CN" sz="1600" dirty="0">
                <a:latin typeface="Times New Roman" panose="02020603050405020304" pitchFamily="18" charset="0"/>
                <a:cs typeface="Times New Roman" panose="02020603050405020304" pitchFamily="18" charset="0"/>
              </a:rPr>
              <a:t>所指的广义表显示出来</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countatom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递归计算原子个数</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public:</a:t>
            </a:r>
            <a:endParaRPr lang="zh-CN" altLang="zh-CN" sz="1600"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Blist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bhead</a:t>
            </a:r>
            <a:r>
              <a:rPr lang="en-US" altLang="zh-CN" sz="1600" dirty="0">
                <a:latin typeface="Times New Roman" panose="02020603050405020304" pitchFamily="18" charset="0"/>
                <a:cs typeface="Times New Roman" panose="02020603050405020304" pitchFamily="18" charset="0"/>
              </a:rPr>
              <a:t> = NULL; }  //</a:t>
            </a:r>
            <a:r>
              <a:rPr lang="zh-CN" altLang="zh-CN" sz="1600" dirty="0">
                <a:latin typeface="Times New Roman" panose="02020603050405020304" pitchFamily="18" charset="0"/>
                <a:cs typeface="Times New Roman" panose="02020603050405020304" pitchFamily="18" charset="0"/>
              </a:rPr>
              <a:t>构造函数，初始化为空的广义表</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CreateBlist</a:t>
            </a:r>
            <a:r>
              <a:rPr lang="en-US" altLang="zh-CN" sz="1600" dirty="0">
                <a:latin typeface="Times New Roman" panose="02020603050405020304" pitchFamily="18" charset="0"/>
                <a:cs typeface="Times New Roman" panose="02020603050405020304" pitchFamily="18" charset="0"/>
              </a:rPr>
              <a:t>(char *</a:t>
            </a:r>
            <a:r>
              <a:rPr lang="en-US" altLang="zh-CN" sz="1600" dirty="0" err="1">
                <a:latin typeface="Times New Roman" panose="02020603050405020304" pitchFamily="18" charset="0"/>
                <a:cs typeface="Times New Roman" panose="02020603050405020304" pitchFamily="18" charset="0"/>
              </a:rPr>
              <a:t>st</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由广义表格式的</a:t>
            </a:r>
            <a:r>
              <a:rPr lang="en-US" altLang="zh-CN" sz="1600" dirty="0" err="1">
                <a:latin typeface="Times New Roman" panose="02020603050405020304" pitchFamily="18" charset="0"/>
                <a:cs typeface="Times New Roman" panose="02020603050405020304" pitchFamily="18" charset="0"/>
              </a:rPr>
              <a:t>st</a:t>
            </a:r>
            <a:r>
              <a:rPr lang="zh-CN" altLang="zh-CN" sz="1600" dirty="0">
                <a:latin typeface="Times New Roman" panose="02020603050405020304" pitchFamily="18" charset="0"/>
                <a:cs typeface="Times New Roman" panose="02020603050405020304" pitchFamily="18" charset="0"/>
              </a:rPr>
              <a:t>创建广义表</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BlistDepth</a:t>
            </a:r>
            <a:r>
              <a:rPr lang="en-US" altLang="zh-CN" sz="1600" dirty="0">
                <a:latin typeface="Times New Roman" panose="02020603050405020304" pitchFamily="18" charset="0"/>
                <a:cs typeface="Times New Roman" panose="02020603050405020304" pitchFamily="18" charset="0"/>
              </a:rPr>
              <a:t> ();                         //</a:t>
            </a:r>
            <a:r>
              <a:rPr lang="zh-CN" altLang="zh-CN" sz="1600" dirty="0">
                <a:latin typeface="Times New Roman" panose="02020603050405020304" pitchFamily="18" charset="0"/>
                <a:cs typeface="Times New Roman" panose="02020603050405020304" pitchFamily="18" charset="0"/>
              </a:rPr>
              <a:t>计算广义表的深度</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BListCopy</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Blist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复制广义表给私有成员</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BListDisplay</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输出私有成员存储的广义表</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atomnum</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计算私有成员存储的表的原子个数</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BlistLength</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计算广义表的长度</a:t>
            </a:r>
          </a:p>
          <a:p>
            <a:pPr>
              <a:lnSpc>
                <a:spcPts val="2000"/>
              </a:lnSpc>
              <a:spcBef>
                <a:spcPts val="0"/>
              </a:spcBef>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广义表的类定义</a:t>
            </a:r>
          </a:p>
        </p:txBody>
      </p:sp>
    </p:spTree>
    <p:extLst>
      <p:ext uri="{BB962C8B-B14F-4D97-AF65-F5344CB8AC3E}">
        <p14:creationId xmlns:p14="http://schemas.microsoft.com/office/powerpoint/2010/main" val="18527143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4"/>
                                        </p:tgtEl>
                                        <p:attrNameLst>
                                          <p:attrName>style.visibility</p:attrName>
                                        </p:attrNameLst>
                                      </p:cBhvr>
                                      <p:to>
                                        <p:strVal val="visible"/>
                                      </p:to>
                                    </p:set>
                                    <p:animEffect transition="in" filter="fade">
                                      <p:cBhvr>
                                        <p:cTn id="105" dur="1000"/>
                                        <p:tgtEl>
                                          <p:spTgt spid="4"/>
                                        </p:tgtEl>
                                      </p:cBhvr>
                                    </p:animEffect>
                                    <p:anim calcmode="lin" valueType="num">
                                      <p:cBhvr>
                                        <p:cTn id="106" dur="1000" fill="hold"/>
                                        <p:tgtEl>
                                          <p:spTgt spid="4"/>
                                        </p:tgtEl>
                                        <p:attrNameLst>
                                          <p:attrName>ppt_x</p:attrName>
                                        </p:attrNameLst>
                                      </p:cBhvr>
                                      <p:tavLst>
                                        <p:tav tm="0">
                                          <p:val>
                                            <p:strVal val="#ppt_x"/>
                                          </p:val>
                                        </p:tav>
                                        <p:tav tm="100000">
                                          <p:val>
                                            <p:strVal val="#ppt_x"/>
                                          </p:val>
                                        </p:tav>
                                      </p:tavLst>
                                    </p:anim>
                                    <p:anim calcmode="lin" valueType="num">
                                      <p:cBhvr>
                                        <p:cTn id="10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4">
                                            <p:txEl>
                                              <p:pRg st="0" end="0"/>
                                            </p:txEl>
                                          </p:spTgt>
                                        </p:tgtEl>
                                        <p:attrNameLst>
                                          <p:attrName>style.visibility</p:attrName>
                                        </p:attrNameLst>
                                      </p:cBhvr>
                                      <p:to>
                                        <p:strVal val="visible"/>
                                      </p:to>
                                    </p:set>
                                    <p:animEffect transition="in" filter="fade">
                                      <p:cBhvr>
                                        <p:cTn id="112" dur="1000"/>
                                        <p:tgtEl>
                                          <p:spTgt spid="4">
                                            <p:txEl>
                                              <p:pRg st="0" end="0"/>
                                            </p:txEl>
                                          </p:spTgt>
                                        </p:tgtEl>
                                      </p:cBhvr>
                                    </p:animEffect>
                                    <p:anim calcmode="lin" valueType="num">
                                      <p:cBhvr>
                                        <p:cTn id="1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xEl>
                                              <p:pRg st="1" end="1"/>
                                            </p:txEl>
                                          </p:spTgt>
                                        </p:tgtEl>
                                        <p:attrNameLst>
                                          <p:attrName>style.visibility</p:attrName>
                                        </p:attrNameLst>
                                      </p:cBhvr>
                                      <p:to>
                                        <p:strVal val="visible"/>
                                      </p:to>
                                    </p:set>
                                    <p:animEffect transition="in" filter="fade">
                                      <p:cBhvr>
                                        <p:cTn id="119" dur="1000"/>
                                        <p:tgtEl>
                                          <p:spTgt spid="4">
                                            <p:txEl>
                                              <p:pRg st="1" end="1"/>
                                            </p:txEl>
                                          </p:spTgt>
                                        </p:tgtEl>
                                      </p:cBhvr>
                                    </p:animEffect>
                                    <p:anim calcmode="lin" valueType="num">
                                      <p:cBhvr>
                                        <p:cTn id="1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4">
                                            <p:txEl>
                                              <p:pRg st="2" end="2"/>
                                            </p:txEl>
                                          </p:spTgt>
                                        </p:tgtEl>
                                        <p:attrNameLst>
                                          <p:attrName>style.visibility</p:attrName>
                                        </p:attrNameLst>
                                      </p:cBhvr>
                                      <p:to>
                                        <p:strVal val="visible"/>
                                      </p:to>
                                    </p:set>
                                    <p:animEffect transition="in" filter="fade">
                                      <p:cBhvr>
                                        <p:cTn id="126" dur="1000"/>
                                        <p:tgtEl>
                                          <p:spTgt spid="4">
                                            <p:txEl>
                                              <p:pRg st="2" end="2"/>
                                            </p:txEl>
                                          </p:spTgt>
                                        </p:tgtEl>
                                      </p:cBhvr>
                                    </p:animEffect>
                                    <p:anim calcmode="lin" valueType="num">
                                      <p:cBhvr>
                                        <p:cTn id="1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28"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4">
                                            <p:txEl>
                                              <p:pRg st="3" end="3"/>
                                            </p:txEl>
                                          </p:spTgt>
                                        </p:tgtEl>
                                        <p:attrNameLst>
                                          <p:attrName>style.visibility</p:attrName>
                                        </p:attrNameLst>
                                      </p:cBhvr>
                                      <p:to>
                                        <p:strVal val="visible"/>
                                      </p:to>
                                    </p:set>
                                    <p:animEffect transition="in" filter="fade">
                                      <p:cBhvr>
                                        <p:cTn id="131" dur="1000"/>
                                        <p:tgtEl>
                                          <p:spTgt spid="4">
                                            <p:txEl>
                                              <p:pRg st="3" end="3"/>
                                            </p:txEl>
                                          </p:spTgt>
                                        </p:tgtEl>
                                      </p:cBhvr>
                                    </p:animEffect>
                                    <p:anim calcmode="lin" valueType="num">
                                      <p:cBhvr>
                                        <p:cTn id="13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3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nodeType="clickEffect">
                                  <p:stCondLst>
                                    <p:cond delay="0"/>
                                  </p:stCondLst>
                                  <p:childTnLst>
                                    <p:set>
                                      <p:cBhvr>
                                        <p:cTn id="137" dur="1" fill="hold">
                                          <p:stCondLst>
                                            <p:cond delay="0"/>
                                          </p:stCondLst>
                                        </p:cTn>
                                        <p:tgtEl>
                                          <p:spTgt spid="4">
                                            <p:txEl>
                                              <p:pRg st="4" end="4"/>
                                            </p:txEl>
                                          </p:spTgt>
                                        </p:tgtEl>
                                        <p:attrNameLst>
                                          <p:attrName>style.visibility</p:attrName>
                                        </p:attrNameLst>
                                      </p:cBhvr>
                                      <p:to>
                                        <p:strVal val="visible"/>
                                      </p:to>
                                    </p:set>
                                    <p:animEffect transition="in" filter="fade">
                                      <p:cBhvr>
                                        <p:cTn id="138" dur="1000"/>
                                        <p:tgtEl>
                                          <p:spTgt spid="4">
                                            <p:txEl>
                                              <p:pRg st="4" end="4"/>
                                            </p:txEl>
                                          </p:spTgt>
                                        </p:tgtEl>
                                      </p:cBhvr>
                                    </p:animEffect>
                                    <p:anim calcmode="lin" valueType="num">
                                      <p:cBhvr>
                                        <p:cTn id="13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42" presetClass="entr" presetSubtype="0" fill="hold" nodeType="clickEffect">
                                  <p:stCondLst>
                                    <p:cond delay="0"/>
                                  </p:stCondLst>
                                  <p:childTnLst>
                                    <p:set>
                                      <p:cBhvr>
                                        <p:cTn id="144" dur="1" fill="hold">
                                          <p:stCondLst>
                                            <p:cond delay="0"/>
                                          </p:stCondLst>
                                        </p:cTn>
                                        <p:tgtEl>
                                          <p:spTgt spid="4">
                                            <p:txEl>
                                              <p:pRg st="5" end="5"/>
                                            </p:txEl>
                                          </p:spTgt>
                                        </p:tgtEl>
                                        <p:attrNameLst>
                                          <p:attrName>style.visibility</p:attrName>
                                        </p:attrNameLst>
                                      </p:cBhvr>
                                      <p:to>
                                        <p:strVal val="visible"/>
                                      </p:to>
                                    </p:set>
                                    <p:animEffect transition="in" filter="fade">
                                      <p:cBhvr>
                                        <p:cTn id="145" dur="1000"/>
                                        <p:tgtEl>
                                          <p:spTgt spid="4">
                                            <p:txEl>
                                              <p:pRg st="5" end="5"/>
                                            </p:txEl>
                                          </p:spTgt>
                                        </p:tgtEl>
                                      </p:cBhvr>
                                    </p:animEffect>
                                    <p:anim calcmode="lin" valueType="num">
                                      <p:cBhvr>
                                        <p:cTn id="14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nodeType="clickEffect">
                                  <p:stCondLst>
                                    <p:cond delay="0"/>
                                  </p:stCondLst>
                                  <p:childTnLst>
                                    <p:set>
                                      <p:cBhvr>
                                        <p:cTn id="151" dur="1" fill="hold">
                                          <p:stCondLst>
                                            <p:cond delay="0"/>
                                          </p:stCondLst>
                                        </p:cTn>
                                        <p:tgtEl>
                                          <p:spTgt spid="4">
                                            <p:txEl>
                                              <p:pRg st="6" end="6"/>
                                            </p:txEl>
                                          </p:spTgt>
                                        </p:tgtEl>
                                        <p:attrNameLst>
                                          <p:attrName>style.visibility</p:attrName>
                                        </p:attrNameLst>
                                      </p:cBhvr>
                                      <p:to>
                                        <p:strVal val="visible"/>
                                      </p:to>
                                    </p:set>
                                    <p:animEffect transition="in" filter="fade">
                                      <p:cBhvr>
                                        <p:cTn id="152" dur="1000"/>
                                        <p:tgtEl>
                                          <p:spTgt spid="4">
                                            <p:txEl>
                                              <p:pRg st="6" end="6"/>
                                            </p:txEl>
                                          </p:spTgt>
                                        </p:tgtEl>
                                      </p:cBhvr>
                                    </p:animEffect>
                                    <p:anim calcmode="lin" valueType="num">
                                      <p:cBhvr>
                                        <p:cTn id="15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5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42" presetClass="entr" presetSubtype="0" fill="hold" nodeType="clickEffect">
                                  <p:stCondLst>
                                    <p:cond delay="0"/>
                                  </p:stCondLst>
                                  <p:childTnLst>
                                    <p:set>
                                      <p:cBhvr>
                                        <p:cTn id="158" dur="1" fill="hold">
                                          <p:stCondLst>
                                            <p:cond delay="0"/>
                                          </p:stCondLst>
                                        </p:cTn>
                                        <p:tgtEl>
                                          <p:spTgt spid="4">
                                            <p:txEl>
                                              <p:pRg st="7" end="7"/>
                                            </p:txEl>
                                          </p:spTgt>
                                        </p:tgtEl>
                                        <p:attrNameLst>
                                          <p:attrName>style.visibility</p:attrName>
                                        </p:attrNameLst>
                                      </p:cBhvr>
                                      <p:to>
                                        <p:strVal val="visible"/>
                                      </p:to>
                                    </p:set>
                                    <p:animEffect transition="in" filter="fade">
                                      <p:cBhvr>
                                        <p:cTn id="159" dur="1000"/>
                                        <p:tgtEl>
                                          <p:spTgt spid="4">
                                            <p:txEl>
                                              <p:pRg st="7" end="7"/>
                                            </p:txEl>
                                          </p:spTgt>
                                        </p:tgtEl>
                                      </p:cBhvr>
                                    </p:animEffect>
                                    <p:anim calcmode="lin" valueType="num">
                                      <p:cBhvr>
                                        <p:cTn id="16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6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42" presetClass="entr" presetSubtype="0" fill="hold" nodeType="clickEffect">
                                  <p:stCondLst>
                                    <p:cond delay="0"/>
                                  </p:stCondLst>
                                  <p:childTnLst>
                                    <p:set>
                                      <p:cBhvr>
                                        <p:cTn id="165" dur="1" fill="hold">
                                          <p:stCondLst>
                                            <p:cond delay="0"/>
                                          </p:stCondLst>
                                        </p:cTn>
                                        <p:tgtEl>
                                          <p:spTgt spid="4">
                                            <p:txEl>
                                              <p:pRg st="8" end="8"/>
                                            </p:txEl>
                                          </p:spTgt>
                                        </p:tgtEl>
                                        <p:attrNameLst>
                                          <p:attrName>style.visibility</p:attrName>
                                        </p:attrNameLst>
                                      </p:cBhvr>
                                      <p:to>
                                        <p:strVal val="visible"/>
                                      </p:to>
                                    </p:set>
                                    <p:animEffect transition="in" filter="fade">
                                      <p:cBhvr>
                                        <p:cTn id="166" dur="1000"/>
                                        <p:tgtEl>
                                          <p:spTgt spid="4">
                                            <p:txEl>
                                              <p:pRg st="8" end="8"/>
                                            </p:txEl>
                                          </p:spTgt>
                                        </p:tgtEl>
                                      </p:cBhvr>
                                    </p:animEffect>
                                    <p:anim calcmode="lin" valueType="num">
                                      <p:cBhvr>
                                        <p:cTn id="16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68"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nodeType="clickEffect">
                                  <p:stCondLst>
                                    <p:cond delay="0"/>
                                  </p:stCondLst>
                                  <p:childTnLst>
                                    <p:set>
                                      <p:cBhvr>
                                        <p:cTn id="172" dur="1" fill="hold">
                                          <p:stCondLst>
                                            <p:cond delay="0"/>
                                          </p:stCondLst>
                                        </p:cTn>
                                        <p:tgtEl>
                                          <p:spTgt spid="4">
                                            <p:txEl>
                                              <p:pRg st="9" end="9"/>
                                            </p:txEl>
                                          </p:spTgt>
                                        </p:tgtEl>
                                        <p:attrNameLst>
                                          <p:attrName>style.visibility</p:attrName>
                                        </p:attrNameLst>
                                      </p:cBhvr>
                                      <p:to>
                                        <p:strVal val="visible"/>
                                      </p:to>
                                    </p:set>
                                    <p:animEffect transition="in" filter="fade">
                                      <p:cBhvr>
                                        <p:cTn id="173" dur="1000"/>
                                        <p:tgtEl>
                                          <p:spTgt spid="4">
                                            <p:txEl>
                                              <p:pRg st="9" end="9"/>
                                            </p:txEl>
                                          </p:spTgt>
                                        </p:tgtEl>
                                      </p:cBhvr>
                                    </p:animEffect>
                                    <p:anim calcmode="lin" valueType="num">
                                      <p:cBhvr>
                                        <p:cTn id="17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75" dur="1000" fill="hold"/>
                                        <p:tgtEl>
                                          <p:spTgt spid="4">
                                            <p:txEl>
                                              <p:pRg st="9" end="9"/>
                                            </p:txEl>
                                          </p:spTgt>
                                        </p:tgtEl>
                                        <p:attrNameLst>
                                          <p:attrName>ppt_y</p:attrName>
                                        </p:attrNameLst>
                                      </p:cBhvr>
                                      <p:tavLst>
                                        <p:tav tm="0">
                                          <p:val>
                                            <p:strVal val="#ppt_y+.1"/>
                                          </p:val>
                                        </p:tav>
                                        <p:tav tm="100000">
                                          <p:val>
                                            <p:strVal val="#ppt_y"/>
                                          </p:val>
                                        </p:tav>
                                      </p:tavLst>
                                    </p:anim>
                                  </p:childTnLst>
                                </p:cTn>
                              </p:par>
                              <p:par>
                                <p:cTn id="176" presetID="42" presetClass="entr" presetSubtype="0" fill="hold" nodeType="withEffect">
                                  <p:stCondLst>
                                    <p:cond delay="0"/>
                                  </p:stCondLst>
                                  <p:childTnLst>
                                    <p:set>
                                      <p:cBhvr>
                                        <p:cTn id="177" dur="1" fill="hold">
                                          <p:stCondLst>
                                            <p:cond delay="0"/>
                                          </p:stCondLst>
                                        </p:cTn>
                                        <p:tgtEl>
                                          <p:spTgt spid="4">
                                            <p:txEl>
                                              <p:pRg st="10" end="10"/>
                                            </p:txEl>
                                          </p:spTgt>
                                        </p:tgtEl>
                                        <p:attrNameLst>
                                          <p:attrName>style.visibility</p:attrName>
                                        </p:attrNameLst>
                                      </p:cBhvr>
                                      <p:to>
                                        <p:strVal val="visible"/>
                                      </p:to>
                                    </p:set>
                                    <p:animEffect transition="in" filter="fade">
                                      <p:cBhvr>
                                        <p:cTn id="178" dur="1000"/>
                                        <p:tgtEl>
                                          <p:spTgt spid="4">
                                            <p:txEl>
                                              <p:pRg st="10" end="10"/>
                                            </p:txEl>
                                          </p:spTgt>
                                        </p:tgtEl>
                                      </p:cBhvr>
                                    </p:animEffect>
                                    <p:anim calcmode="lin" valueType="num">
                                      <p:cBhvr>
                                        <p:cTn id="179"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80"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784976" cy="1723650"/>
              </a:xfrm>
            </p:spPr>
            <p:txBody>
              <a:bodyPr/>
              <a:lstStyle/>
              <a:p>
                <a:pPr marL="0" indent="0">
                  <a:lnSpc>
                    <a:spcPts val="23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创建广义表算法是一个递归算法，该算法使用一个具有广义表格式的字符参数</a:t>
                </a:r>
                <a:r>
                  <a:rPr lang="en-US" altLang="zh-CN" sz="1600" dirty="0" err="1">
                    <a:latin typeface="Times New Roman" panose="02020603050405020304" pitchFamily="18" charset="0"/>
                    <a:cs typeface="Times New Roman" panose="02020603050405020304" pitchFamily="18" charset="0"/>
                  </a:rPr>
                  <a:t>st</a:t>
                </a:r>
                <a:r>
                  <a:rPr lang="zh-CN" altLang="zh-CN" sz="1600" dirty="0">
                    <a:latin typeface="Times New Roman" panose="02020603050405020304" pitchFamily="18" charset="0"/>
                    <a:cs typeface="Times New Roman" panose="02020603050405020304" pitchFamily="18" charset="0"/>
                  </a:rPr>
                  <a:t>，返回由它生成的广义表存储结构的头结点指针。为了方便，假定广义表中的元素类型为</a:t>
                </a:r>
                <a:r>
                  <a:rPr lang="en-US" altLang="zh-CN" sz="1600" dirty="0">
                    <a:latin typeface="Times New Roman" panose="02020603050405020304" pitchFamily="18" charset="0"/>
                    <a:cs typeface="Times New Roman" panose="02020603050405020304" pitchFamily="18" charset="0"/>
                  </a:rPr>
                  <a:t>char</a:t>
                </a:r>
                <a:r>
                  <a:rPr lang="zh-CN" altLang="zh-CN" sz="1600" dirty="0">
                    <a:latin typeface="Times New Roman" panose="02020603050405020304" pitchFamily="18" charset="0"/>
                    <a:cs typeface="Times New Roman" panose="02020603050405020304" pitchFamily="18" charset="0"/>
                  </a:rPr>
                  <a:t>类型，每个原子的值限定为单个英文字母，且广义表格式约定为：元素之间用逗号隔开，表元素的起止符号分别为左、右圆括号，空表在圆括号内不包含任何字符。例如，</a:t>
                </a:r>
                <a14:m>
                  <m:oMath xmlns:m="http://schemas.openxmlformats.org/officeDocument/2006/math">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𝑎</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𝑏</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𝑏</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𝑐</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𝑑</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是一个广义表格式的字符串，其中</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表示该表为空表。</a:t>
                </a:r>
              </a:p>
              <a:p>
                <a:pPr>
                  <a:lnSpc>
                    <a:spcPts val="22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784976" cy="1723650"/>
              </a:xfrm>
              <a:blipFill>
                <a:blip r:embed="rId2"/>
                <a:stretch>
                  <a:fillRect l="-624" t="-1064"/>
                </a:stretch>
              </a:blipFill>
            </p:spPr>
            <p:txBody>
              <a:bodyPr/>
              <a:lstStyle/>
              <a:p>
                <a:r>
                  <a:rPr lang="zh-CN" altLang="en-US">
                    <a:noFill/>
                  </a:rPr>
                  <a:t> </a:t>
                </a:r>
              </a:p>
            </p:txBody>
          </p:sp>
        </mc:Fallback>
      </mc:AlternateContent>
      <p:sp>
        <p:nvSpPr>
          <p:cNvPr id="4" name="文本框 3"/>
          <p:cNvSpPr txBox="1"/>
          <p:nvPr/>
        </p:nvSpPr>
        <p:spPr>
          <a:xfrm>
            <a:off x="827584" y="3291830"/>
            <a:ext cx="6048672" cy="369332"/>
          </a:xfrm>
          <a:prstGeom prst="rect">
            <a:avLst/>
          </a:prstGeom>
          <a:noFill/>
        </p:spPr>
        <p:txBody>
          <a:bodyPr wrap="square" rtlCol="0">
            <a:spAutoFit/>
          </a:bodyPr>
          <a:lstStyle/>
          <a:p>
            <a:r>
              <a:rPr lang="zh-CN" altLang="en-US" dirty="0">
                <a:solidFill>
                  <a:srgbClr val="C00000"/>
                </a:solidFill>
                <a:latin typeface="华文行楷" panose="02010800040101010101" pitchFamily="2" charset="-122"/>
                <a:ea typeface="华文行楷" panose="02010800040101010101" pitchFamily="2" charset="-122"/>
                <a:hlinkClick r:id="rId3" action="ppaction://hlinkfile"/>
              </a:rPr>
              <a:t>创建广义表算法链接</a:t>
            </a:r>
            <a:endParaRPr lang="zh-CN" altLang="en-US" dirty="0">
              <a:solidFill>
                <a:srgbClr val="C00000"/>
              </a:solidFill>
              <a:latin typeface="华文行楷" panose="02010800040101010101" pitchFamily="2" charset="-122"/>
              <a:ea typeface="华文行楷" panose="02010800040101010101" pitchFamily="2" charset="-122"/>
            </a:endParaRPr>
          </a:p>
        </p:txBody>
      </p:sp>
      <p:sp>
        <p:nvSpPr>
          <p:cNvPr id="5" name="文本框 4"/>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创建广义表</a:t>
            </a:r>
          </a:p>
        </p:txBody>
      </p:sp>
    </p:spTree>
    <p:extLst>
      <p:ext uri="{BB962C8B-B14F-4D97-AF65-F5344CB8AC3E}">
        <p14:creationId xmlns:p14="http://schemas.microsoft.com/office/powerpoint/2010/main" val="35354276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064124"/>
                <a:ext cx="8496943" cy="3507876"/>
              </a:xfrm>
            </p:spPr>
            <p:txBody>
              <a:bodyPr/>
              <a:lstStyle/>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广义表的深度定义为广义表中括号的重数。设非空广义表为</a:t>
                </a:r>
              </a:p>
              <a:p>
                <a:pPr marL="0" indent="0">
                  <a:lnSpc>
                    <a:spcPts val="23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BL</m:t>
                      </m:r>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1</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2</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𝑛</m:t>
                          </m:r>
                        </m:sub>
                      </m:sSub>
                      <m:r>
                        <a:rPr lang="en-US" altLang="zh-CN" sz="1600">
                          <a:latin typeface="Cambria Math" panose="02040503050406030204" pitchFamily="18" charset="0"/>
                          <a:cs typeface="Times New Roman" panose="02020603050405020304" pitchFamily="18" charset="0"/>
                        </a:rPr>
                        <m:t>)</m:t>
                      </m:r>
                    </m:oMath>
                  </m:oMathPara>
                </a14:m>
                <a:endParaRPr lang="zh-CN" altLang="zh-CN" sz="16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𝑖</m:t>
                        </m:r>
                      </m:sub>
                    </m:sSub>
                  </m:oMath>
                </a14:m>
                <a:r>
                  <a:rPr lang="zh-CN" altLang="zh-CN" sz="1600" dirty="0">
                    <a:latin typeface="Times New Roman" panose="02020603050405020304" pitchFamily="18" charset="0"/>
                    <a:cs typeface="Times New Roman" panose="02020603050405020304" pitchFamily="18" charset="0"/>
                  </a:rPr>
                  <a:t>或为原子或为</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BL</m:t>
                    </m:r>
                  </m:oMath>
                </a14:m>
                <a:r>
                  <a:rPr lang="zh-CN" altLang="zh-CN" sz="1600" dirty="0">
                    <a:latin typeface="Times New Roman" panose="02020603050405020304" pitchFamily="18" charset="0"/>
                    <a:cs typeface="Times New Roman" panose="02020603050405020304" pitchFamily="18" charset="0"/>
                  </a:rPr>
                  <a:t>的子表。若</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𝑖</m:t>
                        </m:r>
                      </m:sub>
                    </m:sSub>
                  </m:oMath>
                </a14:m>
                <a:r>
                  <a:rPr lang="zh-CN" altLang="zh-CN" sz="1600" dirty="0">
                    <a:latin typeface="Times New Roman" panose="02020603050405020304" pitchFamily="18" charset="0"/>
                    <a:cs typeface="Times New Roman" panose="02020603050405020304" pitchFamily="18" charset="0"/>
                  </a:rPr>
                  <a:t>为原子，则其深度为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𝑖</m:t>
                        </m:r>
                      </m:sub>
                    </m:sSub>
                  </m:oMath>
                </a14:m>
                <a:r>
                  <a:rPr lang="zh-CN" altLang="zh-CN" sz="1600" dirty="0">
                    <a:latin typeface="Times New Roman" panose="02020603050405020304" pitchFamily="18" charset="0"/>
                    <a:cs typeface="Times New Roman" panose="02020603050405020304" pitchFamily="18" charset="0"/>
                  </a:rPr>
                  <a:t>是广义表，则递归处理。</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BL</m:t>
                    </m:r>
                  </m:oMath>
                </a14:m>
                <a:r>
                  <a:rPr lang="zh-CN" altLang="zh-CN" sz="1600" dirty="0">
                    <a:latin typeface="Times New Roman" panose="02020603050405020304" pitchFamily="18" charset="0"/>
                    <a:cs typeface="Times New Roman" panose="02020603050405020304" pitchFamily="18" charset="0"/>
                  </a:rPr>
                  <a:t>的深度是各</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𝑎</m:t>
                        </m:r>
                      </m:e>
                      <m:sub>
                        <m:r>
                          <a:rPr lang="en-US" altLang="zh-CN" sz="1600">
                            <a:latin typeface="Cambria Math" panose="02040503050406030204" pitchFamily="18" charset="0"/>
                            <a:cs typeface="Times New Roman" panose="02020603050405020304" pitchFamily="18" charset="0"/>
                          </a:rPr>
                          <m:t>𝑖</m:t>
                        </m:r>
                      </m:sub>
                    </m:sSub>
                    <m:r>
                      <a:rPr lang="en-US" altLang="zh-CN" sz="1600">
                        <a:latin typeface="Cambria Math" panose="02040503050406030204" pitchFamily="18" charset="0"/>
                        <a:cs typeface="Times New Roman" panose="02020603050405020304" pitchFamily="18" charset="0"/>
                      </a:rPr>
                      <m:t>(1≤</m:t>
                    </m:r>
                    <m:r>
                      <a:rPr lang="en-US" altLang="zh-CN" sz="1600">
                        <a:latin typeface="Cambria Math" panose="02040503050406030204" pitchFamily="18" charset="0"/>
                        <a:cs typeface="Times New Roman" panose="02020603050405020304" pitchFamily="18" charset="0"/>
                      </a:rPr>
                      <m:t>𝑖</m:t>
                    </m:r>
                    <m:r>
                      <a:rPr lang="en-US"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𝑛</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的深度中最大值加</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特例，</a:t>
                </a:r>
                <a:r>
                  <a:rPr lang="en-US" altLang="zh-CN" sz="1600" dirty="0" err="1">
                    <a:latin typeface="Times New Roman" panose="02020603050405020304" pitchFamily="18" charset="0"/>
                    <a:cs typeface="Times New Roman" panose="02020603050405020304" pitchFamily="18" charset="0"/>
                  </a:rPr>
                  <a:t>bhead</a:t>
                </a:r>
                <a:r>
                  <a:rPr lang="en-US" altLang="zh-CN" sz="1600" dirty="0">
                    <a:latin typeface="Times New Roman" panose="02020603050405020304" pitchFamily="18" charset="0"/>
                    <a:cs typeface="Times New Roman" panose="02020603050405020304" pitchFamily="18" charset="0"/>
                  </a:rPr>
                  <a:t>=NULL</a:t>
                </a:r>
                <a:r>
                  <a:rPr lang="zh-CN" altLang="zh-CN" sz="1600" dirty="0">
                    <a:latin typeface="Times New Roman" panose="02020603050405020304" pitchFamily="18" charset="0"/>
                    <a:cs typeface="Times New Roman" panose="02020603050405020304" pitchFamily="18" charset="0"/>
                  </a:rPr>
                  <a:t>的深度为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，空表（如</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的深度为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计算广义表深度的递归定义如下：</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depth</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BL</m:t>
                          </m:r>
                        </m:e>
                      </m:d>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eqArr>
                            <m:eqArrPr>
                              <m:ctrlPr>
                                <a:rPr lang="zh-CN" altLang="zh-CN" sz="1600" i="1">
                                  <a:latin typeface="Cambria Math" panose="02040503050406030204" pitchFamily="18" charset="0"/>
                                </a:rPr>
                              </m:ctrlPr>
                            </m:eqArrPr>
                            <m:e>
                              <m:r>
                                <a:rPr lang="en-US" altLang="zh-CN" sz="1600">
                                  <a:latin typeface="Cambria Math" panose="02040503050406030204" pitchFamily="18" charset="0"/>
                                </a:rPr>
                                <m:t>0                                                   </m:t>
                              </m:r>
                              <m:r>
                                <a:rPr lang="en-US" altLang="zh-CN" sz="1600" b="0" i="0" smtClean="0">
                                  <a:latin typeface="Cambria Math" panose="02040503050406030204" pitchFamily="18" charset="0"/>
                                </a:rPr>
                                <m:t>         </m:t>
                              </m:r>
                              <m:r>
                                <a:rPr lang="zh-CN" altLang="zh-CN" sz="1600">
                                  <a:latin typeface="Cambria Math" panose="02040503050406030204" pitchFamily="18" charset="0"/>
                                </a:rPr>
                                <m:t>若</m:t>
                              </m:r>
                              <m:r>
                                <m:rPr>
                                  <m:sty m:val="p"/>
                                </m:rPr>
                                <a:rPr lang="en-US" altLang="zh-CN" sz="1600">
                                  <a:latin typeface="Cambria Math" panose="02040503050406030204" pitchFamily="18" charset="0"/>
                                </a:rPr>
                                <m:t>BL</m:t>
                              </m:r>
                              <m:r>
                                <a:rPr lang="zh-CN" altLang="zh-CN" sz="1600">
                                  <a:latin typeface="Cambria Math" panose="02040503050406030204" pitchFamily="18" charset="0"/>
                                </a:rPr>
                                <m:t>为</m:t>
                              </m:r>
                              <m:r>
                                <m:rPr>
                                  <m:sty m:val="p"/>
                                </m:rPr>
                                <a:rPr lang="en-US" altLang="zh-CN" sz="1600" i="1">
                                  <a:latin typeface="Cambria Math" panose="02040503050406030204" pitchFamily="18" charset="0"/>
                                </a:rPr>
                                <m:t>NULL</m:t>
                              </m:r>
                              <m:r>
                                <a:rPr lang="zh-CN" altLang="zh-CN" sz="1600">
                                  <a:latin typeface="Cambria Math" panose="02040503050406030204" pitchFamily="18" charset="0"/>
                                </a:rPr>
                                <m:t>的广义表或原子</m:t>
                              </m:r>
                            </m:e>
                            <m:e>
                              <m:r>
                                <a:rPr lang="en-US" altLang="zh-CN" sz="1600">
                                  <a:latin typeface="Cambria Math" panose="02040503050406030204" pitchFamily="18" charset="0"/>
                                </a:rPr>
                                <m:t>1                                                   </m:t>
                              </m:r>
                              <m:r>
                                <a:rPr lang="en-US" altLang="zh-CN" sz="1600" b="0" i="0" smtClean="0">
                                  <a:latin typeface="Cambria Math" panose="02040503050406030204" pitchFamily="18" charset="0"/>
                                </a:rPr>
                                <m:t>           </m:t>
                              </m:r>
                              <m:r>
                                <a:rPr lang="zh-CN" altLang="zh-CN" sz="1600">
                                  <a:latin typeface="Cambria Math" panose="02040503050406030204" pitchFamily="18" charset="0"/>
                                </a:rPr>
                                <m:t>若</m:t>
                              </m:r>
                              <m:r>
                                <m:rPr>
                                  <m:sty m:val="p"/>
                                </m:rPr>
                                <a:rPr lang="en-US" altLang="zh-CN" sz="1600">
                                  <a:latin typeface="Cambria Math" panose="02040503050406030204" pitchFamily="18" charset="0"/>
                                </a:rPr>
                                <m:t>BL</m:t>
                              </m:r>
                              <m:r>
                                <a:rPr lang="zh-CN" altLang="zh-CN" sz="1600">
                                  <a:latin typeface="Cambria Math" panose="02040503050406030204" pitchFamily="18" charset="0"/>
                                </a:rPr>
                                <m:t>为空表</m:t>
                              </m:r>
                              <m:r>
                                <a:rPr lang="en-US" altLang="zh-CN" sz="1600">
                                  <a:latin typeface="Cambria Math" panose="02040503050406030204" pitchFamily="18" charset="0"/>
                                </a:rPr>
                                <m:t>                           </m:t>
                              </m:r>
                            </m:e>
                            <m:e>
                              <m:r>
                                <a:rPr lang="en-US" altLang="zh-CN" sz="1600">
                                  <a:latin typeface="Cambria Math" panose="02040503050406030204" pitchFamily="18" charset="0"/>
                                </a:rPr>
                                <m:t>1+</m:t>
                              </m:r>
                              <m:func>
                                <m:funcPr>
                                  <m:ctrlPr>
                                    <a:rPr lang="zh-CN" altLang="zh-CN" sz="1600" i="1">
                                      <a:latin typeface="Cambria Math" panose="02040503050406030204" pitchFamily="18" charset="0"/>
                                    </a:rPr>
                                  </m:ctrlPr>
                                </m:funcPr>
                                <m:fName>
                                  <m:limLow>
                                    <m:limLowPr>
                                      <m:ctrlPr>
                                        <a:rPr lang="zh-CN" altLang="zh-CN" sz="1600" i="1">
                                          <a:latin typeface="Cambria Math" panose="02040503050406030204" pitchFamily="18" charset="0"/>
                                        </a:rPr>
                                      </m:ctrlPr>
                                    </m:limLowPr>
                                    <m:e>
                                      <m:r>
                                        <m:rPr>
                                          <m:sty m:val="p"/>
                                        </m:rPr>
                                        <a:rPr lang="en-US" altLang="zh-CN" sz="1600">
                                          <a:latin typeface="Cambria Math" panose="02040503050406030204" pitchFamily="18" charset="0"/>
                                        </a:rPr>
                                        <m:t>max</m:t>
                                      </m:r>
                                    </m:e>
                                    <m:lim>
                                      <m:r>
                                        <m:rPr>
                                          <m:sty m:val="p"/>
                                        </m:rPr>
                                        <a:rPr lang="en-US" altLang="zh-CN" sz="1600">
                                          <a:latin typeface="Cambria Math" panose="02040503050406030204" pitchFamily="18" charset="0"/>
                                        </a:rPr>
                                        <m:t>subBL</m:t>
                                      </m:r>
                                      <m:r>
                                        <a:rPr lang="zh-CN" altLang="zh-CN" sz="1600">
                                          <a:latin typeface="Cambria Math" panose="02040503050406030204" pitchFamily="18" charset="0"/>
                                        </a:rPr>
                                        <m:t>为</m:t>
                                      </m:r>
                                      <m:r>
                                        <m:rPr>
                                          <m:sty m:val="p"/>
                                        </m:rPr>
                                        <a:rPr lang="en-US" altLang="zh-CN" sz="1600">
                                          <a:latin typeface="Cambria Math" panose="02040503050406030204" pitchFamily="18" charset="0"/>
                                        </a:rPr>
                                        <m:t>BL</m:t>
                                      </m:r>
                                      <m:r>
                                        <a:rPr lang="zh-CN" altLang="zh-CN" sz="1600">
                                          <a:latin typeface="Cambria Math" panose="02040503050406030204" pitchFamily="18" charset="0"/>
                                        </a:rPr>
                                        <m:t>子表</m:t>
                                      </m:r>
                                    </m:lim>
                                  </m:limLow>
                                </m:fName>
                                <m:e>
                                  <m:r>
                                    <m:rPr>
                                      <m:sty m:val="p"/>
                                    </m:rPr>
                                    <a:rPr lang="en-US" altLang="zh-CN" sz="1600">
                                      <a:latin typeface="Cambria Math" panose="02040503050406030204" pitchFamily="18" charset="0"/>
                                    </a:rPr>
                                    <m:t>depth</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subBL</m:t>
                                      </m:r>
                                    </m:e>
                                  </m:d>
                                  <m:r>
                                    <a:rPr lang="en-US" altLang="zh-CN" sz="1600">
                                      <a:latin typeface="Cambria Math" panose="02040503050406030204" pitchFamily="18" charset="0"/>
                                    </a:rPr>
                                    <m:t>              </m:t>
                                  </m:r>
                                  <m:r>
                                    <a:rPr lang="en-US" altLang="zh-CN" sz="1600" b="0" i="0" smtClean="0">
                                      <a:latin typeface="Cambria Math" panose="02040503050406030204" pitchFamily="18" charset="0"/>
                                    </a:rPr>
                                    <m:t>                            </m:t>
                                  </m:r>
                                  <m:r>
                                    <a:rPr lang="zh-CN" altLang="zh-CN" sz="1600">
                                      <a:latin typeface="Cambria Math" panose="02040503050406030204" pitchFamily="18" charset="0"/>
                                    </a:rPr>
                                    <m:t>其他</m:t>
                                  </m:r>
                                </m:e>
                              </m:func>
                            </m:e>
                          </m:eqArr>
                        </m:e>
                      </m:d>
                    </m:oMath>
                  </m:oMathPara>
                </a14:m>
                <a:endParaRPr lang="zh-CN" altLang="zh-CN" sz="1800" dirty="0">
                  <a:latin typeface="隶书" panose="02010509060101010101" pitchFamily="49" charset="-122"/>
                  <a:ea typeface="隶书" panose="02010509060101010101" pitchFamily="49" charset="-122"/>
                </a:endParaRPr>
              </a:p>
              <a:p>
                <a:pPr>
                  <a:lnSpc>
                    <a:spcPct val="1000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064124"/>
                <a:ext cx="8496943" cy="3507876"/>
              </a:xfrm>
              <a:blipFill>
                <a:blip r:embed="rId2"/>
                <a:stretch>
                  <a:fillRect l="-646" t="-522"/>
                </a:stretch>
              </a:blipFill>
            </p:spPr>
            <p:txBody>
              <a:bodyPr/>
              <a:lstStyle/>
              <a:p>
                <a:r>
                  <a:rPr lang="zh-CN" altLang="en-US">
                    <a:noFill/>
                  </a:rPr>
                  <a:t> </a:t>
                </a:r>
              </a:p>
            </p:txBody>
          </p:sp>
        </mc:Fallback>
      </mc:AlternateContent>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计算广义表深度</a:t>
            </a:r>
          </a:p>
        </p:txBody>
      </p:sp>
    </p:spTree>
    <p:extLst>
      <p:ext uri="{BB962C8B-B14F-4D97-AF65-F5344CB8AC3E}">
        <p14:creationId xmlns:p14="http://schemas.microsoft.com/office/powerpoint/2010/main" val="15784904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640960" cy="3507876"/>
              </a:xfrm>
            </p:spPr>
            <p:txBody>
              <a:bodyPr/>
              <a:lstStyle/>
              <a:p>
                <a:pPr marL="0" indent="0">
                  <a:lnSpc>
                    <a:spcPts val="23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solidFill>
                      <a:srgbClr val="C00000"/>
                    </a:solidFill>
                    <a:latin typeface="Times New Roman" panose="02020603050405020304" pitchFamily="18" charset="0"/>
                    <a:cs typeface="Times New Roman" panose="02020603050405020304" pitchFamily="18" charset="0"/>
                  </a:rPr>
                  <a:t>广义表</a:t>
                </a:r>
                <a14:m>
                  <m:oMath xmlns:m="http://schemas.openxmlformats.org/officeDocument/2006/math">
                    <m:r>
                      <m:rPr>
                        <m:sty m:val="p"/>
                      </m:rPr>
                      <a:rPr lang="en-US" altLang="zh-CN" sz="1600">
                        <a:solidFill>
                          <a:srgbClr val="C00000"/>
                        </a:solidFill>
                        <a:latin typeface="Cambria Math" panose="02040503050406030204" pitchFamily="18" charset="0"/>
                        <a:cs typeface="Times New Roman" panose="02020603050405020304" pitchFamily="18" charset="0"/>
                      </a:rPr>
                      <m:t>D</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A</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B</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C</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a</m:t>
                    </m:r>
                    <m:r>
                      <a:rPr lang="en-US" altLang="zh-CN" sz="1600">
                        <a:solidFill>
                          <a:srgbClr val="C00000"/>
                        </a:solidFill>
                        <a:latin typeface="Cambria Math" panose="02040503050406030204" pitchFamily="18" charset="0"/>
                        <a:cs typeface="Times New Roman" panose="02020603050405020304" pitchFamily="18" charset="0"/>
                      </a:rPr>
                      <m:t>),( ),(</m:t>
                    </m:r>
                    <m:r>
                      <m:rPr>
                        <m:sty m:val="p"/>
                      </m:rPr>
                      <a:rPr lang="en-US" altLang="zh-CN" sz="1600">
                        <a:solidFill>
                          <a:srgbClr val="C00000"/>
                        </a:solidFill>
                        <a:latin typeface="Cambria Math" panose="02040503050406030204" pitchFamily="18" charset="0"/>
                        <a:cs typeface="Times New Roman" panose="02020603050405020304" pitchFamily="18" charset="0"/>
                      </a:rPr>
                      <m:t>b</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c</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d</m:t>
                    </m:r>
                    <m:r>
                      <a:rPr lang="en-US" altLang="zh-CN" sz="1600">
                        <a:solidFill>
                          <a:srgbClr val="C00000"/>
                        </a:solidFill>
                        <a:latin typeface="Cambria Math" panose="02040503050406030204" pitchFamily="18" charset="0"/>
                        <a:cs typeface="Times New Roman" panose="02020603050405020304" pitchFamily="18" charset="0"/>
                      </a:rPr>
                      <m:t>,</m:t>
                    </m:r>
                    <m:r>
                      <m:rPr>
                        <m:sty m:val="p"/>
                      </m:rPr>
                      <a:rPr lang="en-US" altLang="zh-CN" sz="1600">
                        <a:solidFill>
                          <a:srgbClr val="C00000"/>
                        </a:solidFill>
                        <a:latin typeface="Cambria Math" panose="02040503050406030204" pitchFamily="18" charset="0"/>
                        <a:cs typeface="Times New Roman" panose="02020603050405020304" pitchFamily="18" charset="0"/>
                      </a:rPr>
                      <m:t>e</m:t>
                    </m:r>
                    <m:r>
                      <a:rPr lang="en-US" altLang="zh-CN" sz="1600">
                        <a:solidFill>
                          <a:srgbClr val="C00000"/>
                        </a:solidFill>
                        <a:latin typeface="Cambria Math" panose="02040503050406030204" pitchFamily="18" charset="0"/>
                        <a:cs typeface="Times New Roman" panose="02020603050405020304" pitchFamily="18" charset="0"/>
                      </a:rPr>
                      <m:t>))))</m:t>
                    </m:r>
                  </m:oMath>
                </a14:m>
                <a:r>
                  <a:rPr lang="zh-CN" altLang="zh-CN" sz="1600" dirty="0">
                    <a:solidFill>
                      <a:srgbClr val="C00000"/>
                    </a:solidFill>
                    <a:latin typeface="Times New Roman" panose="02020603050405020304" pitchFamily="18" charset="0"/>
                    <a:cs typeface="Times New Roman" panose="02020603050405020304" pitchFamily="18" charset="0"/>
                  </a:rPr>
                  <a:t>的递归计算过程如下：</a:t>
                </a: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D</m:t>
                    </m:r>
                    <m:r>
                      <a:rPr lang="en-US" altLang="zh-CN" sz="1800">
                        <a:latin typeface="Cambria Math" panose="02040503050406030204" pitchFamily="18" charset="0"/>
                      </a:rPr>
                      <m:t>)=1+</m:t>
                    </m:r>
                    <m:r>
                      <m:rPr>
                        <m:sty m:val="p"/>
                      </m:rPr>
                      <a:rPr lang="en-US" altLang="zh-CN" sz="1800">
                        <a:latin typeface="Cambria Math" panose="02040503050406030204" pitchFamily="18" charset="0"/>
                      </a:rPr>
                      <m:t>max</m:t>
                    </m:r>
                    <m:r>
                      <a:rPr lang="en-US" altLang="zh-CN" sz="1800">
                        <a:latin typeface="Cambria Math" panose="02040503050406030204" pitchFamily="18" charset="0"/>
                      </a:rPr>
                      <m:t>(</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A</m:t>
                    </m:r>
                    <m:r>
                      <a:rPr lang="en-US" altLang="zh-CN" sz="1800">
                        <a:latin typeface="Cambria Math" panose="02040503050406030204" pitchFamily="18" charset="0"/>
                      </a:rPr>
                      <m:t>), </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B</m:t>
                    </m:r>
                    <m:r>
                      <a:rPr lang="en-US" altLang="zh-CN" sz="1800">
                        <a:latin typeface="Cambria Math" panose="02040503050406030204" pitchFamily="18" charset="0"/>
                      </a:rPr>
                      <m:t>), </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C</m:t>
                    </m:r>
                    <m:r>
                      <a:rPr lang="en-US" altLang="zh-CN" sz="1800">
                        <a:latin typeface="Cambria Math" panose="02040503050406030204" pitchFamily="18" charset="0"/>
                      </a:rPr>
                      <m:t>))</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A</m:t>
                        </m:r>
                      </m:e>
                    </m:d>
                    <m:r>
                      <a:rPr lang="en-US" altLang="zh-CN" sz="1800">
                        <a:latin typeface="Cambria Math" panose="02040503050406030204" pitchFamily="18" charset="0"/>
                      </a:rPr>
                      <m:t>=1+</m:t>
                    </m:r>
                    <m:func>
                      <m:funcPr>
                        <m:ctrlPr>
                          <a:rPr lang="zh-CN" altLang="zh-CN" sz="1800" i="1">
                            <a:latin typeface="Cambria Math" panose="02040503050406030204" pitchFamily="18" charset="0"/>
                          </a:rPr>
                        </m:ctrlPr>
                      </m:funcPr>
                      <m:fName>
                        <m:r>
                          <m:rPr>
                            <m:sty m:val="p"/>
                          </m:rPr>
                          <a:rPr lang="en-US" altLang="zh-CN" sz="1800" i="1">
                            <a:latin typeface="Cambria Math" panose="02040503050406030204" pitchFamily="18" charset="0"/>
                          </a:rPr>
                          <m:t>ma</m:t>
                        </m:r>
                        <m:r>
                          <m:rPr>
                            <m:sty m:val="p"/>
                          </m:rPr>
                          <a:rPr lang="en-US" altLang="zh-CN" sz="1800">
                            <a:latin typeface="Cambria Math" panose="02040503050406030204" pitchFamily="18" charset="0"/>
                          </a:rPr>
                          <m:t>x</m:t>
                        </m:r>
                      </m:fName>
                      <m:e>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a</m:t>
                                </m:r>
                              </m:e>
                            </m:d>
                          </m:e>
                        </m:d>
                      </m:e>
                    </m:func>
                    <m:r>
                      <a:rPr lang="en-US" altLang="zh-CN" sz="1800">
                        <a:latin typeface="Cambria Math" panose="02040503050406030204" pitchFamily="18" charset="0"/>
                      </a:rPr>
                      <m:t>=1+0=1</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B</m:t>
                        </m:r>
                      </m:e>
                    </m:d>
                    <m:r>
                      <a:rPr lang="en-US" altLang="zh-CN" sz="1800">
                        <a:latin typeface="Cambria Math" panose="02040503050406030204" pitchFamily="18" charset="0"/>
                      </a:rPr>
                      <m:t>=1</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C</m:t>
                        </m:r>
                      </m:e>
                    </m:d>
                    <m:r>
                      <a:rPr lang="en-US" altLang="zh-CN" sz="1800">
                        <a:latin typeface="Cambria Math" panose="02040503050406030204" pitchFamily="18" charset="0"/>
                      </a:rPr>
                      <m:t>=1+</m:t>
                    </m:r>
                  </m:oMath>
                </a14:m>
                <a:r>
                  <a:rPr lang="en-US" altLang="zh-CN" sz="1800" dirty="0"/>
                  <a:t> </a:t>
                </a:r>
                <a14:m>
                  <m:oMath xmlns:m="http://schemas.openxmlformats.org/officeDocument/2006/math">
                    <m:r>
                      <m:rPr>
                        <m:sty m:val="p"/>
                      </m:rPr>
                      <a:rPr lang="en-US" altLang="zh-CN" sz="1800" i="1">
                        <a:latin typeface="Cambria Math" panose="02040503050406030204" pitchFamily="18" charset="0"/>
                      </a:rPr>
                      <m:t>ma</m:t>
                    </m:r>
                    <m:r>
                      <m:rPr>
                        <m:sty m:val="p"/>
                      </m:rPr>
                      <a:rPr lang="en-US" altLang="zh-CN" sz="1800">
                        <a:latin typeface="Cambria Math" panose="02040503050406030204" pitchFamily="18" charset="0"/>
                      </a:rPr>
                      <m:t>x</m:t>
                    </m:r>
                    <m:r>
                      <a:rPr lang="en-US" altLang="zh-CN">
                        <a:latin typeface="Cambria Math" panose="02040503050406030204" pitchFamily="18" charset="0"/>
                      </a:rPr>
                      <m:t>(</m:t>
                    </m:r>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b</m:t>
                        </m:r>
                      </m:e>
                    </m:d>
                    <m:r>
                      <a:rPr lang="en-US" altLang="zh-CN" sz="1800">
                        <a:latin typeface="Cambria Math" panose="02040503050406030204" pitchFamily="18" charset="0"/>
                      </a:rPr>
                      <m:t>, </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c</m:t>
                    </m:r>
                    <m:r>
                      <a:rPr lang="en-US" altLang="zh-CN" sz="1800">
                        <a:latin typeface="Cambria Math" panose="02040503050406030204" pitchFamily="18" charset="0"/>
                      </a:rPr>
                      <m:t>,</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d</m:t>
                        </m:r>
                        <m:r>
                          <a:rPr lang="en-US" altLang="zh-CN" sz="1800">
                            <a:latin typeface="Cambria Math" panose="02040503050406030204" pitchFamily="18" charset="0"/>
                          </a:rPr>
                          <m:t>,</m:t>
                        </m:r>
                        <m:r>
                          <m:rPr>
                            <m:sty m:val="p"/>
                          </m:rPr>
                          <a:rPr lang="en-US" altLang="zh-CN" sz="1800">
                            <a:latin typeface="Cambria Math" panose="02040503050406030204" pitchFamily="18" charset="0"/>
                          </a:rPr>
                          <m:t>e</m:t>
                        </m:r>
                      </m:e>
                    </m:d>
                    <m:r>
                      <a:rPr lang="en-US" altLang="zh-CN" sz="1800">
                        <a:latin typeface="Cambria Math" panose="02040503050406030204" pitchFamily="18" charset="0"/>
                      </a:rPr>
                      <m:t>))</m:t>
                    </m:r>
                    <m:r>
                      <a:rPr lang="en-US" altLang="zh-CN">
                        <a:latin typeface="Cambria Math" panose="02040503050406030204" pitchFamily="18" charset="0"/>
                      </a:rPr>
                      <m:t>)</m:t>
                    </m:r>
                    <m:r>
                      <a:rPr lang="en-US" altLang="zh-CN" sz="1800">
                        <a:latin typeface="Cambria Math" panose="02040503050406030204" pitchFamily="18" charset="0"/>
                      </a:rPr>
                      <m:t>=3</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b</m:t>
                        </m:r>
                      </m:e>
                    </m:d>
                    <m:r>
                      <a:rPr lang="en-US" altLang="zh-CN" sz="1800">
                        <a:latin typeface="Cambria Math" panose="02040503050406030204" pitchFamily="18" charset="0"/>
                      </a:rPr>
                      <m:t>=0</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c</m:t>
                    </m:r>
                    <m:r>
                      <a:rPr lang="en-US" altLang="zh-CN" sz="1800">
                        <a:latin typeface="Cambria Math" panose="02040503050406030204" pitchFamily="18" charset="0"/>
                      </a:rPr>
                      <m:t>,(</m:t>
                    </m:r>
                    <m:r>
                      <m:rPr>
                        <m:sty m:val="p"/>
                      </m:rPr>
                      <a:rPr lang="en-US" altLang="zh-CN" sz="1800">
                        <a:latin typeface="Cambria Math" panose="02040503050406030204" pitchFamily="18" charset="0"/>
                      </a:rPr>
                      <m:t>d</m:t>
                    </m:r>
                    <m:r>
                      <a:rPr lang="en-US" altLang="zh-CN" sz="1800">
                        <a:latin typeface="Cambria Math" panose="02040503050406030204" pitchFamily="18" charset="0"/>
                      </a:rPr>
                      <m:t>,</m:t>
                    </m:r>
                    <m:r>
                      <m:rPr>
                        <m:sty m:val="p"/>
                      </m:rPr>
                      <a:rPr lang="en-US" altLang="zh-CN" sz="1800">
                        <a:latin typeface="Cambria Math" panose="02040503050406030204" pitchFamily="18" charset="0"/>
                      </a:rPr>
                      <m:t>e</m:t>
                    </m:r>
                    <m:r>
                      <a:rPr lang="en-US" altLang="zh-CN" sz="1800">
                        <a:latin typeface="Cambria Math" panose="02040503050406030204" pitchFamily="18" charset="0"/>
                      </a:rPr>
                      <m:t>)))=1+</m:t>
                    </m:r>
                    <m:r>
                      <m:rPr>
                        <m:sty m:val="p"/>
                      </m:rPr>
                      <a:rPr lang="en-US" altLang="zh-CN" sz="1800">
                        <a:latin typeface="Cambria Math" panose="02040503050406030204" pitchFamily="18" charset="0"/>
                      </a:rPr>
                      <m:t>max</m:t>
                    </m:r>
                    <m:r>
                      <a:rPr lang="en-US" altLang="zh-CN" sz="1800">
                        <a:latin typeface="Cambria Math" panose="02040503050406030204" pitchFamily="18" charset="0"/>
                      </a:rPr>
                      <m:t>(</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c</m:t>
                    </m:r>
                    <m:r>
                      <a:rPr lang="en-US" altLang="zh-CN" sz="1800">
                        <a:latin typeface="Cambria Math" panose="02040503050406030204" pitchFamily="18" charset="0"/>
                      </a:rPr>
                      <m:t>),</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d</m:t>
                    </m:r>
                    <m:r>
                      <a:rPr lang="en-US" altLang="zh-CN" sz="1800">
                        <a:latin typeface="Cambria Math" panose="02040503050406030204" pitchFamily="18" charset="0"/>
                      </a:rPr>
                      <m:t>,</m:t>
                    </m:r>
                    <m:r>
                      <m:rPr>
                        <m:sty m:val="p"/>
                      </m:rPr>
                      <a:rPr lang="en-US" altLang="zh-CN" sz="1800">
                        <a:latin typeface="Cambria Math" panose="02040503050406030204" pitchFamily="18" charset="0"/>
                      </a:rPr>
                      <m:t>e</m:t>
                    </m:r>
                    <m:r>
                      <a:rPr lang="en-US" altLang="zh-CN" sz="1800">
                        <a:latin typeface="Cambria Math" panose="02040503050406030204" pitchFamily="18" charset="0"/>
                      </a:rPr>
                      <m:t>))=2</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c</m:t>
                        </m:r>
                      </m:e>
                    </m:d>
                    <m:r>
                      <a:rPr lang="en-US" altLang="zh-CN" sz="1800">
                        <a:latin typeface="Cambria Math" panose="02040503050406030204" pitchFamily="18" charset="0"/>
                      </a:rPr>
                      <m:t>=0</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14:m>
                  <m:oMath xmlns:m="http://schemas.openxmlformats.org/officeDocument/2006/math">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d</m:t>
                    </m:r>
                    <m:r>
                      <a:rPr lang="en-US" altLang="zh-CN" sz="1800">
                        <a:latin typeface="Cambria Math" panose="02040503050406030204" pitchFamily="18" charset="0"/>
                      </a:rPr>
                      <m:t>,</m:t>
                    </m:r>
                    <m:r>
                      <m:rPr>
                        <m:sty m:val="p"/>
                      </m:rPr>
                      <a:rPr lang="en-US" altLang="zh-CN" sz="1800">
                        <a:latin typeface="Cambria Math" panose="02040503050406030204" pitchFamily="18" charset="0"/>
                      </a:rPr>
                      <m:t>e</m:t>
                    </m:r>
                    <m:r>
                      <a:rPr lang="en-US" altLang="zh-CN" sz="1800">
                        <a:latin typeface="Cambria Math" panose="02040503050406030204" pitchFamily="18" charset="0"/>
                      </a:rPr>
                      <m:t>))=1+</m:t>
                    </m:r>
                    <m:r>
                      <m:rPr>
                        <m:sty m:val="p"/>
                      </m:rPr>
                      <a:rPr lang="en-US" altLang="zh-CN" sz="1800">
                        <a:latin typeface="Cambria Math" panose="02040503050406030204" pitchFamily="18" charset="0"/>
                      </a:rPr>
                      <m:t>max</m:t>
                    </m:r>
                    <m:r>
                      <a:rPr lang="en-US" altLang="zh-CN" sz="1800">
                        <a:latin typeface="Cambria Math" panose="02040503050406030204" pitchFamily="18" charset="0"/>
                      </a:rPr>
                      <m:t>(</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d</m:t>
                    </m:r>
                    <m:r>
                      <a:rPr lang="en-US" altLang="zh-CN" sz="1800">
                        <a:latin typeface="Cambria Math" panose="02040503050406030204" pitchFamily="18" charset="0"/>
                      </a:rPr>
                      <m:t>),</m:t>
                    </m:r>
                    <m:r>
                      <m:rPr>
                        <m:sty m:val="p"/>
                      </m:rPr>
                      <a:rPr lang="en-US" altLang="zh-CN" sz="1800">
                        <a:latin typeface="Cambria Math" panose="02040503050406030204" pitchFamily="18" charset="0"/>
                      </a:rPr>
                      <m:t>depth</m:t>
                    </m:r>
                    <m:r>
                      <a:rPr lang="en-US" altLang="zh-CN" sz="1800">
                        <a:latin typeface="Cambria Math" panose="02040503050406030204" pitchFamily="18" charset="0"/>
                      </a:rPr>
                      <m:t>(</m:t>
                    </m:r>
                    <m:r>
                      <m:rPr>
                        <m:sty m:val="p"/>
                      </m:rPr>
                      <a:rPr lang="en-US" altLang="zh-CN" sz="1800">
                        <a:latin typeface="Cambria Math" panose="02040503050406030204" pitchFamily="18" charset="0"/>
                      </a:rPr>
                      <m:t>e</m:t>
                    </m:r>
                    <m:r>
                      <a:rPr lang="en-US" altLang="zh-CN" sz="1800">
                        <a:latin typeface="Cambria Math" panose="02040503050406030204" pitchFamily="18" charset="0"/>
                      </a:rPr>
                      <m:t>))=1+0=1</m:t>
                    </m:r>
                  </m:oMath>
                </a14:m>
                <a:endParaRPr lang="zh-CN" altLang="zh-CN" sz="1800" dirty="0">
                  <a:latin typeface="隶书" panose="02010509060101010101" pitchFamily="49" charset="-122"/>
                  <a:ea typeface="隶书" panose="02010509060101010101" pitchFamily="49" charset="-122"/>
                </a:endParaRPr>
              </a:p>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t>因此，</a:t>
                </a:r>
                <a14:m>
                  <m:oMath xmlns:m="http://schemas.openxmlformats.org/officeDocument/2006/math">
                    <m:r>
                      <m:rPr>
                        <m:sty m:val="p"/>
                      </m:rPr>
                      <a:rPr lang="en-US" altLang="zh-CN" sz="1800">
                        <a:latin typeface="Cambria Math" panose="02040503050406030204" pitchFamily="18" charset="0"/>
                      </a:rPr>
                      <m:t>depth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D</m:t>
                        </m:r>
                      </m:e>
                    </m:d>
                    <m:r>
                      <a:rPr lang="en-US" altLang="zh-CN" sz="1800">
                        <a:latin typeface="Cambria Math" panose="02040503050406030204" pitchFamily="18" charset="0"/>
                      </a:rPr>
                      <m:t>=1+</m:t>
                    </m:r>
                    <m:func>
                      <m:funcPr>
                        <m:ctrlPr>
                          <a:rPr lang="zh-CN" altLang="zh-CN" sz="1800" i="1">
                            <a:latin typeface="Cambria Math" panose="02040503050406030204" pitchFamily="18" charset="0"/>
                          </a:rPr>
                        </m:ctrlPr>
                      </m:funcPr>
                      <m:fName>
                        <m:r>
                          <m:rPr>
                            <m:sty m:val="p"/>
                          </m:rPr>
                          <a:rPr lang="en-US" altLang="zh-CN" sz="1800">
                            <a:latin typeface="Cambria Math" panose="02040503050406030204" pitchFamily="18" charset="0"/>
                          </a:rPr>
                          <m:t>max</m:t>
                        </m:r>
                      </m:fName>
                      <m:e>
                        <m:d>
                          <m:dPr>
                            <m:ctrlPr>
                              <a:rPr lang="zh-CN" altLang="zh-CN" sz="1800" i="1">
                                <a:latin typeface="Cambria Math" panose="02040503050406030204" pitchFamily="18" charset="0"/>
                              </a:rPr>
                            </m:ctrlPr>
                          </m:dPr>
                          <m:e>
                            <m:r>
                              <a:rPr lang="en-US" altLang="zh-CN" sz="1800">
                                <a:latin typeface="Cambria Math" panose="02040503050406030204" pitchFamily="18" charset="0"/>
                              </a:rPr>
                              <m:t>1,1,3</m:t>
                            </m:r>
                          </m:e>
                        </m:d>
                      </m:e>
                    </m:func>
                    <m:r>
                      <a:rPr lang="en-US" altLang="zh-CN" sz="1800">
                        <a:latin typeface="Cambria Math" panose="02040503050406030204" pitchFamily="18" charset="0"/>
                      </a:rPr>
                      <m:t>=4</m:t>
                    </m:r>
                  </m:oMath>
                </a14:m>
                <a:r>
                  <a:rPr lang="zh-CN" altLang="zh-CN" sz="1800" dirty="0">
                    <a:latin typeface="隶书" panose="02010509060101010101" pitchFamily="49" charset="-122"/>
                    <a:ea typeface="隶书" panose="02010509060101010101" pitchFamily="49" charset="-122"/>
                  </a:rPr>
                  <a:t>。</a:t>
                </a:r>
              </a:p>
              <a:p>
                <a:pPr>
                  <a:lnSpc>
                    <a:spcPts val="22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640960" cy="3507876"/>
              </a:xfrm>
              <a:blipFill>
                <a:blip r:embed="rId2"/>
                <a:stretch>
                  <a:fillRect t="-522"/>
                </a:stretch>
              </a:blipFill>
            </p:spPr>
            <p:txBody>
              <a:bodyPr/>
              <a:lstStyle/>
              <a:p>
                <a:r>
                  <a:rPr lang="zh-CN" altLang="en-US">
                    <a:noFill/>
                  </a:rPr>
                  <a:t> </a:t>
                </a:r>
              </a:p>
            </p:txBody>
          </p:sp>
        </mc:Fallback>
      </mc:AlternateContent>
      <p:sp>
        <p:nvSpPr>
          <p:cNvPr id="4" name="文本框 3"/>
          <p:cNvSpPr txBox="1"/>
          <p:nvPr/>
        </p:nvSpPr>
        <p:spPr>
          <a:xfrm>
            <a:off x="395536" y="4155926"/>
            <a:ext cx="5688632" cy="369332"/>
          </a:xfrm>
          <a:prstGeom prst="rect">
            <a:avLst/>
          </a:prstGeom>
          <a:noFill/>
        </p:spPr>
        <p:txBody>
          <a:bodyPr wrap="square" rtlCol="0">
            <a:spAutoFit/>
          </a:bodyPr>
          <a:lstStyle/>
          <a:p>
            <a:r>
              <a:rPr lang="zh-CN" altLang="en-US" dirty="0">
                <a:solidFill>
                  <a:srgbClr val="FF0000"/>
                </a:solidFill>
                <a:latin typeface="华文楷体" panose="02010600040101010101" pitchFamily="2" charset="-122"/>
                <a:ea typeface="华文楷体" panose="02010600040101010101" pitchFamily="2" charset="-122"/>
                <a:hlinkClick r:id="rId3" action="ppaction://hlinkfile"/>
              </a:rPr>
              <a:t>计算广义表深度算法链接</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计算广义表深度示例</a:t>
            </a:r>
          </a:p>
        </p:txBody>
      </p:sp>
    </p:spTree>
    <p:extLst>
      <p:ext uri="{BB962C8B-B14F-4D97-AF65-F5344CB8AC3E}">
        <p14:creationId xmlns:p14="http://schemas.microsoft.com/office/powerpoint/2010/main" val="661198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1000"/>
                                        <p:tgtEl>
                                          <p:spTgt spid="4"/>
                                        </p:tgtEl>
                                      </p:cBhvr>
                                    </p:animEffect>
                                    <p:anim calcmode="lin" valueType="num">
                                      <p:cBhvr>
                                        <p:cTn id="78" dur="1000" fill="hold"/>
                                        <p:tgtEl>
                                          <p:spTgt spid="4"/>
                                        </p:tgtEl>
                                        <p:attrNameLst>
                                          <p:attrName>ppt_x</p:attrName>
                                        </p:attrNameLst>
                                      </p:cBhvr>
                                      <p:tavLst>
                                        <p:tav tm="0">
                                          <p:val>
                                            <p:strVal val="#ppt_x"/>
                                          </p:val>
                                        </p:tav>
                                        <p:tav tm="100000">
                                          <p:val>
                                            <p:strVal val="#ppt_x"/>
                                          </p:val>
                                        </p:tav>
                                      </p:tavLst>
                                    </p:anim>
                                    <p:anim calcmode="lin" valueType="num">
                                      <p:cBhvr>
                                        <p:cTn id="7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7812033" cy="499514"/>
          </a:xfrm>
        </p:spPr>
        <p:txBody>
          <a:bodyPr/>
          <a:lstStyle/>
          <a:p>
            <a:pPr marL="0" indent="0">
              <a:lnSpc>
                <a:spcPts val="23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复制广义表的递归定义如下：</a:t>
            </a:r>
          </a:p>
          <a:p>
            <a:pPr marL="0" indent="0">
              <a:buNone/>
            </a:pPr>
            <a:endParaRPr lang="zh-CN" altLang="en-US" dirty="0"/>
          </a:p>
        </p:txBody>
      </p:sp>
      <p:sp>
        <p:nvSpPr>
          <p:cNvPr id="4" name="文本框 3"/>
          <p:cNvSpPr txBox="1"/>
          <p:nvPr/>
        </p:nvSpPr>
        <p:spPr>
          <a:xfrm>
            <a:off x="179512" y="1707654"/>
            <a:ext cx="8424936" cy="2736304"/>
          </a:xfrm>
          <a:prstGeom prst="rect">
            <a:avLst/>
          </a:prstGeom>
          <a:noFill/>
        </p:spPr>
        <p:txBody>
          <a:bodyPr wrap="square" rtlCol="0">
            <a:spAutoFit/>
          </a:bodyPr>
          <a:lstStyle/>
          <a:p>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179512" y="1635646"/>
                <a:ext cx="8568952" cy="1961691"/>
              </a:xfrm>
              <a:prstGeom prst="rect">
                <a:avLst/>
              </a:prstGeom>
              <a:noFill/>
              <a:scene3d>
                <a:camera prst="orthographicFront"/>
                <a:lightRig rig="threePt" dir="t"/>
              </a:scene3d>
              <a:sp3d>
                <a:bevelT/>
              </a:sp3d>
            </p:spPr>
            <p:txBody>
              <a:bodyPr wrap="square" rtlCol="0">
                <a:spAutoFit/>
                <a:sp3d extrusionH="57150">
                  <a:bevelT w="38100" h="38100" prst="relaxedInset"/>
                </a:sp3d>
              </a:bodyPr>
              <a:lstStyle/>
              <a:p>
                <a:pPr/>
                <a14:m>
                  <m:oMathPara xmlns:m="http://schemas.openxmlformats.org/officeDocument/2006/math">
                    <m:oMathParaPr>
                      <m:jc m:val="centerGroup"/>
                    </m:oMathParaPr>
                    <m:oMath xmlns:m="http://schemas.openxmlformats.org/officeDocument/2006/math">
                      <m:r>
                        <m:rPr>
                          <m:sty m:val="p"/>
                        </m:rPr>
                        <a:rPr lang="es-ES" altLang="zh-CN" sz="1400">
                          <a:latin typeface="Cambria Math" panose="02040503050406030204" pitchFamily="18" charset="0"/>
                        </a:rPr>
                        <m:t>Copy</m:t>
                      </m:r>
                      <m:d>
                        <m:dPr>
                          <m:ctrlPr>
                            <a:rPr lang="zh-CN" altLang="zh-CN" sz="1400" i="1">
                              <a:latin typeface="Cambria Math" panose="02040503050406030204" pitchFamily="18" charset="0"/>
                            </a:rPr>
                          </m:ctrlPr>
                        </m:dPr>
                        <m:e>
                          <m:r>
                            <m:rPr>
                              <m:sty m:val="p"/>
                            </m:rPr>
                            <a:rPr lang="es-ES" altLang="zh-CN" sz="1400">
                              <a:latin typeface="Cambria Math" panose="02040503050406030204" pitchFamily="18" charset="0"/>
                            </a:rPr>
                            <m:t>bs</m:t>
                          </m:r>
                          <m:r>
                            <a:rPr lang="es-ES" altLang="zh-CN" sz="1400">
                              <a:latin typeface="Cambria Math" panose="02040503050406030204" pitchFamily="18" charset="0"/>
                            </a:rPr>
                            <m:t>,</m:t>
                          </m:r>
                          <m:r>
                            <m:rPr>
                              <m:sty m:val="p"/>
                            </m:rPr>
                            <a:rPr lang="es-ES" altLang="zh-CN" sz="1400">
                              <a:latin typeface="Cambria Math" panose="02040503050406030204" pitchFamily="18" charset="0"/>
                            </a:rPr>
                            <m:t>bt</m:t>
                          </m:r>
                        </m:e>
                      </m:d>
                      <m:r>
                        <a:rPr lang="es-ES" altLang="zh-CN" sz="1400" i="1">
                          <a:latin typeface="Cambria Math" panose="02040503050406030204" pitchFamily="18" charset="0"/>
                        </a:rPr>
                        <m:t>=</m:t>
                      </m:r>
                      <m:d>
                        <m:dPr>
                          <m:begChr m:val="{"/>
                          <m:endChr m:val=""/>
                          <m:ctrlPr>
                            <a:rPr lang="zh-CN" altLang="zh-CN" sz="1400" i="1">
                              <a:latin typeface="Cambria Math" panose="02040503050406030204" pitchFamily="18" charset="0"/>
                            </a:rPr>
                          </m:ctrlPr>
                        </m:dPr>
                        <m:e>
                          <m:eqArr>
                            <m:eqArrPr>
                              <m:ctrlPr>
                                <a:rPr lang="zh-CN" altLang="zh-CN" sz="1400" i="1">
                                  <a:latin typeface="Cambria Math" panose="02040503050406030204" pitchFamily="18" charset="0"/>
                                </a:rPr>
                              </m:ctrlPr>
                            </m:eqArrPr>
                            <m:e>
                              <m:r>
                                <m:rPr>
                                  <m:sty m:val="p"/>
                                </m:rPr>
                                <a:rPr lang="en-US" altLang="zh-CN" sz="1400">
                                  <a:latin typeface="Cambria Math" panose="02040503050406030204" pitchFamily="18" charset="0"/>
                                </a:rPr>
                                <m:t>bt</m:t>
                              </m:r>
                              <m:r>
                                <a:rPr lang="en-US" altLang="zh-CN" sz="1400">
                                  <a:latin typeface="Cambria Math" panose="02040503050406030204" pitchFamily="18" charset="0"/>
                                </a:rPr>
                                <m:t>=</m:t>
                              </m:r>
                              <m:r>
                                <m:rPr>
                                  <m:sty m:val="p"/>
                                </m:rPr>
                                <a:rPr lang="en-US" altLang="zh-CN" sz="1400">
                                  <a:latin typeface="Cambria Math" panose="02040503050406030204" pitchFamily="18" charset="0"/>
                                </a:rPr>
                                <m:t>NULL</m:t>
                              </m:r>
                              <m:r>
                                <a:rPr lang="en-US" altLang="zh-CN" sz="1400">
                                  <a:latin typeface="Cambria Math" panose="02040503050406030204" pitchFamily="18" charset="0"/>
                                </a:rPr>
                                <m:t>                                                                                                                        </m:t>
                              </m:r>
                              <m:r>
                                <m:rPr>
                                  <m:sty m:val="p"/>
                                </m:rPr>
                                <a:rPr lang="en-US" altLang="zh-CN" sz="1400">
                                  <a:latin typeface="Cambria Math" panose="02040503050406030204" pitchFamily="18" charset="0"/>
                                </a:rPr>
                                <m:t>bs</m:t>
                              </m:r>
                              <m:r>
                                <a:rPr lang="en-US" altLang="zh-CN" sz="1400">
                                  <a:latin typeface="Cambria Math" panose="02040503050406030204" pitchFamily="18" charset="0"/>
                                </a:rPr>
                                <m:t>=</m:t>
                              </m:r>
                              <m:r>
                                <m:rPr>
                                  <m:sty m:val="p"/>
                                </m:rPr>
                                <a:rPr lang="en-US" altLang="zh-CN" sz="1400">
                                  <a:latin typeface="Cambria Math" panose="02040503050406030204" pitchFamily="18" charset="0"/>
                                </a:rPr>
                                <m:t>NULL</m:t>
                              </m:r>
                            </m:e>
                            <m:e>
                              <m:d>
                                <m:dPr>
                                  <m:begChr m:val="{"/>
                                  <m:endChr m:val=""/>
                                  <m:ctrlPr>
                                    <a:rPr lang="zh-CN" altLang="zh-CN" sz="1400" i="1" smtClean="0">
                                      <a:effectLst>
                                        <a:outerShdw blurRad="50800" dist="50800" dir="5400000" algn="ctr" rotWithShape="0">
                                          <a:schemeClr val="tx1">
                                            <a:lumMod val="50000"/>
                                            <a:lumOff val="50000"/>
                                          </a:schemeClr>
                                        </a:outerShdw>
                                      </a:effectLst>
                                      <a:latin typeface="Cambria Math" panose="02040503050406030204" pitchFamily="18" charset="0"/>
                                    </a:rPr>
                                  </m:ctrlPr>
                                </m:dPr>
                                <m:e>
                                  <m:eqArr>
                                    <m:eqArrPr>
                                      <m:ctrlPr>
                                        <a:rPr lang="zh-CN" altLang="zh-CN" sz="1400" i="1">
                                          <a:effectLst>
                                            <a:outerShdw blurRad="50800" dist="50800" dir="5400000" algn="ctr" rotWithShape="0">
                                              <a:schemeClr val="tx1">
                                                <a:lumMod val="50000"/>
                                                <a:lumOff val="50000"/>
                                              </a:schemeClr>
                                            </a:outerShdw>
                                          </a:effectLst>
                                          <a:latin typeface="Cambria Math" panose="02040503050406030204" pitchFamily="18" charset="0"/>
                                        </a:rPr>
                                      </m:ctrlPr>
                                    </m:eqArrPr>
                                    <m:e>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bt</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new</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 </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BLNode</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                                                                                                     </m:t>
                                      </m:r>
                                    </m:e>
                                    <m:e>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bt</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tag</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bs</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tag</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                                                                                                </m:t>
                                      </m:r>
                                    </m:e>
                                    <m:e>
                                      <m:d>
                                        <m:dPr>
                                          <m:begChr m:val="{"/>
                                          <m:endChr m:val=""/>
                                          <m:ctrlPr>
                                            <a:rPr lang="zh-CN" altLang="zh-CN" sz="1400" i="1">
                                              <a:effectLst>
                                                <a:outerShdw blurRad="50800" dist="50800" dir="5400000" algn="ctr" rotWithShape="0">
                                                  <a:schemeClr val="tx1">
                                                    <a:lumMod val="50000"/>
                                                    <a:lumOff val="50000"/>
                                                  </a:schemeClr>
                                                </a:outerShdw>
                                              </a:effectLst>
                                              <a:latin typeface="Cambria Math" panose="02040503050406030204" pitchFamily="18" charset="0"/>
                                            </a:rPr>
                                          </m:ctrlPr>
                                        </m:dPr>
                                        <m:e>
                                          <m:eqArr>
                                            <m:eqArrPr>
                                              <m:ctrlPr>
                                                <a:rPr lang="zh-CN" altLang="zh-CN" sz="1400" i="1">
                                                  <a:effectLst>
                                                    <a:outerShdw blurRad="50800" dist="50800" dir="5400000" algn="ctr" rotWithShape="0">
                                                      <a:schemeClr val="tx1">
                                                        <a:lumMod val="50000"/>
                                                        <a:lumOff val="50000"/>
                                                      </a:schemeClr>
                                                    </a:outerShdw>
                                                  </a:effectLst>
                                                  <a:latin typeface="Cambria Math" panose="02040503050406030204" pitchFamily="18" charset="0"/>
                                                </a:rPr>
                                              </m:ctrlPr>
                                            </m:eqArrPr>
                                            <m:e>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bt</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value</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atom</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bs</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value</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atom</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                            </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bs</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tag</m:t>
                                              </m:r>
                                              <m:r>
                                                <a:rPr lang="en-US" altLang="zh-CN" sz="1400">
                                                  <a:effectLst>
                                                    <a:outerShdw blurRad="50800" dist="50800" dir="5400000" algn="ctr" rotWithShape="0">
                                                      <a:schemeClr val="tx1">
                                                        <a:lumMod val="50000"/>
                                                        <a:lumOff val="50000"/>
                                                      </a:schemeClr>
                                                    </a:outerShdw>
                                                  </a:effectLst>
                                                  <a:latin typeface="Cambria Math" panose="02040503050406030204" pitchFamily="18" charset="0"/>
                                                </a:rPr>
                                                <m:t>=0 </m:t>
                                              </m:r>
                                            </m:e>
                                            <m:e>
                                              <m:d>
                                                <m:dPr>
                                                  <m:begChr m:val="{"/>
                                                  <m:endChr m:val=""/>
                                                  <m:ctrlPr>
                                                    <a:rPr lang="zh-CN" altLang="zh-CN" sz="1400" i="1" smtClean="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ctrlPr>
                                                </m:dPr>
                                                <m:e>
                                                  <m:eqArr>
                                                    <m:eqArrPr>
                                                      <m:ctrlPr>
                                                        <a:rPr lang="zh-CN"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ctrlPr>
                                                    </m:eqArrPr>
                                                    <m:e>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copy</m:t>
                                                      </m:r>
                                                      <m:d>
                                                        <m:dPr>
                                                          <m:ctrlPr>
                                                            <a:rPr lang="zh-CN"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ctrlPr>
                                                        </m:dPr>
                                                        <m:e>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bs</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value</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sublist</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bt</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value</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sublist</m:t>
                                                          </m:r>
                                                        </m:e>
                                                      </m:d>
                                                      <m:r>
                                                        <a:rPr lang="en-US"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              </m:t>
                                                      </m:r>
                                                    </m:e>
                                                    <m:e>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copy</m:t>
                                                      </m:r>
                                                      <m:d>
                                                        <m:dPr>
                                                          <m:ctrlPr>
                                                            <a:rPr lang="zh-CN"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ctrlPr>
                                                        </m:dPr>
                                                        <m:e>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bs</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link</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bt</m:t>
                                                          </m:r>
                                                          <m: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link</m:t>
                                                          </m:r>
                                                        </m:e>
                                                      </m:d>
                                                      <m:r>
                                                        <a:rPr lang="en-US"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                                                 </m:t>
                                                      </m:r>
                                                    </m:e>
                                                  </m:eqArr>
                                                  <m:r>
                                                    <m:rPr>
                                                      <m:sty m:val="p"/>
                                                    </m:rPr>
                                                    <a:rPr lang="en-US" altLang="zh-CN" sz="140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b</m:t>
                                                  </m:r>
                                                  <m:r>
                                                    <m:rPr>
                                                      <m:sty m:val="p"/>
                                                    </m:rPr>
                                                    <a:rPr lang="en-US" altLang="zh-CN" sz="1400" i="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s</m:t>
                                                  </m:r>
                                                  <m:r>
                                                    <a:rPr lang="en-US" altLang="zh-CN" sz="1400" i="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n-US" altLang="zh-CN" sz="1400" i="0">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tag</m:t>
                                                  </m:r>
                                                  <m:r>
                                                    <a:rPr lang="en-US" altLang="zh-CN" sz="1400" i="1">
                                                      <a:solidFill>
                                                        <a:srgbClr val="0066FF"/>
                                                      </a:solidFill>
                                                      <a:effectLst>
                                                        <a:outerShdw blurRad="50800" dist="50800" dir="5400000" algn="ctr" rotWithShape="0">
                                                          <a:schemeClr val="tx1">
                                                            <a:lumMod val="50000"/>
                                                            <a:lumOff val="50000"/>
                                                          </a:schemeClr>
                                                        </a:outerShdw>
                                                      </a:effectLst>
                                                      <a:latin typeface="Cambria Math" panose="02040503050406030204" pitchFamily="18" charset="0"/>
                                                    </a:rPr>
                                                    <m:t>=1 </m:t>
                                                  </m:r>
                                                </m:e>
                                              </m:d>
                                              <m:r>
                                                <a:rPr lang="en-US" altLang="zh-CN" sz="1400" i="1">
                                                  <a:effectLst>
                                                    <a:outerShdw blurRad="50800" dist="50800" dir="5400000" algn="ctr" rotWithShape="0">
                                                      <a:schemeClr val="tx1">
                                                        <a:lumMod val="50000"/>
                                                        <a:lumOff val="50000"/>
                                                      </a:schemeClr>
                                                    </a:outerShdw>
                                                  </a:effectLst>
                                                  <a:latin typeface="Cambria Math" panose="02040503050406030204" pitchFamily="18" charset="0"/>
                                                </a:rPr>
                                                <m:t> </m:t>
                                              </m:r>
                                            </m:e>
                                          </m:eqArr>
                                        </m:e>
                                      </m:d>
                                    </m:e>
                                  </m:eqAr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 </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bs</m:t>
                                  </m:r>
                                  <m: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m:t>
                                  </m:r>
                                  <m:r>
                                    <m:rPr>
                                      <m:sty m:val="p"/>
                                    </m:rPr>
                                    <a:rPr lang="es-ES" altLang="zh-CN" sz="1400">
                                      <a:effectLst>
                                        <a:outerShdw blurRad="50800" dist="50800" dir="5400000" algn="ctr" rotWithShape="0">
                                          <a:schemeClr val="tx1">
                                            <a:lumMod val="50000"/>
                                            <a:lumOff val="50000"/>
                                          </a:schemeClr>
                                        </a:outerShdw>
                                      </a:effectLst>
                                      <a:latin typeface="Cambria Math" panose="02040503050406030204" pitchFamily="18" charset="0"/>
                                    </a:rPr>
                                    <m:t>NULL</m:t>
                                  </m:r>
                                </m:e>
                              </m:d>
                            </m:e>
                            <m:e>
                              <m:r>
                                <m:rPr>
                                  <m:sty m:val="p"/>
                                </m:rPr>
                                <a:rPr lang="en-US" altLang="zh-CN" sz="1400">
                                  <a:latin typeface="Cambria Math" panose="02040503050406030204" pitchFamily="18" charset="0"/>
                                </a:rPr>
                                <m:t>return</m:t>
                              </m:r>
                              <m:r>
                                <a:rPr lang="en-US" altLang="zh-CN" sz="1400">
                                  <a:latin typeface="Cambria Math" panose="02040503050406030204" pitchFamily="18" charset="0"/>
                                </a:rPr>
                                <m:t> </m:t>
                              </m:r>
                              <m:r>
                                <m:rPr>
                                  <m:sty m:val="p"/>
                                </m:rPr>
                                <a:rPr lang="en-US" altLang="zh-CN" sz="1400">
                                  <a:latin typeface="Cambria Math" panose="02040503050406030204" pitchFamily="18" charset="0"/>
                                </a:rPr>
                                <m:t>bt</m:t>
                              </m:r>
                              <m:r>
                                <a:rPr lang="en-US" altLang="zh-CN" sz="1400">
                                  <a:latin typeface="Cambria Math" panose="02040503050406030204" pitchFamily="18" charset="0"/>
                                </a:rPr>
                                <m:t>                                                                                                                                                     </m:t>
                              </m:r>
                            </m:e>
                          </m:eqArr>
                        </m:e>
                      </m:d>
                    </m:oMath>
                  </m:oMathPara>
                </a14:m>
                <a:endParaRPr lang="zh-CN" altLang="zh-CN" sz="1400" dirty="0"/>
              </a:p>
              <a:p>
                <a:endParaRPr lang="zh-CN" altLang="en-US" sz="1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79512" y="1635646"/>
                <a:ext cx="8568952" cy="1961691"/>
              </a:xfrm>
              <a:prstGeom prst="rect">
                <a:avLst/>
              </a:prstGeom>
              <a:blipFill>
                <a:blip r:embed="rId2"/>
                <a:stretch>
                  <a:fillRect/>
                </a:stretch>
              </a:blipFill>
            </p:spPr>
            <p:txBody>
              <a:bodyPr/>
              <a:lstStyle/>
              <a:p>
                <a:r>
                  <a:rPr lang="zh-CN" altLang="en-US">
                    <a:noFill/>
                  </a:rPr>
                  <a:t> </a:t>
                </a:r>
              </a:p>
            </p:txBody>
          </p:sp>
        </mc:Fallback>
      </mc:AlternateContent>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复制广义表</a:t>
            </a:r>
          </a:p>
        </p:txBody>
      </p:sp>
    </p:spTree>
    <p:extLst>
      <p:ext uri="{BB962C8B-B14F-4D97-AF65-F5344CB8AC3E}">
        <p14:creationId xmlns:p14="http://schemas.microsoft.com/office/powerpoint/2010/main" val="29028663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87574"/>
            <a:ext cx="5040560" cy="3507876"/>
          </a:xfrm>
        </p:spPr>
        <p:txBody>
          <a:bodyPr/>
          <a:lstStyle/>
          <a:p>
            <a:pPr marL="0" indent="0">
              <a:lnSpc>
                <a:spcPts val="2000"/>
              </a:lnSpc>
              <a:spcBef>
                <a:spcPts val="0"/>
              </a:spcBef>
              <a:buNone/>
            </a:pP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Blist</a:t>
            </a:r>
            <a:r>
              <a:rPr lang="en-US" altLang="zh-CN" sz="1600" dirty="0">
                <a:latin typeface="Times New Roman" panose="02020603050405020304" pitchFamily="18" charset="0"/>
                <a:cs typeface="Times New Roman" panose="02020603050405020304" pitchFamily="18" charset="0"/>
              </a:rPr>
              <a:t>::Copy (</a:t>
            </a: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bs,BLNode</a:t>
            </a:r>
            <a:r>
              <a:rPr lang="en-US" altLang="zh-CN" sz="1600" dirty="0">
                <a:latin typeface="Times New Roman" panose="02020603050405020304" pitchFamily="18" charset="0"/>
                <a:cs typeface="Times New Roman" panose="02020603050405020304" pitchFamily="18" charset="0"/>
              </a:rPr>
              <a:t> *&amp;</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if(bs==NULL)   </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=NULL;</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else{</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=new </a:t>
            </a:r>
            <a:r>
              <a:rPr lang="en-US" altLang="zh-CN" sz="1600" dirty="0" err="1">
                <a:latin typeface="Times New Roman" panose="02020603050405020304" pitchFamily="18" charset="0"/>
                <a:cs typeface="Times New Roman" panose="02020603050405020304" pitchFamily="18" charset="0"/>
              </a:rPr>
              <a:t>BLNode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-&gt;tag=</a:t>
            </a:r>
            <a:r>
              <a:rPr lang="en-US" altLang="zh-CN" sz="1600" dirty="0" err="1">
                <a:latin typeface="Times New Roman" panose="02020603050405020304" pitchFamily="18" charset="0"/>
                <a:cs typeface="Times New Roman" panose="02020603050405020304" pitchFamily="18" charset="0"/>
              </a:rPr>
              <a:t>bs</a:t>
            </a:r>
            <a:r>
              <a:rPr lang="en-US" altLang="zh-CN" sz="1600" dirty="0">
                <a:latin typeface="Times New Roman" panose="02020603050405020304" pitchFamily="18" charset="0"/>
                <a:cs typeface="Times New Roman" panose="02020603050405020304" pitchFamily="18" charset="0"/>
              </a:rPr>
              <a:t>-&gt;tag;</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if(</a:t>
            </a:r>
            <a:r>
              <a:rPr lang="en-US" altLang="zh-CN" sz="1600" dirty="0" err="1">
                <a:latin typeface="Times New Roman" panose="02020603050405020304" pitchFamily="18" charset="0"/>
                <a:cs typeface="Times New Roman" panose="02020603050405020304" pitchFamily="18" charset="0"/>
              </a:rPr>
              <a:t>bs</a:t>
            </a:r>
            <a:r>
              <a:rPr lang="en-US" altLang="zh-CN" sz="1600" dirty="0">
                <a:latin typeface="Times New Roman" panose="02020603050405020304" pitchFamily="18" charset="0"/>
                <a:cs typeface="Times New Roman" panose="02020603050405020304" pitchFamily="18" charset="0"/>
              </a:rPr>
              <a:t>-&gt;tag==0)                  //</a:t>
            </a:r>
            <a:r>
              <a:rPr lang="zh-CN" altLang="zh-CN" sz="1600" dirty="0">
                <a:latin typeface="Times New Roman" panose="02020603050405020304" pitchFamily="18" charset="0"/>
                <a:cs typeface="Times New Roman" panose="02020603050405020304" pitchFamily="18" charset="0"/>
              </a:rPr>
              <a:t>复制单原子</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value.atom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bs</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value.atom</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else{</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copy(</a:t>
            </a:r>
            <a:r>
              <a:rPr lang="en-US" altLang="zh-CN" sz="1600" dirty="0" err="1">
                <a:latin typeface="Times New Roman" panose="02020603050405020304" pitchFamily="18" charset="0"/>
                <a:cs typeface="Times New Roman" panose="02020603050405020304" pitchFamily="18" charset="0"/>
              </a:rPr>
              <a:t>bs</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value.sublist,bt</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value.sublist</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copy(</a:t>
            </a:r>
            <a:r>
              <a:rPr lang="en-US" altLang="zh-CN" sz="1600" dirty="0" err="1">
                <a:latin typeface="Times New Roman" panose="02020603050405020304" pitchFamily="18" charset="0"/>
                <a:cs typeface="Times New Roman" panose="02020603050405020304" pitchFamily="18" charset="0"/>
              </a:rPr>
              <a:t>bs</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link,bt</a:t>
            </a:r>
            <a:r>
              <a:rPr lang="en-US" altLang="zh-CN" sz="1600" dirty="0">
                <a:latin typeface="Times New Roman" panose="02020603050405020304" pitchFamily="18" charset="0"/>
                <a:cs typeface="Times New Roman" panose="02020603050405020304" pitchFamily="18" charset="0"/>
              </a:rPr>
              <a:t>-&gt;link);</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  </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return </a:t>
            </a:r>
            <a:r>
              <a:rPr lang="en-US" altLang="zh-CN" sz="1600" dirty="0" err="1">
                <a:latin typeface="Times New Roman" panose="02020603050405020304" pitchFamily="18" charset="0"/>
                <a:cs typeface="Times New Roman" panose="02020603050405020304" pitchFamily="18" charset="0"/>
              </a:rPr>
              <a:t>bt</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4860032" y="970883"/>
            <a:ext cx="3960440" cy="2344231"/>
          </a:xfrm>
          <a:prstGeom prst="rect">
            <a:avLst/>
          </a:prstGeom>
          <a:noFill/>
        </p:spPr>
        <p:txBody>
          <a:bodyPr wrap="square" rtlCol="0">
            <a:spAutoFit/>
          </a:bodyPr>
          <a:lstStyle/>
          <a:p>
            <a:pPr>
              <a:lnSpc>
                <a:spcPts val="2200"/>
              </a:lnSpc>
              <a:spcBef>
                <a:spcPts val="0"/>
              </a:spcBef>
            </a:pP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Blist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BListCopy</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Blist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bl</a:t>
            </a:r>
            <a:r>
              <a:rPr lang="en-US" altLang="zh-CN" dirty="0">
                <a:latin typeface="Times New Roman" panose="02020603050405020304" pitchFamily="18" charset="0"/>
                <a:cs typeface="Times New Roman" panose="02020603050405020304" pitchFamily="18" charset="0"/>
              </a:rPr>
              <a:t>){</a:t>
            </a:r>
          </a:p>
          <a:p>
            <a:pPr>
              <a:lnSpc>
                <a:spcPts val="22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zh-CN" sz="1600" dirty="0">
                <a:latin typeface="Times New Roman" panose="02020603050405020304" pitchFamily="18" charset="0"/>
                <a:ea typeface="黑体" pitchFamily="49" charset="-122"/>
                <a:cs typeface="Times New Roman" panose="02020603050405020304" pitchFamily="18" charset="0"/>
              </a:rPr>
              <a:t>复制广义表给私有成员</a:t>
            </a:r>
          </a:p>
          <a:p>
            <a:pPr>
              <a:lnSpc>
                <a:spcPts val="22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BLNode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bs</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bl.bhead</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BLNode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bt</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bhead</a:t>
            </a:r>
            <a:r>
              <a:rPr lang="en-US" altLang="zh-CN" dirty="0">
                <a:latin typeface="Times New Roman" panose="02020603050405020304" pitchFamily="18" charset="0"/>
                <a:cs typeface="Times New Roman" panose="02020603050405020304" pitchFamily="18" charset="0"/>
              </a:rPr>
              <a:t>=Copy(</a:t>
            </a:r>
            <a:r>
              <a:rPr lang="en-US" altLang="zh-CN" dirty="0" err="1">
                <a:latin typeface="Times New Roman" panose="02020603050405020304" pitchFamily="18" charset="0"/>
                <a:cs typeface="Times New Roman" panose="02020603050405020304" pitchFamily="18" charset="0"/>
              </a:rPr>
              <a:t>bs,bt</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20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200"/>
              </a:lnSpc>
              <a:spcBef>
                <a:spcPts val="0"/>
              </a:spcBef>
            </a:pPr>
            <a:endParaRPr lang="zh-CN" altLang="en-US" dirty="0">
              <a:latin typeface="Times New Roman" panose="02020603050405020304" pitchFamily="18" charset="0"/>
              <a:cs typeface="Times New Roman" panose="02020603050405020304" pitchFamily="18" charset="0"/>
            </a:endParaRPr>
          </a:p>
          <a:p>
            <a:endParaRPr lang="zh-CN" altLang="en-US" dirty="0"/>
          </a:p>
        </p:txBody>
      </p:sp>
      <p:cxnSp>
        <p:nvCxnSpPr>
          <p:cNvPr id="6" name="直接连接符 5"/>
          <p:cNvCxnSpPr/>
          <p:nvPr/>
        </p:nvCxnSpPr>
        <p:spPr>
          <a:xfrm flipH="1" flipV="1">
            <a:off x="4788024" y="0"/>
            <a:ext cx="72008" cy="514350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复制广义表算法</a:t>
            </a:r>
          </a:p>
        </p:txBody>
      </p:sp>
    </p:spTree>
    <p:extLst>
      <p:ext uri="{BB962C8B-B14F-4D97-AF65-F5344CB8AC3E}">
        <p14:creationId xmlns:p14="http://schemas.microsoft.com/office/powerpoint/2010/main" val="36754176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0" end="0"/>
                                            </p:txEl>
                                          </p:spTgt>
                                        </p:tgtEl>
                                        <p:attrNameLst>
                                          <p:attrName>style.visibility</p:attrName>
                                        </p:attrNameLst>
                                      </p:cBhvr>
                                      <p:to>
                                        <p:strVal val="visible"/>
                                      </p:to>
                                    </p:set>
                                    <p:animEffect transition="in" filter="fade">
                                      <p:cBhvr>
                                        <p:cTn id="105" dur="1000"/>
                                        <p:tgtEl>
                                          <p:spTgt spid="4">
                                            <p:txEl>
                                              <p:pRg st="0" end="0"/>
                                            </p:txEl>
                                          </p:spTgt>
                                        </p:tgtEl>
                                      </p:cBhvr>
                                    </p:animEffect>
                                    <p:anim calcmode="lin" valueType="num">
                                      <p:cBhvr>
                                        <p:cTn id="10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1" end="1"/>
                                            </p:txEl>
                                          </p:spTgt>
                                        </p:tgtEl>
                                        <p:attrNameLst>
                                          <p:attrName>style.visibility</p:attrName>
                                        </p:attrNameLst>
                                      </p:cBhvr>
                                      <p:to>
                                        <p:strVal val="visible"/>
                                      </p:to>
                                    </p:set>
                                    <p:animEffect transition="in" filter="fade">
                                      <p:cBhvr>
                                        <p:cTn id="110" dur="1000"/>
                                        <p:tgtEl>
                                          <p:spTgt spid="4">
                                            <p:txEl>
                                              <p:pRg st="1" end="1"/>
                                            </p:txEl>
                                          </p:spTgt>
                                        </p:tgtEl>
                                      </p:cBhvr>
                                    </p:animEffect>
                                    <p:anim calcmode="lin" valueType="num">
                                      <p:cBhvr>
                                        <p:cTn id="11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
                                            <p:txEl>
                                              <p:pRg st="2" end="2"/>
                                            </p:txEl>
                                          </p:spTgt>
                                        </p:tgtEl>
                                        <p:attrNameLst>
                                          <p:attrName>style.visibility</p:attrName>
                                        </p:attrNameLst>
                                      </p:cBhvr>
                                      <p:to>
                                        <p:strVal val="visible"/>
                                      </p:to>
                                    </p:set>
                                    <p:animEffect transition="in" filter="fade">
                                      <p:cBhvr>
                                        <p:cTn id="117" dur="1000"/>
                                        <p:tgtEl>
                                          <p:spTgt spid="4">
                                            <p:txEl>
                                              <p:pRg st="2" end="2"/>
                                            </p:txEl>
                                          </p:spTgt>
                                        </p:tgtEl>
                                      </p:cBhvr>
                                    </p:animEffect>
                                    <p:anim calcmode="lin" valueType="num">
                                      <p:cBhvr>
                                        <p:cTn id="1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1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nodeType="clickEffect">
                                  <p:stCondLst>
                                    <p:cond delay="0"/>
                                  </p:stCondLst>
                                  <p:childTnLst>
                                    <p:set>
                                      <p:cBhvr>
                                        <p:cTn id="123" dur="1" fill="hold">
                                          <p:stCondLst>
                                            <p:cond delay="0"/>
                                          </p:stCondLst>
                                        </p:cTn>
                                        <p:tgtEl>
                                          <p:spTgt spid="4">
                                            <p:txEl>
                                              <p:pRg st="3" end="3"/>
                                            </p:txEl>
                                          </p:spTgt>
                                        </p:tgtEl>
                                        <p:attrNameLst>
                                          <p:attrName>style.visibility</p:attrName>
                                        </p:attrNameLst>
                                      </p:cBhvr>
                                      <p:to>
                                        <p:strVal val="visible"/>
                                      </p:to>
                                    </p:set>
                                    <p:animEffect transition="in" filter="fade">
                                      <p:cBhvr>
                                        <p:cTn id="124" dur="1000"/>
                                        <p:tgtEl>
                                          <p:spTgt spid="4">
                                            <p:txEl>
                                              <p:pRg st="3" end="3"/>
                                            </p:txEl>
                                          </p:spTgt>
                                        </p:tgtEl>
                                      </p:cBhvr>
                                    </p:animEffect>
                                    <p:anim calcmode="lin" valueType="num">
                                      <p:cBhvr>
                                        <p:cTn id="1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42" presetClass="entr" presetSubtype="0" fill="hold" nodeType="clickEffect">
                                  <p:stCondLst>
                                    <p:cond delay="0"/>
                                  </p:stCondLst>
                                  <p:childTnLst>
                                    <p:set>
                                      <p:cBhvr>
                                        <p:cTn id="130" dur="1" fill="hold">
                                          <p:stCondLst>
                                            <p:cond delay="0"/>
                                          </p:stCondLst>
                                        </p:cTn>
                                        <p:tgtEl>
                                          <p:spTgt spid="4">
                                            <p:txEl>
                                              <p:pRg st="4" end="4"/>
                                            </p:txEl>
                                          </p:spTgt>
                                        </p:tgtEl>
                                        <p:attrNameLst>
                                          <p:attrName>style.visibility</p:attrName>
                                        </p:attrNameLst>
                                      </p:cBhvr>
                                      <p:to>
                                        <p:strVal val="visible"/>
                                      </p:to>
                                    </p:set>
                                    <p:animEffect transition="in" filter="fade">
                                      <p:cBhvr>
                                        <p:cTn id="131" dur="1000"/>
                                        <p:tgtEl>
                                          <p:spTgt spid="4">
                                            <p:txEl>
                                              <p:pRg st="4" end="4"/>
                                            </p:txEl>
                                          </p:spTgt>
                                        </p:tgtEl>
                                      </p:cBhvr>
                                    </p:animEffect>
                                    <p:anim calcmode="lin" valueType="num">
                                      <p:cBhvr>
                                        <p:cTn id="1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3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4">
                                            <p:txEl>
                                              <p:pRg st="5" end="5"/>
                                            </p:txEl>
                                          </p:spTgt>
                                        </p:tgtEl>
                                        <p:attrNameLst>
                                          <p:attrName>style.visibility</p:attrName>
                                        </p:attrNameLst>
                                      </p:cBhvr>
                                      <p:to>
                                        <p:strVal val="visible"/>
                                      </p:to>
                                    </p:set>
                                    <p:animEffect transition="in" filter="fade">
                                      <p:cBhvr>
                                        <p:cTn id="136" dur="1000"/>
                                        <p:tgtEl>
                                          <p:spTgt spid="4">
                                            <p:txEl>
                                              <p:pRg st="5" end="5"/>
                                            </p:txEl>
                                          </p:spTgt>
                                        </p:tgtEl>
                                      </p:cBhvr>
                                    </p:animEffect>
                                    <p:anim calcmode="lin" valueType="num">
                                      <p:cBhvr>
                                        <p:cTn id="1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3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843558"/>
            <a:ext cx="8856984" cy="648072"/>
          </a:xfrm>
        </p:spPr>
        <p:txBody>
          <a:bodyPr/>
          <a:lstStyle/>
          <a:p>
            <a:pPr marL="0" indent="0" algn="just">
              <a:lnSpc>
                <a:spcPts val="20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800" dirty="0">
                <a:solidFill>
                  <a:srgbClr val="C00000"/>
                </a:solidFill>
                <a:latin typeface="Times New Roman" panose="02020603050405020304" pitchFamily="18" charset="0"/>
                <a:cs typeface="Times New Roman" panose="02020603050405020304" pitchFamily="18" charset="0"/>
              </a:rPr>
              <a:t>显示广义表的递归算法是先递归处理结点的元素，再递归处理结点的兄弟。</a:t>
            </a:r>
          </a:p>
        </p:txBody>
      </p:sp>
      <p:sp>
        <p:nvSpPr>
          <p:cNvPr id="4" name="文本框 3"/>
          <p:cNvSpPr txBox="1"/>
          <p:nvPr/>
        </p:nvSpPr>
        <p:spPr>
          <a:xfrm>
            <a:off x="179512" y="1491630"/>
            <a:ext cx="5832648" cy="3693319"/>
          </a:xfrm>
          <a:prstGeom prst="rect">
            <a:avLst/>
          </a:prstGeom>
          <a:noFill/>
        </p:spPr>
        <p:txBody>
          <a:bodyPr wrap="square" rtlCol="0">
            <a:spAutoFit/>
          </a:bodyPr>
          <a:lstStyle/>
          <a:p>
            <a:r>
              <a:rPr lang="en-US" altLang="zh-CN" dirty="0"/>
              <a:t>void </a:t>
            </a:r>
            <a:r>
              <a:rPr lang="en-US" altLang="zh-CN" dirty="0" err="1"/>
              <a:t>Blist</a:t>
            </a:r>
            <a:r>
              <a:rPr lang="en-US" altLang="zh-CN" dirty="0"/>
              <a:t>::Print(</a:t>
            </a:r>
            <a:r>
              <a:rPr lang="en-US" altLang="zh-CN" dirty="0" err="1"/>
              <a:t>BLNode</a:t>
            </a:r>
            <a:r>
              <a:rPr lang="en-US" altLang="zh-CN" dirty="0"/>
              <a:t> *</a:t>
            </a:r>
            <a:r>
              <a:rPr lang="en-US" altLang="zh-CN" dirty="0" err="1"/>
              <a:t>bl</a:t>
            </a:r>
            <a:r>
              <a:rPr lang="en-US" altLang="zh-CN" dirty="0"/>
              <a:t>){  //</a:t>
            </a:r>
            <a:r>
              <a:rPr lang="zh-CN" altLang="zh-CN" dirty="0"/>
              <a:t>递归显示</a:t>
            </a:r>
            <a:r>
              <a:rPr lang="en-US" altLang="zh-CN" dirty="0" err="1"/>
              <a:t>bl</a:t>
            </a:r>
            <a:r>
              <a:rPr lang="zh-CN" altLang="zh-CN" dirty="0"/>
              <a:t>所指的广义表</a:t>
            </a:r>
          </a:p>
          <a:p>
            <a:r>
              <a:rPr lang="en-US" altLang="zh-CN" dirty="0"/>
              <a:t>   if(</a:t>
            </a:r>
            <a:r>
              <a:rPr lang="en-US" altLang="zh-CN" dirty="0" err="1"/>
              <a:t>bl</a:t>
            </a:r>
            <a:r>
              <a:rPr lang="en-US" altLang="zh-CN" dirty="0"/>
              <a:t>){                             //</a:t>
            </a:r>
            <a:r>
              <a:rPr lang="zh-CN" altLang="zh-CN" dirty="0"/>
              <a:t>广义表不为空</a:t>
            </a:r>
          </a:p>
          <a:p>
            <a:r>
              <a:rPr lang="en-US" altLang="zh-CN" dirty="0"/>
              <a:t>     if(</a:t>
            </a:r>
            <a:r>
              <a:rPr lang="en-US" altLang="zh-CN" dirty="0" err="1"/>
              <a:t>bl</a:t>
            </a:r>
            <a:r>
              <a:rPr lang="en-US" altLang="zh-CN" dirty="0"/>
              <a:t>-&gt;tag==0)                    //</a:t>
            </a:r>
            <a:r>
              <a:rPr lang="zh-CN" altLang="zh-CN" dirty="0"/>
              <a:t>输出原子值</a:t>
            </a:r>
          </a:p>
          <a:p>
            <a:r>
              <a:rPr lang="en-US" altLang="zh-CN" dirty="0"/>
              <a:t>       </a:t>
            </a:r>
            <a:r>
              <a:rPr lang="en-US" altLang="zh-CN" dirty="0" err="1"/>
              <a:t>cout</a:t>
            </a:r>
            <a:r>
              <a:rPr lang="en-US" altLang="zh-CN" dirty="0"/>
              <a:t>&lt;&lt;</a:t>
            </a:r>
            <a:r>
              <a:rPr lang="en-US" altLang="zh-CN" dirty="0" err="1"/>
              <a:t>bl</a:t>
            </a:r>
            <a:r>
              <a:rPr lang="en-US" altLang="zh-CN" dirty="0"/>
              <a:t>-&gt;</a:t>
            </a:r>
            <a:r>
              <a:rPr lang="en-US" altLang="zh-CN" dirty="0" err="1"/>
              <a:t>value.atom</a:t>
            </a:r>
            <a:r>
              <a:rPr lang="en-US" altLang="zh-CN" dirty="0"/>
              <a:t>;</a:t>
            </a:r>
            <a:endParaRPr lang="zh-CN" altLang="zh-CN" dirty="0"/>
          </a:p>
          <a:p>
            <a:r>
              <a:rPr lang="en-US" altLang="zh-CN" dirty="0"/>
              <a:t>     else{                            //</a:t>
            </a:r>
            <a:r>
              <a:rPr lang="en-US" altLang="zh-CN" dirty="0" err="1"/>
              <a:t>bl</a:t>
            </a:r>
            <a:r>
              <a:rPr lang="zh-CN" altLang="zh-CN" dirty="0"/>
              <a:t>元素为子表</a:t>
            </a:r>
          </a:p>
          <a:p>
            <a:r>
              <a:rPr lang="en-US" altLang="zh-CN" dirty="0"/>
              <a:t>       </a:t>
            </a:r>
            <a:r>
              <a:rPr lang="en-US" altLang="zh-CN" dirty="0" err="1"/>
              <a:t>cout</a:t>
            </a:r>
            <a:r>
              <a:rPr lang="en-US" altLang="zh-CN" dirty="0"/>
              <a:t>&lt;&lt;’(’;</a:t>
            </a:r>
            <a:endParaRPr lang="zh-CN" altLang="zh-CN" dirty="0"/>
          </a:p>
          <a:p>
            <a:r>
              <a:rPr lang="en-US" altLang="zh-CN" dirty="0"/>
              <a:t>       if(</a:t>
            </a:r>
            <a:r>
              <a:rPr lang="en-US" altLang="zh-CN" dirty="0" err="1"/>
              <a:t>bl</a:t>
            </a:r>
            <a:r>
              <a:rPr lang="en-US" altLang="zh-CN" dirty="0"/>
              <a:t>-&gt;</a:t>
            </a:r>
            <a:r>
              <a:rPr lang="en-US" altLang="zh-CN" dirty="0" err="1"/>
              <a:t>value.sublist</a:t>
            </a:r>
            <a:r>
              <a:rPr lang="en-US" altLang="zh-CN" dirty="0"/>
              <a:t>==’#’)         //</a:t>
            </a:r>
            <a:r>
              <a:rPr lang="zh-CN" altLang="zh-CN" dirty="0"/>
              <a:t>空表</a:t>
            </a:r>
          </a:p>
          <a:p>
            <a:r>
              <a:rPr lang="en-US" altLang="zh-CN" dirty="0"/>
              <a:t>         </a:t>
            </a:r>
            <a:r>
              <a:rPr lang="en-US" altLang="zh-CN" dirty="0" err="1"/>
              <a:t>cout</a:t>
            </a:r>
            <a:r>
              <a:rPr lang="en-US" altLang="zh-CN" dirty="0"/>
              <a:t>&lt;&lt;’#’;</a:t>
            </a:r>
            <a:endParaRPr lang="zh-CN" altLang="zh-CN" dirty="0"/>
          </a:p>
          <a:p>
            <a:r>
              <a:rPr lang="en-US" altLang="zh-CN" dirty="0"/>
              <a:t>       else                          //</a:t>
            </a:r>
            <a:r>
              <a:rPr lang="zh-CN" altLang="zh-CN" dirty="0"/>
              <a:t>非空表</a:t>
            </a:r>
          </a:p>
          <a:p>
            <a:r>
              <a:rPr lang="en-US" altLang="zh-CN" dirty="0"/>
              <a:t>         Print(</a:t>
            </a:r>
            <a:r>
              <a:rPr lang="en-US" altLang="zh-CN" dirty="0" err="1"/>
              <a:t>bl</a:t>
            </a:r>
            <a:r>
              <a:rPr lang="en-US" altLang="zh-CN" dirty="0"/>
              <a:t>-&gt;</a:t>
            </a:r>
            <a:r>
              <a:rPr lang="en-US" altLang="zh-CN" dirty="0" err="1"/>
              <a:t>value.sublist</a:t>
            </a:r>
            <a:r>
              <a:rPr lang="en-US" altLang="zh-CN" dirty="0"/>
              <a:t>);        //</a:t>
            </a:r>
            <a:r>
              <a:rPr lang="zh-CN" altLang="zh-CN" dirty="0"/>
              <a:t>递归输出子表</a:t>
            </a:r>
          </a:p>
          <a:p>
            <a:r>
              <a:rPr lang="en-US" altLang="zh-CN" dirty="0"/>
              <a:t>       </a:t>
            </a:r>
            <a:r>
              <a:rPr lang="en-US" altLang="zh-CN" dirty="0" err="1"/>
              <a:t>cout</a:t>
            </a:r>
            <a:r>
              <a:rPr lang="en-US" altLang="zh-CN" dirty="0"/>
              <a:t>&lt;&lt;’)’;</a:t>
            </a:r>
            <a:endParaRPr lang="zh-CN" altLang="zh-CN" dirty="0"/>
          </a:p>
          <a:p>
            <a:r>
              <a:rPr lang="en-US" altLang="zh-CN" dirty="0"/>
              <a:t>     }</a:t>
            </a:r>
            <a:endParaRPr lang="zh-CN" altLang="zh-CN" dirty="0"/>
          </a:p>
          <a:p>
            <a:r>
              <a:rPr lang="en-US" altLang="zh-CN" dirty="0"/>
              <a:t>     </a:t>
            </a:r>
            <a:endParaRPr lang="zh-CN" altLang="en-US" dirty="0"/>
          </a:p>
        </p:txBody>
      </p:sp>
      <p:sp>
        <p:nvSpPr>
          <p:cNvPr id="5" name="文本框 4"/>
          <p:cNvSpPr txBox="1"/>
          <p:nvPr/>
        </p:nvSpPr>
        <p:spPr>
          <a:xfrm>
            <a:off x="4139952" y="1275606"/>
            <a:ext cx="4608512" cy="3693319"/>
          </a:xfrm>
          <a:prstGeom prst="rect">
            <a:avLst/>
          </a:prstGeom>
          <a:solidFill>
            <a:schemeClr val="accent2"/>
          </a:solidFill>
        </p:spPr>
        <p:txBody>
          <a:bodyPr wrap="square" rtlCol="0">
            <a:spAutoFit/>
          </a:bodyPr>
          <a:lstStyle/>
          <a:p>
            <a:r>
              <a:rPr lang="en-US" altLang="zh-CN" dirty="0"/>
              <a:t>        if(</a:t>
            </a:r>
            <a:r>
              <a:rPr lang="en-US" altLang="zh-CN" dirty="0" err="1"/>
              <a:t>bl</a:t>
            </a:r>
            <a:r>
              <a:rPr lang="en-US" altLang="zh-CN" dirty="0"/>
              <a:t>-&gt;link){                     //</a:t>
            </a:r>
            <a:r>
              <a:rPr lang="zh-CN" altLang="zh-CN" dirty="0"/>
              <a:t>递归输出兄弟 </a:t>
            </a:r>
          </a:p>
          <a:p>
            <a:r>
              <a:rPr lang="en-US" altLang="zh-CN" dirty="0"/>
              <a:t>           </a:t>
            </a:r>
            <a:r>
              <a:rPr lang="en-US" altLang="zh-CN" dirty="0" err="1"/>
              <a:t>cout</a:t>
            </a:r>
            <a:r>
              <a:rPr lang="en-US" altLang="zh-CN" dirty="0"/>
              <a:t>&lt;&lt;’,’;</a:t>
            </a:r>
            <a:endParaRPr lang="zh-CN" altLang="zh-CN" dirty="0"/>
          </a:p>
          <a:p>
            <a:r>
              <a:rPr lang="en-US" altLang="zh-CN" dirty="0"/>
              <a:t>           Print(</a:t>
            </a:r>
            <a:r>
              <a:rPr lang="en-US" altLang="zh-CN" dirty="0" err="1"/>
              <a:t>bl</a:t>
            </a:r>
            <a:r>
              <a:rPr lang="en-US" altLang="zh-CN" dirty="0"/>
              <a:t>-&gt;link);</a:t>
            </a:r>
            <a:endParaRPr lang="zh-CN" altLang="zh-CN" dirty="0"/>
          </a:p>
          <a:p>
            <a:r>
              <a:rPr lang="en-US" altLang="zh-CN" dirty="0"/>
              <a:t>         }</a:t>
            </a:r>
            <a:endParaRPr lang="zh-CN" altLang="zh-CN" dirty="0"/>
          </a:p>
          <a:p>
            <a:r>
              <a:rPr lang="en-US" altLang="zh-CN" dirty="0"/>
              <a:t>      }</a:t>
            </a:r>
            <a:endParaRPr lang="zh-CN" altLang="zh-CN" dirty="0"/>
          </a:p>
          <a:p>
            <a:r>
              <a:rPr lang="en-US" altLang="zh-CN" dirty="0"/>
              <a:t>}</a:t>
            </a:r>
          </a:p>
          <a:p>
            <a:r>
              <a:rPr lang="en-US" altLang="zh-CN" dirty="0"/>
              <a:t> void </a:t>
            </a:r>
            <a:r>
              <a:rPr lang="en-US" altLang="zh-CN" dirty="0" err="1"/>
              <a:t>Blist</a:t>
            </a:r>
            <a:r>
              <a:rPr lang="en-US" altLang="zh-CN" dirty="0"/>
              <a:t>::</a:t>
            </a:r>
            <a:r>
              <a:rPr lang="en-US" altLang="zh-CN" dirty="0" err="1"/>
              <a:t>BListDisplay</a:t>
            </a:r>
            <a:r>
              <a:rPr lang="en-US" altLang="zh-CN" dirty="0"/>
              <a:t>(){ </a:t>
            </a:r>
          </a:p>
          <a:p>
            <a:r>
              <a:rPr lang="en-US" altLang="zh-CN" dirty="0"/>
              <a:t>        //</a:t>
            </a:r>
            <a:r>
              <a:rPr lang="zh-CN" altLang="zh-CN" dirty="0"/>
              <a:t>输出私有成员存储的广义表</a:t>
            </a:r>
            <a:r>
              <a:rPr lang="en-US" altLang="zh-CN" dirty="0"/>
              <a:t>   </a:t>
            </a:r>
            <a:endParaRPr lang="zh-CN" altLang="zh-CN" dirty="0"/>
          </a:p>
          <a:p>
            <a:r>
              <a:rPr lang="en-US" altLang="zh-CN" dirty="0"/>
              <a:t>       </a:t>
            </a:r>
            <a:r>
              <a:rPr lang="en-US" altLang="zh-CN" dirty="0" err="1"/>
              <a:t>BLNode</a:t>
            </a:r>
            <a:r>
              <a:rPr lang="en-US" altLang="zh-CN" dirty="0"/>
              <a:t> *</a:t>
            </a:r>
            <a:r>
              <a:rPr lang="en-US" altLang="zh-CN" dirty="0" err="1"/>
              <a:t>bl</a:t>
            </a:r>
            <a:r>
              <a:rPr lang="en-US" altLang="zh-CN" dirty="0"/>
              <a:t>=</a:t>
            </a:r>
            <a:r>
              <a:rPr lang="en-US" altLang="zh-CN" dirty="0" err="1"/>
              <a:t>bhead</a:t>
            </a:r>
            <a:r>
              <a:rPr lang="en-US" altLang="zh-CN" dirty="0"/>
              <a:t>;</a:t>
            </a:r>
            <a:endParaRPr lang="zh-CN" altLang="zh-CN" dirty="0"/>
          </a:p>
          <a:p>
            <a:r>
              <a:rPr lang="en-US" altLang="zh-CN" dirty="0"/>
              <a:t>       Print(</a:t>
            </a:r>
            <a:r>
              <a:rPr lang="en-US" altLang="zh-CN" dirty="0" err="1"/>
              <a:t>bl</a:t>
            </a:r>
            <a:r>
              <a:rPr lang="en-US" altLang="zh-CN" dirty="0"/>
              <a:t>);</a:t>
            </a:r>
            <a:endParaRPr lang="zh-CN" altLang="zh-CN" dirty="0"/>
          </a:p>
          <a:p>
            <a:r>
              <a:rPr lang="en-US" altLang="zh-CN" dirty="0"/>
              <a:t>  }</a:t>
            </a:r>
            <a:endParaRPr lang="zh-CN" altLang="zh-CN" dirty="0"/>
          </a:p>
          <a:p>
            <a:endParaRPr lang="zh-CN" altLang="en-US" dirty="0"/>
          </a:p>
          <a:p>
            <a:endParaRPr lang="zh-CN" altLang="en-US" dirty="0"/>
          </a:p>
        </p:txBody>
      </p:sp>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显示广义表</a:t>
            </a:r>
          </a:p>
        </p:txBody>
      </p:sp>
    </p:spTree>
    <p:extLst>
      <p:ext uri="{BB962C8B-B14F-4D97-AF65-F5344CB8AC3E}">
        <p14:creationId xmlns:p14="http://schemas.microsoft.com/office/powerpoint/2010/main" val="33185941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additive="base">
                                        <p:cTn id="14"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anim calcmode="lin" valueType="num">
                                      <p:cBhvr>
                                        <p:cTn id="2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1000"/>
                                        <p:tgtEl>
                                          <p:spTgt spid="4">
                                            <p:txEl>
                                              <p:pRg st="4" end="4"/>
                                            </p:txEl>
                                          </p:spTgt>
                                        </p:tgtEl>
                                      </p:cBhvr>
                                    </p:animEffect>
                                    <p:anim calcmode="lin" valueType="num">
                                      <p:cBhvr>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fade">
                                      <p:cBhvr>
                                        <p:cTn id="39" dur="1000"/>
                                        <p:tgtEl>
                                          <p:spTgt spid="4">
                                            <p:txEl>
                                              <p:pRg st="5" end="5"/>
                                            </p:txEl>
                                          </p:spTgt>
                                        </p:tgtEl>
                                      </p:cBhvr>
                                    </p:animEffect>
                                    <p:anim calcmode="lin" valueType="num">
                                      <p:cBhvr>
                                        <p:cTn id="4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animEffect transition="in" filter="fade">
                                      <p:cBhvr>
                                        <p:cTn id="46" dur="1000"/>
                                        <p:tgtEl>
                                          <p:spTgt spid="4">
                                            <p:txEl>
                                              <p:pRg st="6" end="6"/>
                                            </p:txEl>
                                          </p:spTgt>
                                        </p:tgtEl>
                                      </p:cBhvr>
                                    </p:animEffect>
                                    <p:anim calcmode="lin" valueType="num">
                                      <p:cBhvr>
                                        <p:cTn id="4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animEffect transition="in" filter="fade">
                                      <p:cBhvr>
                                        <p:cTn id="51" dur="1000"/>
                                        <p:tgtEl>
                                          <p:spTgt spid="4">
                                            <p:txEl>
                                              <p:pRg st="7" end="7"/>
                                            </p:txEl>
                                          </p:spTgt>
                                        </p:tgtEl>
                                      </p:cBhvr>
                                    </p:animEffect>
                                    <p:anim calcmode="lin" valueType="num">
                                      <p:cBhvr>
                                        <p:cTn id="5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
                                            <p:txEl>
                                              <p:pRg st="8" end="8"/>
                                            </p:txEl>
                                          </p:spTgt>
                                        </p:tgtEl>
                                        <p:attrNameLst>
                                          <p:attrName>style.visibility</p:attrName>
                                        </p:attrNameLst>
                                      </p:cBhvr>
                                      <p:to>
                                        <p:strVal val="visible"/>
                                      </p:to>
                                    </p:set>
                                    <p:animEffect transition="in" filter="fade">
                                      <p:cBhvr>
                                        <p:cTn id="58" dur="1000"/>
                                        <p:tgtEl>
                                          <p:spTgt spid="4">
                                            <p:txEl>
                                              <p:pRg st="8" end="8"/>
                                            </p:txEl>
                                          </p:spTgt>
                                        </p:tgtEl>
                                      </p:cBhvr>
                                    </p:animEffect>
                                    <p:anim calcmode="lin" valueType="num">
                                      <p:cBhvr>
                                        <p:cTn id="5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8" end="8"/>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Effect transition="in" filter="fade">
                                      <p:cBhvr>
                                        <p:cTn id="63" dur="1000"/>
                                        <p:tgtEl>
                                          <p:spTgt spid="4">
                                            <p:txEl>
                                              <p:pRg st="9" end="9"/>
                                            </p:txEl>
                                          </p:spTgt>
                                        </p:tgtEl>
                                      </p:cBhvr>
                                    </p:animEffect>
                                    <p:anim calcmode="lin" valueType="num">
                                      <p:cBhvr>
                                        <p:cTn id="6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10" end="10"/>
                                            </p:txEl>
                                          </p:spTgt>
                                        </p:tgtEl>
                                        <p:attrNameLst>
                                          <p:attrName>style.visibility</p:attrName>
                                        </p:attrNameLst>
                                      </p:cBhvr>
                                      <p:to>
                                        <p:strVal val="visible"/>
                                      </p:to>
                                    </p:set>
                                    <p:animEffect transition="in" filter="fade">
                                      <p:cBhvr>
                                        <p:cTn id="70" dur="1000"/>
                                        <p:tgtEl>
                                          <p:spTgt spid="4">
                                            <p:txEl>
                                              <p:pRg st="10" end="10"/>
                                            </p:txEl>
                                          </p:spTgt>
                                        </p:tgtEl>
                                      </p:cBhvr>
                                    </p:animEffect>
                                    <p:anim calcmode="lin" valueType="num">
                                      <p:cBhvr>
                                        <p:cTn id="7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4">
                                            <p:txEl>
                                              <p:pRg st="11" end="11"/>
                                            </p:txEl>
                                          </p:spTgt>
                                        </p:tgtEl>
                                        <p:attrNameLst>
                                          <p:attrName>style.visibility</p:attrName>
                                        </p:attrNameLst>
                                      </p:cBhvr>
                                      <p:to>
                                        <p:strVal val="visible"/>
                                      </p:to>
                                    </p:set>
                                    <p:animEffect transition="in" filter="fade">
                                      <p:cBhvr>
                                        <p:cTn id="75" dur="1000"/>
                                        <p:tgtEl>
                                          <p:spTgt spid="4">
                                            <p:txEl>
                                              <p:pRg st="11" end="11"/>
                                            </p:txEl>
                                          </p:spTgt>
                                        </p:tgtEl>
                                      </p:cBhvr>
                                    </p:animEffect>
                                    <p:anim calcmode="lin" valueType="num">
                                      <p:cBhvr>
                                        <p:cTn id="76"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1000"/>
                                        <p:tgtEl>
                                          <p:spTgt spid="5"/>
                                        </p:tgtEl>
                                      </p:cBhvr>
                                    </p:animEffect>
                                    <p:anim calcmode="lin" valueType="num">
                                      <p:cBhvr>
                                        <p:cTn id="83" dur="1000" fill="hold"/>
                                        <p:tgtEl>
                                          <p:spTgt spid="5"/>
                                        </p:tgtEl>
                                        <p:attrNameLst>
                                          <p:attrName>ppt_x</p:attrName>
                                        </p:attrNameLst>
                                      </p:cBhvr>
                                      <p:tavLst>
                                        <p:tav tm="0">
                                          <p:val>
                                            <p:strVal val="#ppt_x"/>
                                          </p:val>
                                        </p:tav>
                                        <p:tav tm="100000">
                                          <p:val>
                                            <p:strVal val="#ppt_x"/>
                                          </p:val>
                                        </p:tav>
                                      </p:tavLst>
                                    </p:anim>
                                    <p:anim calcmode="lin" valueType="num">
                                      <p:cBhvr>
                                        <p:cTn id="8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5">
                                            <p:txEl>
                                              <p:pRg st="0" end="0"/>
                                            </p:txEl>
                                          </p:spTgt>
                                        </p:tgtEl>
                                        <p:attrNameLst>
                                          <p:attrName>style.visibility</p:attrName>
                                        </p:attrNameLst>
                                      </p:cBhvr>
                                      <p:to>
                                        <p:strVal val="visible"/>
                                      </p:to>
                                    </p:set>
                                    <p:animEffect transition="in" filter="fade">
                                      <p:cBhvr>
                                        <p:cTn id="89" dur="1000"/>
                                        <p:tgtEl>
                                          <p:spTgt spid="5">
                                            <p:txEl>
                                              <p:pRg st="0" end="0"/>
                                            </p:txEl>
                                          </p:spTgt>
                                        </p:tgtEl>
                                      </p:cBhvr>
                                    </p:animEffect>
                                    <p:anim calcmode="lin" valueType="num">
                                      <p:cBhvr>
                                        <p:cTn id="9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1" dur="1000" fill="hold"/>
                                        <p:tgtEl>
                                          <p:spTgt spid="5">
                                            <p:txEl>
                                              <p:pRg st="0" end="0"/>
                                            </p:txEl>
                                          </p:spTgt>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5">
                                            <p:txEl>
                                              <p:pRg st="1" end="1"/>
                                            </p:txEl>
                                          </p:spTgt>
                                        </p:tgtEl>
                                        <p:attrNameLst>
                                          <p:attrName>style.visibility</p:attrName>
                                        </p:attrNameLst>
                                      </p:cBhvr>
                                      <p:to>
                                        <p:strVal val="visible"/>
                                      </p:to>
                                    </p:set>
                                    <p:animEffect transition="in" filter="fade">
                                      <p:cBhvr>
                                        <p:cTn id="94" dur="1000"/>
                                        <p:tgtEl>
                                          <p:spTgt spid="5">
                                            <p:txEl>
                                              <p:pRg st="1" end="1"/>
                                            </p:txEl>
                                          </p:spTgt>
                                        </p:tgtEl>
                                      </p:cBhvr>
                                    </p:animEffect>
                                    <p:anim calcmode="lin" valueType="num">
                                      <p:cBhvr>
                                        <p:cTn id="9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6" dur="1000" fill="hold"/>
                                        <p:tgtEl>
                                          <p:spTgt spid="5">
                                            <p:txEl>
                                              <p:pRg st="1" end="1"/>
                                            </p:txEl>
                                          </p:spTgt>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5">
                                            <p:txEl>
                                              <p:pRg st="2" end="2"/>
                                            </p:txEl>
                                          </p:spTgt>
                                        </p:tgtEl>
                                        <p:attrNameLst>
                                          <p:attrName>style.visibility</p:attrName>
                                        </p:attrNameLst>
                                      </p:cBhvr>
                                      <p:to>
                                        <p:strVal val="visible"/>
                                      </p:to>
                                    </p:set>
                                    <p:animEffect transition="in" filter="fade">
                                      <p:cBhvr>
                                        <p:cTn id="99" dur="1000"/>
                                        <p:tgtEl>
                                          <p:spTgt spid="5">
                                            <p:txEl>
                                              <p:pRg st="2" end="2"/>
                                            </p:txEl>
                                          </p:spTgt>
                                        </p:tgtEl>
                                      </p:cBhvr>
                                    </p:animEffect>
                                    <p:anim calcmode="lin" valueType="num">
                                      <p:cBhvr>
                                        <p:cTn id="10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0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5">
                                            <p:txEl>
                                              <p:pRg st="3" end="3"/>
                                            </p:txEl>
                                          </p:spTgt>
                                        </p:tgtEl>
                                        <p:attrNameLst>
                                          <p:attrName>style.visibility</p:attrName>
                                        </p:attrNameLst>
                                      </p:cBhvr>
                                      <p:to>
                                        <p:strVal val="visible"/>
                                      </p:to>
                                    </p:set>
                                    <p:animEffect transition="in" filter="fade">
                                      <p:cBhvr>
                                        <p:cTn id="104" dur="1000"/>
                                        <p:tgtEl>
                                          <p:spTgt spid="5">
                                            <p:txEl>
                                              <p:pRg st="3" end="3"/>
                                            </p:txEl>
                                          </p:spTgt>
                                        </p:tgtEl>
                                      </p:cBhvr>
                                    </p:animEffect>
                                    <p:anim calcmode="lin" valueType="num">
                                      <p:cBhvr>
                                        <p:cTn id="10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0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5">
                                            <p:txEl>
                                              <p:pRg st="4" end="4"/>
                                            </p:txEl>
                                          </p:spTgt>
                                        </p:tgtEl>
                                        <p:attrNameLst>
                                          <p:attrName>style.visibility</p:attrName>
                                        </p:attrNameLst>
                                      </p:cBhvr>
                                      <p:to>
                                        <p:strVal val="visible"/>
                                      </p:to>
                                    </p:set>
                                    <p:animEffect transition="in" filter="fade">
                                      <p:cBhvr>
                                        <p:cTn id="111" dur="1000"/>
                                        <p:tgtEl>
                                          <p:spTgt spid="5">
                                            <p:txEl>
                                              <p:pRg st="4" end="4"/>
                                            </p:txEl>
                                          </p:spTgt>
                                        </p:tgtEl>
                                      </p:cBhvr>
                                    </p:animEffect>
                                    <p:anim calcmode="lin" valueType="num">
                                      <p:cBhvr>
                                        <p:cTn id="11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13"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5">
                                            <p:txEl>
                                              <p:pRg st="5" end="5"/>
                                            </p:txEl>
                                          </p:spTgt>
                                        </p:tgtEl>
                                        <p:attrNameLst>
                                          <p:attrName>style.visibility</p:attrName>
                                        </p:attrNameLst>
                                      </p:cBhvr>
                                      <p:to>
                                        <p:strVal val="visible"/>
                                      </p:to>
                                    </p:set>
                                    <p:animEffect transition="in" filter="fade">
                                      <p:cBhvr>
                                        <p:cTn id="116" dur="1000"/>
                                        <p:tgtEl>
                                          <p:spTgt spid="5">
                                            <p:txEl>
                                              <p:pRg st="5" end="5"/>
                                            </p:txEl>
                                          </p:spTgt>
                                        </p:tgtEl>
                                      </p:cBhvr>
                                    </p:animEffect>
                                    <p:anim calcmode="lin" valueType="num">
                                      <p:cBhvr>
                                        <p:cTn id="117"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18"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5">
                                            <p:txEl>
                                              <p:pRg st="6" end="6"/>
                                            </p:txEl>
                                          </p:spTgt>
                                        </p:tgtEl>
                                        <p:attrNameLst>
                                          <p:attrName>style.visibility</p:attrName>
                                        </p:attrNameLst>
                                      </p:cBhvr>
                                      <p:to>
                                        <p:strVal val="visible"/>
                                      </p:to>
                                    </p:set>
                                    <p:animEffect transition="in" filter="fade">
                                      <p:cBhvr>
                                        <p:cTn id="123" dur="1000"/>
                                        <p:tgtEl>
                                          <p:spTgt spid="5">
                                            <p:txEl>
                                              <p:pRg st="6" end="6"/>
                                            </p:txEl>
                                          </p:spTgt>
                                        </p:tgtEl>
                                      </p:cBhvr>
                                    </p:animEffect>
                                    <p:anim calcmode="lin" valueType="num">
                                      <p:cBhvr>
                                        <p:cTn id="124"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25"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5">
                                            <p:txEl>
                                              <p:pRg st="7" end="7"/>
                                            </p:txEl>
                                          </p:spTgt>
                                        </p:tgtEl>
                                        <p:attrNameLst>
                                          <p:attrName>style.visibility</p:attrName>
                                        </p:attrNameLst>
                                      </p:cBhvr>
                                      <p:to>
                                        <p:strVal val="visible"/>
                                      </p:to>
                                    </p:set>
                                    <p:animEffect transition="in" filter="fade">
                                      <p:cBhvr>
                                        <p:cTn id="128" dur="1000"/>
                                        <p:tgtEl>
                                          <p:spTgt spid="5">
                                            <p:txEl>
                                              <p:pRg st="7" end="7"/>
                                            </p:txEl>
                                          </p:spTgt>
                                        </p:tgtEl>
                                      </p:cBhvr>
                                    </p:animEffect>
                                    <p:anim calcmode="lin" valueType="num">
                                      <p:cBhvr>
                                        <p:cTn id="129"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30"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5">
                                            <p:txEl>
                                              <p:pRg st="8" end="8"/>
                                            </p:txEl>
                                          </p:spTgt>
                                        </p:tgtEl>
                                        <p:attrNameLst>
                                          <p:attrName>style.visibility</p:attrName>
                                        </p:attrNameLst>
                                      </p:cBhvr>
                                      <p:to>
                                        <p:strVal val="visible"/>
                                      </p:to>
                                    </p:set>
                                    <p:animEffect transition="in" filter="fade">
                                      <p:cBhvr>
                                        <p:cTn id="135" dur="1000"/>
                                        <p:tgtEl>
                                          <p:spTgt spid="5">
                                            <p:txEl>
                                              <p:pRg st="8" end="8"/>
                                            </p:txEl>
                                          </p:spTgt>
                                        </p:tgtEl>
                                      </p:cBhvr>
                                    </p:animEffect>
                                    <p:anim calcmode="lin" valueType="num">
                                      <p:cBhvr>
                                        <p:cTn id="136"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37"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nodeType="clickEffect">
                                  <p:stCondLst>
                                    <p:cond delay="0"/>
                                  </p:stCondLst>
                                  <p:childTnLst>
                                    <p:set>
                                      <p:cBhvr>
                                        <p:cTn id="141" dur="1" fill="hold">
                                          <p:stCondLst>
                                            <p:cond delay="0"/>
                                          </p:stCondLst>
                                        </p:cTn>
                                        <p:tgtEl>
                                          <p:spTgt spid="5">
                                            <p:txEl>
                                              <p:pRg st="9" end="9"/>
                                            </p:txEl>
                                          </p:spTgt>
                                        </p:tgtEl>
                                        <p:attrNameLst>
                                          <p:attrName>style.visibility</p:attrName>
                                        </p:attrNameLst>
                                      </p:cBhvr>
                                      <p:to>
                                        <p:strVal val="visible"/>
                                      </p:to>
                                    </p:set>
                                    <p:animEffect transition="in" filter="fade">
                                      <p:cBhvr>
                                        <p:cTn id="142" dur="1000"/>
                                        <p:tgtEl>
                                          <p:spTgt spid="5">
                                            <p:txEl>
                                              <p:pRg st="9" end="9"/>
                                            </p:txEl>
                                          </p:spTgt>
                                        </p:tgtEl>
                                      </p:cBhvr>
                                    </p:animEffect>
                                    <p:anim calcmode="lin" valueType="num">
                                      <p:cBhvr>
                                        <p:cTn id="14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44" dur="1000" fill="hold"/>
                                        <p:tgtEl>
                                          <p:spTgt spid="5">
                                            <p:txEl>
                                              <p:pRg st="9" end="9"/>
                                            </p:txEl>
                                          </p:spTgt>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5">
                                            <p:txEl>
                                              <p:pRg st="10" end="10"/>
                                            </p:txEl>
                                          </p:spTgt>
                                        </p:tgtEl>
                                        <p:attrNameLst>
                                          <p:attrName>style.visibility</p:attrName>
                                        </p:attrNameLst>
                                      </p:cBhvr>
                                      <p:to>
                                        <p:strVal val="visible"/>
                                      </p:to>
                                    </p:set>
                                    <p:animEffect transition="in" filter="fade">
                                      <p:cBhvr>
                                        <p:cTn id="147" dur="1000"/>
                                        <p:tgtEl>
                                          <p:spTgt spid="5">
                                            <p:txEl>
                                              <p:pRg st="10" end="10"/>
                                            </p:txEl>
                                          </p:spTgt>
                                        </p:tgtEl>
                                      </p:cBhvr>
                                    </p:animEffect>
                                    <p:anim calcmode="lin" valueType="num">
                                      <p:cBhvr>
                                        <p:cTn id="148"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149"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652408"/>
            <a:ext cx="7137400" cy="499514"/>
          </a:xfrm>
        </p:spPr>
        <p:txBody>
          <a:bodyPr/>
          <a:lstStyle/>
          <a:p>
            <a:pPr marL="0" indent="0">
              <a:lnSpc>
                <a:spcPts val="23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计算广义表中原子个数递归定义如下：</a:t>
            </a:r>
          </a:p>
        </p:txBody>
      </p:sp>
      <mc:AlternateContent xmlns:mc="http://schemas.openxmlformats.org/markup-compatibility/2006" xmlns:a14="http://schemas.microsoft.com/office/drawing/2010/main">
        <mc:Choice Requires="a14">
          <p:sp>
            <p:nvSpPr>
              <p:cNvPr id="4" name="文本框 3"/>
              <p:cNvSpPr txBox="1"/>
              <p:nvPr/>
            </p:nvSpPr>
            <p:spPr>
              <a:xfrm>
                <a:off x="397603" y="1097370"/>
                <a:ext cx="7451992" cy="10531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200" smtClean="0">
                          <a:latin typeface="Cambria Math" panose="02040503050406030204" pitchFamily="18" charset="0"/>
                        </a:rPr>
                        <m:t>countatom</m:t>
                      </m:r>
                      <m:d>
                        <m:dPr>
                          <m:ctrlPr>
                            <a:rPr lang="zh-CN" altLang="zh-CN" sz="1200" i="1">
                              <a:latin typeface="Cambria Math" panose="02040503050406030204" pitchFamily="18" charset="0"/>
                            </a:rPr>
                          </m:ctrlPr>
                        </m:dPr>
                        <m:e>
                          <m:r>
                            <m:rPr>
                              <m:sty m:val="p"/>
                            </m:rPr>
                            <a:rPr lang="en-US" altLang="zh-CN" sz="1200">
                              <a:latin typeface="Cambria Math" panose="02040503050406030204" pitchFamily="18" charset="0"/>
                            </a:rPr>
                            <m:t>bl</m:t>
                          </m:r>
                        </m:e>
                      </m:d>
                      <m:r>
                        <a:rPr lang="en-US" altLang="zh-CN" sz="1200">
                          <a:latin typeface="Cambria Math" panose="02040503050406030204" pitchFamily="18" charset="0"/>
                        </a:rPr>
                        <m:t>=</m:t>
                      </m:r>
                      <m:d>
                        <m:dPr>
                          <m:begChr m:val="{"/>
                          <m:endChr m:val=""/>
                          <m:ctrlPr>
                            <a:rPr lang="zh-CN" altLang="zh-CN" sz="1200" i="1">
                              <a:latin typeface="Cambria Math" panose="02040503050406030204" pitchFamily="18" charset="0"/>
                            </a:rPr>
                          </m:ctrlPr>
                        </m:dPr>
                        <m:e>
                          <m:eqArr>
                            <m:eqArrPr>
                              <m:ctrlPr>
                                <a:rPr lang="zh-CN" altLang="zh-CN" sz="1200" i="1">
                                  <a:latin typeface="Cambria Math" panose="02040503050406030204" pitchFamily="18" charset="0"/>
                                </a:rPr>
                              </m:ctrlPr>
                            </m:eqArrPr>
                            <m:e>
                              <m:r>
                                <a:rPr lang="en-US" altLang="zh-CN" sz="1200">
                                  <a:latin typeface="Cambria Math" panose="02040503050406030204" pitchFamily="18" charset="0"/>
                                </a:rPr>
                                <m:t>0                                                                                                                                                    </m:t>
                              </m:r>
                              <m:r>
                                <a:rPr lang="en-US" altLang="zh-CN" sz="1200" b="0" i="0" smtClean="0">
                                  <a:latin typeface="Cambria Math" panose="02040503050406030204" pitchFamily="18" charset="0"/>
                                </a:rPr>
                                <m:t>  </m:t>
                              </m:r>
                              <m:r>
                                <m:rPr>
                                  <m:sty m:val="p"/>
                                </m:rPr>
                                <a:rPr lang="en-US" altLang="zh-CN" sz="1200">
                                  <a:latin typeface="Cambria Math" panose="02040503050406030204" pitchFamily="18" charset="0"/>
                                </a:rPr>
                                <m:t>bl</m:t>
                              </m:r>
                              <m:r>
                                <a:rPr lang="en-US" altLang="zh-CN" sz="1200">
                                  <a:latin typeface="Cambria Math" panose="02040503050406030204" pitchFamily="18" charset="0"/>
                                </a:rPr>
                                <m:t>==0</m:t>
                              </m:r>
                            </m:e>
                            <m:e>
                              <m:d>
                                <m:dPr>
                                  <m:begChr m:val="{"/>
                                  <m:endChr m:val=""/>
                                  <m:ctrlPr>
                                    <a:rPr lang="zh-CN" altLang="zh-CN" sz="1200" i="1" smtClean="0">
                                      <a:solidFill>
                                        <a:srgbClr val="0070C0"/>
                                      </a:solidFill>
                                      <a:latin typeface="Cambria Math" panose="02040503050406030204" pitchFamily="18" charset="0"/>
                                    </a:rPr>
                                  </m:ctrlPr>
                                </m:dPr>
                                <m:e>
                                  <m:eqArr>
                                    <m:eqArrPr>
                                      <m:ctrlPr>
                                        <a:rPr lang="zh-CN" altLang="zh-CN" sz="1200" i="1">
                                          <a:solidFill>
                                            <a:srgbClr val="0070C0"/>
                                          </a:solidFill>
                                          <a:latin typeface="Cambria Math" panose="02040503050406030204" pitchFamily="18" charset="0"/>
                                        </a:rPr>
                                      </m:ctrlPr>
                                    </m:eqArrPr>
                                    <m:e>
                                      <m:r>
                                        <a:rPr lang="en-US" altLang="zh-CN" sz="1200">
                                          <a:solidFill>
                                            <a:srgbClr val="0070C0"/>
                                          </a:solidFill>
                                          <a:latin typeface="Cambria Math" panose="02040503050406030204" pitchFamily="18" charset="0"/>
                                        </a:rPr>
                                        <m:t>1+</m:t>
                                      </m:r>
                                      <m:r>
                                        <m:rPr>
                                          <m:sty m:val="p"/>
                                        </m:rPr>
                                        <a:rPr lang="en-US" altLang="zh-CN" sz="1200">
                                          <a:solidFill>
                                            <a:srgbClr val="0070C0"/>
                                          </a:solidFill>
                                          <a:latin typeface="Cambria Math" panose="02040503050406030204" pitchFamily="18" charset="0"/>
                                        </a:rPr>
                                        <m:t>countatom</m:t>
                                      </m:r>
                                      <m:d>
                                        <m:dPr>
                                          <m:ctrlPr>
                                            <a:rPr lang="zh-CN" altLang="zh-CN" sz="1200" i="1">
                                              <a:solidFill>
                                                <a:srgbClr val="0070C0"/>
                                              </a:solidFill>
                                              <a:latin typeface="Cambria Math" panose="02040503050406030204" pitchFamily="18" charset="0"/>
                                            </a:rPr>
                                          </m:ctrlPr>
                                        </m:dPr>
                                        <m:e>
                                          <m:r>
                                            <m:rPr>
                                              <m:sty m:val="p"/>
                                            </m:rPr>
                                            <a:rPr lang="en-US" altLang="zh-CN" sz="1200">
                                              <a:solidFill>
                                                <a:srgbClr val="0070C0"/>
                                              </a:solidFill>
                                              <a:latin typeface="Cambria Math" panose="02040503050406030204" pitchFamily="18" charset="0"/>
                                            </a:rPr>
                                            <m:t>bl</m:t>
                                          </m:r>
                                          <m:r>
                                            <a:rPr lang="en-US" altLang="zh-CN" sz="1200" i="1">
                                              <a:solidFill>
                                                <a:srgbClr val="0070C0"/>
                                              </a:solidFill>
                                              <a:latin typeface="Cambria Math" panose="02040503050406030204" pitchFamily="18" charset="0"/>
                                            </a:rPr>
                                            <m:t>−</m:t>
                                          </m:r>
                                          <m:r>
                                            <a:rPr lang="en-US" altLang="zh-CN" sz="1200">
                                              <a:solidFill>
                                                <a:srgbClr val="0070C0"/>
                                              </a:solidFill>
                                              <a:latin typeface="Cambria Math" panose="02040503050406030204" pitchFamily="18" charset="0"/>
                                            </a:rPr>
                                            <m:t>&gt;</m:t>
                                          </m:r>
                                          <m:r>
                                            <m:rPr>
                                              <m:sty m:val="p"/>
                                            </m:rPr>
                                            <a:rPr lang="en-US" altLang="zh-CN" sz="1200">
                                              <a:solidFill>
                                                <a:srgbClr val="0070C0"/>
                                              </a:solidFill>
                                              <a:latin typeface="Cambria Math" panose="02040503050406030204" pitchFamily="18" charset="0"/>
                                            </a:rPr>
                                            <m:t>link</m:t>
                                          </m:r>
                                        </m:e>
                                      </m:d>
                                      <m:r>
                                        <a:rPr lang="en-US" altLang="zh-CN" sz="1200">
                                          <a:solidFill>
                                            <a:srgbClr val="0070C0"/>
                                          </a:solidFill>
                                          <a:latin typeface="Cambria Math" panose="02040503050406030204" pitchFamily="18" charset="0"/>
                                        </a:rPr>
                                        <m:t>                                                             </m:t>
                                      </m:r>
                                      <m:r>
                                        <a:rPr lang="en-US" altLang="zh-CN" sz="1200" b="0" i="0">
                                          <a:solidFill>
                                            <a:srgbClr val="0070C0"/>
                                          </a:solidFill>
                                          <a:latin typeface="Cambria Math" panose="02040503050406030204" pitchFamily="18" charset="0"/>
                                        </a:rPr>
                                        <m:t>  </m:t>
                                      </m:r>
                                      <m:r>
                                        <a:rPr lang="en-US" altLang="zh-CN" sz="1200">
                                          <a:solidFill>
                                            <a:srgbClr val="0070C0"/>
                                          </a:solidFill>
                                          <a:latin typeface="Cambria Math" panose="02040503050406030204" pitchFamily="18" charset="0"/>
                                        </a:rPr>
                                        <m:t> </m:t>
                                      </m:r>
                                      <m:r>
                                        <m:rPr>
                                          <m:sty m:val="p"/>
                                        </m:rPr>
                                        <a:rPr lang="en-US" altLang="zh-CN" sz="1200">
                                          <a:solidFill>
                                            <a:srgbClr val="0070C0"/>
                                          </a:solidFill>
                                          <a:latin typeface="Cambria Math" panose="02040503050406030204" pitchFamily="18" charset="0"/>
                                        </a:rPr>
                                        <m:t>bl</m:t>
                                      </m:r>
                                      <m:r>
                                        <a:rPr lang="en-US" altLang="zh-CN" sz="1200">
                                          <a:solidFill>
                                            <a:srgbClr val="0070C0"/>
                                          </a:solidFill>
                                          <a:latin typeface="Cambria Math" panose="02040503050406030204" pitchFamily="18" charset="0"/>
                                        </a:rPr>
                                        <m:t>→</m:t>
                                      </m:r>
                                      <m:r>
                                        <m:rPr>
                                          <m:sty m:val="p"/>
                                        </m:rPr>
                                        <a:rPr lang="en-US" altLang="zh-CN" sz="1200">
                                          <a:solidFill>
                                            <a:srgbClr val="0070C0"/>
                                          </a:solidFill>
                                          <a:latin typeface="Cambria Math" panose="02040503050406030204" pitchFamily="18" charset="0"/>
                                        </a:rPr>
                                        <m:t>tag</m:t>
                                      </m:r>
                                      <m:r>
                                        <a:rPr lang="en-US" altLang="zh-CN" sz="1200">
                                          <a:solidFill>
                                            <a:srgbClr val="0070C0"/>
                                          </a:solidFill>
                                          <a:latin typeface="Cambria Math" panose="02040503050406030204" pitchFamily="18" charset="0"/>
                                        </a:rPr>
                                        <m:t>=0 </m:t>
                                      </m:r>
                                    </m:e>
                                    <m:e>
                                      <m:r>
                                        <m:rPr>
                                          <m:sty m:val="p"/>
                                        </m:rPr>
                                        <a:rPr lang="en-US" altLang="zh-CN" sz="1200">
                                          <a:solidFill>
                                            <a:srgbClr val="0070C0"/>
                                          </a:solidFill>
                                          <a:latin typeface="Cambria Math" panose="02040503050406030204" pitchFamily="18" charset="0"/>
                                        </a:rPr>
                                        <m:t>countatom</m:t>
                                      </m:r>
                                      <m:d>
                                        <m:dPr>
                                          <m:ctrlPr>
                                            <a:rPr lang="zh-CN" altLang="zh-CN" sz="1200" i="1">
                                              <a:solidFill>
                                                <a:srgbClr val="0070C0"/>
                                              </a:solidFill>
                                              <a:latin typeface="Cambria Math" panose="02040503050406030204" pitchFamily="18" charset="0"/>
                                            </a:rPr>
                                          </m:ctrlPr>
                                        </m:dPr>
                                        <m:e>
                                          <m:r>
                                            <m:rPr>
                                              <m:sty m:val="p"/>
                                            </m:rPr>
                                            <a:rPr lang="en-US" altLang="zh-CN" sz="1200">
                                              <a:solidFill>
                                                <a:srgbClr val="0070C0"/>
                                              </a:solidFill>
                                              <a:latin typeface="Cambria Math" panose="02040503050406030204" pitchFamily="18" charset="0"/>
                                            </a:rPr>
                                            <m:t>bl</m:t>
                                          </m:r>
                                          <m:r>
                                            <a:rPr lang="en-US" altLang="zh-CN" sz="1200" i="1">
                                              <a:solidFill>
                                                <a:srgbClr val="0070C0"/>
                                              </a:solidFill>
                                              <a:latin typeface="Cambria Math" panose="02040503050406030204" pitchFamily="18" charset="0"/>
                                            </a:rPr>
                                            <m:t>−</m:t>
                                          </m:r>
                                          <m:r>
                                            <a:rPr lang="en-US" altLang="zh-CN" sz="1200">
                                              <a:solidFill>
                                                <a:srgbClr val="0070C0"/>
                                              </a:solidFill>
                                              <a:latin typeface="Cambria Math" panose="02040503050406030204" pitchFamily="18" charset="0"/>
                                            </a:rPr>
                                            <m:t>&gt;</m:t>
                                          </m:r>
                                          <m:r>
                                            <m:rPr>
                                              <m:sty m:val="p"/>
                                            </m:rPr>
                                            <a:rPr lang="en-US" altLang="zh-CN" sz="1200">
                                              <a:solidFill>
                                                <a:srgbClr val="0070C0"/>
                                              </a:solidFill>
                                              <a:latin typeface="Cambria Math" panose="02040503050406030204" pitchFamily="18" charset="0"/>
                                            </a:rPr>
                                            <m:t>value</m:t>
                                          </m:r>
                                          <m:r>
                                            <a:rPr lang="en-US" altLang="zh-CN" sz="1200">
                                              <a:solidFill>
                                                <a:srgbClr val="0070C0"/>
                                              </a:solidFill>
                                              <a:latin typeface="Cambria Math" panose="02040503050406030204" pitchFamily="18" charset="0"/>
                                            </a:rPr>
                                            <m:t>.</m:t>
                                          </m:r>
                                          <m:r>
                                            <m:rPr>
                                              <m:sty m:val="p"/>
                                            </m:rPr>
                                            <a:rPr lang="en-US" altLang="zh-CN" sz="1200">
                                              <a:solidFill>
                                                <a:srgbClr val="0070C0"/>
                                              </a:solidFill>
                                              <a:latin typeface="Cambria Math" panose="02040503050406030204" pitchFamily="18" charset="0"/>
                                            </a:rPr>
                                            <m:t>sublist</m:t>
                                          </m:r>
                                        </m:e>
                                      </m:d>
                                      <m:r>
                                        <a:rPr lang="en-US" altLang="zh-CN" sz="1200">
                                          <a:solidFill>
                                            <a:srgbClr val="0070C0"/>
                                          </a:solidFill>
                                          <a:latin typeface="Cambria Math" panose="02040503050406030204" pitchFamily="18" charset="0"/>
                                        </a:rPr>
                                        <m:t>+</m:t>
                                      </m:r>
                                      <m:r>
                                        <m:rPr>
                                          <m:sty m:val="p"/>
                                        </m:rPr>
                                        <a:rPr lang="en-US" altLang="zh-CN" sz="1200">
                                          <a:solidFill>
                                            <a:srgbClr val="0070C0"/>
                                          </a:solidFill>
                                          <a:latin typeface="Cambria Math" panose="02040503050406030204" pitchFamily="18" charset="0"/>
                                        </a:rPr>
                                        <m:t>countatom</m:t>
                                      </m:r>
                                      <m:d>
                                        <m:dPr>
                                          <m:ctrlPr>
                                            <a:rPr lang="zh-CN" altLang="zh-CN" sz="1200" i="1">
                                              <a:solidFill>
                                                <a:srgbClr val="0070C0"/>
                                              </a:solidFill>
                                              <a:latin typeface="Cambria Math" panose="02040503050406030204" pitchFamily="18" charset="0"/>
                                            </a:rPr>
                                          </m:ctrlPr>
                                        </m:dPr>
                                        <m:e>
                                          <m:r>
                                            <m:rPr>
                                              <m:sty m:val="p"/>
                                            </m:rPr>
                                            <a:rPr lang="en-US" altLang="zh-CN" sz="1200">
                                              <a:solidFill>
                                                <a:srgbClr val="0070C0"/>
                                              </a:solidFill>
                                              <a:latin typeface="Cambria Math" panose="02040503050406030204" pitchFamily="18" charset="0"/>
                                            </a:rPr>
                                            <m:t>bl</m:t>
                                          </m:r>
                                          <m:r>
                                            <a:rPr lang="en-US" altLang="zh-CN" sz="1200" i="1">
                                              <a:solidFill>
                                                <a:srgbClr val="0070C0"/>
                                              </a:solidFill>
                                              <a:latin typeface="Cambria Math" panose="02040503050406030204" pitchFamily="18" charset="0"/>
                                            </a:rPr>
                                            <m:t>−</m:t>
                                          </m:r>
                                          <m:r>
                                            <a:rPr lang="en-US" altLang="zh-CN" sz="1200">
                                              <a:solidFill>
                                                <a:srgbClr val="0070C0"/>
                                              </a:solidFill>
                                              <a:latin typeface="Cambria Math" panose="02040503050406030204" pitchFamily="18" charset="0"/>
                                            </a:rPr>
                                            <m:t>&gt;</m:t>
                                          </m:r>
                                          <m:r>
                                            <m:rPr>
                                              <m:sty m:val="p"/>
                                            </m:rPr>
                                            <a:rPr lang="en-US" altLang="zh-CN" sz="1200">
                                              <a:solidFill>
                                                <a:srgbClr val="0070C0"/>
                                              </a:solidFill>
                                              <a:latin typeface="Cambria Math" panose="02040503050406030204" pitchFamily="18" charset="0"/>
                                            </a:rPr>
                                            <m:t>link</m:t>
                                          </m:r>
                                        </m:e>
                                      </m:d>
                                      <m:r>
                                        <a:rPr lang="en-US" altLang="zh-CN" sz="1200">
                                          <a:solidFill>
                                            <a:srgbClr val="0070C0"/>
                                          </a:solidFill>
                                          <a:latin typeface="Cambria Math" panose="02040503050406030204" pitchFamily="18" charset="0"/>
                                        </a:rPr>
                                        <m:t>  </m:t>
                                      </m:r>
                                      <m:r>
                                        <a:rPr lang="en-US" altLang="zh-CN" sz="1200" b="0" i="0">
                                          <a:solidFill>
                                            <a:srgbClr val="0070C0"/>
                                          </a:solidFill>
                                          <a:latin typeface="Cambria Math" panose="02040503050406030204" pitchFamily="18" charset="0"/>
                                        </a:rPr>
                                        <m:t> </m:t>
                                      </m:r>
                                      <m:r>
                                        <a:rPr lang="en-US" altLang="zh-CN" sz="1200">
                                          <a:solidFill>
                                            <a:srgbClr val="0070C0"/>
                                          </a:solidFill>
                                          <a:latin typeface="Cambria Math" panose="02040503050406030204" pitchFamily="18" charset="0"/>
                                        </a:rPr>
                                        <m:t>  </m:t>
                                      </m:r>
                                      <m:r>
                                        <m:rPr>
                                          <m:sty m:val="p"/>
                                        </m:rPr>
                                        <a:rPr lang="en-US" altLang="zh-CN" sz="1200">
                                          <a:solidFill>
                                            <a:srgbClr val="0070C0"/>
                                          </a:solidFill>
                                          <a:latin typeface="Cambria Math" panose="02040503050406030204" pitchFamily="18" charset="0"/>
                                        </a:rPr>
                                        <m:t>bl</m:t>
                                      </m:r>
                                      <m:r>
                                        <a:rPr lang="en-US" altLang="zh-CN" sz="1200">
                                          <a:solidFill>
                                            <a:srgbClr val="0070C0"/>
                                          </a:solidFill>
                                          <a:latin typeface="Cambria Math" panose="02040503050406030204" pitchFamily="18" charset="0"/>
                                        </a:rPr>
                                        <m:t>→</m:t>
                                      </m:r>
                                      <m:r>
                                        <m:rPr>
                                          <m:sty m:val="p"/>
                                        </m:rPr>
                                        <a:rPr lang="en-US" altLang="zh-CN" sz="1200">
                                          <a:solidFill>
                                            <a:srgbClr val="0070C0"/>
                                          </a:solidFill>
                                          <a:latin typeface="Cambria Math" panose="02040503050406030204" pitchFamily="18" charset="0"/>
                                        </a:rPr>
                                        <m:t>tag</m:t>
                                      </m:r>
                                      <m:r>
                                        <a:rPr lang="en-US" altLang="zh-CN" sz="1200">
                                          <a:solidFill>
                                            <a:srgbClr val="0070C0"/>
                                          </a:solidFill>
                                          <a:latin typeface="Cambria Math" panose="02040503050406030204" pitchFamily="18" charset="0"/>
                                        </a:rPr>
                                        <m:t>!=0 </m:t>
                                      </m:r>
                                    </m:e>
                                  </m:eqArr>
                                  <m:r>
                                    <a:rPr lang="en-US" altLang="zh-CN" sz="1200" b="0" i="1" smtClean="0">
                                      <a:solidFill>
                                        <a:srgbClr val="0070C0"/>
                                      </a:solidFill>
                                      <a:latin typeface="Cambria Math" panose="02040503050406030204" pitchFamily="18" charset="0"/>
                                    </a:rPr>
                                    <m:t> </m:t>
                                  </m:r>
                                </m:e>
                              </m:d>
                              <m:r>
                                <a:rPr lang="en-US" altLang="zh-CN" sz="1200" b="0" i="0" smtClean="0">
                                  <a:solidFill>
                                    <a:srgbClr val="0070C0"/>
                                  </a:solidFill>
                                  <a:latin typeface="Cambria Math" panose="02040503050406030204" pitchFamily="18" charset="0"/>
                                </a:rPr>
                                <m:t>   </m:t>
                              </m:r>
                              <m:r>
                                <m:rPr>
                                  <m:sty m:val="p"/>
                                </m:rPr>
                                <a:rPr lang="en-US" altLang="zh-CN" sz="1200">
                                  <a:solidFill>
                                    <a:srgbClr val="0070C0"/>
                                  </a:solidFill>
                                  <a:latin typeface="Cambria Math" panose="02040503050406030204" pitchFamily="18" charset="0"/>
                                </a:rPr>
                                <m:t>bl</m:t>
                              </m:r>
                              <m:r>
                                <a:rPr lang="en-US" altLang="zh-CN" sz="1200">
                                  <a:solidFill>
                                    <a:srgbClr val="0070C0"/>
                                  </a:solidFill>
                                  <a:latin typeface="Cambria Math" panose="02040503050406030204" pitchFamily="18" charset="0"/>
                                </a:rPr>
                                <m:t>!=0</m:t>
                              </m:r>
                            </m:e>
                          </m:eqArr>
                        </m:e>
                      </m:d>
                    </m:oMath>
                  </m:oMathPara>
                </a14:m>
                <a:endParaRPr lang="zh-CN" altLang="zh-CN" sz="1200"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397603" y="1097370"/>
                <a:ext cx="7451992" cy="1053173"/>
              </a:xfrm>
              <a:prstGeom prst="rect">
                <a:avLst/>
              </a:prstGeom>
              <a:blipFill>
                <a:blip r:embed="rId2"/>
                <a:stretch>
                  <a:fillRect/>
                </a:stretch>
              </a:blipFill>
            </p:spPr>
            <p:txBody>
              <a:bodyPr/>
              <a:lstStyle/>
              <a:p>
                <a:r>
                  <a:rPr lang="zh-CN" altLang="en-US">
                    <a:noFill/>
                  </a:rPr>
                  <a:t> </a:t>
                </a:r>
              </a:p>
            </p:txBody>
          </p:sp>
        </mc:Fallback>
      </mc:AlternateContent>
      <p:sp>
        <p:nvSpPr>
          <p:cNvPr id="5" name="文本框 4"/>
          <p:cNvSpPr txBox="1"/>
          <p:nvPr/>
        </p:nvSpPr>
        <p:spPr>
          <a:xfrm>
            <a:off x="251520" y="1851670"/>
            <a:ext cx="6408712" cy="3139321"/>
          </a:xfrm>
          <a:prstGeom prst="rect">
            <a:avLst/>
          </a:prstGeom>
          <a:noFill/>
        </p:spPr>
        <p:txBody>
          <a:bodyPr wrap="square" rtlCol="0">
            <a:spAutoFit/>
          </a:bodyPr>
          <a:lstStyle/>
          <a:p>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Blist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countatom</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BLNode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递归计算原子个数</a:t>
            </a:r>
          </a:p>
          <a:p>
            <a:r>
              <a:rPr lang="en-US" altLang="zh-CN" dirty="0">
                <a:solidFill>
                  <a:srgbClr val="002060"/>
                </a:solidFill>
                <a:latin typeface="Times New Roman" panose="02020603050405020304" pitchFamily="18" charset="0"/>
                <a:cs typeface="Times New Roman" panose="02020603050405020304" pitchFamily="18" charset="0"/>
              </a:rPr>
              <a:t>   if(</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-&gt;tag==0)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return 1+countatom(</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-&gt;link);</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else</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return </a:t>
            </a:r>
            <a:r>
              <a:rPr lang="en-US" altLang="zh-CN" dirty="0" err="1">
                <a:solidFill>
                  <a:srgbClr val="002060"/>
                </a:solidFill>
                <a:latin typeface="Times New Roman" panose="02020603050405020304" pitchFamily="18" charset="0"/>
                <a:cs typeface="Times New Roman" panose="02020603050405020304" pitchFamily="18" charset="0"/>
              </a:rPr>
              <a:t>countatom</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-&gt;</a:t>
            </a:r>
            <a:r>
              <a:rPr lang="en-US" altLang="zh-CN" dirty="0" err="1">
                <a:solidFill>
                  <a:srgbClr val="002060"/>
                </a:solidFill>
                <a:latin typeface="Times New Roman" panose="02020603050405020304" pitchFamily="18" charset="0"/>
                <a:cs typeface="Times New Roman" panose="02020603050405020304" pitchFamily="18" charset="0"/>
              </a:rPr>
              <a:t>value.sublist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countatom</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bl</a:t>
            </a:r>
            <a:r>
              <a:rPr lang="en-US" altLang="zh-CN" dirty="0">
                <a:solidFill>
                  <a:srgbClr val="002060"/>
                </a:solidFill>
                <a:latin typeface="Times New Roman" panose="02020603050405020304" pitchFamily="18" charset="0"/>
                <a:cs typeface="Times New Roman" panose="02020603050405020304" pitchFamily="18" charset="0"/>
              </a:rPr>
              <a:t>-&gt;link);</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a:t>
            </a:r>
          </a:p>
          <a:p>
            <a:r>
              <a:rPr lang="en-US" altLang="zh-CN" dirty="0">
                <a:solidFill>
                  <a:srgbClr val="002060"/>
                </a:solidFill>
                <a:latin typeface="Times New Roman" panose="02020603050405020304" pitchFamily="18" charset="0"/>
                <a:cs typeface="Times New Roman" panose="02020603050405020304" pitchFamily="18" charset="0"/>
              </a:rPr>
              <a:t>   else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return 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5292080" y="1851670"/>
            <a:ext cx="3528392" cy="1477328"/>
          </a:xfrm>
          <a:prstGeom prst="rect">
            <a:avLst/>
          </a:prstGeom>
          <a:solidFill>
            <a:schemeClr val="accent2"/>
          </a:solidFill>
        </p:spPr>
        <p:txBody>
          <a:bodyPr wrap="square" rtlCol="0">
            <a:spAutoFit/>
          </a:bodyPr>
          <a:lstStyle/>
          <a:p>
            <a:r>
              <a:rPr lang="en-US" altLang="zh-CN" dirty="0" err="1"/>
              <a:t>int</a:t>
            </a:r>
            <a:r>
              <a:rPr lang="en-US" altLang="zh-CN" dirty="0"/>
              <a:t> </a:t>
            </a:r>
            <a:r>
              <a:rPr lang="en-US" altLang="zh-CN" dirty="0" err="1"/>
              <a:t>Blist</a:t>
            </a:r>
            <a:r>
              <a:rPr lang="en-US" altLang="zh-CN" dirty="0"/>
              <a:t>::</a:t>
            </a:r>
            <a:r>
              <a:rPr lang="en-US" altLang="zh-CN" dirty="0" err="1"/>
              <a:t>atomnum</a:t>
            </a:r>
            <a:r>
              <a:rPr lang="en-US" altLang="zh-CN" dirty="0"/>
              <a:t>(){   </a:t>
            </a:r>
          </a:p>
          <a:p>
            <a:r>
              <a:rPr lang="en-US" altLang="zh-CN" dirty="0"/>
              <a:t>  </a:t>
            </a:r>
            <a:r>
              <a:rPr lang="en-US" altLang="zh-CN" sz="1600" dirty="0"/>
              <a:t>//</a:t>
            </a:r>
            <a:r>
              <a:rPr lang="zh-CN" altLang="zh-CN" sz="1600" dirty="0"/>
              <a:t>计算私有成员存储的表的原子个数</a:t>
            </a:r>
          </a:p>
          <a:p>
            <a:r>
              <a:rPr lang="en-US" altLang="zh-CN" dirty="0"/>
              <a:t>      </a:t>
            </a:r>
            <a:r>
              <a:rPr lang="en-US" altLang="zh-CN" dirty="0" err="1"/>
              <a:t>BLNode</a:t>
            </a:r>
            <a:r>
              <a:rPr lang="en-US" altLang="zh-CN" dirty="0"/>
              <a:t> *p=</a:t>
            </a:r>
            <a:r>
              <a:rPr lang="en-US" altLang="zh-CN" dirty="0" err="1"/>
              <a:t>bhead</a:t>
            </a:r>
            <a:r>
              <a:rPr lang="en-US" altLang="zh-CN" dirty="0"/>
              <a:t>;</a:t>
            </a:r>
            <a:endParaRPr lang="zh-CN" altLang="zh-CN" dirty="0"/>
          </a:p>
          <a:p>
            <a:r>
              <a:rPr lang="en-US" altLang="zh-CN" dirty="0"/>
              <a:t>      return </a:t>
            </a:r>
            <a:r>
              <a:rPr lang="en-US" altLang="zh-CN" dirty="0" err="1"/>
              <a:t>countatom</a:t>
            </a:r>
            <a:r>
              <a:rPr lang="en-US" altLang="zh-CN" dirty="0"/>
              <a:t>(p);</a:t>
            </a:r>
            <a:endParaRPr lang="zh-CN" altLang="zh-CN" dirty="0"/>
          </a:p>
          <a:p>
            <a:r>
              <a:rPr lang="en-US" altLang="zh-CN" dirty="0"/>
              <a:t>}</a:t>
            </a:r>
            <a:endParaRPr lang="zh-CN" altLang="zh-CN" dirty="0"/>
          </a:p>
        </p:txBody>
      </p:sp>
      <p:sp>
        <p:nvSpPr>
          <p:cNvPr id="7" name="文本框 6"/>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zh-CN" sz="2000" dirty="0"/>
              <a:t>计算广义表中原子个数</a:t>
            </a:r>
            <a:endParaRPr lang="zh-CN" altLang="en-US" sz="2000" dirty="0"/>
          </a:p>
        </p:txBody>
      </p:sp>
    </p:spTree>
    <p:extLst>
      <p:ext uri="{BB962C8B-B14F-4D97-AF65-F5344CB8AC3E}">
        <p14:creationId xmlns:p14="http://schemas.microsoft.com/office/powerpoint/2010/main" val="26197432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1000"/>
                                        <p:tgtEl>
                                          <p:spTgt spid="5">
                                            <p:txEl>
                                              <p:pRg st="0" end="0"/>
                                            </p:txEl>
                                          </p:spTgt>
                                        </p:tgtEl>
                                      </p:cBhvr>
                                    </p:animEffect>
                                    <p:anim calcmode="lin" valueType="num">
                                      <p:cBhvr>
                                        <p:cTn id="2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 calcmode="lin" valueType="num">
                                      <p:cBhvr additive="base">
                                        <p:cTn id="28"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Effect transition="in" filter="fade">
                                      <p:cBhvr>
                                        <p:cTn id="34" dur="1000"/>
                                        <p:tgtEl>
                                          <p:spTgt spid="5">
                                            <p:txEl>
                                              <p:pRg st="2" end="2"/>
                                            </p:txEl>
                                          </p:spTgt>
                                        </p:tgtEl>
                                      </p:cBhvr>
                                    </p:animEffect>
                                    <p:anim calcmode="lin" valueType="num">
                                      <p:cBhvr>
                                        <p:cTn id="3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2" end="2"/>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fade">
                                      <p:cBhvr>
                                        <p:cTn id="39" dur="1000"/>
                                        <p:tgtEl>
                                          <p:spTgt spid="5">
                                            <p:txEl>
                                              <p:pRg st="3" end="3"/>
                                            </p:txEl>
                                          </p:spTgt>
                                        </p:tgtEl>
                                      </p:cBhvr>
                                    </p:animEffect>
                                    <p:anim calcmode="lin" valueType="num">
                                      <p:cBhvr>
                                        <p:cTn id="4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animEffect transition="in" filter="fade">
                                      <p:cBhvr>
                                        <p:cTn id="46" dur="1000"/>
                                        <p:tgtEl>
                                          <p:spTgt spid="5">
                                            <p:txEl>
                                              <p:pRg st="4" end="4"/>
                                            </p:txEl>
                                          </p:spTgt>
                                        </p:tgtEl>
                                      </p:cBhvr>
                                    </p:animEffect>
                                    <p:anim calcmode="lin" valueType="num">
                                      <p:cBhvr>
                                        <p:cTn id="47"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4" end="4"/>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animEffect transition="in" filter="fade">
                                      <p:cBhvr>
                                        <p:cTn id="51" dur="1000"/>
                                        <p:tgtEl>
                                          <p:spTgt spid="5">
                                            <p:txEl>
                                              <p:pRg st="5" end="5"/>
                                            </p:txEl>
                                          </p:spTgt>
                                        </p:tgtEl>
                                      </p:cBhvr>
                                    </p:animEffect>
                                    <p:anim calcmode="lin" valueType="num">
                                      <p:cBhvr>
                                        <p:cTn id="5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53" dur="1000" fill="hold"/>
                                        <p:tgtEl>
                                          <p:spTgt spid="5">
                                            <p:txEl>
                                              <p:pRg st="5" end="5"/>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5">
                                            <p:txEl>
                                              <p:pRg st="6" end="6"/>
                                            </p:txEl>
                                          </p:spTgt>
                                        </p:tgtEl>
                                        <p:attrNameLst>
                                          <p:attrName>style.visibility</p:attrName>
                                        </p:attrNameLst>
                                      </p:cBhvr>
                                      <p:to>
                                        <p:strVal val="visible"/>
                                      </p:to>
                                    </p:set>
                                    <p:animEffect transition="in" filter="fade">
                                      <p:cBhvr>
                                        <p:cTn id="56" dur="1000"/>
                                        <p:tgtEl>
                                          <p:spTgt spid="5">
                                            <p:txEl>
                                              <p:pRg st="6" end="6"/>
                                            </p:txEl>
                                          </p:spTgt>
                                        </p:tgtEl>
                                      </p:cBhvr>
                                    </p:animEffect>
                                    <p:anim calcmode="lin" valueType="num">
                                      <p:cBhvr>
                                        <p:cTn id="57"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animEffect transition="in" filter="fade">
                                      <p:cBhvr>
                                        <p:cTn id="63" dur="1000"/>
                                        <p:tgtEl>
                                          <p:spTgt spid="5">
                                            <p:txEl>
                                              <p:pRg st="7" end="7"/>
                                            </p:txEl>
                                          </p:spTgt>
                                        </p:tgtEl>
                                      </p:cBhvr>
                                    </p:animEffect>
                                    <p:anim calcmode="lin" valueType="num">
                                      <p:cBhvr>
                                        <p:cTn id="64"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5">
                                            <p:txEl>
                                              <p:pRg st="7" end="7"/>
                                            </p:txEl>
                                          </p:spTgt>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5">
                                            <p:txEl>
                                              <p:pRg st="8" end="8"/>
                                            </p:txEl>
                                          </p:spTgt>
                                        </p:tgtEl>
                                        <p:attrNameLst>
                                          <p:attrName>style.visibility</p:attrName>
                                        </p:attrNameLst>
                                      </p:cBhvr>
                                      <p:to>
                                        <p:strVal val="visible"/>
                                      </p:to>
                                    </p:set>
                                    <p:animEffect transition="in" filter="fade">
                                      <p:cBhvr>
                                        <p:cTn id="68" dur="1000"/>
                                        <p:tgtEl>
                                          <p:spTgt spid="5">
                                            <p:txEl>
                                              <p:pRg st="8" end="8"/>
                                            </p:txEl>
                                          </p:spTgt>
                                        </p:tgtEl>
                                      </p:cBhvr>
                                    </p:animEffect>
                                    <p:anim calcmode="lin" valueType="num">
                                      <p:cBhvr>
                                        <p:cTn id="69"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5">
                                            <p:txEl>
                                              <p:pRg st="8" end="8"/>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5">
                                            <p:txEl>
                                              <p:pRg st="9" end="9"/>
                                            </p:txEl>
                                          </p:spTgt>
                                        </p:tgtEl>
                                        <p:attrNameLst>
                                          <p:attrName>style.visibility</p:attrName>
                                        </p:attrNameLst>
                                      </p:cBhvr>
                                      <p:to>
                                        <p:strVal val="visible"/>
                                      </p:to>
                                    </p:set>
                                    <p:animEffect transition="in" filter="fade">
                                      <p:cBhvr>
                                        <p:cTn id="73" dur="1000"/>
                                        <p:tgtEl>
                                          <p:spTgt spid="5">
                                            <p:txEl>
                                              <p:pRg st="9" end="9"/>
                                            </p:txEl>
                                          </p:spTgt>
                                        </p:tgtEl>
                                      </p:cBhvr>
                                    </p:animEffect>
                                    <p:anim calcmode="lin" valueType="num">
                                      <p:cBhvr>
                                        <p:cTn id="74"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75"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fade">
                                      <p:cBhvr>
                                        <p:cTn id="80" dur="1000"/>
                                        <p:tgtEl>
                                          <p:spTgt spid="6"/>
                                        </p:tgtEl>
                                      </p:cBhvr>
                                    </p:animEffect>
                                    <p:anim calcmode="lin" valueType="num">
                                      <p:cBhvr>
                                        <p:cTn id="81" dur="1000" fill="hold"/>
                                        <p:tgtEl>
                                          <p:spTgt spid="6"/>
                                        </p:tgtEl>
                                        <p:attrNameLst>
                                          <p:attrName>ppt_x</p:attrName>
                                        </p:attrNameLst>
                                      </p:cBhvr>
                                      <p:tavLst>
                                        <p:tav tm="0">
                                          <p:val>
                                            <p:strVal val="#ppt_x"/>
                                          </p:val>
                                        </p:tav>
                                        <p:tav tm="100000">
                                          <p:val>
                                            <p:strVal val="#ppt_x"/>
                                          </p:val>
                                        </p:tav>
                                      </p:tavLst>
                                    </p:anim>
                                    <p:anim calcmode="lin" valueType="num">
                                      <p:cBhvr>
                                        <p:cTn id="8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6">
                                            <p:txEl>
                                              <p:pRg st="0" end="0"/>
                                            </p:txEl>
                                          </p:spTgt>
                                        </p:tgtEl>
                                        <p:attrNameLst>
                                          <p:attrName>style.visibility</p:attrName>
                                        </p:attrNameLst>
                                      </p:cBhvr>
                                      <p:to>
                                        <p:strVal val="visible"/>
                                      </p:to>
                                    </p:set>
                                    <p:animEffect transition="in" filter="fade">
                                      <p:cBhvr>
                                        <p:cTn id="87" dur="1000"/>
                                        <p:tgtEl>
                                          <p:spTgt spid="6">
                                            <p:txEl>
                                              <p:pRg st="0" end="0"/>
                                            </p:txEl>
                                          </p:spTgt>
                                        </p:tgtEl>
                                      </p:cBhvr>
                                    </p:animEffect>
                                    <p:anim calcmode="lin" valueType="num">
                                      <p:cBhvr>
                                        <p:cTn id="8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8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6">
                                            <p:txEl>
                                              <p:pRg st="1" end="1"/>
                                            </p:txEl>
                                          </p:spTgt>
                                        </p:tgtEl>
                                        <p:attrNameLst>
                                          <p:attrName>style.visibility</p:attrName>
                                        </p:attrNameLst>
                                      </p:cBhvr>
                                      <p:to>
                                        <p:strVal val="visible"/>
                                      </p:to>
                                    </p:set>
                                    <p:animEffect transition="in" filter="fade">
                                      <p:cBhvr>
                                        <p:cTn id="92" dur="1000"/>
                                        <p:tgtEl>
                                          <p:spTgt spid="6">
                                            <p:txEl>
                                              <p:pRg st="1" end="1"/>
                                            </p:txEl>
                                          </p:spTgt>
                                        </p:tgtEl>
                                      </p:cBhvr>
                                    </p:animEffect>
                                    <p:anim calcmode="lin" valueType="num">
                                      <p:cBhvr>
                                        <p:cTn id="9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6">
                                            <p:txEl>
                                              <p:pRg st="2" end="2"/>
                                            </p:txEl>
                                          </p:spTgt>
                                        </p:tgtEl>
                                        <p:attrNameLst>
                                          <p:attrName>style.visibility</p:attrName>
                                        </p:attrNameLst>
                                      </p:cBhvr>
                                      <p:to>
                                        <p:strVal val="visible"/>
                                      </p:to>
                                    </p:set>
                                    <p:animEffect transition="in" filter="fade">
                                      <p:cBhvr>
                                        <p:cTn id="99" dur="1000"/>
                                        <p:tgtEl>
                                          <p:spTgt spid="6">
                                            <p:txEl>
                                              <p:pRg st="2" end="2"/>
                                            </p:txEl>
                                          </p:spTgt>
                                        </p:tgtEl>
                                      </p:cBhvr>
                                    </p:animEffect>
                                    <p:anim calcmode="lin" valueType="num">
                                      <p:cBhvr>
                                        <p:cTn id="10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0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6">
                                            <p:txEl>
                                              <p:pRg st="3" end="3"/>
                                            </p:txEl>
                                          </p:spTgt>
                                        </p:tgtEl>
                                        <p:attrNameLst>
                                          <p:attrName>style.visibility</p:attrName>
                                        </p:attrNameLst>
                                      </p:cBhvr>
                                      <p:to>
                                        <p:strVal val="visible"/>
                                      </p:to>
                                    </p:set>
                                    <p:animEffect transition="in" filter="fade">
                                      <p:cBhvr>
                                        <p:cTn id="106" dur="1000"/>
                                        <p:tgtEl>
                                          <p:spTgt spid="6">
                                            <p:txEl>
                                              <p:pRg st="3" end="3"/>
                                            </p:txEl>
                                          </p:spTgt>
                                        </p:tgtEl>
                                      </p:cBhvr>
                                    </p:animEffect>
                                    <p:anim calcmode="lin" valueType="num">
                                      <p:cBhvr>
                                        <p:cTn id="10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08"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6">
                                            <p:txEl>
                                              <p:pRg st="4" end="4"/>
                                            </p:txEl>
                                          </p:spTgt>
                                        </p:tgtEl>
                                        <p:attrNameLst>
                                          <p:attrName>style.visibility</p:attrName>
                                        </p:attrNameLst>
                                      </p:cBhvr>
                                      <p:to>
                                        <p:strVal val="visible"/>
                                      </p:to>
                                    </p:set>
                                    <p:animEffect transition="in" filter="fade">
                                      <p:cBhvr>
                                        <p:cTn id="111" dur="1000"/>
                                        <p:tgtEl>
                                          <p:spTgt spid="6">
                                            <p:txEl>
                                              <p:pRg st="4" end="4"/>
                                            </p:txEl>
                                          </p:spTgt>
                                        </p:tgtEl>
                                      </p:cBhvr>
                                    </p:animEffect>
                                    <p:anim calcmode="lin" valueType="num">
                                      <p:cBhvr>
                                        <p:cTn id="11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1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animBg="1"/>
    </p:bld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4319</TotalTime>
  <Words>5662</Words>
  <Application>Microsoft Office PowerPoint</Application>
  <PresentationFormat>全屏显示(16:9)</PresentationFormat>
  <Paragraphs>396</Paragraphs>
  <Slides>44</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44</vt:i4>
      </vt:variant>
    </vt:vector>
  </HeadingPairs>
  <TitlesOfParts>
    <vt:vector size="57" baseType="lpstr">
      <vt:lpstr>方正粗黑宋简体</vt:lpstr>
      <vt:lpstr>黑体</vt:lpstr>
      <vt:lpstr>华文楷体</vt:lpstr>
      <vt:lpstr>华文隶书</vt:lpstr>
      <vt:lpstr>华文行楷</vt:lpstr>
      <vt:lpstr>隶书</vt:lpstr>
      <vt:lpstr>微软雅黑</vt:lpstr>
      <vt:lpstr>Arial</vt:lpstr>
      <vt:lpstr>Calibri</vt:lpstr>
      <vt:lpstr>Calibri Light</vt:lpstr>
      <vt:lpstr>Cambria Math</vt:lpstr>
      <vt:lpstr>Times New Roman</vt:lpstr>
      <vt:lpstr>章节简洁版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 Chen</cp:lastModifiedBy>
  <cp:revision>217</cp:revision>
  <dcterms:created xsi:type="dcterms:W3CDTF">2007-07-12T03:00:51Z</dcterms:created>
  <dcterms:modified xsi:type="dcterms:W3CDTF">2025-03-17T08:25:10Z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