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74"/>
  </p:notesMasterIdLst>
  <p:sldIdLst>
    <p:sldId id="454" r:id="rId2"/>
    <p:sldId id="259" r:id="rId3"/>
    <p:sldId id="797" r:id="rId4"/>
    <p:sldId id="796" r:id="rId5"/>
    <p:sldId id="261" r:id="rId6"/>
    <p:sldId id="795" r:id="rId7"/>
    <p:sldId id="799" r:id="rId8"/>
    <p:sldId id="798" r:id="rId9"/>
    <p:sldId id="800" r:id="rId10"/>
    <p:sldId id="801" r:id="rId11"/>
    <p:sldId id="802" r:id="rId12"/>
    <p:sldId id="803" r:id="rId13"/>
    <p:sldId id="804" r:id="rId14"/>
    <p:sldId id="805" r:id="rId15"/>
    <p:sldId id="806" r:id="rId16"/>
    <p:sldId id="807" r:id="rId17"/>
    <p:sldId id="808" r:id="rId18"/>
    <p:sldId id="809" r:id="rId19"/>
    <p:sldId id="810" r:id="rId20"/>
    <p:sldId id="811" r:id="rId21"/>
    <p:sldId id="812" r:id="rId22"/>
    <p:sldId id="813" r:id="rId23"/>
    <p:sldId id="814" r:id="rId24"/>
    <p:sldId id="816" r:id="rId25"/>
    <p:sldId id="815" r:id="rId26"/>
    <p:sldId id="817" r:id="rId27"/>
    <p:sldId id="818" r:id="rId28"/>
    <p:sldId id="819" r:id="rId29"/>
    <p:sldId id="820" r:id="rId30"/>
    <p:sldId id="821" r:id="rId31"/>
    <p:sldId id="864" r:id="rId32"/>
    <p:sldId id="822" r:id="rId33"/>
    <p:sldId id="823" r:id="rId34"/>
    <p:sldId id="826" r:id="rId35"/>
    <p:sldId id="827" r:id="rId36"/>
    <p:sldId id="828" r:id="rId37"/>
    <p:sldId id="829" r:id="rId38"/>
    <p:sldId id="830" r:id="rId39"/>
    <p:sldId id="831" r:id="rId40"/>
    <p:sldId id="832" r:id="rId41"/>
    <p:sldId id="833" r:id="rId42"/>
    <p:sldId id="834" r:id="rId43"/>
    <p:sldId id="835" r:id="rId44"/>
    <p:sldId id="836" r:id="rId45"/>
    <p:sldId id="837" r:id="rId46"/>
    <p:sldId id="839" r:id="rId47"/>
    <p:sldId id="838" r:id="rId48"/>
    <p:sldId id="840" r:id="rId49"/>
    <p:sldId id="841" r:id="rId50"/>
    <p:sldId id="842" r:id="rId51"/>
    <p:sldId id="843" r:id="rId52"/>
    <p:sldId id="844" r:id="rId53"/>
    <p:sldId id="845" r:id="rId54"/>
    <p:sldId id="846" r:id="rId55"/>
    <p:sldId id="847" r:id="rId56"/>
    <p:sldId id="848" r:id="rId57"/>
    <p:sldId id="849" r:id="rId58"/>
    <p:sldId id="851" r:id="rId59"/>
    <p:sldId id="850" r:id="rId60"/>
    <p:sldId id="852" r:id="rId61"/>
    <p:sldId id="854" r:id="rId62"/>
    <p:sldId id="853" r:id="rId63"/>
    <p:sldId id="855" r:id="rId64"/>
    <p:sldId id="856" r:id="rId65"/>
    <p:sldId id="857" r:id="rId66"/>
    <p:sldId id="858" r:id="rId67"/>
    <p:sldId id="859" r:id="rId68"/>
    <p:sldId id="860" r:id="rId69"/>
    <p:sldId id="861" r:id="rId70"/>
    <p:sldId id="862" r:id="rId71"/>
    <p:sldId id="863" r:id="rId72"/>
    <p:sldId id="865" r:id="rId73"/>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CCCFF"/>
    <a:srgbClr val="FFFF00"/>
    <a:srgbClr val="0066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1326" autoAdjust="0"/>
  </p:normalViewPr>
  <p:slideViewPr>
    <p:cSldViewPr showGuides="1">
      <p:cViewPr varScale="1">
        <p:scale>
          <a:sx n="72" d="100"/>
          <a:sy n="72" d="100"/>
        </p:scale>
        <p:origin x="1104" y="44"/>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9145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11994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dirty="0"/>
          </a:p>
        </p:txBody>
      </p:sp>
    </p:spTree>
    <p:extLst>
      <p:ext uri="{BB962C8B-B14F-4D97-AF65-F5344CB8AC3E}">
        <p14:creationId xmlns:p14="http://schemas.microsoft.com/office/powerpoint/2010/main" val="1747050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264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10383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22083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95754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1148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2025/4/12</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2025/4/12</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2025/4/12</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2025/4/12</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p:cover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2025/4/12</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79" r:id="rId5"/>
    <p:sldLayoutId id="2147483668" r:id="rId6"/>
    <p:sldLayoutId id="2147483669" r:id="rId7"/>
    <p:sldLayoutId id="2147483680" r:id="rId8"/>
    <p:sldLayoutId id="2147483670" r:id="rId9"/>
    <p:sldLayoutId id="2147483671" r:id="rId10"/>
    <p:sldLayoutId id="2147483672" r:id="rId11"/>
    <p:sldLayoutId id="2147483673" r:id="rId12"/>
    <p:sldLayoutId id="2147483674" r:id="rId13"/>
    <p:sldLayoutId id="2147483676" r:id="rId14"/>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4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41.emf"/></Relationships>
</file>

<file path=ppt/slides/_rels/slide5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56.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45.emf"/></Relationships>
</file>

<file path=ppt/slides/_rels/slide57.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47.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2.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90.png"/><Relationship Id="rId1" Type="http://schemas.openxmlformats.org/officeDocument/2006/relationships/slideLayout" Target="../slideLayouts/slideLayout2.xml"/><Relationship Id="rId4" Type="http://schemas.openxmlformats.org/officeDocument/2006/relationships/image" Target="../media/image5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查  找</a:t>
            </a:r>
          </a:p>
        </p:txBody>
      </p:sp>
      <p:sp>
        <p:nvSpPr>
          <p:cNvPr id="5" name="文本占位符 4"/>
          <p:cNvSpPr>
            <a:spLocks noGrp="1"/>
          </p:cNvSpPr>
          <p:nvPr>
            <p:ph type="body" sz="quarter" idx="13"/>
          </p:nvPr>
        </p:nvSpPr>
        <p:spPr/>
        <p:txBody>
          <a:bodyPr/>
          <a:lstStyle/>
          <a:p>
            <a:r>
              <a:rPr lang="en-US" altLang="zh-CN" dirty="0">
                <a:solidFill>
                  <a:srgbClr val="7030A0"/>
                </a:solidFill>
              </a:rPr>
              <a:t>8</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179512" y="1059582"/>
            <a:ext cx="8784976" cy="2736304"/>
          </a:xfrm>
        </p:spPr>
        <p:txBody>
          <a:bodyPr/>
          <a:lstStyle/>
          <a:p>
            <a:pPr algn="just" eaLnBrk="0" hangingPunct="0">
              <a:lnSpc>
                <a:spcPct val="200000"/>
              </a:lnSpc>
              <a:spcBef>
                <a:spcPts val="600"/>
              </a:spcBef>
            </a:pPr>
            <a:r>
              <a:rPr lang="zh-CN" altLang="en-US" sz="1800" dirty="0"/>
              <a:t>查找是在一些有序的或无序的数据元素中</a:t>
            </a:r>
            <a:r>
              <a:rPr lang="en-US" altLang="zh-CN" sz="1800" dirty="0"/>
              <a:t>, </a:t>
            </a:r>
            <a:r>
              <a:rPr lang="zh-CN" altLang="en-US" sz="1800" dirty="0"/>
              <a:t>通过一定的方法找出</a:t>
            </a:r>
            <a:r>
              <a:rPr lang="zh-CN" altLang="en-US" sz="1800" dirty="0">
                <a:solidFill>
                  <a:srgbClr val="FF0000"/>
                </a:solidFill>
              </a:rPr>
              <a:t>与给定关键字相同的数据元素</a:t>
            </a:r>
            <a:r>
              <a:rPr lang="zh-CN" altLang="en-US" sz="1800" dirty="0"/>
              <a:t>的过程</a:t>
            </a:r>
            <a:r>
              <a:rPr lang="en-US" altLang="zh-CN" sz="1800" dirty="0"/>
              <a:t>, </a:t>
            </a:r>
            <a:r>
              <a:rPr lang="zh-CN" altLang="en-US" sz="1800" dirty="0"/>
              <a:t>即根据给定的某个值在查找表中确定一个关键字等于给定值的记录或数据元素。</a:t>
            </a:r>
            <a:endParaRPr lang="en-US" altLang="zh-CN" sz="1800" dirty="0"/>
          </a:p>
          <a:p>
            <a:pPr algn="just" eaLnBrk="0" hangingPunct="0">
              <a:lnSpc>
                <a:spcPct val="200000"/>
              </a:lnSpc>
              <a:spcBef>
                <a:spcPts val="600"/>
              </a:spcBef>
            </a:pPr>
            <a:r>
              <a:rPr lang="zh-CN" altLang="en-US" sz="1800" dirty="0"/>
              <a:t>查找是信息处理科学中十分重要的操作</a:t>
            </a:r>
            <a:r>
              <a:rPr lang="en-US" altLang="zh-CN" sz="1800" dirty="0"/>
              <a:t>,</a:t>
            </a:r>
            <a:r>
              <a:rPr lang="zh-CN" altLang="en-US" sz="1800" dirty="0"/>
              <a:t>例如</a:t>
            </a:r>
            <a:r>
              <a:rPr lang="en-US" altLang="zh-CN" sz="1800" dirty="0"/>
              <a:t>,</a:t>
            </a:r>
            <a:r>
              <a:rPr lang="zh-CN" altLang="en-US" sz="1800" dirty="0"/>
              <a:t>在电脑中查找某个具体的文件元素</a:t>
            </a:r>
            <a:r>
              <a:rPr lang="en-US" altLang="zh-CN" sz="1800" dirty="0"/>
              <a:t>, </a:t>
            </a:r>
            <a:r>
              <a:rPr lang="zh-CN" altLang="en-US" sz="1800" dirty="0"/>
              <a:t>在高铁信息表中查找某车次的出发时间和到达时间等。</a:t>
            </a:r>
            <a:endParaRPr lang="en-US" altLang="zh-CN" sz="1800" dirty="0"/>
          </a:p>
        </p:txBody>
      </p:sp>
      <p:sp>
        <p:nvSpPr>
          <p:cNvPr id="4" name="文本框 3"/>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查找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查找表的相关概念</a:t>
            </a:r>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矩形 1"/>
          <p:cNvSpPr/>
          <p:nvPr/>
        </p:nvSpPr>
        <p:spPr>
          <a:xfrm>
            <a:off x="179512" y="4371950"/>
            <a:ext cx="3456384"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7959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179512" y="987574"/>
            <a:ext cx="8856984" cy="3168352"/>
          </a:xfrm>
        </p:spPr>
        <p:txBody>
          <a:bodyPr/>
          <a:lstStyle/>
          <a:p>
            <a:pPr algn="just" eaLnBrk="0" hangingPunct="0">
              <a:lnSpc>
                <a:spcPts val="2600"/>
              </a:lnSpc>
              <a:spcBef>
                <a:spcPts val="0"/>
              </a:spcBef>
            </a:pPr>
            <a:r>
              <a:rPr lang="zh-CN" altLang="en-US" sz="1800" dirty="0">
                <a:solidFill>
                  <a:srgbClr val="FF0000"/>
                </a:solidFill>
              </a:rPr>
              <a:t>查找表</a:t>
            </a:r>
            <a:r>
              <a:rPr lang="zh-CN" altLang="en-US" sz="1800" dirty="0"/>
              <a:t>是同一类型数据元素</a:t>
            </a:r>
            <a:r>
              <a:rPr lang="en-US" altLang="zh-CN" sz="1800" dirty="0"/>
              <a:t>(</a:t>
            </a:r>
            <a:r>
              <a:rPr lang="zh-CN" altLang="en-US" sz="1800" dirty="0"/>
              <a:t>或记录</a:t>
            </a:r>
            <a:r>
              <a:rPr lang="en-US" altLang="zh-CN" sz="1800" dirty="0"/>
              <a:t>)</a:t>
            </a:r>
            <a:r>
              <a:rPr lang="zh-CN" altLang="en-US" sz="1800" dirty="0"/>
              <a:t>构成的集合。由于集合中数据元素之间存在着完全松散的关系</a:t>
            </a:r>
            <a:r>
              <a:rPr lang="en-US" altLang="zh-CN" sz="1800" dirty="0"/>
              <a:t>,</a:t>
            </a:r>
            <a:r>
              <a:rPr lang="zh-CN" altLang="en-US" sz="1800" dirty="0"/>
              <a:t>因此</a:t>
            </a:r>
            <a:r>
              <a:rPr lang="en-US" altLang="zh-CN" sz="1800" dirty="0"/>
              <a:t>,</a:t>
            </a:r>
            <a:r>
              <a:rPr lang="zh-CN" altLang="en-US" sz="1800" dirty="0"/>
              <a:t>查找表往往要借助其他数据结构来实现相关算法。 </a:t>
            </a:r>
            <a:endParaRPr lang="en-US" altLang="zh-CN" sz="1800" dirty="0"/>
          </a:p>
          <a:p>
            <a:pPr algn="just" eaLnBrk="0" hangingPunct="0">
              <a:lnSpc>
                <a:spcPts val="2600"/>
              </a:lnSpc>
              <a:spcBef>
                <a:spcPts val="0"/>
              </a:spcBef>
            </a:pPr>
            <a:r>
              <a:rPr lang="zh-CN" altLang="en-US" sz="1800" dirty="0">
                <a:solidFill>
                  <a:srgbClr val="FF0000"/>
                </a:solidFill>
              </a:rPr>
              <a:t>关键字</a:t>
            </a:r>
            <a:r>
              <a:rPr lang="zh-CN" altLang="en-US" sz="1800" dirty="0"/>
              <a:t>是可以标识一个数据元素</a:t>
            </a:r>
            <a:r>
              <a:rPr lang="en-US" altLang="zh-CN" sz="1800" dirty="0"/>
              <a:t>(</a:t>
            </a:r>
            <a:r>
              <a:rPr lang="zh-CN" altLang="en-US" sz="1800" dirty="0"/>
              <a:t>或记录</a:t>
            </a:r>
            <a:r>
              <a:rPr lang="en-US" altLang="zh-CN" sz="1800" dirty="0"/>
              <a:t>)</a:t>
            </a:r>
            <a:r>
              <a:rPr lang="zh-CN" altLang="en-US" sz="1800" dirty="0"/>
              <a:t>的数据项</a:t>
            </a:r>
            <a:r>
              <a:rPr lang="en-US" altLang="zh-CN" sz="1800" dirty="0"/>
              <a:t>,</a:t>
            </a:r>
            <a:r>
              <a:rPr lang="zh-CN" altLang="en-US" sz="1800" dirty="0"/>
              <a:t>关键字的值被称为键值。若关键字可以唯一地标识一条记录</a:t>
            </a:r>
            <a:r>
              <a:rPr lang="en-US" altLang="zh-CN" sz="1800" dirty="0"/>
              <a:t>, </a:t>
            </a:r>
            <a:r>
              <a:rPr lang="zh-CN" altLang="en-US" sz="1800" dirty="0"/>
              <a:t>则称此关键字为</a:t>
            </a:r>
            <a:r>
              <a:rPr lang="zh-CN" altLang="en-US" sz="1800" dirty="0">
                <a:solidFill>
                  <a:srgbClr val="002060"/>
                </a:solidFill>
              </a:rPr>
              <a:t>主关键字</a:t>
            </a:r>
            <a:r>
              <a:rPr lang="en-US" altLang="zh-CN" sz="1800" dirty="0"/>
              <a:t>(</a:t>
            </a:r>
            <a:r>
              <a:rPr lang="zh-CN" altLang="en-US" sz="1800" dirty="0"/>
              <a:t>简称主键</a:t>
            </a:r>
            <a:r>
              <a:rPr lang="en-US" altLang="zh-CN" sz="1800" dirty="0"/>
              <a:t>); </a:t>
            </a:r>
            <a:r>
              <a:rPr lang="zh-CN" altLang="en-US" sz="1800" dirty="0"/>
              <a:t>反之</a:t>
            </a:r>
            <a:r>
              <a:rPr lang="en-US" altLang="zh-CN" sz="1800" dirty="0"/>
              <a:t>,</a:t>
            </a:r>
            <a:r>
              <a:rPr lang="zh-CN" altLang="en-US" sz="1800" dirty="0"/>
              <a:t>则称此关键字为</a:t>
            </a:r>
            <a:r>
              <a:rPr lang="zh-CN" altLang="en-US" sz="1800" dirty="0">
                <a:solidFill>
                  <a:srgbClr val="002060"/>
                </a:solidFill>
              </a:rPr>
              <a:t>次关键字</a:t>
            </a:r>
            <a:r>
              <a:rPr lang="zh-CN" altLang="en-US" sz="1800" dirty="0"/>
              <a:t>。</a:t>
            </a:r>
            <a:endParaRPr lang="en-US" altLang="zh-CN" sz="1800" dirty="0"/>
          </a:p>
          <a:p>
            <a:pPr algn="just" eaLnBrk="0" hangingPunct="0">
              <a:lnSpc>
                <a:spcPts val="2600"/>
              </a:lnSpc>
              <a:spcBef>
                <a:spcPts val="0"/>
              </a:spcBef>
            </a:pPr>
            <a:r>
              <a:rPr lang="zh-CN" altLang="en-US" sz="1800" dirty="0">
                <a:solidFill>
                  <a:srgbClr val="C00000"/>
                </a:solidFill>
              </a:rPr>
              <a:t>查找</a:t>
            </a:r>
            <a:r>
              <a:rPr lang="zh-CN" altLang="en-US" sz="1800" dirty="0"/>
              <a:t>是根据给定的某个值</a:t>
            </a:r>
            <a:r>
              <a:rPr lang="en-US" altLang="zh-CN" sz="1800" dirty="0"/>
              <a:t>,</a:t>
            </a:r>
            <a:r>
              <a:rPr lang="zh-CN" altLang="en-US" sz="1800" dirty="0"/>
              <a:t>在查找表中确定一个关键字等于给定值的记录或数据元素的过程。若在查找表中存在与给定值匹配的记录</a:t>
            </a:r>
            <a:r>
              <a:rPr lang="en-US" altLang="zh-CN" sz="1800" dirty="0"/>
              <a:t>,</a:t>
            </a:r>
            <a:r>
              <a:rPr lang="zh-CN" altLang="en-US" sz="1800" dirty="0"/>
              <a:t>则查找成功</a:t>
            </a:r>
            <a:r>
              <a:rPr lang="en-US" altLang="zh-CN" sz="1800" dirty="0"/>
              <a:t>,</a:t>
            </a:r>
            <a:r>
              <a:rPr lang="zh-CN" altLang="en-US" sz="1800" dirty="0"/>
              <a:t>此时查找的结果可以是整个记录的信息或查找成功标记等。若在查找表中不存在与给定值匹配的记录</a:t>
            </a:r>
            <a:r>
              <a:rPr lang="en-US" altLang="zh-CN" sz="1800" dirty="0"/>
              <a:t>,</a:t>
            </a:r>
            <a:r>
              <a:rPr lang="zh-CN" altLang="en-US" sz="1800" dirty="0"/>
              <a:t>则查找不成功</a:t>
            </a:r>
            <a:r>
              <a:rPr lang="en-US" altLang="zh-CN" sz="1800" dirty="0"/>
              <a:t>,</a:t>
            </a:r>
            <a:r>
              <a:rPr lang="zh-CN" altLang="en-US" sz="1800" dirty="0"/>
              <a:t>此时查找结果可以是不成功标记</a:t>
            </a:r>
            <a:r>
              <a:rPr lang="en-US" altLang="zh-CN" sz="1800" dirty="0"/>
              <a:t>,</a:t>
            </a:r>
            <a:r>
              <a:rPr lang="zh-CN" altLang="en-US" sz="1800" dirty="0"/>
              <a:t>或将被查找的记录插入查找表</a:t>
            </a:r>
            <a:r>
              <a:rPr lang="zh-CN" altLang="en-US" sz="1800" dirty="0">
                <a:latin typeface="隶书" panose="02010509060101010101" pitchFamily="49" charset="-122"/>
                <a:ea typeface="隶书" panose="02010509060101010101" pitchFamily="49" charset="-122"/>
              </a:rPr>
              <a:t>。</a:t>
            </a:r>
          </a:p>
        </p:txBody>
      </p:sp>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查找的相关概念</a:t>
            </a:r>
          </a:p>
        </p:txBody>
      </p:sp>
    </p:spTree>
    <p:extLst>
      <p:ext uri="{BB962C8B-B14F-4D97-AF65-F5344CB8AC3E}">
        <p14:creationId xmlns:p14="http://schemas.microsoft.com/office/powerpoint/2010/main" val="225121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539552" y="843558"/>
            <a:ext cx="7704856" cy="4010597"/>
          </a:xfrm>
        </p:spPr>
        <p:txBody>
          <a:bodyPr/>
          <a:lstStyle/>
          <a:p>
            <a:pPr algn="just" eaLnBrk="0" hangingPunct="0">
              <a:lnSpc>
                <a:spcPts val="2500"/>
              </a:lnSpc>
              <a:spcBef>
                <a:spcPts val="0"/>
              </a:spcBef>
            </a:pPr>
            <a:r>
              <a:rPr lang="zh-CN" altLang="en-US" sz="1800" dirty="0">
                <a:solidFill>
                  <a:srgbClr val="C00000"/>
                </a:solidFill>
              </a:rPr>
              <a:t>静态查找表</a:t>
            </a:r>
            <a:r>
              <a:rPr lang="zh-CN" altLang="en-US" sz="1800" dirty="0"/>
              <a:t>是仅对查找表进行查找操作</a:t>
            </a:r>
            <a:r>
              <a:rPr lang="en-US" altLang="zh-CN" sz="1800" dirty="0"/>
              <a:t>,</a:t>
            </a:r>
            <a:r>
              <a:rPr lang="zh-CN" altLang="en-US" sz="1800" dirty="0"/>
              <a:t>而不进行插入和删除操作的查找表。静态查找在查找不成功时</a:t>
            </a:r>
            <a:r>
              <a:rPr lang="en-US" altLang="zh-CN" sz="1800" dirty="0"/>
              <a:t>, </a:t>
            </a:r>
            <a:r>
              <a:rPr lang="zh-CN" altLang="en-US" sz="1800" dirty="0"/>
              <a:t>只返回一个不成功标志</a:t>
            </a:r>
            <a:r>
              <a:rPr lang="en-US" altLang="zh-CN" sz="1800" dirty="0"/>
              <a:t>, </a:t>
            </a:r>
            <a:r>
              <a:rPr lang="zh-CN" altLang="en-US" sz="1800" dirty="0"/>
              <a:t>不改变查找表</a:t>
            </a:r>
            <a:r>
              <a:rPr lang="en-US" altLang="zh-CN" sz="1800" dirty="0"/>
              <a:t>, </a:t>
            </a:r>
            <a:r>
              <a:rPr lang="zh-CN" altLang="en-US" sz="1800" dirty="0"/>
              <a:t>因此表中数据元素的数量不会发生变化。 </a:t>
            </a:r>
            <a:endParaRPr lang="en-US" altLang="zh-CN" sz="1800" dirty="0"/>
          </a:p>
          <a:p>
            <a:pPr algn="just" eaLnBrk="0" hangingPunct="0">
              <a:lnSpc>
                <a:spcPts val="2500"/>
              </a:lnSpc>
              <a:spcBef>
                <a:spcPts val="0"/>
              </a:spcBef>
            </a:pPr>
            <a:endParaRPr lang="en-US" altLang="zh-CN" sz="1800" dirty="0"/>
          </a:p>
          <a:p>
            <a:pPr algn="just" eaLnBrk="0" hangingPunct="0">
              <a:lnSpc>
                <a:spcPts val="2500"/>
              </a:lnSpc>
              <a:spcBef>
                <a:spcPts val="0"/>
              </a:spcBef>
            </a:pPr>
            <a:r>
              <a:rPr lang="zh-CN" altLang="en-US" sz="1800" dirty="0">
                <a:solidFill>
                  <a:srgbClr val="C00000"/>
                </a:solidFill>
              </a:rPr>
              <a:t>动态查找表</a:t>
            </a:r>
            <a:r>
              <a:rPr lang="zh-CN" altLang="en-US" sz="1800" dirty="0"/>
              <a:t>是在查找的同时对表进行插入和删除操作的表。动态查找在查找不成功时</a:t>
            </a:r>
            <a:r>
              <a:rPr lang="en-US" altLang="zh-CN" sz="1800" dirty="0"/>
              <a:t>,</a:t>
            </a:r>
            <a:r>
              <a:rPr lang="zh-CN" altLang="en-US" sz="1800" dirty="0"/>
              <a:t>需要将被查找的记录插入查找表</a:t>
            </a:r>
            <a:r>
              <a:rPr lang="en-US" altLang="zh-CN" sz="1800" dirty="0"/>
              <a:t>, </a:t>
            </a:r>
            <a:r>
              <a:rPr lang="zh-CN" altLang="en-US" sz="1800" dirty="0"/>
              <a:t>可能会改变查找表</a:t>
            </a:r>
            <a:r>
              <a:rPr lang="en-US" altLang="zh-CN" sz="1800" dirty="0"/>
              <a:t>, </a:t>
            </a:r>
            <a:r>
              <a:rPr lang="zh-CN" altLang="en-US" sz="1800" dirty="0"/>
              <a:t>因此表中数据元素的数量可能会发生变化。</a:t>
            </a:r>
            <a:endParaRPr lang="en-US" altLang="zh-CN" sz="1800" dirty="0"/>
          </a:p>
        </p:txBody>
      </p:sp>
      <p:sp>
        <p:nvSpPr>
          <p:cNvPr id="5" name="文本框 4"/>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查找的相关概念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467544" y="1059582"/>
                <a:ext cx="8208912" cy="2664296"/>
              </a:xfrm>
            </p:spPr>
            <p:txBody>
              <a:bodyPr/>
              <a:lstStyle/>
              <a:p>
                <a:pPr algn="just">
                  <a:lnSpc>
                    <a:spcPts val="2500"/>
                  </a:lnSpc>
                  <a:spcBef>
                    <a:spcPts val="0"/>
                  </a:spcBef>
                </a:pPr>
                <a:r>
                  <a:rPr lang="zh-CN" altLang="en-US" sz="1800" dirty="0">
                    <a:solidFill>
                      <a:srgbClr val="C00000"/>
                    </a:solidFill>
                    <a:latin typeface="Times New Roman" panose="02020603050405020304" pitchFamily="18" charset="0"/>
                    <a:cs typeface="Times New Roman" panose="02020603050405020304" pitchFamily="18" charset="0"/>
                  </a:rPr>
                  <a:t>平均查找长度</a:t>
                </a:r>
                <a:r>
                  <a:rPr lang="en-US" altLang="zh-CN" sz="1800" dirty="0">
                    <a:latin typeface="Times New Roman" panose="02020603050405020304" pitchFamily="18" charset="0"/>
                    <a:cs typeface="Times New Roman" panose="02020603050405020304" pitchFamily="18" charset="0"/>
                  </a:rPr>
                  <a:t>(Average Search Length, ASL)</a:t>
                </a:r>
                <a:r>
                  <a:rPr lang="zh-CN" altLang="en-US" sz="1800" dirty="0">
                    <a:latin typeface="Times New Roman" panose="02020603050405020304" pitchFamily="18" charset="0"/>
                    <a:cs typeface="Times New Roman" panose="02020603050405020304" pitchFamily="18" charset="0"/>
                  </a:rPr>
                  <a:t>是查找过程中关键字的平均比较次数。平均查找长度作为衡量查找算法效率优劣的标准</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平均查找长度定义如下：</a:t>
                </a:r>
              </a:p>
              <a:p>
                <a:pPr marL="0" indent="0" algn="just">
                  <a:lnSpc>
                    <a:spcPts val="2500"/>
                  </a:lnSpc>
                  <a:spcBef>
                    <a:spcPts val="0"/>
                  </a:spcBef>
                  <a:buNone/>
                </a:pPr>
                <a:endParaRPr lang="en-US" altLang="zh-CN" sz="1600" dirty="0">
                  <a:latin typeface="隶书" panose="02010509060101010101" pitchFamily="49" charset="-122"/>
                  <a:ea typeface="隶书" panose="02010509060101010101" pitchFamily="49" charset="-122"/>
                </a:endParaRPr>
              </a:p>
              <a:p>
                <a:pPr marL="0" indent="0" algn="just">
                  <a:lnSpc>
                    <a:spcPts val="2100"/>
                  </a:lnSpc>
                  <a:spcBef>
                    <a:spcPts val="0"/>
                  </a:spcBef>
                  <a:buNone/>
                </a:pPr>
                <a14:m>
                  <m:oMathPara xmlns:m="http://schemas.openxmlformats.org/officeDocument/2006/math">
                    <m:oMathParaPr>
                      <m:jc m:val="center"/>
                    </m:oMathParaPr>
                    <m:oMath xmlns:m="http://schemas.openxmlformats.org/officeDocument/2006/math">
                      <m:r>
                        <m:rPr>
                          <m:sty m:val="p"/>
                        </m:rPr>
                        <a:rPr lang="en-US" altLang="zh-CN" sz="1600">
                          <a:latin typeface="Cambria Math" panose="02040503050406030204" pitchFamily="18" charset="0"/>
                        </a:rPr>
                        <m:t>ASL</m:t>
                      </m:r>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𝑛</m:t>
                          </m:r>
                        </m:sup>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𝑝</m:t>
                              </m:r>
                            </m:e>
                            <m:sub>
                              <m:r>
                                <a:rPr lang="en-US" altLang="zh-CN" sz="1600" i="1">
                                  <a:latin typeface="Cambria Math" panose="02040503050406030204" pitchFamily="18" charset="0"/>
                                </a:rPr>
                                <m:t>𝑖</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𝑐</m:t>
                              </m:r>
                            </m:e>
                            <m:sub>
                              <m:r>
                                <a:rPr lang="en-US" altLang="zh-CN" sz="1600" i="1">
                                  <a:latin typeface="Cambria Math" panose="02040503050406030204" pitchFamily="18" charset="0"/>
                                </a:rPr>
                                <m:t>𝑖</m:t>
                              </m:r>
                            </m:sub>
                          </m:sSub>
                        </m:e>
                      </m:nary>
                    </m:oMath>
                  </m:oMathPara>
                </a14:m>
                <a:endParaRPr lang="zh-CN" altLang="zh-CN" sz="1600" dirty="0">
                  <a:latin typeface="隶书" panose="02010509060101010101" pitchFamily="49" charset="-122"/>
                  <a:ea typeface="隶书" panose="02010509060101010101" pitchFamily="49" charset="-122"/>
                </a:endParaRPr>
              </a:p>
              <a:p>
                <a:pPr marL="0" indent="0" algn="just">
                  <a:lnSpc>
                    <a:spcPts val="2500"/>
                  </a:lnSpc>
                  <a:spcBef>
                    <a:spcPts val="0"/>
                  </a:spcBef>
                  <a:buNone/>
                </a:pPr>
                <a:r>
                  <a:rPr lang="en-US" altLang="zh-CN" sz="1600" dirty="0">
                    <a:latin typeface="隶书" panose="02010509060101010101" pitchFamily="49" charset="-122"/>
                    <a:ea typeface="隶书" panose="02010509060101010101" pitchFamily="49" charset="-122"/>
                  </a:rPr>
                  <a:t>   </a:t>
                </a:r>
              </a:p>
              <a:p>
                <a:pPr marL="0" indent="0" algn="just">
                  <a:lnSpc>
                    <a:spcPts val="2200"/>
                  </a:lnSpc>
                  <a:spcBef>
                    <a:spcPts val="0"/>
                  </a:spcBef>
                  <a:buNone/>
                </a:pPr>
                <a:r>
                  <a:rPr lang="zh-CN" altLang="zh-CN" sz="18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1800">
                        <a:latin typeface="Cambria Math" panose="02040503050406030204" pitchFamily="18" charset="0"/>
                        <a:cs typeface="Times New Roman" panose="02020603050405020304" pitchFamily="18" charset="0"/>
                      </a:rPr>
                      <m:t>𝑛</m:t>
                    </m:r>
                  </m:oMath>
                </a14:m>
                <a:r>
                  <a:rPr lang="zh-CN" altLang="zh-CN" sz="1800" dirty="0">
                    <a:latin typeface="Times New Roman" panose="02020603050405020304" pitchFamily="18" charset="0"/>
                    <a:cs typeface="Times New Roman" panose="02020603050405020304" pitchFamily="18" charset="0"/>
                  </a:rPr>
                  <a:t>为查找表中元素的个数；</a:t>
                </a:r>
                <a14:m>
                  <m:oMath xmlns:m="http://schemas.openxmlformats.org/officeDocument/2006/math">
                    <m:sSub>
                      <m:sSubPr>
                        <m:ctrlPr>
                          <a:rPr lang="zh-CN" altLang="zh-CN" sz="1800" i="1">
                            <a:latin typeface="Cambria Math" panose="02040503050406030204" pitchFamily="18" charset="0"/>
                            <a:cs typeface="Times New Roman" panose="02020603050405020304" pitchFamily="18" charset="0"/>
                          </a:rPr>
                        </m:ctrlPr>
                      </m:sSubPr>
                      <m:e>
                        <m:r>
                          <a:rPr lang="en-US" altLang="zh-CN" sz="1800">
                            <a:latin typeface="Cambria Math" panose="02040503050406030204" pitchFamily="18" charset="0"/>
                            <a:cs typeface="Times New Roman" panose="02020603050405020304" pitchFamily="18" charset="0"/>
                          </a:rPr>
                          <m:t>𝑝</m:t>
                        </m:r>
                      </m:e>
                      <m:sub>
                        <m:r>
                          <a:rPr lang="en-US" altLang="zh-CN" sz="1800">
                            <a:latin typeface="Cambria Math" panose="02040503050406030204" pitchFamily="18" charset="0"/>
                            <a:cs typeface="Times New Roman" panose="02020603050405020304" pitchFamily="18" charset="0"/>
                          </a:rPr>
                          <m:t>𝑖</m:t>
                        </m:r>
                      </m:sub>
                    </m:sSub>
                    <m:r>
                      <a:rPr lang="en-US" altLang="zh-CN" sz="1800">
                        <a:latin typeface="Cambria Math" panose="02040503050406030204" pitchFamily="18" charset="0"/>
                        <a:cs typeface="Times New Roman" panose="02020603050405020304" pitchFamily="18" charset="0"/>
                      </a:rPr>
                      <m:t>(1≤</m:t>
                    </m:r>
                    <m:r>
                      <a:rPr lang="en-US" altLang="zh-CN" sz="1800">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r>
                      <a:rPr lang="en-US" altLang="zh-CN" sz="1800">
                        <a:latin typeface="Cambria Math" panose="02040503050406030204" pitchFamily="18" charset="0"/>
                        <a:cs typeface="Times New Roman" panose="02020603050405020304" pitchFamily="18" charset="0"/>
                      </a:rPr>
                      <m:t>𝑛</m:t>
                    </m:r>
                    <m:r>
                      <a:rPr lang="en-US" altLang="zh-CN" sz="1800">
                        <a:latin typeface="Cambria Math" panose="02040503050406030204" pitchFamily="18" charset="0"/>
                        <a:cs typeface="Times New Roman" panose="02020603050405020304" pitchFamily="18" charset="0"/>
                      </a:rPr>
                      <m:t>)</m:t>
                    </m:r>
                  </m:oMath>
                </a14:m>
                <a:r>
                  <a:rPr lang="zh-CN" altLang="zh-CN" sz="1800" dirty="0">
                    <a:latin typeface="Times New Roman" panose="02020603050405020304" pitchFamily="18" charset="0"/>
                    <a:cs typeface="Times New Roman" panose="02020603050405020304" pitchFamily="18" charset="0"/>
                  </a:rPr>
                  <a:t>是查找第</a:t>
                </a:r>
                <a14:m>
                  <m:oMath xmlns:m="http://schemas.openxmlformats.org/officeDocument/2006/math">
                    <m:r>
                      <a:rPr lang="en-US" altLang="zh-CN" sz="1800">
                        <a:latin typeface="Cambria Math" panose="02040503050406030204" pitchFamily="18" charset="0"/>
                        <a:cs typeface="Times New Roman" panose="02020603050405020304" pitchFamily="18" charset="0"/>
                      </a:rPr>
                      <m:t>𝑖</m:t>
                    </m:r>
                  </m:oMath>
                </a14:m>
                <a:r>
                  <a:rPr lang="zh-CN" altLang="zh-CN" sz="1800" dirty="0">
                    <a:latin typeface="Times New Roman" panose="02020603050405020304" pitchFamily="18" charset="0"/>
                    <a:cs typeface="Times New Roman" panose="02020603050405020304" pitchFamily="18" charset="0"/>
                  </a:rPr>
                  <a:t>个元素的概率，如果每个元素查找概率相等，则</a:t>
                </a:r>
                <a14:m>
                  <m:oMath xmlns:m="http://schemas.openxmlformats.org/officeDocument/2006/math">
                    <m:sSub>
                      <m:sSubPr>
                        <m:ctrlPr>
                          <a:rPr lang="zh-CN" altLang="zh-CN" sz="1800" i="1">
                            <a:latin typeface="Cambria Math" panose="02040503050406030204" pitchFamily="18" charset="0"/>
                            <a:cs typeface="Times New Roman" panose="02020603050405020304" pitchFamily="18" charset="0"/>
                          </a:rPr>
                        </m:ctrlPr>
                      </m:sSubPr>
                      <m:e>
                        <m:r>
                          <a:rPr lang="en-US" altLang="zh-CN" sz="1800">
                            <a:latin typeface="Cambria Math" panose="02040503050406030204" pitchFamily="18" charset="0"/>
                            <a:cs typeface="Times New Roman" panose="02020603050405020304" pitchFamily="18" charset="0"/>
                          </a:rPr>
                          <m:t>𝑝</m:t>
                        </m:r>
                      </m:e>
                      <m:sub>
                        <m:r>
                          <a:rPr lang="en-US" altLang="zh-CN" sz="1800">
                            <a:latin typeface="Cambria Math" panose="02040503050406030204" pitchFamily="18" charset="0"/>
                            <a:cs typeface="Times New Roman" panose="02020603050405020304" pitchFamily="18" charset="0"/>
                          </a:rPr>
                          <m:t>𝑖</m:t>
                        </m:r>
                      </m:sub>
                    </m:sSub>
                    <m:r>
                      <a:rPr lang="en-US" altLang="zh-CN" sz="1800">
                        <a:latin typeface="Cambria Math" panose="02040503050406030204" pitchFamily="18" charset="0"/>
                        <a:cs typeface="Times New Roman" panose="02020603050405020304" pitchFamily="18" charset="0"/>
                      </a:rPr>
                      <m:t>=1/</m:t>
                    </m:r>
                    <m:r>
                      <a:rPr lang="en-US" altLang="zh-CN" sz="1800">
                        <a:latin typeface="Cambria Math" panose="02040503050406030204" pitchFamily="18" charset="0"/>
                        <a:cs typeface="Times New Roman" panose="02020603050405020304" pitchFamily="18" charset="0"/>
                      </a:rPr>
                      <m:t>𝑛</m:t>
                    </m:r>
                  </m:oMath>
                </a14:m>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800" i="1">
                            <a:latin typeface="Cambria Math" panose="02040503050406030204" pitchFamily="18" charset="0"/>
                            <a:cs typeface="Times New Roman" panose="02020603050405020304" pitchFamily="18" charset="0"/>
                          </a:rPr>
                        </m:ctrlPr>
                      </m:sSubPr>
                      <m:e>
                        <m:r>
                          <a:rPr lang="en-US" altLang="zh-CN" sz="1800">
                            <a:latin typeface="Cambria Math" panose="02040503050406030204" pitchFamily="18" charset="0"/>
                            <a:cs typeface="Times New Roman" panose="02020603050405020304" pitchFamily="18" charset="0"/>
                          </a:rPr>
                          <m:t>𝑐</m:t>
                        </m:r>
                      </m:e>
                      <m:sub>
                        <m:r>
                          <a:rPr lang="en-US" altLang="zh-CN" sz="1800">
                            <a:latin typeface="Cambria Math" panose="02040503050406030204" pitchFamily="18" charset="0"/>
                            <a:cs typeface="Times New Roman" panose="02020603050405020304" pitchFamily="18" charset="0"/>
                          </a:rPr>
                          <m:t>𝑖</m:t>
                        </m:r>
                      </m:sub>
                    </m:sSub>
                    <m:r>
                      <a:rPr lang="en-US" altLang="zh-CN" sz="1800">
                        <a:latin typeface="Cambria Math" panose="02040503050406030204" pitchFamily="18" charset="0"/>
                        <a:cs typeface="Times New Roman" panose="02020603050405020304" pitchFamily="18" charset="0"/>
                      </a:rPr>
                      <m:t>(1≤</m:t>
                    </m:r>
                    <m:r>
                      <a:rPr lang="en-US" altLang="zh-CN" sz="1800">
                        <a:latin typeface="Cambria Math" panose="02040503050406030204" pitchFamily="18" charset="0"/>
                        <a:cs typeface="Times New Roman" panose="02020603050405020304" pitchFamily="18" charset="0"/>
                      </a:rPr>
                      <m:t>𝑖</m:t>
                    </m:r>
                    <m:r>
                      <a:rPr lang="en-US" altLang="zh-CN" sz="1800">
                        <a:latin typeface="Cambria Math" panose="02040503050406030204" pitchFamily="18" charset="0"/>
                        <a:cs typeface="Times New Roman" panose="02020603050405020304" pitchFamily="18" charset="0"/>
                      </a:rPr>
                      <m:t>≤</m:t>
                    </m:r>
                    <m:r>
                      <a:rPr lang="en-US" altLang="zh-CN" sz="1800">
                        <a:latin typeface="Cambria Math" panose="02040503050406030204" pitchFamily="18" charset="0"/>
                        <a:cs typeface="Times New Roman" panose="02020603050405020304" pitchFamily="18" charset="0"/>
                      </a:rPr>
                      <m:t>𝑛</m:t>
                    </m:r>
                    <m:r>
                      <a:rPr lang="en-US" altLang="zh-CN" sz="1800">
                        <a:latin typeface="Cambria Math" panose="02040503050406030204" pitchFamily="18" charset="0"/>
                        <a:cs typeface="Times New Roman" panose="02020603050405020304" pitchFamily="18" charset="0"/>
                      </a:rPr>
                      <m:t>)</m:t>
                    </m:r>
                  </m:oMath>
                </a14:m>
                <a:r>
                  <a:rPr lang="zh-CN" altLang="zh-CN" sz="1800" dirty="0">
                    <a:latin typeface="Times New Roman" panose="02020603050405020304" pitchFamily="18" charset="0"/>
                    <a:cs typeface="Times New Roman" panose="02020603050405020304" pitchFamily="18" charset="0"/>
                  </a:rPr>
                  <a:t>是找到每个元素所需要的比较次数。</a:t>
                </a:r>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467544" y="1059582"/>
                <a:ext cx="8208912" cy="2664296"/>
              </a:xfrm>
              <a:blipFill>
                <a:blip r:embed="rId2"/>
                <a:stretch>
                  <a:fillRect l="-966" t="-4119" r="-3640"/>
                </a:stretch>
              </a:blipFill>
            </p:spPr>
            <p:txBody>
              <a:bodyPr/>
              <a:lstStyle/>
              <a:p>
                <a:r>
                  <a:rPr lang="zh-CN" altLang="en-US">
                    <a:noFill/>
                  </a:rPr>
                  <a:t> </a:t>
                </a:r>
              </a:p>
            </p:txBody>
          </p:sp>
        </mc:Fallback>
      </mc:AlternateContent>
      <p:sp>
        <p:nvSpPr>
          <p:cNvPr id="5" name="文本框 4"/>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查找的相关概念</a:t>
            </a:r>
          </a:p>
        </p:txBody>
      </p:sp>
    </p:spTree>
    <p:extLst>
      <p:ext uri="{BB962C8B-B14F-4D97-AF65-F5344CB8AC3E}">
        <p14:creationId xmlns:p14="http://schemas.microsoft.com/office/powerpoint/2010/main" val="314375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静态查找表</a:t>
            </a:r>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矩形 1"/>
          <p:cNvSpPr/>
          <p:nvPr/>
        </p:nvSpPr>
        <p:spPr>
          <a:xfrm>
            <a:off x="179512" y="4371950"/>
            <a:ext cx="3456384"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4382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1064124"/>
            <a:ext cx="5040560" cy="3507876"/>
          </a:xfrm>
        </p:spPr>
        <p:txBody>
          <a:bodyPr/>
          <a:lstStyle/>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#define max 100</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typedef</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struct</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KeyType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key;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KeyType</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为关键字数据类型</a:t>
            </a: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InfoType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otherinfo</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其他域</a:t>
            </a: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SElemType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class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StaticSearchtable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private:</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SElemType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elem</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length;</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public:</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StaticSearchtable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构造函数，</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0</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号单元留空</a:t>
            </a: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elem</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=new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SElemType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[max+1];</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length=0;</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00000"/>
              </a:lnSpc>
              <a:spcBef>
                <a:spcPts val="0"/>
              </a:spcBef>
              <a:buNone/>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 </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mc:AlternateContent xmlns:mc="http://schemas.openxmlformats.org/markup-compatibility/2006">
        <mc:Choice xmlns:a14="http://schemas.microsoft.com/office/drawing/2010/main" Requires="a14">
          <p:sp>
            <p:nvSpPr>
              <p:cNvPr id="4" name="文本框 3"/>
              <p:cNvSpPr txBox="1"/>
              <p:nvPr/>
            </p:nvSpPr>
            <p:spPr>
              <a:xfrm>
                <a:off x="4067944" y="674385"/>
                <a:ext cx="5040560" cy="4278094"/>
              </a:xfrm>
              <a:prstGeom prst="rect">
                <a:avLst/>
              </a:prstGeom>
              <a:solidFill>
                <a:schemeClr val="accent2"/>
              </a:solidFill>
            </p:spPr>
            <p:txBody>
              <a:bodyPr wrap="square" rtlCol="0">
                <a:spAutoFit/>
              </a:bodyPr>
              <a:lstStyle/>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StaticSearchtable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析构函数，释放存储空间</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delete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elem</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length=0;</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void Create(</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n){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创建</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n</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个元素的顺序表</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for(</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=1;i&lt;=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n;i</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cin</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&gt;&gt;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elem</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].key&gt;&gt;</a:t>
                </a:r>
                <a14:m>
                  <m:oMath xmlns:m="http://schemas.openxmlformats.org/officeDocument/2006/math">
                    <m:r>
                      <m:rPr>
                        <m:sty m:val="p"/>
                      </m:rPr>
                      <a:rPr lang="en-US" altLang="zh-CN" sz="1600" dirty="0">
                        <a:latin typeface="+mn-ea"/>
                        <a:ea typeface="+mn-ea"/>
                        <a:cs typeface="Arial Unicode MS" panose="020B0604020202020204" pitchFamily="34" charset="-122"/>
                      </a:rPr>
                      <m:t>elem</m:t>
                    </m:r>
                    <m:d>
                      <m:dPr>
                        <m:begChr m:val="["/>
                        <m:endChr m:val="]"/>
                        <m:ctrlPr>
                          <a:rPr lang="en-US" altLang="zh-CN" sz="1600" dirty="0">
                            <a:latin typeface="+mn-ea"/>
                            <a:ea typeface="+mn-ea"/>
                            <a:cs typeface="Arial Unicode MS" panose="020B0604020202020204" pitchFamily="34" charset="-122"/>
                          </a:rPr>
                        </m:ctrlPr>
                      </m:dPr>
                      <m:e>
                        <m:r>
                          <m:rPr>
                            <m:sty m:val="p"/>
                          </m:rPr>
                          <a:rPr lang="en-US" altLang="zh-CN" sz="1600" dirty="0">
                            <a:latin typeface="+mn-ea"/>
                            <a:ea typeface="+mn-ea"/>
                            <a:cs typeface="Arial Unicode MS" panose="020B0604020202020204" pitchFamily="34" charset="-122"/>
                          </a:rPr>
                          <m:t>i</m:t>
                        </m:r>
                      </m:e>
                    </m:d>
                    <m:r>
                      <a:rPr lang="en-US" altLang="zh-CN" sz="1600" dirty="0">
                        <a:latin typeface="+mn-ea"/>
                        <a:ea typeface="+mn-ea"/>
                        <a:cs typeface="Arial Unicode MS" panose="020B0604020202020204" pitchFamily="34" charset="-122"/>
                      </a:rPr>
                      <m:t>.</m:t>
                    </m:r>
                    <m:r>
                      <m:rPr>
                        <m:sty m:val="p"/>
                      </m:rPr>
                      <a:rPr lang="en-US" altLang="zh-CN" sz="1600">
                        <a:latin typeface="+mn-ea"/>
                        <a:ea typeface="+mn-ea"/>
                        <a:cs typeface="Arial Unicode MS" panose="020B0604020202020204" pitchFamily="34" charset="-122"/>
                      </a:rPr>
                      <m:t>otherinfo</m:t>
                    </m:r>
                  </m:oMath>
                </a14:m>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length=n;</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endParaRP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SqSearch</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KeyType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key);     </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顺序查找值等于</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key</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的关键字</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BinSearch</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KeyType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key);   </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二分查找值等于</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key</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的关键字</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int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IndexSearch</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IndexType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index[max],</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dirty="0" err="1">
                    <a:latin typeface="Arial Unicode MS" panose="020B0604020202020204" pitchFamily="34" charset="-122"/>
                    <a:ea typeface="Arial Unicode MS" panose="020B0604020202020204" pitchFamily="34" charset="-122"/>
                    <a:cs typeface="Arial Unicode MS" panose="020B0604020202020204" pitchFamily="34" charset="-122"/>
                  </a:rPr>
                  <a:t>KeyType</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key, int b); </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分块查找值等于</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key</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的关键字，</a:t>
                </a: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b</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为块数</a:t>
                </a:r>
              </a:p>
              <a:p>
                <a:pPr>
                  <a:spcBef>
                    <a:spcPts val="0"/>
                  </a:spcBef>
                </a:pPr>
                <a:r>
                  <a:rPr lang="en-US"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zh-CN" sz="1600" dirty="0">
                    <a:latin typeface="Arial Unicode MS" panose="020B0604020202020204" pitchFamily="34" charset="-122"/>
                    <a:ea typeface="Arial Unicode MS" panose="020B0604020202020204" pitchFamily="34" charset="-122"/>
                    <a:cs typeface="Arial Unicode MS" panose="020B0604020202020204" pitchFamily="34" charset="-122"/>
                  </a:rPr>
                  <a:t>；</a:t>
                </a:r>
              </a:p>
            </p:txBody>
          </p:sp>
        </mc:Choice>
        <mc:Fallback>
          <p:sp>
            <p:nvSpPr>
              <p:cNvPr id="4" name="文本框 3"/>
              <p:cNvSpPr txBox="1">
                <a:spLocks noRot="1" noChangeAspect="1" noMove="1" noResize="1" noEditPoints="1" noAdjustHandles="1" noChangeArrowheads="1" noChangeShapeType="1" noTextEdit="1"/>
              </p:cNvSpPr>
              <p:nvPr/>
            </p:nvSpPr>
            <p:spPr>
              <a:xfrm>
                <a:off x="4067944" y="674385"/>
                <a:ext cx="5040560" cy="4278094"/>
              </a:xfrm>
              <a:prstGeom prst="rect">
                <a:avLst/>
              </a:prstGeom>
              <a:blipFill>
                <a:blip r:embed="rId2"/>
                <a:stretch>
                  <a:fillRect l="-605" t="-428" b="-999"/>
                </a:stretch>
              </a:blipFill>
            </p:spPr>
            <p:txBody>
              <a:bodyPr/>
              <a:lstStyle/>
              <a:p>
                <a:r>
                  <a:rPr lang="zh-CN" altLang="en-US">
                    <a:noFill/>
                  </a:rPr>
                  <a:t> </a:t>
                </a:r>
              </a:p>
            </p:txBody>
          </p:sp>
        </mc:Fallback>
      </mc:AlternateContent>
      <p:sp>
        <p:nvSpPr>
          <p:cNvPr id="5" name="文本框 4"/>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静态查找表的类定义</a:t>
            </a:r>
          </a:p>
        </p:txBody>
      </p:sp>
    </p:spTree>
    <p:extLst>
      <p:ext uri="{BB962C8B-B14F-4D97-AF65-F5344CB8AC3E}">
        <p14:creationId xmlns:p14="http://schemas.microsoft.com/office/powerpoint/2010/main" val="270849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4"/>
                                        </p:tgtEl>
                                        <p:attrNameLst>
                                          <p:attrName>style.visibility</p:attrName>
                                        </p:attrNameLst>
                                      </p:cBhvr>
                                      <p:to>
                                        <p:strVal val="visible"/>
                                      </p:to>
                                    </p:set>
                                    <p:anim calcmode="lin" valueType="num">
                                      <p:cBhvr additive="base">
                                        <p:cTn id="91" dur="500" fill="hold"/>
                                        <p:tgtEl>
                                          <p:spTgt spid="4"/>
                                        </p:tgtEl>
                                        <p:attrNameLst>
                                          <p:attrName>ppt_x</p:attrName>
                                        </p:attrNameLst>
                                      </p:cBhvr>
                                      <p:tavLst>
                                        <p:tav tm="0">
                                          <p:val>
                                            <p:strVal val="#ppt_x"/>
                                          </p:val>
                                        </p:tav>
                                        <p:tav tm="100000">
                                          <p:val>
                                            <p:strVal val="#ppt_x"/>
                                          </p:val>
                                        </p:tav>
                                      </p:tavLst>
                                    </p:anim>
                                    <p:anim calcmode="lin" valueType="num">
                                      <p:cBhvr additive="base">
                                        <p:cTn id="9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4">
                                            <p:txEl>
                                              <p:pRg st="0" end="0"/>
                                            </p:txEl>
                                          </p:spTgt>
                                        </p:tgtEl>
                                        <p:attrNameLst>
                                          <p:attrName>style.visibility</p:attrName>
                                        </p:attrNameLst>
                                      </p:cBhvr>
                                      <p:to>
                                        <p:strVal val="visible"/>
                                      </p:to>
                                    </p:set>
                                    <p:anim calcmode="lin" valueType="num">
                                      <p:cBhvr additive="base">
                                        <p:cTn id="9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1" end="1"/>
                                            </p:txEl>
                                          </p:spTgt>
                                        </p:tgtEl>
                                        <p:attrNameLst>
                                          <p:attrName>style.visibility</p:attrName>
                                        </p:attrNameLst>
                                      </p:cBhvr>
                                      <p:to>
                                        <p:strVal val="visible"/>
                                      </p:to>
                                    </p:set>
                                    <p:anim calcmode="lin" valueType="num">
                                      <p:cBhvr additive="base">
                                        <p:cTn id="10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4">
                                            <p:txEl>
                                              <p:pRg st="2" end="2"/>
                                            </p:txEl>
                                          </p:spTgt>
                                        </p:tgtEl>
                                        <p:attrNameLst>
                                          <p:attrName>style.visibility</p:attrName>
                                        </p:attrNameLst>
                                      </p:cBhvr>
                                      <p:to>
                                        <p:strVal val="visible"/>
                                      </p:to>
                                    </p:set>
                                    <p:anim calcmode="lin" valueType="num">
                                      <p:cBhvr additive="base">
                                        <p:cTn id="10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4">
                                            <p:txEl>
                                              <p:pRg st="3" end="3"/>
                                            </p:txEl>
                                          </p:spTgt>
                                        </p:tgtEl>
                                        <p:attrNameLst>
                                          <p:attrName>style.visibility</p:attrName>
                                        </p:attrNameLst>
                                      </p:cBhvr>
                                      <p:to>
                                        <p:strVal val="visible"/>
                                      </p:to>
                                    </p:set>
                                    <p:anim calcmode="lin" valueType="num">
                                      <p:cBhvr additive="base">
                                        <p:cTn id="1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4">
                                            <p:txEl>
                                              <p:pRg st="4" end="4"/>
                                            </p:txEl>
                                          </p:spTgt>
                                        </p:tgtEl>
                                        <p:attrNameLst>
                                          <p:attrName>style.visibility</p:attrName>
                                        </p:attrNameLst>
                                      </p:cBhvr>
                                      <p:to>
                                        <p:strVal val="visible"/>
                                      </p:to>
                                    </p:set>
                                    <p:anim calcmode="lin" valueType="num">
                                      <p:cBhvr additive="base">
                                        <p:cTn id="1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4">
                                            <p:txEl>
                                              <p:pRg st="5" end="5"/>
                                            </p:txEl>
                                          </p:spTgt>
                                        </p:tgtEl>
                                        <p:attrNameLst>
                                          <p:attrName>style.visibility</p:attrName>
                                        </p:attrNameLst>
                                      </p:cBhvr>
                                      <p:to>
                                        <p:strVal val="visible"/>
                                      </p:to>
                                    </p:set>
                                    <p:anim calcmode="lin" valueType="num">
                                      <p:cBhvr additive="base">
                                        <p:cTn id="1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
                                            <p:txEl>
                                              <p:pRg st="6" end="6"/>
                                            </p:txEl>
                                          </p:spTgt>
                                        </p:tgtEl>
                                        <p:attrNameLst>
                                          <p:attrName>style.visibility</p:attrName>
                                        </p:attrNameLst>
                                      </p:cBhvr>
                                      <p:to>
                                        <p:strVal val="visible"/>
                                      </p:to>
                                    </p:set>
                                    <p:anim calcmode="lin" valueType="num">
                                      <p:cBhvr additive="base">
                                        <p:cTn id="1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4">
                                            <p:txEl>
                                              <p:pRg st="7" end="7"/>
                                            </p:txEl>
                                          </p:spTgt>
                                        </p:tgtEl>
                                        <p:attrNameLst>
                                          <p:attrName>style.visibility</p:attrName>
                                        </p:attrNameLst>
                                      </p:cBhvr>
                                      <p:to>
                                        <p:strVal val="visible"/>
                                      </p:to>
                                    </p:set>
                                    <p:anim calcmode="lin" valueType="num">
                                      <p:cBhvr additive="base">
                                        <p:cTn id="13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4">
                                            <p:txEl>
                                              <p:pRg st="8" end="8"/>
                                            </p:txEl>
                                          </p:spTgt>
                                        </p:tgtEl>
                                        <p:attrNameLst>
                                          <p:attrName>style.visibility</p:attrName>
                                        </p:attrNameLst>
                                      </p:cBhvr>
                                      <p:to>
                                        <p:strVal val="visible"/>
                                      </p:to>
                                    </p:set>
                                    <p:anim calcmode="lin" valueType="num">
                                      <p:cBhvr additive="base">
                                        <p:cTn id="14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4">
                                            <p:txEl>
                                              <p:pRg st="9" end="9"/>
                                            </p:txEl>
                                          </p:spTgt>
                                        </p:tgtEl>
                                        <p:attrNameLst>
                                          <p:attrName>style.visibility</p:attrName>
                                        </p:attrNameLst>
                                      </p:cBhvr>
                                      <p:to>
                                        <p:strVal val="visible"/>
                                      </p:to>
                                    </p:set>
                                    <p:anim calcmode="lin" valueType="num">
                                      <p:cBhvr additive="base">
                                        <p:cTn id="15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5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4">
                                            <p:txEl>
                                              <p:pRg st="10" end="10"/>
                                            </p:txEl>
                                          </p:spTgt>
                                        </p:tgtEl>
                                        <p:attrNameLst>
                                          <p:attrName>style.visibility</p:attrName>
                                        </p:attrNameLst>
                                      </p:cBhvr>
                                      <p:to>
                                        <p:strVal val="visible"/>
                                      </p:to>
                                    </p:set>
                                    <p:anim calcmode="lin" valueType="num">
                                      <p:cBhvr additive="base">
                                        <p:cTn id="15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4">
                                            <p:txEl>
                                              <p:pRg st="11" end="11"/>
                                            </p:txEl>
                                          </p:spTgt>
                                        </p:tgtEl>
                                        <p:attrNameLst>
                                          <p:attrName>style.visibility</p:attrName>
                                        </p:attrNameLst>
                                      </p:cBhvr>
                                      <p:to>
                                        <p:strVal val="visible"/>
                                      </p:to>
                                    </p:set>
                                    <p:anim calcmode="lin" valueType="num">
                                      <p:cBhvr additive="base">
                                        <p:cTn id="16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4"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nodeType="clickEffect">
                                  <p:stCondLst>
                                    <p:cond delay="0"/>
                                  </p:stCondLst>
                                  <p:childTnLst>
                                    <p:set>
                                      <p:cBhvr>
                                        <p:cTn id="168" dur="1" fill="hold">
                                          <p:stCondLst>
                                            <p:cond delay="0"/>
                                          </p:stCondLst>
                                        </p:cTn>
                                        <p:tgtEl>
                                          <p:spTgt spid="4">
                                            <p:txEl>
                                              <p:pRg st="12" end="12"/>
                                            </p:txEl>
                                          </p:spTgt>
                                        </p:tgtEl>
                                        <p:attrNameLst>
                                          <p:attrName>style.visibility</p:attrName>
                                        </p:attrNameLst>
                                      </p:cBhvr>
                                      <p:to>
                                        <p:strVal val="visible"/>
                                      </p:to>
                                    </p:set>
                                    <p:anim calcmode="lin" valueType="num">
                                      <p:cBhvr additive="base">
                                        <p:cTn id="16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170"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nodeType="clickEffect">
                                  <p:stCondLst>
                                    <p:cond delay="0"/>
                                  </p:stCondLst>
                                  <p:childTnLst>
                                    <p:set>
                                      <p:cBhvr>
                                        <p:cTn id="174" dur="1" fill="hold">
                                          <p:stCondLst>
                                            <p:cond delay="0"/>
                                          </p:stCondLst>
                                        </p:cTn>
                                        <p:tgtEl>
                                          <p:spTgt spid="4">
                                            <p:txEl>
                                              <p:pRg st="13" end="13"/>
                                            </p:txEl>
                                          </p:spTgt>
                                        </p:tgtEl>
                                        <p:attrNameLst>
                                          <p:attrName>style.visibility</p:attrName>
                                        </p:attrNameLst>
                                      </p:cBhvr>
                                      <p:to>
                                        <p:strVal val="visible"/>
                                      </p:to>
                                    </p:set>
                                    <p:anim calcmode="lin" valueType="num">
                                      <p:cBhvr additive="base">
                                        <p:cTn id="17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176"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4" fill="hold" nodeType="clickEffect">
                                  <p:stCondLst>
                                    <p:cond delay="0"/>
                                  </p:stCondLst>
                                  <p:childTnLst>
                                    <p:set>
                                      <p:cBhvr>
                                        <p:cTn id="180" dur="1" fill="hold">
                                          <p:stCondLst>
                                            <p:cond delay="0"/>
                                          </p:stCondLst>
                                        </p:cTn>
                                        <p:tgtEl>
                                          <p:spTgt spid="4">
                                            <p:txEl>
                                              <p:pRg st="14" end="14"/>
                                            </p:txEl>
                                          </p:spTgt>
                                        </p:tgtEl>
                                        <p:attrNameLst>
                                          <p:attrName>style.visibility</p:attrName>
                                        </p:attrNameLst>
                                      </p:cBhvr>
                                      <p:to>
                                        <p:strVal val="visible"/>
                                      </p:to>
                                    </p:set>
                                    <p:anim calcmode="lin" valueType="num">
                                      <p:cBhvr additive="base">
                                        <p:cTn id="181"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182"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nodeType="clickEffect">
                                  <p:stCondLst>
                                    <p:cond delay="0"/>
                                  </p:stCondLst>
                                  <p:childTnLst>
                                    <p:set>
                                      <p:cBhvr>
                                        <p:cTn id="186" dur="1" fill="hold">
                                          <p:stCondLst>
                                            <p:cond delay="0"/>
                                          </p:stCondLst>
                                        </p:cTn>
                                        <p:tgtEl>
                                          <p:spTgt spid="4">
                                            <p:txEl>
                                              <p:pRg st="15" end="15"/>
                                            </p:txEl>
                                          </p:spTgt>
                                        </p:tgtEl>
                                        <p:attrNameLst>
                                          <p:attrName>style.visibility</p:attrName>
                                        </p:attrNameLst>
                                      </p:cBhvr>
                                      <p:to>
                                        <p:strVal val="visible"/>
                                      </p:to>
                                    </p:set>
                                    <p:anim calcmode="lin" valueType="num">
                                      <p:cBhvr additive="base">
                                        <p:cTn id="187" dur="500" fill="hold"/>
                                        <p:tgtEl>
                                          <p:spTgt spid="4">
                                            <p:txEl>
                                              <p:pRg st="15" end="15"/>
                                            </p:txEl>
                                          </p:spTgt>
                                        </p:tgtEl>
                                        <p:attrNameLst>
                                          <p:attrName>ppt_x</p:attrName>
                                        </p:attrNameLst>
                                      </p:cBhvr>
                                      <p:tavLst>
                                        <p:tav tm="0">
                                          <p:val>
                                            <p:strVal val="#ppt_x"/>
                                          </p:val>
                                        </p:tav>
                                        <p:tav tm="100000">
                                          <p:val>
                                            <p:strVal val="#ppt_x"/>
                                          </p:val>
                                        </p:tav>
                                      </p:tavLst>
                                    </p:anim>
                                    <p:anim calcmode="lin" valueType="num">
                                      <p:cBhvr additive="base">
                                        <p:cTn id="188" dur="500" fill="hold"/>
                                        <p:tgtEl>
                                          <p:spTgt spid="4">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nodeType="clickEffect">
                                  <p:stCondLst>
                                    <p:cond delay="0"/>
                                  </p:stCondLst>
                                  <p:childTnLst>
                                    <p:set>
                                      <p:cBhvr>
                                        <p:cTn id="192" dur="1" fill="hold">
                                          <p:stCondLst>
                                            <p:cond delay="0"/>
                                          </p:stCondLst>
                                        </p:cTn>
                                        <p:tgtEl>
                                          <p:spTgt spid="4">
                                            <p:txEl>
                                              <p:pRg st="16" end="16"/>
                                            </p:txEl>
                                          </p:spTgt>
                                        </p:tgtEl>
                                        <p:attrNameLst>
                                          <p:attrName>style.visibility</p:attrName>
                                        </p:attrNameLst>
                                      </p:cBhvr>
                                      <p:to>
                                        <p:strVal val="visible"/>
                                      </p:to>
                                    </p:set>
                                    <p:anim calcmode="lin" valueType="num">
                                      <p:cBhvr additive="base">
                                        <p:cTn id="193" dur="500" fill="hold"/>
                                        <p:tgtEl>
                                          <p:spTgt spid="4">
                                            <p:txEl>
                                              <p:pRg st="16" end="16"/>
                                            </p:txEl>
                                          </p:spTgt>
                                        </p:tgtEl>
                                        <p:attrNameLst>
                                          <p:attrName>ppt_x</p:attrName>
                                        </p:attrNameLst>
                                      </p:cBhvr>
                                      <p:tavLst>
                                        <p:tav tm="0">
                                          <p:val>
                                            <p:strVal val="#ppt_x"/>
                                          </p:val>
                                        </p:tav>
                                        <p:tav tm="100000">
                                          <p:val>
                                            <p:strVal val="#ppt_x"/>
                                          </p:val>
                                        </p:tav>
                                      </p:tavLst>
                                    </p:anim>
                                    <p:anim calcmode="lin" valueType="num">
                                      <p:cBhvr additive="base">
                                        <p:cTn id="194" dur="500" fill="hold"/>
                                        <p:tgtEl>
                                          <p:spTgt spid="4">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15566"/>
            <a:ext cx="5472608" cy="3507876"/>
          </a:xfrm>
        </p:spPr>
        <p:txBody>
          <a:bodyPr/>
          <a:lstStyle/>
          <a:p>
            <a:pPr marL="0" indent="0" algn="just">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顺序查找是一种最简单的查找方法。</a:t>
            </a:r>
            <a:endParaRPr lang="en-US" altLang="zh-CN" sz="1800" dirty="0">
              <a:latin typeface="Times New Roman" panose="02020603050405020304" pitchFamily="18" charset="0"/>
              <a:cs typeface="Times New Roman" panose="02020603050405020304" pitchFamily="18" charset="0"/>
            </a:endParaRPr>
          </a:p>
          <a:p>
            <a:pPr marL="0" indent="0" algn="just">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其主要思想如下：</a:t>
            </a:r>
          </a:p>
          <a:p>
            <a:pPr marL="0" indent="0" algn="just">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）设立哨兵位</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[0].key=key</a:t>
            </a:r>
            <a:r>
              <a:rPr lang="zh-CN" altLang="zh-CN" sz="1800" dirty="0">
                <a:latin typeface="Times New Roman" panose="02020603050405020304" pitchFamily="18" charset="0"/>
                <a:cs typeface="Times New Roman" panose="02020603050405020304" pitchFamily="18" charset="0"/>
              </a:rPr>
              <a:t>，其作用是防止扫描溢出。</a:t>
            </a:r>
          </a:p>
          <a:p>
            <a:pPr marL="0" indent="0" algn="just">
              <a:lnSpc>
                <a:spcPts val="26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gn="just">
              <a:lnSpc>
                <a:spcPts val="26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gn="just">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）从表的末端开始向左扫描线性表，依次将扫描到的关键字值和给定值</a:t>
            </a:r>
            <a:r>
              <a:rPr lang="en-US" altLang="zh-CN" sz="1800" dirty="0">
                <a:latin typeface="Times New Roman" panose="02020603050405020304" pitchFamily="18" charset="0"/>
                <a:cs typeface="Times New Roman" panose="02020603050405020304" pitchFamily="18" charset="0"/>
              </a:rPr>
              <a:t>key</a:t>
            </a:r>
            <a:r>
              <a:rPr lang="zh-CN" altLang="zh-CN" sz="1800" dirty="0">
                <a:latin typeface="Times New Roman" panose="02020603050405020304" pitchFamily="18" charset="0"/>
                <a:cs typeface="Times New Roman" panose="02020603050405020304" pitchFamily="18" charset="0"/>
              </a:rPr>
              <a:t>进行比较，若找到关键字，则查找成功，返回该关键字在顺序表中的下标；否则，查找失败，返回</a:t>
            </a:r>
            <a:r>
              <a:rPr lang="en-US" altLang="zh-CN" sz="1800" dirty="0">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a:t>
            </a:r>
          </a:p>
        </p:txBody>
      </p:sp>
      <p:sp>
        <p:nvSpPr>
          <p:cNvPr id="4" name="文本框 3"/>
          <p:cNvSpPr txBox="1"/>
          <p:nvPr/>
        </p:nvSpPr>
        <p:spPr>
          <a:xfrm>
            <a:off x="3079322" y="555526"/>
            <a:ext cx="6048672" cy="2369880"/>
          </a:xfrm>
          <a:prstGeom prst="rect">
            <a:avLst/>
          </a:prstGeom>
          <a:solidFill>
            <a:schemeClr val="accent2"/>
          </a:solidFill>
        </p:spPr>
        <p:txBody>
          <a:bodyPr wrap="square" rtlCol="0">
            <a:spAutoFit/>
          </a:bodyPr>
          <a:lstStyle/>
          <a:p>
            <a:pPr algn="just">
              <a:lnSpc>
                <a:spcPts val="2600"/>
              </a:lnSpc>
              <a:spcBef>
                <a:spcPts val="0"/>
              </a:spcBef>
            </a:pPr>
            <a:r>
              <a:rPr lang="en-US" altLang="zh-CN" dirty="0" err="1"/>
              <a:t>int</a:t>
            </a:r>
            <a:r>
              <a:rPr lang="en-US" altLang="zh-CN" dirty="0"/>
              <a:t> </a:t>
            </a:r>
            <a:r>
              <a:rPr lang="en-US" altLang="zh-CN" dirty="0" err="1"/>
              <a:t>StaticSearchtable</a:t>
            </a:r>
            <a:r>
              <a:rPr lang="en-US" altLang="zh-CN" dirty="0"/>
              <a:t>::</a:t>
            </a:r>
            <a:r>
              <a:rPr lang="en-US" altLang="zh-CN" dirty="0" err="1"/>
              <a:t>SqSearch</a:t>
            </a:r>
            <a:r>
              <a:rPr lang="en-US" altLang="zh-CN" dirty="0"/>
              <a:t>(</a:t>
            </a:r>
            <a:r>
              <a:rPr lang="en-US" altLang="zh-CN" dirty="0" err="1"/>
              <a:t>KeyType</a:t>
            </a:r>
            <a:r>
              <a:rPr lang="en-US" altLang="zh-CN" dirty="0"/>
              <a:t> key){</a:t>
            </a:r>
            <a:endParaRPr lang="zh-CN" altLang="zh-CN" dirty="0"/>
          </a:p>
          <a:p>
            <a:pPr algn="just">
              <a:lnSpc>
                <a:spcPts val="2600"/>
              </a:lnSpc>
              <a:spcBef>
                <a:spcPts val="0"/>
              </a:spcBef>
            </a:pPr>
            <a:r>
              <a:rPr lang="en-US" altLang="zh-CN" dirty="0"/>
              <a:t>    </a:t>
            </a:r>
            <a:r>
              <a:rPr lang="en-US" altLang="zh-CN" dirty="0" err="1"/>
              <a:t>elem</a:t>
            </a:r>
            <a:r>
              <a:rPr lang="en-US" altLang="zh-CN" dirty="0"/>
              <a:t>[0].key=key;                     //</a:t>
            </a:r>
            <a:r>
              <a:rPr lang="zh-CN" altLang="zh-CN" dirty="0"/>
              <a:t>哨兵位</a:t>
            </a:r>
          </a:p>
          <a:p>
            <a:pPr algn="just">
              <a:lnSpc>
                <a:spcPts val="2600"/>
              </a:lnSpc>
              <a:spcBef>
                <a:spcPts val="0"/>
              </a:spcBef>
            </a:pPr>
            <a:r>
              <a:rPr lang="en-US" altLang="zh-CN" dirty="0"/>
              <a:t>    for(</a:t>
            </a:r>
            <a:r>
              <a:rPr lang="en-US" altLang="zh-CN" dirty="0" err="1"/>
              <a:t>int</a:t>
            </a:r>
            <a:r>
              <a:rPr lang="en-US" altLang="zh-CN" dirty="0"/>
              <a:t> </a:t>
            </a:r>
            <a:r>
              <a:rPr lang="en-US" altLang="zh-CN" dirty="0" err="1"/>
              <a:t>i</a:t>
            </a:r>
            <a:r>
              <a:rPr lang="en-US" altLang="zh-CN" dirty="0"/>
              <a:t>=</a:t>
            </a:r>
            <a:r>
              <a:rPr lang="en-US" altLang="zh-CN" dirty="0" err="1"/>
              <a:t>length;elem</a:t>
            </a:r>
            <a:r>
              <a:rPr lang="en-US" altLang="zh-CN" dirty="0"/>
              <a:t>[</a:t>
            </a:r>
            <a:r>
              <a:rPr lang="en-US" altLang="zh-CN" dirty="0" err="1"/>
              <a:t>i</a:t>
            </a:r>
            <a:r>
              <a:rPr lang="en-US" altLang="zh-CN" dirty="0"/>
              <a:t>].key!=</a:t>
            </a:r>
            <a:r>
              <a:rPr lang="en-US" altLang="zh-CN" dirty="0" err="1"/>
              <a:t>key;i</a:t>
            </a:r>
            <a:r>
              <a:rPr lang="en-US" altLang="zh-CN" dirty="0"/>
              <a:t>-</a:t>
            </a:r>
            <a:r>
              <a:rPr lang="en-US" altLang="zh-CN" sz="1600" dirty="0"/>
              <a:t>-)//</a:t>
            </a:r>
            <a:r>
              <a:rPr lang="zh-CN" altLang="zh-CN" sz="1600" dirty="0"/>
              <a:t>从末端开始向左扫描</a:t>
            </a:r>
          </a:p>
          <a:p>
            <a:pPr algn="just">
              <a:lnSpc>
                <a:spcPts val="2600"/>
              </a:lnSpc>
              <a:spcBef>
                <a:spcPts val="0"/>
              </a:spcBef>
            </a:pPr>
            <a:r>
              <a:rPr lang="en-US" altLang="zh-CN" dirty="0"/>
              <a:t>          ;                                </a:t>
            </a:r>
            <a:r>
              <a:rPr lang="en-US" altLang="zh-CN" sz="1600" dirty="0"/>
              <a:t>//</a:t>
            </a:r>
            <a:r>
              <a:rPr lang="zh-CN" altLang="zh-CN" sz="1600" dirty="0"/>
              <a:t>空语句</a:t>
            </a:r>
          </a:p>
          <a:p>
            <a:pPr algn="just">
              <a:lnSpc>
                <a:spcPts val="2600"/>
              </a:lnSpc>
              <a:spcBef>
                <a:spcPts val="0"/>
              </a:spcBef>
            </a:pPr>
            <a:r>
              <a:rPr lang="en-US" altLang="zh-CN" dirty="0"/>
              <a:t>    return </a:t>
            </a:r>
            <a:r>
              <a:rPr lang="en-US" altLang="zh-CN" dirty="0" err="1"/>
              <a:t>i</a:t>
            </a:r>
            <a:r>
              <a:rPr lang="en-US" altLang="zh-CN" dirty="0"/>
              <a:t>;</a:t>
            </a:r>
            <a:endParaRPr lang="zh-CN" altLang="zh-CN" dirty="0"/>
          </a:p>
          <a:p>
            <a:pPr algn="just">
              <a:lnSpc>
                <a:spcPts val="2600"/>
              </a:lnSpc>
              <a:spcBef>
                <a:spcPts val="0"/>
              </a:spcBef>
            </a:pPr>
            <a:r>
              <a:rPr lang="en-US" altLang="zh-CN" dirty="0"/>
              <a:t>}</a:t>
            </a:r>
            <a:endParaRPr lang="zh-CN" altLang="zh-CN" dirty="0"/>
          </a:p>
          <a:p>
            <a:endParaRPr lang="zh-CN" altLang="en-US" dirty="0"/>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顺序查找</a:t>
            </a:r>
          </a:p>
        </p:txBody>
      </p:sp>
    </p:spTree>
    <p:extLst>
      <p:ext uri="{BB962C8B-B14F-4D97-AF65-F5344CB8AC3E}">
        <p14:creationId xmlns:p14="http://schemas.microsoft.com/office/powerpoint/2010/main" val="246712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1000"/>
                                        <p:tgtEl>
                                          <p:spTgt spid="4">
                                            <p:txEl>
                                              <p:pRg st="0" end="0"/>
                                            </p:txEl>
                                          </p:spTgt>
                                        </p:tgtEl>
                                      </p:cBhvr>
                                    </p:animEffect>
                                    <p:anim calcmode="lin" valueType="num">
                                      <p:cBhvr>
                                        <p:cTn id="3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
                                            <p:txEl>
                                              <p:pRg st="1" end="1"/>
                                            </p:txEl>
                                          </p:spTgt>
                                        </p:tgtEl>
                                        <p:attrNameLst>
                                          <p:attrName>style.visibility</p:attrName>
                                        </p:attrNameLst>
                                      </p:cBhvr>
                                      <p:to>
                                        <p:strVal val="visible"/>
                                      </p:to>
                                    </p:set>
                                    <p:animEffect transition="in" filter="fade">
                                      <p:cBhvr>
                                        <p:cTn id="44" dur="1000"/>
                                        <p:tgtEl>
                                          <p:spTgt spid="4">
                                            <p:txEl>
                                              <p:pRg st="1" end="1"/>
                                            </p:txEl>
                                          </p:spTgt>
                                        </p:tgtEl>
                                      </p:cBhvr>
                                    </p:animEffect>
                                    <p:anim calcmode="lin" valueType="num">
                                      <p:cBhvr>
                                        <p:cTn id="4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 calcmode="lin" valueType="num">
                                      <p:cBhvr additive="base">
                                        <p:cTn id="5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anim calcmode="lin" valueType="num">
                                      <p:cBhvr additive="base">
                                        <p:cTn id="5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4" end="4"/>
                                            </p:txEl>
                                          </p:spTgt>
                                        </p:tgtEl>
                                        <p:attrNameLst>
                                          <p:attrName>style.visibility</p:attrName>
                                        </p:attrNameLst>
                                      </p:cBhvr>
                                      <p:to>
                                        <p:strVal val="visible"/>
                                      </p:to>
                                    </p:set>
                                    <p:anim calcmode="lin" valueType="num">
                                      <p:cBhvr additive="base">
                                        <p:cTn id="6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
                                            <p:txEl>
                                              <p:pRg st="5" end="5"/>
                                            </p:txEl>
                                          </p:spTgt>
                                        </p:tgtEl>
                                        <p:attrNameLst>
                                          <p:attrName>style.visibility</p:attrName>
                                        </p:attrNameLst>
                                      </p:cBhvr>
                                      <p:to>
                                        <p:strVal val="visible"/>
                                      </p:to>
                                    </p:set>
                                    <p:anim calcmode="lin" valueType="num">
                                      <p:cBhvr additive="base">
                                        <p:cTn id="6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784976" cy="3507876"/>
              </a:xfrm>
            </p:spPr>
            <p:txBody>
              <a:bodyPr/>
              <a:lstStyle/>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从顺序查找过程可以看出，查找元素</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所需的关键字比较次数</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取决于</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在表中的位置。如查找第</a:t>
                </a:r>
                <a14:m>
                  <m:oMath xmlns:m="http://schemas.openxmlformats.org/officeDocument/2006/math">
                    <m:r>
                      <a:rPr lang="en-US" altLang="zh-CN" sz="1800" i="1">
                        <a:latin typeface="Cambria Math" panose="02040503050406030204" pitchFamily="18" charset="0"/>
                      </a:rPr>
                      <m:t>𝑛</m:t>
                    </m:r>
                  </m:oMath>
                </a14:m>
                <a:r>
                  <a:rPr lang="zh-CN" altLang="zh-CN" sz="1800" dirty="0">
                    <a:latin typeface="Times New Roman" panose="02020603050405020304" pitchFamily="18" charset="0"/>
                    <a:cs typeface="Times New Roman" panose="02020603050405020304" pitchFamily="18" charset="0"/>
                  </a:rPr>
                  <a:t>个元素</a:t>
                </a:r>
                <a:r>
                  <a:rPr lang="en-US" altLang="zh-CN" sz="18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800" i="1">
                        <a:latin typeface="Cambria Math" panose="02040503050406030204" pitchFamily="18" charset="0"/>
                      </a:rPr>
                      <m:t>𝑛</m:t>
                    </m:r>
                  </m:oMath>
                </a14:m>
                <a:r>
                  <a:rPr lang="zh-CN" altLang="zh-CN" sz="1800" dirty="0">
                    <a:latin typeface="Times New Roman" panose="02020603050405020304" pitchFamily="18" charset="0"/>
                    <a:cs typeface="Times New Roman" panose="02020603050405020304" pitchFamily="18" charset="0"/>
                  </a:rPr>
                  <a:t>为元素个数，算法中为</a:t>
                </a:r>
                <a:r>
                  <a:rPr lang="en-US" altLang="zh-CN" sz="1800" dirty="0">
                    <a:latin typeface="Times New Roman" panose="02020603050405020304" pitchFamily="18" charset="0"/>
                    <a:cs typeface="Times New Roman" panose="02020603050405020304" pitchFamily="18" charset="0"/>
                  </a:rPr>
                  <a:t>length)</a:t>
                </a:r>
                <a:r>
                  <a:rPr lang="zh-CN" altLang="zh-CN" sz="1800" dirty="0">
                    <a:latin typeface="Times New Roman" panose="02020603050405020304" pitchFamily="18" charset="0"/>
                    <a:cs typeface="Times New Roman" panose="02020603050405020304" pitchFamily="18" charset="0"/>
                  </a:rPr>
                  <a:t>只需比较一次；而查找第一个元素需比较</a:t>
                </a:r>
                <a14:m>
                  <m:oMath xmlns:m="http://schemas.openxmlformats.org/officeDocument/2006/math">
                    <m:r>
                      <a:rPr lang="en-US" altLang="zh-CN" sz="1800" i="1">
                        <a:latin typeface="Cambria Math" panose="02040503050406030204" pitchFamily="18" charset="0"/>
                      </a:rPr>
                      <m:t>𝑛</m:t>
                    </m:r>
                  </m:oMath>
                </a14:m>
                <a:r>
                  <a:rPr lang="zh-CN" altLang="zh-CN" sz="1800" dirty="0">
                    <a:latin typeface="Times New Roman" panose="02020603050405020304" pitchFamily="18" charset="0"/>
                    <a:cs typeface="Times New Roman" panose="02020603050405020304" pitchFamily="18" charset="0"/>
                  </a:rPr>
                  <a:t>次。一般情况下，</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等于</a:t>
                </a:r>
                <a14:m>
                  <m:oMath xmlns:m="http://schemas.openxmlformats.org/officeDocument/2006/math">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查找成功时顺序查找的平均查找长度为：</a:t>
                </a: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ASL</m:t>
                      </m:r>
                      <m:r>
                        <a:rPr lang="en-US" altLang="zh-CN" sz="1800">
                          <a:latin typeface="Cambria Math" panose="02040503050406030204" pitchFamily="18" charset="0"/>
                        </a:rPr>
                        <m:t>=</m:t>
                      </m:r>
                      <m:r>
                        <a:rPr lang="en-US" altLang="zh-CN" sz="1800" i="1">
                          <a:latin typeface="Cambria Math" panose="02040503050406030204" pitchFamily="18" charset="0"/>
                        </a:rPr>
                        <m:t>𝑛</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𝑛</m:t>
                          </m:r>
                          <m:r>
                            <a:rPr lang="en-US" altLang="zh-CN" sz="1800" i="1">
                              <a:latin typeface="Cambria Math" panose="02040503050406030204" pitchFamily="18" charset="0"/>
                            </a:rPr>
                            <m:t>−1</m:t>
                          </m:r>
                        </m:e>
                      </m:d>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+1</m:t>
                          </m:r>
                        </m:e>
                      </m:d>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+⋯+2</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𝑛</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𝑛</m:t>
                          </m:r>
                        </m:sub>
                      </m:sSub>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假设每个元素的查找概率相等，即</a:t>
                </a: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1</m:t>
                          </m:r>
                        </m:num>
                        <m:den>
                          <m:r>
                            <a:rPr lang="en-US" altLang="zh-CN" sz="1800" i="1">
                              <a:latin typeface="Cambria Math" panose="02040503050406030204" pitchFamily="18" charset="0"/>
                            </a:rPr>
                            <m:t>𝑛</m:t>
                          </m:r>
                        </m:den>
                      </m:f>
                      <m:r>
                        <a:rPr lang="en-US" altLang="zh-CN" sz="1800" i="1">
                          <a:latin typeface="Cambria Math" panose="02040503050406030204" pitchFamily="18" charset="0"/>
                        </a:rPr>
                        <m:t>(1≤</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则在等概率情况下，查找成功时的顺序查找的平均查找长度为：</a:t>
                </a:r>
              </a:p>
              <a:p>
                <a:pPr marL="0" indent="0" algn="just">
                  <a:lnSpc>
                    <a:spcPts val="23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ASL</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=1</m:t>
                          </m:r>
                        </m:sub>
                        <m:sup>
                          <m:r>
                            <a:rPr lang="en-US" altLang="zh-CN" sz="1800" i="1">
                              <a:latin typeface="Cambria Math" panose="02040503050406030204" pitchFamily="18" charset="0"/>
                            </a:rPr>
                            <m:t>𝑛</m:t>
                          </m:r>
                        </m:sup>
                        <m:e>
                          <m:r>
                            <a:rPr lang="en-US" altLang="zh-CN" sz="1800" i="1">
                              <a:latin typeface="Cambria Math" panose="02040503050406030204" pitchFamily="18" charset="0"/>
                            </a:rPr>
                            <m:t>𝑝</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i="1">
                                  <a:latin typeface="Cambria Math" panose="02040503050406030204" pitchFamily="18" charset="0"/>
                                </a:rPr>
                                <m:t>𝑖</m:t>
                              </m:r>
                            </m:sub>
                          </m:sSub>
                        </m:e>
                      </m:nary>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1</m:t>
                          </m:r>
                        </m:num>
                        <m:den>
                          <m:r>
                            <a:rPr lang="en-US" altLang="zh-CN" sz="1800" i="1">
                              <a:latin typeface="Cambria Math" panose="02040503050406030204" pitchFamily="18" charset="0"/>
                            </a:rPr>
                            <m:t>𝑛</m:t>
                          </m:r>
                        </m:den>
                      </m:f>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=1</m:t>
                          </m:r>
                        </m:sub>
                        <m:sup>
                          <m:r>
                            <a:rPr lang="en-US" altLang="zh-CN" sz="1800" i="1">
                              <a:latin typeface="Cambria Math" panose="02040503050406030204" pitchFamily="18" charset="0"/>
                            </a:rPr>
                            <m:t>𝑛</m:t>
                          </m:r>
                        </m:sup>
                        <m:e>
                          <m:d>
                            <m:dPr>
                              <m:ctrlPr>
                                <a:rPr lang="zh-CN" altLang="zh-CN" sz="1800" i="1">
                                  <a:latin typeface="Cambria Math" panose="02040503050406030204" pitchFamily="18" charset="0"/>
                                </a:rPr>
                              </m:ctrlPr>
                            </m:dPr>
                            <m:e>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+1</m:t>
                              </m:r>
                            </m:e>
                          </m:d>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1</m:t>
                              </m:r>
                            </m:num>
                            <m:den>
                              <m:r>
                                <a:rPr lang="en-US" altLang="zh-CN" sz="1800" i="1">
                                  <a:latin typeface="Cambria Math" panose="02040503050406030204" pitchFamily="18" charset="0"/>
                                </a:rPr>
                                <m:t>𝑛</m:t>
                              </m:r>
                            </m:den>
                          </m:f>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m:t>
                              </m:r>
                            </m:num>
                            <m:den>
                              <m:r>
                                <a:rPr lang="en-US" altLang="zh-CN" sz="1800" i="1">
                                  <a:latin typeface="Cambria Math" panose="02040503050406030204" pitchFamily="18" charset="0"/>
                                </a:rPr>
                                <m:t>2</m:t>
                              </m:r>
                            </m:den>
                          </m:f>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𝑛</m:t>
                              </m:r>
                              <m:r>
                                <a:rPr lang="en-US" altLang="zh-CN" sz="1800" i="1">
                                  <a:latin typeface="Cambria Math" panose="02040503050406030204" pitchFamily="18" charset="0"/>
                                </a:rPr>
                                <m:t>+1</m:t>
                              </m:r>
                            </m:num>
                            <m:den>
                              <m:r>
                                <a:rPr lang="en-US" altLang="zh-CN" sz="1800" i="1">
                                  <a:latin typeface="Cambria Math" panose="02040503050406030204" pitchFamily="18" charset="0"/>
                                </a:rPr>
                                <m:t>2</m:t>
                              </m:r>
                            </m:den>
                          </m:f>
                        </m:e>
                      </m:nary>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对于顺序查找，不论给定值</a:t>
                </a:r>
                <a:r>
                  <a:rPr lang="en-US" altLang="zh-CN" sz="1800" dirty="0">
                    <a:latin typeface="Times New Roman" panose="02020603050405020304" pitchFamily="18" charset="0"/>
                    <a:cs typeface="Times New Roman" panose="02020603050405020304" pitchFamily="18" charset="0"/>
                  </a:rPr>
                  <a:t>key</a:t>
                </a:r>
                <a:r>
                  <a:rPr lang="zh-CN" altLang="zh-CN" sz="1800" dirty="0">
                    <a:latin typeface="Times New Roman" panose="02020603050405020304" pitchFamily="18" charset="0"/>
                    <a:cs typeface="Times New Roman" panose="02020603050405020304" pitchFamily="18" charset="0"/>
                  </a:rPr>
                  <a:t>为何值，查找不成功时和给定值进行比较的关键字个数均为</a:t>
                </a:r>
                <a14:m>
                  <m:oMath xmlns:m="http://schemas.openxmlformats.org/officeDocument/2006/math">
                    <m:r>
                      <a:rPr lang="en-US" altLang="zh-CN" sz="1800" i="1">
                        <a:latin typeface="Cambria Math" panose="02040503050406030204" pitchFamily="18" charset="0"/>
                      </a:rPr>
                      <m:t>𝑛</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，所以查找不成功时顺序表的平均查找长度为</a:t>
                </a:r>
                <a14:m>
                  <m:oMath xmlns:m="http://schemas.openxmlformats.org/officeDocument/2006/math">
                    <m:r>
                      <a:rPr lang="en-US" altLang="zh-CN" sz="1800" i="1">
                        <a:latin typeface="Cambria Math" panose="02040503050406030204" pitchFamily="18" charset="0"/>
                      </a:rPr>
                      <m:t>𝑛</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784976" cy="3507876"/>
              </a:xfrm>
              <a:blipFill>
                <a:blip r:embed="rId2"/>
                <a:stretch>
                  <a:fillRect l="-902" t="-1736" r="-763" b="-27257"/>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顺序查找分析</a:t>
            </a:r>
          </a:p>
        </p:txBody>
      </p:sp>
    </p:spTree>
    <p:extLst>
      <p:ext uri="{BB962C8B-B14F-4D97-AF65-F5344CB8AC3E}">
        <p14:creationId xmlns:p14="http://schemas.microsoft.com/office/powerpoint/2010/main" val="388058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064124"/>
                <a:ext cx="9036496" cy="3507876"/>
              </a:xfrm>
            </p:spPr>
            <p:txBody>
              <a:bodyPr/>
              <a:lstStyle/>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二分查找又称折半查找</a:t>
                </a:r>
                <a:r>
                  <a:rPr lang="zh-CN" altLang="zh-CN" sz="1800" dirty="0">
                    <a:latin typeface="Times New Roman" panose="02020603050405020304" pitchFamily="18" charset="0"/>
                    <a:cs typeface="Times New Roman" panose="02020603050405020304" pitchFamily="18" charset="0"/>
                  </a:rPr>
                  <a:t>，它是一种效率较高的查找方法。二分查找要求线性表采用</a:t>
                </a:r>
                <a:r>
                  <a:rPr lang="zh-CN" altLang="zh-CN" sz="1800" dirty="0">
                    <a:solidFill>
                      <a:srgbClr val="C00000"/>
                    </a:solidFill>
                    <a:latin typeface="Times New Roman" panose="02020603050405020304" pitchFamily="18" charset="0"/>
                    <a:cs typeface="Times New Roman" panose="02020603050405020304" pitchFamily="18" charset="0"/>
                  </a:rPr>
                  <a:t>顺序存储结构</a:t>
                </a:r>
                <a:r>
                  <a:rPr lang="zh-CN" altLang="zh-CN" sz="1800" dirty="0">
                    <a:latin typeface="Times New Roman" panose="02020603050405020304" pitchFamily="18" charset="0"/>
                    <a:cs typeface="Times New Roman" panose="02020603050405020304" pitchFamily="18" charset="0"/>
                  </a:rPr>
                  <a:t>且</a:t>
                </a:r>
                <a:r>
                  <a:rPr lang="zh-CN" altLang="zh-CN" sz="1800" dirty="0">
                    <a:solidFill>
                      <a:srgbClr val="C00000"/>
                    </a:solidFill>
                    <a:latin typeface="Times New Roman" panose="02020603050405020304" pitchFamily="18" charset="0"/>
                    <a:cs typeface="Times New Roman" panose="02020603050405020304" pitchFamily="18" charset="0"/>
                  </a:rPr>
                  <a:t>元素有序</a:t>
                </a:r>
                <a:r>
                  <a:rPr lang="zh-CN" altLang="zh-CN" sz="1800" dirty="0">
                    <a:latin typeface="Times New Roman" panose="02020603050405020304" pitchFamily="18" charset="0"/>
                    <a:cs typeface="Times New Roman" panose="02020603050405020304" pitchFamily="18" charset="0"/>
                  </a:rPr>
                  <a:t>。</a:t>
                </a: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类似于顺序查找方法，在存储元素时数组元素第</a:t>
                </a:r>
                <a:r>
                  <a:rPr lang="en-US" altLang="zh-CN" sz="1800" dirty="0">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位留空。</a:t>
                </a: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二分查找的主要思想是每次将待查记录所在区间缩小一半。具体步骤如下：</a:t>
                </a: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设</a:t>
                </a:r>
                <a14:m>
                  <m:oMath xmlns:m="http://schemas.openxmlformats.org/officeDocument/2006/math">
                    <m:r>
                      <m:rPr>
                        <m:sty m:val="p"/>
                      </m:rPr>
                      <a:rPr lang="en-US" altLang="zh-CN" sz="1800">
                        <a:latin typeface="Cambria Math" panose="02040503050406030204" pitchFamily="18" charset="0"/>
                      </a:rPr>
                      <m:t>elem</m:t>
                    </m:r>
                    <m:r>
                      <a:rPr lang="en-US" altLang="zh-CN" sz="1800">
                        <a:latin typeface="Cambria Math" panose="02040503050406030204" pitchFamily="18" charset="0"/>
                      </a:rPr>
                      <m:t>[</m:t>
                    </m:r>
                    <m:r>
                      <m:rPr>
                        <m:sty m:val="p"/>
                      </m:rPr>
                      <a:rPr lang="en-US" altLang="zh-CN" sz="1800">
                        <a:latin typeface="Cambria Math" panose="02040503050406030204" pitchFamily="18" charset="0"/>
                      </a:rPr>
                      <m:t>low</m:t>
                    </m:r>
                    <m:r>
                      <a:rPr lang="en-US" altLang="zh-CN" sz="1800">
                        <a:latin typeface="Cambria Math" panose="02040503050406030204" pitchFamily="18" charset="0"/>
                      </a:rPr>
                      <m:t>..</m:t>
                    </m:r>
                    <m:r>
                      <m:rPr>
                        <m:sty m:val="p"/>
                      </m:rPr>
                      <a:rPr lang="en-US" altLang="zh-CN" sz="1800">
                        <a:latin typeface="Cambria Math" panose="02040503050406030204" pitchFamily="18" charset="0"/>
                      </a:rPr>
                      <m:t>high</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是当前的查找区间，首先确定中间点位置</a:t>
                </a:r>
                <a14:m>
                  <m:oMath xmlns:m="http://schemas.openxmlformats.org/officeDocument/2006/math">
                    <m:r>
                      <m:rPr>
                        <m:sty m:val="p"/>
                      </m:rPr>
                      <a:rPr lang="en-US" altLang="zh-CN" sz="1800">
                        <a:latin typeface="Cambria Math" panose="02040503050406030204" pitchFamily="18" charset="0"/>
                      </a:rPr>
                      <m:t>mid</m:t>
                    </m:r>
                    <m:r>
                      <a:rPr lang="en-US" altLang="zh-CN" sz="1800">
                        <a:latin typeface="Cambria Math" panose="02040503050406030204" pitchFamily="18" charset="0"/>
                      </a:rPr>
                      <m:t>=</m:t>
                    </m:r>
                    <m:d>
                      <m:dPr>
                        <m:begChr m:val="⌊"/>
                        <m:endChr m:val="⌋"/>
                        <m:ctrlPr>
                          <a:rPr lang="zh-CN" altLang="zh-CN" sz="1800" i="1">
                            <a:latin typeface="Cambria Math" panose="02040503050406030204" pitchFamily="18" charset="0"/>
                          </a:rPr>
                        </m:ctrlPr>
                      </m:dPr>
                      <m:e>
                        <m:r>
                          <a:rPr lang="en-US" altLang="zh-CN" sz="1800">
                            <a:latin typeface="Cambria Math" panose="02040503050406030204" pitchFamily="18" charset="0"/>
                          </a:rPr>
                          <m:t>(</m:t>
                        </m:r>
                        <m:r>
                          <m:rPr>
                            <m:sty m:val="p"/>
                          </m:rPr>
                          <a:rPr lang="en-US" altLang="zh-CN" sz="1800">
                            <a:latin typeface="Cambria Math" panose="02040503050406030204" pitchFamily="18" charset="0"/>
                          </a:rPr>
                          <m:t>low</m:t>
                        </m:r>
                        <m:r>
                          <a:rPr lang="en-US" altLang="zh-CN" sz="1800">
                            <a:latin typeface="Cambria Math" panose="02040503050406030204" pitchFamily="18" charset="0"/>
                          </a:rPr>
                          <m:t>+</m:t>
                        </m:r>
                        <m:r>
                          <m:rPr>
                            <m:sty m:val="p"/>
                          </m:rPr>
                          <a:rPr lang="en-US" altLang="zh-CN" sz="1800">
                            <a:latin typeface="Cambria Math" panose="02040503050406030204" pitchFamily="18" charset="0"/>
                          </a:rPr>
                          <m:t>high</m:t>
                        </m:r>
                        <m:r>
                          <a:rPr lang="en-US" altLang="zh-CN" sz="1800">
                            <a:latin typeface="Cambria Math" panose="02040503050406030204" pitchFamily="18" charset="0"/>
                          </a:rPr>
                          <m:t>)/2</m:t>
                        </m:r>
                      </m:e>
                    </m:d>
                  </m:oMath>
                </a14:m>
                <a:r>
                  <a:rPr lang="zh-CN" altLang="zh-CN" sz="1800" dirty="0">
                    <a:latin typeface="Times New Roman" panose="02020603050405020304" pitchFamily="18" charset="0"/>
                    <a:cs typeface="Times New Roman" panose="02020603050405020304" pitchFamily="18" charset="0"/>
                  </a:rPr>
                  <a:t>，然后将待查元素的关键字</a:t>
                </a:r>
                <a:r>
                  <a:rPr lang="en-US" altLang="zh-CN" sz="1800" dirty="0">
                    <a:latin typeface="Times New Roman" panose="02020603050405020304" pitchFamily="18" charset="0"/>
                    <a:cs typeface="Times New Roman" panose="02020603050405020304" pitchFamily="18" charset="0"/>
                  </a:rPr>
                  <a:t>key</a:t>
                </a:r>
                <a:r>
                  <a:rPr lang="zh-CN" altLang="zh-CN" sz="1800" dirty="0">
                    <a:latin typeface="Times New Roman" panose="02020603050405020304" pitchFamily="18" charset="0"/>
                    <a:cs typeface="Times New Roman" panose="02020603050405020304" pitchFamily="18" charset="0"/>
                  </a:rPr>
                  <a:t>值与</a:t>
                </a:r>
                <a14:m>
                  <m:oMath xmlns:m="http://schemas.openxmlformats.org/officeDocument/2006/math">
                    <m:r>
                      <m:rPr>
                        <m:sty m:val="p"/>
                      </m:rPr>
                      <a:rPr lang="en-US" altLang="zh-CN" sz="1800">
                        <a:latin typeface="Cambria Math" panose="02040503050406030204" pitchFamily="18" charset="0"/>
                      </a:rPr>
                      <m:t>elem</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mid</m:t>
                        </m:r>
                      </m:e>
                    </m:d>
                    <m:r>
                      <a:rPr lang="en-US" altLang="zh-CN" sz="1800">
                        <a:latin typeface="Cambria Math" panose="02040503050406030204" pitchFamily="18" charset="0"/>
                      </a:rPr>
                      <m:t>.</m:t>
                    </m:r>
                    <m:r>
                      <m:rPr>
                        <m:sty m:val="p"/>
                      </m:rPr>
                      <a:rPr lang="en-US" altLang="zh-CN" sz="1800">
                        <a:latin typeface="Cambria Math" panose="02040503050406030204" pitchFamily="18" charset="0"/>
                      </a:rPr>
                      <m:t>key</m:t>
                    </m:r>
                  </m:oMath>
                </a14:m>
                <a:r>
                  <a:rPr lang="zh-CN" altLang="zh-CN" sz="1800" dirty="0">
                    <a:latin typeface="Times New Roman" panose="02020603050405020304" pitchFamily="18" charset="0"/>
                    <a:cs typeface="Times New Roman" panose="02020603050405020304" pitchFamily="18" charset="0"/>
                  </a:rPr>
                  <a:t>比较：</a:t>
                </a:r>
              </a:p>
              <a:p>
                <a:pPr marL="0" indent="0" algn="just">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初始时，令</a:t>
                </a:r>
                <a:r>
                  <a:rPr lang="en-US" altLang="zh-CN" sz="1800" dirty="0">
                    <a:latin typeface="Times New Roman" panose="02020603050405020304" pitchFamily="18" charset="0"/>
                    <a:cs typeface="Times New Roman" panose="02020603050405020304" pitchFamily="18" charset="0"/>
                  </a:rPr>
                  <a:t>low=1</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high=length</a:t>
                </a:r>
                <a:r>
                  <a:rPr lang="zh-CN" altLang="zh-CN" sz="1800" dirty="0">
                    <a:latin typeface="Times New Roman" panose="02020603050405020304" pitchFamily="18" charset="0"/>
                    <a:cs typeface="Times New Roman" panose="02020603050405020304" pitchFamily="18" charset="0"/>
                  </a:rPr>
                  <a:t>。</a:t>
                </a:r>
              </a:p>
              <a:p>
                <a:pPr marL="0" indent="0" algn="just">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800">
                        <a:latin typeface="Cambria Math" panose="02040503050406030204" pitchFamily="18" charset="0"/>
                      </a:rPr>
                      <m:t>mid</m:t>
                    </m:r>
                    <m:r>
                      <a:rPr lang="en-US" altLang="zh-CN" sz="1800">
                        <a:latin typeface="Cambria Math" panose="02040503050406030204" pitchFamily="18" charset="0"/>
                      </a:rPr>
                      <m:t>=</m:t>
                    </m:r>
                    <m:d>
                      <m:dPr>
                        <m:begChr m:val="⌊"/>
                        <m:endChr m:val="⌋"/>
                        <m:ctrlPr>
                          <a:rPr lang="zh-CN" altLang="zh-CN" sz="1800" i="1">
                            <a:latin typeface="Cambria Math" panose="02040503050406030204" pitchFamily="18" charset="0"/>
                          </a:rPr>
                        </m:ctrlPr>
                      </m:dPr>
                      <m:e>
                        <m:r>
                          <a:rPr lang="en-US" altLang="zh-CN" sz="1800">
                            <a:latin typeface="Cambria Math" panose="02040503050406030204" pitchFamily="18" charset="0"/>
                          </a:rPr>
                          <m:t>(</m:t>
                        </m:r>
                        <m:r>
                          <m:rPr>
                            <m:sty m:val="p"/>
                          </m:rPr>
                          <a:rPr lang="en-US" altLang="zh-CN" sz="1800">
                            <a:latin typeface="Cambria Math" panose="02040503050406030204" pitchFamily="18" charset="0"/>
                          </a:rPr>
                          <m:t>low</m:t>
                        </m:r>
                        <m:r>
                          <a:rPr lang="en-US" altLang="zh-CN" sz="1800">
                            <a:latin typeface="Cambria Math" panose="02040503050406030204" pitchFamily="18" charset="0"/>
                          </a:rPr>
                          <m:t>+</m:t>
                        </m:r>
                        <m:r>
                          <m:rPr>
                            <m:sty m:val="p"/>
                          </m:rPr>
                          <a:rPr lang="en-US" altLang="zh-CN" sz="1800">
                            <a:latin typeface="Cambria Math" panose="02040503050406030204" pitchFamily="18" charset="0"/>
                          </a:rPr>
                          <m:t>high</m:t>
                        </m:r>
                        <m:r>
                          <a:rPr lang="en-US" altLang="zh-CN" sz="1800">
                            <a:latin typeface="Cambria Math" panose="02040503050406030204" pitchFamily="18" charset="0"/>
                          </a:rPr>
                          <m:t>)/2</m:t>
                        </m:r>
                      </m:e>
                    </m:d>
                  </m:oMath>
                </a14:m>
                <a:r>
                  <a:rPr lang="zh-CN" altLang="zh-CN" sz="1800" dirty="0">
                    <a:latin typeface="Times New Roman" panose="02020603050405020304" pitchFamily="18" charset="0"/>
                    <a:cs typeface="Times New Roman" panose="02020603050405020304" pitchFamily="18" charset="0"/>
                  </a:rPr>
                  <a:t>。</a:t>
                </a:r>
              </a:p>
              <a:p>
                <a:pPr marL="0" indent="0" algn="just">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[mid].key</a:t>
                </a:r>
                <a:r>
                  <a:rPr lang="zh-CN" altLang="zh-CN" sz="1800" dirty="0">
                    <a:latin typeface="Times New Roman" panose="02020603050405020304" pitchFamily="18" charset="0"/>
                    <a:cs typeface="Times New Roman" panose="02020603050405020304" pitchFamily="18" charset="0"/>
                  </a:rPr>
                  <a:t>，则查找成功，返回</a:t>
                </a:r>
                <a:r>
                  <a:rPr lang="en-US" altLang="zh-CN" sz="1800" dirty="0">
                    <a:latin typeface="Times New Roman" panose="02020603050405020304" pitchFamily="18" charset="0"/>
                    <a:cs typeface="Times New Roman" panose="02020603050405020304" pitchFamily="18" charset="0"/>
                  </a:rPr>
                  <a:t>mid</a:t>
                </a:r>
                <a:r>
                  <a:rPr lang="zh-CN" altLang="zh-CN" sz="1800" dirty="0">
                    <a:latin typeface="Times New Roman" panose="02020603050405020304" pitchFamily="18" charset="0"/>
                    <a:cs typeface="Times New Roman" panose="02020603050405020304" pitchFamily="18" charset="0"/>
                  </a:rPr>
                  <a:t>，即该元素在顺序表中的下标；</a:t>
                </a:r>
              </a:p>
              <a:p>
                <a:pPr marL="0" indent="0" algn="just">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key&lt;</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[mid].key</a:t>
                </a:r>
                <a:r>
                  <a:rPr lang="zh-CN" altLang="zh-CN" sz="1800" dirty="0">
                    <a:latin typeface="Times New Roman" panose="02020603050405020304" pitchFamily="18" charset="0"/>
                    <a:cs typeface="Times New Roman" panose="02020603050405020304" pitchFamily="18" charset="0"/>
                  </a:rPr>
                  <a:t>，则</a:t>
                </a:r>
                <a:r>
                  <a:rPr lang="en-US" altLang="zh-CN" sz="1800" dirty="0">
                    <a:latin typeface="Times New Roman" panose="02020603050405020304" pitchFamily="18" charset="0"/>
                    <a:cs typeface="Times New Roman" panose="02020603050405020304" pitchFamily="18" charset="0"/>
                  </a:rPr>
                  <a:t>high=mid-1</a:t>
                </a:r>
                <a:r>
                  <a:rPr lang="zh-CN" altLang="zh-CN" sz="1800" dirty="0">
                    <a:latin typeface="Times New Roman" panose="02020603050405020304" pitchFamily="18" charset="0"/>
                    <a:cs typeface="Times New Roman" panose="02020603050405020304" pitchFamily="18" charset="0"/>
                  </a:rPr>
                  <a:t>；</a:t>
                </a:r>
              </a:p>
              <a:p>
                <a:pPr marL="0" indent="0" algn="just">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key&gt;</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[mid].key</a:t>
                </a:r>
                <a:r>
                  <a:rPr lang="zh-CN" altLang="zh-CN" sz="1800" dirty="0">
                    <a:latin typeface="Times New Roman" panose="02020603050405020304" pitchFamily="18" charset="0"/>
                    <a:cs typeface="Times New Roman" panose="02020603050405020304" pitchFamily="18" charset="0"/>
                  </a:rPr>
                  <a:t>，则</a:t>
                </a:r>
                <a:r>
                  <a:rPr lang="en-US" altLang="zh-CN" sz="1800" dirty="0">
                    <a:latin typeface="Times New Roman" panose="02020603050405020304" pitchFamily="18" charset="0"/>
                    <a:cs typeface="Times New Roman" panose="02020603050405020304" pitchFamily="18" charset="0"/>
                  </a:rPr>
                  <a:t>low=mid+1</a:t>
                </a:r>
                <a:r>
                  <a:rPr lang="zh-CN" altLang="zh-CN" sz="1800" dirty="0">
                    <a:latin typeface="Times New Roman" panose="02020603050405020304" pitchFamily="18" charset="0"/>
                    <a:cs typeface="Times New Roman" panose="02020603050405020304" pitchFamily="18" charset="0"/>
                  </a:rPr>
                  <a:t>；</a:t>
                </a:r>
              </a:p>
              <a:p>
                <a:pPr marL="0" indent="0" algn="just">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重复上述操作，直至</a:t>
                </a:r>
                <a14:m>
                  <m:oMath xmlns:m="http://schemas.openxmlformats.org/officeDocument/2006/math">
                    <m:r>
                      <m:rPr>
                        <m:sty m:val="p"/>
                      </m:rPr>
                      <a:rPr lang="en-US" altLang="zh-CN" sz="1800">
                        <a:latin typeface="Cambria Math" panose="02040503050406030204" pitchFamily="18" charset="0"/>
                      </a:rPr>
                      <m:t>low</m:t>
                    </m:r>
                    <m:r>
                      <a:rPr lang="en-US" altLang="zh-CN" sz="1800">
                        <a:latin typeface="Cambria Math" panose="02040503050406030204" pitchFamily="18" charset="0"/>
                      </a:rPr>
                      <m:t>&gt;</m:t>
                    </m:r>
                    <m:r>
                      <m:rPr>
                        <m:sty m:val="p"/>
                      </m:rPr>
                      <a:rPr lang="en-US" altLang="zh-CN" sz="1800">
                        <a:latin typeface="Cambria Math" panose="02040503050406030204" pitchFamily="18" charset="0"/>
                      </a:rPr>
                      <m:t>high</m:t>
                    </m:r>
                  </m:oMath>
                </a14:m>
                <a:r>
                  <a:rPr lang="zh-CN" altLang="zh-CN" sz="1800" dirty="0">
                    <a:latin typeface="Times New Roman" panose="02020603050405020304" pitchFamily="18" charset="0"/>
                    <a:cs typeface="Times New Roman" panose="02020603050405020304" pitchFamily="18" charset="0"/>
                  </a:rPr>
                  <a:t>时，查找失败，此时返回</a:t>
                </a:r>
                <a:r>
                  <a:rPr lang="en-US" altLang="zh-CN" sz="1800" dirty="0">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a:t>
                </a:r>
              </a:p>
              <a:p>
                <a:pPr marL="0" indent="0" algn="just">
                  <a:lnSpc>
                    <a:spcPts val="23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064124"/>
                <a:ext cx="9036496" cy="3507876"/>
              </a:xfrm>
              <a:blipFill>
                <a:blip r:embed="rId2"/>
                <a:stretch>
                  <a:fillRect l="-810" t="-1913" r="-877" b="-4522"/>
                </a:stretch>
              </a:blipFill>
            </p:spPr>
            <p:txBody>
              <a:bodyPr/>
              <a:lstStyle/>
              <a:p>
                <a:r>
                  <a:rPr lang="zh-CN" altLang="en-US">
                    <a:noFill/>
                  </a:rPr>
                  <a:t> </a:t>
                </a:r>
              </a:p>
            </p:txBody>
          </p:sp>
        </mc:Fallback>
      </mc:AlternateContent>
      <p:sp>
        <p:nvSpPr>
          <p:cNvPr id="4" name="文本框 3"/>
          <p:cNvSpPr txBox="1"/>
          <p:nvPr/>
        </p:nvSpPr>
        <p:spPr>
          <a:xfrm>
            <a:off x="4067944" y="627534"/>
            <a:ext cx="5076056" cy="3416320"/>
          </a:xfrm>
          <a:prstGeom prst="rect">
            <a:avLst/>
          </a:prstGeom>
          <a:solidFill>
            <a:schemeClr val="accent2"/>
          </a:solidFill>
        </p:spPr>
        <p:txBody>
          <a:bodyPr wrap="square" rtlCol="0">
            <a:spAutoFit/>
          </a:bodyPr>
          <a:lstStyle/>
          <a:p>
            <a:r>
              <a:rPr lang="en-US" altLang="zh-CN" dirty="0" err="1"/>
              <a:t>int</a:t>
            </a:r>
            <a:r>
              <a:rPr lang="en-US" altLang="zh-CN" dirty="0"/>
              <a:t> </a:t>
            </a:r>
            <a:r>
              <a:rPr lang="en-US" altLang="zh-CN" dirty="0" err="1"/>
              <a:t>StaticSearchtable</a:t>
            </a:r>
            <a:r>
              <a:rPr lang="en-US" altLang="zh-CN" dirty="0"/>
              <a:t>::</a:t>
            </a:r>
            <a:r>
              <a:rPr lang="en-US" altLang="zh-CN" dirty="0" err="1"/>
              <a:t>BinSearch</a:t>
            </a:r>
            <a:r>
              <a:rPr lang="en-US" altLang="zh-CN" dirty="0"/>
              <a:t>(</a:t>
            </a:r>
            <a:r>
              <a:rPr lang="en-US" altLang="zh-CN" dirty="0" err="1"/>
              <a:t>KeyType</a:t>
            </a:r>
            <a:r>
              <a:rPr lang="en-US" altLang="zh-CN" dirty="0"/>
              <a:t> key){</a:t>
            </a:r>
            <a:endParaRPr lang="zh-CN" altLang="zh-CN" dirty="0"/>
          </a:p>
          <a:p>
            <a:r>
              <a:rPr lang="en-US" altLang="zh-CN" dirty="0"/>
              <a:t>   int low=1, high=length;</a:t>
            </a:r>
            <a:endParaRPr lang="zh-CN" altLang="zh-CN" dirty="0"/>
          </a:p>
          <a:p>
            <a:r>
              <a:rPr lang="en-US" altLang="zh-CN" dirty="0"/>
              <a:t>   </a:t>
            </a:r>
            <a:r>
              <a:rPr lang="en-US" altLang="zh-CN" dirty="0" err="1"/>
              <a:t>int</a:t>
            </a:r>
            <a:r>
              <a:rPr lang="en-US" altLang="zh-CN" dirty="0"/>
              <a:t> mid;</a:t>
            </a:r>
            <a:endParaRPr lang="zh-CN" altLang="zh-CN" dirty="0"/>
          </a:p>
          <a:p>
            <a:r>
              <a:rPr lang="en-US" altLang="zh-CN" dirty="0"/>
              <a:t>   while(low&lt;=high){</a:t>
            </a:r>
            <a:endParaRPr lang="zh-CN" altLang="zh-CN" dirty="0"/>
          </a:p>
          <a:p>
            <a:r>
              <a:rPr lang="en-US" altLang="zh-CN" dirty="0"/>
              <a:t>      mid=(</a:t>
            </a:r>
            <a:r>
              <a:rPr lang="en-US" altLang="zh-CN" dirty="0" err="1"/>
              <a:t>low+high</a:t>
            </a:r>
            <a:r>
              <a:rPr lang="en-US" altLang="zh-CN" dirty="0"/>
              <a:t>)/2;</a:t>
            </a:r>
            <a:endParaRPr lang="zh-CN" altLang="zh-CN" dirty="0"/>
          </a:p>
          <a:p>
            <a:r>
              <a:rPr lang="en-US" altLang="zh-CN" dirty="0"/>
              <a:t>      if(key==</a:t>
            </a:r>
            <a:r>
              <a:rPr lang="en-US" altLang="zh-CN" dirty="0" err="1"/>
              <a:t>elem</a:t>
            </a:r>
            <a:r>
              <a:rPr lang="en-US" altLang="zh-CN" dirty="0"/>
              <a:t>[mid].key)  return mid;</a:t>
            </a:r>
            <a:endParaRPr lang="zh-CN" altLang="zh-CN" dirty="0"/>
          </a:p>
          <a:p>
            <a:r>
              <a:rPr lang="en-US" altLang="zh-CN" dirty="0"/>
              <a:t>      else if(key&lt;</a:t>
            </a:r>
            <a:r>
              <a:rPr lang="en-US" altLang="zh-CN" dirty="0" err="1"/>
              <a:t>elem</a:t>
            </a:r>
            <a:r>
              <a:rPr lang="en-US" altLang="zh-CN" dirty="0"/>
              <a:t>[mid].key)  high=mid-1;</a:t>
            </a:r>
            <a:endParaRPr lang="zh-CN" altLang="zh-CN" dirty="0"/>
          </a:p>
          <a:p>
            <a:r>
              <a:rPr lang="en-US" altLang="zh-CN" dirty="0"/>
              <a:t>            else low=mid+1;</a:t>
            </a:r>
            <a:endParaRPr lang="zh-CN" altLang="zh-CN" dirty="0"/>
          </a:p>
          <a:p>
            <a:r>
              <a:rPr lang="en-US" altLang="zh-CN" dirty="0"/>
              <a:t>     }</a:t>
            </a:r>
            <a:endParaRPr lang="zh-CN" altLang="zh-CN" dirty="0"/>
          </a:p>
          <a:p>
            <a:r>
              <a:rPr lang="en-US" altLang="zh-CN" dirty="0"/>
              <a:t>     return 0;</a:t>
            </a:r>
            <a:endParaRPr lang="zh-CN" altLang="zh-CN" dirty="0"/>
          </a:p>
          <a:p>
            <a:r>
              <a:rPr lang="en-US" altLang="zh-CN" dirty="0"/>
              <a:t>}</a:t>
            </a:r>
            <a:endParaRPr lang="zh-CN" altLang="zh-CN" dirty="0"/>
          </a:p>
          <a:p>
            <a:endParaRPr lang="zh-CN" altLang="en-US" dirty="0"/>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a:t>
            </a:r>
          </a:p>
        </p:txBody>
      </p:sp>
    </p:spTree>
    <p:extLst>
      <p:ext uri="{BB962C8B-B14F-4D97-AF65-F5344CB8AC3E}">
        <p14:creationId xmlns:p14="http://schemas.microsoft.com/office/powerpoint/2010/main" val="22783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ppt_x"/>
                                          </p:val>
                                        </p:tav>
                                        <p:tav tm="100000">
                                          <p:val>
                                            <p:strVal val="#ppt_x"/>
                                          </p:val>
                                        </p:tav>
                                      </p:tavLst>
                                    </p:anim>
                                    <p:anim calcmode="lin" valueType="num">
                                      <p:cBhvr additive="base">
                                        <p:cTn id="6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4">
                                            <p:txEl>
                                              <p:pRg st="0" end="0"/>
                                            </p:txEl>
                                          </p:spTgt>
                                        </p:tgtEl>
                                        <p:attrNameLst>
                                          <p:attrName>style.visibility</p:attrName>
                                        </p:attrNameLst>
                                      </p:cBhvr>
                                      <p:to>
                                        <p:strVal val="visible"/>
                                      </p:to>
                                    </p:set>
                                    <p:animEffect transition="in" filter="fade">
                                      <p:cBhvr>
                                        <p:cTn id="73" dur="1000"/>
                                        <p:tgtEl>
                                          <p:spTgt spid="4">
                                            <p:txEl>
                                              <p:pRg st="0" end="0"/>
                                            </p:txEl>
                                          </p:spTgt>
                                        </p:tgtEl>
                                      </p:cBhvr>
                                    </p:animEffect>
                                    <p:anim calcmode="lin" valueType="num">
                                      <p:cBhvr>
                                        <p:cTn id="7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4">
                                            <p:txEl>
                                              <p:pRg st="1" end="1"/>
                                            </p:txEl>
                                          </p:spTgt>
                                        </p:tgtEl>
                                        <p:attrNameLst>
                                          <p:attrName>style.visibility</p:attrName>
                                        </p:attrNameLst>
                                      </p:cBhvr>
                                      <p:to>
                                        <p:strVal val="visible"/>
                                      </p:to>
                                    </p:set>
                                    <p:animEffect transition="in" filter="fade">
                                      <p:cBhvr>
                                        <p:cTn id="80" dur="1000"/>
                                        <p:tgtEl>
                                          <p:spTgt spid="4">
                                            <p:txEl>
                                              <p:pRg st="1" end="1"/>
                                            </p:txEl>
                                          </p:spTgt>
                                        </p:tgtEl>
                                      </p:cBhvr>
                                    </p:animEffect>
                                    <p:anim calcmode="lin" valueType="num">
                                      <p:cBhvr>
                                        <p:cTn id="8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8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4">
                                            <p:txEl>
                                              <p:pRg st="2" end="2"/>
                                            </p:txEl>
                                          </p:spTgt>
                                        </p:tgtEl>
                                        <p:attrNameLst>
                                          <p:attrName>style.visibility</p:attrName>
                                        </p:attrNameLst>
                                      </p:cBhvr>
                                      <p:to>
                                        <p:strVal val="visible"/>
                                      </p:to>
                                    </p:set>
                                    <p:animEffect transition="in" filter="fade">
                                      <p:cBhvr>
                                        <p:cTn id="87" dur="1000"/>
                                        <p:tgtEl>
                                          <p:spTgt spid="4">
                                            <p:txEl>
                                              <p:pRg st="2" end="2"/>
                                            </p:txEl>
                                          </p:spTgt>
                                        </p:tgtEl>
                                      </p:cBhvr>
                                    </p:animEffect>
                                    <p:anim calcmode="lin" valueType="num">
                                      <p:cBhvr>
                                        <p:cTn id="8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8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4">
                                            <p:txEl>
                                              <p:pRg st="3" end="3"/>
                                            </p:txEl>
                                          </p:spTgt>
                                        </p:tgtEl>
                                        <p:attrNameLst>
                                          <p:attrName>style.visibility</p:attrName>
                                        </p:attrNameLst>
                                      </p:cBhvr>
                                      <p:to>
                                        <p:strVal val="visible"/>
                                      </p:to>
                                    </p:set>
                                    <p:animEffect transition="in" filter="fade">
                                      <p:cBhvr>
                                        <p:cTn id="94" dur="1000"/>
                                        <p:tgtEl>
                                          <p:spTgt spid="4">
                                            <p:txEl>
                                              <p:pRg st="3" end="3"/>
                                            </p:txEl>
                                          </p:spTgt>
                                        </p:tgtEl>
                                      </p:cBhvr>
                                    </p:animEffect>
                                    <p:anim calcmode="lin" valueType="num">
                                      <p:cBhvr>
                                        <p:cTn id="9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nodeType="clickEffect">
                                  <p:stCondLst>
                                    <p:cond delay="0"/>
                                  </p:stCondLst>
                                  <p:childTnLst>
                                    <p:set>
                                      <p:cBhvr>
                                        <p:cTn id="100" dur="1" fill="hold">
                                          <p:stCondLst>
                                            <p:cond delay="0"/>
                                          </p:stCondLst>
                                        </p:cTn>
                                        <p:tgtEl>
                                          <p:spTgt spid="4">
                                            <p:txEl>
                                              <p:pRg st="4" end="4"/>
                                            </p:txEl>
                                          </p:spTgt>
                                        </p:tgtEl>
                                        <p:attrNameLst>
                                          <p:attrName>style.visibility</p:attrName>
                                        </p:attrNameLst>
                                      </p:cBhvr>
                                      <p:to>
                                        <p:strVal val="visible"/>
                                      </p:to>
                                    </p:set>
                                    <p:animEffect transition="in" filter="fade">
                                      <p:cBhvr>
                                        <p:cTn id="101" dur="1000"/>
                                        <p:tgtEl>
                                          <p:spTgt spid="4">
                                            <p:txEl>
                                              <p:pRg st="4" end="4"/>
                                            </p:txEl>
                                          </p:spTgt>
                                        </p:tgtEl>
                                      </p:cBhvr>
                                    </p:animEffect>
                                    <p:anim calcmode="lin" valueType="num">
                                      <p:cBhvr>
                                        <p:cTn id="10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0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4">
                                            <p:txEl>
                                              <p:pRg st="5" end="5"/>
                                            </p:txEl>
                                          </p:spTgt>
                                        </p:tgtEl>
                                        <p:attrNameLst>
                                          <p:attrName>style.visibility</p:attrName>
                                        </p:attrNameLst>
                                      </p:cBhvr>
                                      <p:to>
                                        <p:strVal val="visible"/>
                                      </p:to>
                                    </p:set>
                                    <p:animEffect transition="in" filter="fade">
                                      <p:cBhvr>
                                        <p:cTn id="108" dur="1000"/>
                                        <p:tgtEl>
                                          <p:spTgt spid="4">
                                            <p:txEl>
                                              <p:pRg st="5" end="5"/>
                                            </p:txEl>
                                          </p:spTgt>
                                        </p:tgtEl>
                                      </p:cBhvr>
                                    </p:animEffect>
                                    <p:anim calcmode="lin" valueType="num">
                                      <p:cBhvr>
                                        <p:cTn id="10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1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4">
                                            <p:txEl>
                                              <p:pRg st="6" end="6"/>
                                            </p:txEl>
                                          </p:spTgt>
                                        </p:tgtEl>
                                        <p:attrNameLst>
                                          <p:attrName>style.visibility</p:attrName>
                                        </p:attrNameLst>
                                      </p:cBhvr>
                                      <p:to>
                                        <p:strVal val="visible"/>
                                      </p:to>
                                    </p:set>
                                    <p:animEffect transition="in" filter="fade">
                                      <p:cBhvr>
                                        <p:cTn id="115" dur="1000"/>
                                        <p:tgtEl>
                                          <p:spTgt spid="4">
                                            <p:txEl>
                                              <p:pRg st="6" end="6"/>
                                            </p:txEl>
                                          </p:spTgt>
                                        </p:tgtEl>
                                      </p:cBhvr>
                                    </p:animEffect>
                                    <p:anim calcmode="lin" valueType="num">
                                      <p:cBhvr>
                                        <p:cTn id="11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1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nodeType="clickEffect">
                                  <p:stCondLst>
                                    <p:cond delay="0"/>
                                  </p:stCondLst>
                                  <p:childTnLst>
                                    <p:set>
                                      <p:cBhvr>
                                        <p:cTn id="121" dur="1" fill="hold">
                                          <p:stCondLst>
                                            <p:cond delay="0"/>
                                          </p:stCondLst>
                                        </p:cTn>
                                        <p:tgtEl>
                                          <p:spTgt spid="4">
                                            <p:txEl>
                                              <p:pRg st="7" end="7"/>
                                            </p:txEl>
                                          </p:spTgt>
                                        </p:tgtEl>
                                        <p:attrNameLst>
                                          <p:attrName>style.visibility</p:attrName>
                                        </p:attrNameLst>
                                      </p:cBhvr>
                                      <p:to>
                                        <p:strVal val="visible"/>
                                      </p:to>
                                    </p:set>
                                    <p:animEffect transition="in" filter="fade">
                                      <p:cBhvr>
                                        <p:cTn id="122" dur="1000"/>
                                        <p:tgtEl>
                                          <p:spTgt spid="4">
                                            <p:txEl>
                                              <p:pRg st="7" end="7"/>
                                            </p:txEl>
                                          </p:spTgt>
                                        </p:tgtEl>
                                      </p:cBhvr>
                                    </p:animEffect>
                                    <p:anim calcmode="lin" valueType="num">
                                      <p:cBhvr>
                                        <p:cTn id="12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24" dur="1000" fill="hold"/>
                                        <p:tgtEl>
                                          <p:spTgt spid="4">
                                            <p:txEl>
                                              <p:pRg st="7" end="7"/>
                                            </p:txEl>
                                          </p:spTgt>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4">
                                            <p:txEl>
                                              <p:pRg st="8" end="8"/>
                                            </p:txEl>
                                          </p:spTgt>
                                        </p:tgtEl>
                                        <p:attrNameLst>
                                          <p:attrName>style.visibility</p:attrName>
                                        </p:attrNameLst>
                                      </p:cBhvr>
                                      <p:to>
                                        <p:strVal val="visible"/>
                                      </p:to>
                                    </p:set>
                                    <p:animEffect transition="in" filter="fade">
                                      <p:cBhvr>
                                        <p:cTn id="127" dur="1000"/>
                                        <p:tgtEl>
                                          <p:spTgt spid="4">
                                            <p:txEl>
                                              <p:pRg st="8" end="8"/>
                                            </p:txEl>
                                          </p:spTgt>
                                        </p:tgtEl>
                                      </p:cBhvr>
                                    </p:animEffect>
                                    <p:anim calcmode="lin" valueType="num">
                                      <p:cBhvr>
                                        <p:cTn id="12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2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nodeType="clickEffect">
                                  <p:stCondLst>
                                    <p:cond delay="0"/>
                                  </p:stCondLst>
                                  <p:childTnLst>
                                    <p:set>
                                      <p:cBhvr>
                                        <p:cTn id="133" dur="1" fill="hold">
                                          <p:stCondLst>
                                            <p:cond delay="0"/>
                                          </p:stCondLst>
                                        </p:cTn>
                                        <p:tgtEl>
                                          <p:spTgt spid="4">
                                            <p:txEl>
                                              <p:pRg st="9" end="9"/>
                                            </p:txEl>
                                          </p:spTgt>
                                        </p:tgtEl>
                                        <p:attrNameLst>
                                          <p:attrName>style.visibility</p:attrName>
                                        </p:attrNameLst>
                                      </p:cBhvr>
                                      <p:to>
                                        <p:strVal val="visible"/>
                                      </p:to>
                                    </p:set>
                                    <p:animEffect transition="in" filter="fade">
                                      <p:cBhvr>
                                        <p:cTn id="134" dur="1000"/>
                                        <p:tgtEl>
                                          <p:spTgt spid="4">
                                            <p:txEl>
                                              <p:pRg st="9" end="9"/>
                                            </p:txEl>
                                          </p:spTgt>
                                        </p:tgtEl>
                                      </p:cBhvr>
                                    </p:animEffect>
                                    <p:anim calcmode="lin" valueType="num">
                                      <p:cBhvr>
                                        <p:cTn id="13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36" dur="1000" fill="hold"/>
                                        <p:tgtEl>
                                          <p:spTgt spid="4">
                                            <p:txEl>
                                              <p:pRg st="9" end="9"/>
                                            </p:txEl>
                                          </p:spTgt>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0"/>
                                  </p:stCondLst>
                                  <p:childTnLst>
                                    <p:set>
                                      <p:cBhvr>
                                        <p:cTn id="138" dur="1" fill="hold">
                                          <p:stCondLst>
                                            <p:cond delay="0"/>
                                          </p:stCondLst>
                                        </p:cTn>
                                        <p:tgtEl>
                                          <p:spTgt spid="4">
                                            <p:txEl>
                                              <p:pRg st="10" end="10"/>
                                            </p:txEl>
                                          </p:spTgt>
                                        </p:tgtEl>
                                        <p:attrNameLst>
                                          <p:attrName>style.visibility</p:attrName>
                                        </p:attrNameLst>
                                      </p:cBhvr>
                                      <p:to>
                                        <p:strVal val="visible"/>
                                      </p:to>
                                    </p:set>
                                    <p:animEffect transition="in" filter="fade">
                                      <p:cBhvr>
                                        <p:cTn id="139" dur="1000"/>
                                        <p:tgtEl>
                                          <p:spTgt spid="4">
                                            <p:txEl>
                                              <p:pRg st="10" end="10"/>
                                            </p:txEl>
                                          </p:spTgt>
                                        </p:tgtEl>
                                      </p:cBhvr>
                                    </p:animEffect>
                                    <p:anim calcmode="lin" valueType="num">
                                      <p:cBhvr>
                                        <p:cTn id="140"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141"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1419622"/>
                <a:ext cx="8064896" cy="1512168"/>
              </a:xfrm>
            </p:spPr>
            <p:txBody>
              <a:bodyPr/>
              <a:lstStyle/>
              <a:p>
                <a:pPr algn="just">
                  <a:lnSpc>
                    <a:spcPts val="2600"/>
                  </a:lnSpc>
                  <a:spcBef>
                    <a:spcPts val="0"/>
                  </a:spcBef>
                </a:pPr>
                <a:r>
                  <a:rPr lang="zh-CN" altLang="zh-CN" sz="1800" dirty="0"/>
                  <a:t>二分查找过程可用二叉树来描述，在构造二叉树的过程中，把当前查找区间的中点位置上的元素作为树根，左子表和右子表的元素分别作为根的左子树和右子树，由此递归得到二叉树，通常称描述查找过程的二叉树为</a:t>
                </a:r>
                <a:r>
                  <a:rPr lang="zh-CN" altLang="zh-CN" sz="1800" dirty="0">
                    <a:solidFill>
                      <a:srgbClr val="C00000"/>
                    </a:solidFill>
                  </a:rPr>
                  <a:t>判定树</a:t>
                </a:r>
                <a:r>
                  <a:rPr lang="zh-CN" altLang="zh-CN" sz="1800" dirty="0"/>
                  <a:t>。判定树的形态与表中个数</a:t>
                </a:r>
                <a14:m>
                  <m:oMath xmlns:m="http://schemas.openxmlformats.org/officeDocument/2006/math">
                    <m:r>
                      <a:rPr lang="en-US" altLang="zh-CN" sz="1800" i="1">
                        <a:latin typeface="Cambria Math" panose="02040503050406030204" pitchFamily="18" charset="0"/>
                      </a:rPr>
                      <m:t>𝑛</m:t>
                    </m:r>
                  </m:oMath>
                </a14:m>
                <a:r>
                  <a:rPr lang="zh-CN" altLang="zh-CN" sz="1800" dirty="0"/>
                  <a:t>相关，与输入实例中的</a:t>
                </a:r>
                <a:r>
                  <a:rPr lang="en-US" altLang="zh-CN" sz="1800" dirty="0"/>
                  <a:t>key</a:t>
                </a:r>
                <a:r>
                  <a:rPr lang="zh-CN" altLang="zh-CN" sz="1800" dirty="0"/>
                  <a:t>值无关。</a:t>
                </a:r>
              </a:p>
              <a:p>
                <a:pPr>
                  <a:lnSpc>
                    <a:spcPts val="22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1419622"/>
                <a:ext cx="8064896" cy="1512168"/>
              </a:xfrm>
              <a:blipFill>
                <a:blip r:embed="rId2"/>
                <a:stretch>
                  <a:fillRect l="-756" t="-2016" r="-907"/>
                </a:stretch>
              </a:blipFill>
            </p:spPr>
            <p:txBody>
              <a:bodyPr/>
              <a:lstStyle/>
              <a:p>
                <a:r>
                  <a:rPr lang="zh-CN" altLang="en-US">
                    <a:noFill/>
                  </a:rPr>
                  <a:t> </a:t>
                </a:r>
              </a:p>
            </p:txBody>
          </p:sp>
        </mc:Fallback>
      </mc:AlternateContent>
      <p:sp>
        <p:nvSpPr>
          <p:cNvPr id="4" name="文本框 3"/>
          <p:cNvSpPr txBox="1"/>
          <p:nvPr/>
        </p:nvSpPr>
        <p:spPr>
          <a:xfrm>
            <a:off x="611380" y="115457"/>
            <a:ext cx="18003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二分查找分析</a:t>
            </a:r>
          </a:p>
        </p:txBody>
      </p:sp>
    </p:spTree>
    <p:extLst>
      <p:ext uri="{BB962C8B-B14F-4D97-AF65-F5344CB8AC3E}">
        <p14:creationId xmlns:p14="http://schemas.microsoft.com/office/powerpoint/2010/main" val="279691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843558"/>
            <a:ext cx="8640960" cy="2227706"/>
          </a:xfrm>
        </p:spPr>
        <p:txBody>
          <a:bodyPr/>
          <a:lstStyle/>
          <a:p>
            <a:pPr algn="just">
              <a:lnSpc>
                <a:spcPts val="2600"/>
              </a:lnSpc>
              <a:spcBef>
                <a:spcPts val="0"/>
              </a:spcBef>
            </a:pPr>
            <a:r>
              <a:rPr lang="zh-CN" altLang="zh-CN" sz="1800" dirty="0"/>
              <a:t>例如，要找到</a:t>
            </a:r>
            <a:r>
              <a:rPr lang="en-US" altLang="zh-CN" sz="1800" dirty="0"/>
              <a:t>15</a:t>
            </a:r>
            <a:r>
              <a:rPr lang="zh-CN" altLang="zh-CN" sz="1800" dirty="0"/>
              <a:t>个数据元素的有序表中的第</a:t>
            </a:r>
            <a:r>
              <a:rPr lang="en-US" altLang="zh-CN" sz="1800" dirty="0"/>
              <a:t>8</a:t>
            </a:r>
            <a:r>
              <a:rPr lang="zh-CN" altLang="zh-CN" sz="1800" dirty="0"/>
              <a:t>个元素仅需比较</a:t>
            </a:r>
            <a:r>
              <a:rPr lang="en-US" altLang="zh-CN" sz="1800" dirty="0"/>
              <a:t>1</a:t>
            </a:r>
            <a:r>
              <a:rPr lang="zh-CN" altLang="zh-CN" sz="1800" dirty="0"/>
              <a:t>次，找到第</a:t>
            </a:r>
            <a:r>
              <a:rPr lang="en-US" altLang="zh-CN" sz="1800" dirty="0"/>
              <a:t>4</a:t>
            </a:r>
            <a:r>
              <a:rPr lang="zh-CN" altLang="zh-CN" sz="1800" dirty="0"/>
              <a:t>和第</a:t>
            </a:r>
            <a:r>
              <a:rPr lang="en-US" altLang="zh-CN" sz="1800" dirty="0"/>
              <a:t>12</a:t>
            </a:r>
            <a:r>
              <a:rPr lang="zh-CN" altLang="zh-CN" sz="1800" dirty="0"/>
              <a:t>个元素需比较</a:t>
            </a:r>
            <a:r>
              <a:rPr lang="en-US" altLang="zh-CN" sz="1800" dirty="0"/>
              <a:t>2</a:t>
            </a:r>
            <a:r>
              <a:rPr lang="zh-CN" altLang="zh-CN" sz="1800" dirty="0"/>
              <a:t>次；找到第</a:t>
            </a:r>
            <a:r>
              <a:rPr lang="en-US" altLang="zh-CN" sz="1800" dirty="0"/>
              <a:t>2</a:t>
            </a:r>
            <a:r>
              <a:rPr lang="zh-CN" altLang="zh-CN" sz="1800" dirty="0"/>
              <a:t>、</a:t>
            </a:r>
            <a:r>
              <a:rPr lang="en-US" altLang="zh-CN" sz="1800" dirty="0"/>
              <a:t>6</a:t>
            </a:r>
            <a:r>
              <a:rPr lang="zh-CN" altLang="zh-CN" sz="1800" dirty="0"/>
              <a:t>、</a:t>
            </a:r>
            <a:r>
              <a:rPr lang="en-US" altLang="zh-CN" sz="1800" dirty="0"/>
              <a:t>10</a:t>
            </a:r>
            <a:r>
              <a:rPr lang="zh-CN" altLang="zh-CN" sz="1800" dirty="0"/>
              <a:t>和</a:t>
            </a:r>
            <a:r>
              <a:rPr lang="en-US" altLang="zh-CN" sz="1800" dirty="0"/>
              <a:t>14</a:t>
            </a:r>
            <a:r>
              <a:rPr lang="zh-CN" altLang="zh-CN" sz="1800" dirty="0"/>
              <a:t>个元素需比较</a:t>
            </a:r>
            <a:r>
              <a:rPr lang="en-US" altLang="zh-CN" sz="1800" dirty="0"/>
              <a:t>3</a:t>
            </a:r>
            <a:r>
              <a:rPr lang="zh-CN" altLang="zh-CN" sz="1800" dirty="0"/>
              <a:t>次；找到第</a:t>
            </a:r>
            <a:r>
              <a:rPr lang="en-US" altLang="zh-CN" sz="1800" dirty="0"/>
              <a:t>1</a:t>
            </a:r>
            <a:r>
              <a:rPr lang="zh-CN" altLang="zh-CN" sz="1800" dirty="0"/>
              <a:t>、</a:t>
            </a:r>
            <a:r>
              <a:rPr lang="en-US" altLang="zh-CN" sz="1800" dirty="0"/>
              <a:t>3</a:t>
            </a:r>
            <a:r>
              <a:rPr lang="zh-CN" altLang="zh-CN" sz="1800" dirty="0"/>
              <a:t>、</a:t>
            </a:r>
            <a:r>
              <a:rPr lang="en-US" altLang="zh-CN" sz="1800" dirty="0"/>
              <a:t>5</a:t>
            </a:r>
            <a:r>
              <a:rPr lang="zh-CN" altLang="zh-CN" sz="1800" dirty="0"/>
              <a:t>、</a:t>
            </a:r>
            <a:r>
              <a:rPr lang="en-US" altLang="zh-CN" sz="1800" dirty="0"/>
              <a:t>7</a:t>
            </a:r>
            <a:r>
              <a:rPr lang="zh-CN" altLang="zh-CN" sz="1800" dirty="0"/>
              <a:t>、</a:t>
            </a:r>
            <a:r>
              <a:rPr lang="en-US" altLang="zh-CN" sz="1800" dirty="0"/>
              <a:t>9</a:t>
            </a:r>
            <a:r>
              <a:rPr lang="zh-CN" altLang="zh-CN" sz="1800" dirty="0"/>
              <a:t>、</a:t>
            </a:r>
            <a:r>
              <a:rPr lang="en-US" altLang="zh-CN" sz="1800" dirty="0"/>
              <a:t>11</a:t>
            </a:r>
            <a:r>
              <a:rPr lang="zh-CN" altLang="zh-CN" sz="1800" dirty="0"/>
              <a:t>、</a:t>
            </a:r>
            <a:r>
              <a:rPr lang="en-US" altLang="zh-CN" sz="1800" dirty="0"/>
              <a:t>13</a:t>
            </a:r>
            <a:r>
              <a:rPr lang="zh-CN" altLang="zh-CN" sz="1800" dirty="0"/>
              <a:t>和</a:t>
            </a:r>
            <a:r>
              <a:rPr lang="en-US" altLang="zh-CN" sz="1800" dirty="0"/>
              <a:t>15</a:t>
            </a:r>
            <a:r>
              <a:rPr lang="zh-CN" altLang="zh-CN" sz="1800" dirty="0"/>
              <a:t>个元素需比较</a:t>
            </a:r>
            <a:r>
              <a:rPr lang="en-US" altLang="zh-CN" sz="1800" dirty="0"/>
              <a:t>4</a:t>
            </a:r>
            <a:r>
              <a:rPr lang="zh-CN" altLang="zh-CN" sz="1800" dirty="0"/>
              <a:t>次。其查找过程可用图表示，树中每个圆圈结点表示表中一个元素，结点中的值表示该元素在表中的位置（或顺序表中的下标）；圆圈结点表示查找成功，方框结点表示查找失败。若查找失败，则比较过程是一条从判定树的根到某个结点的路径，所需的关键字比较次数是该路径上圆圈结点的个数。</a:t>
            </a:r>
          </a:p>
          <a:p>
            <a:pPr algn="just"/>
            <a:endParaRPr lang="zh-CN" altLang="en-US" dirty="0"/>
          </a:p>
        </p:txBody>
      </p:sp>
      <p:pic>
        <p:nvPicPr>
          <p:cNvPr id="5" name="图片 4"/>
          <p:cNvPicPr>
            <a:picLocks noChangeAspect="1"/>
          </p:cNvPicPr>
          <p:nvPr/>
        </p:nvPicPr>
        <p:blipFill>
          <a:blip r:embed="rId2"/>
          <a:stretch>
            <a:fillRect/>
          </a:stretch>
        </p:blipFill>
        <p:spPr>
          <a:xfrm>
            <a:off x="2051720" y="2787774"/>
            <a:ext cx="4896544" cy="2024446"/>
          </a:xfrm>
          <a:prstGeom prst="rect">
            <a:avLst/>
          </a:prstGeom>
        </p:spPr>
      </p:pic>
      <p:sp>
        <p:nvSpPr>
          <p:cNvPr id="6" name="文本框 5"/>
          <p:cNvSpPr txBox="1"/>
          <p:nvPr/>
        </p:nvSpPr>
        <p:spPr>
          <a:xfrm>
            <a:off x="611380" y="115457"/>
            <a:ext cx="18003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二分查找分析</a:t>
            </a:r>
          </a:p>
        </p:txBody>
      </p:sp>
    </p:spTree>
    <p:extLst>
      <p:ext uri="{BB962C8B-B14F-4D97-AF65-F5344CB8AC3E}">
        <p14:creationId xmlns:p14="http://schemas.microsoft.com/office/powerpoint/2010/main" val="85451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928992" cy="3507876"/>
              </a:xfrm>
            </p:spPr>
            <p:txBody>
              <a:bodyPr/>
              <a:lstStyle/>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借助于二叉判定树，很容易计算二分查找成功（或不成功）的平均查找长度，我们分两种情形讨论如下：</a:t>
                </a:r>
              </a:p>
              <a:p>
                <a:pPr marL="0" indent="0">
                  <a:lnSpc>
                    <a:spcPts val="2400"/>
                  </a:lnSpc>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1</a:t>
                </a:r>
                <a:r>
                  <a:rPr lang="zh-CN" altLang="zh-CN" sz="1800" dirty="0">
                    <a:solidFill>
                      <a:srgbClr val="C00000"/>
                    </a:solidFill>
                    <a:latin typeface="Times New Roman" panose="02020603050405020304" pitchFamily="18" charset="0"/>
                    <a:cs typeface="Times New Roman" panose="02020603050405020304" pitchFamily="18" charset="0"/>
                  </a:rPr>
                  <a:t>）判定树为满二叉树</a:t>
                </a: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设有序表元素个数为</a:t>
                </a:r>
                <a14:m>
                  <m:oMath xmlns:m="http://schemas.openxmlformats.org/officeDocument/2006/math">
                    <m:r>
                      <a:rPr lang="en-US" altLang="zh-CN" sz="1800" i="1">
                        <a:latin typeface="Cambria Math" panose="02040503050406030204" pitchFamily="18" charset="0"/>
                      </a:rPr>
                      <m:t>𝑛</m:t>
                    </m:r>
                    <m:r>
                      <a:rPr lang="en-US" altLang="zh-CN" sz="1800">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a:latin typeface="Cambria Math" panose="02040503050406030204" pitchFamily="18" charset="0"/>
                          </a:rPr>
                          <m:t>2</m:t>
                        </m:r>
                      </m:e>
                      <m:sup>
                        <m:r>
                          <a:rPr lang="en-US" altLang="zh-CN" sz="1800" i="1">
                            <a:latin typeface="Cambria Math" panose="02040503050406030204" pitchFamily="18" charset="0"/>
                          </a:rPr>
                          <m:t>h</m:t>
                        </m:r>
                      </m:sup>
                    </m:sSup>
                    <m:r>
                      <a:rPr lang="en-US" altLang="zh-CN" sz="1800" i="1">
                        <a:latin typeface="Cambria Math" panose="02040503050406030204" pitchFamily="18" charset="0"/>
                      </a:rPr>
                      <m:t>−</m:t>
                    </m:r>
                    <m:r>
                      <a:rPr lang="en-US" altLang="zh-CN" sz="1800">
                        <a:latin typeface="Cambria Math" panose="02040503050406030204" pitchFamily="18" charset="0"/>
                      </a:rPr>
                      <m:t>1</m:t>
                    </m:r>
                    <m:r>
                      <a:rPr lang="zh-CN" altLang="zh-CN" sz="1800">
                        <a:latin typeface="Cambria Math" panose="02040503050406030204" pitchFamily="18" charset="0"/>
                      </a:rPr>
                      <m:t>，其中</m:t>
                    </m:r>
                    <m:r>
                      <a:rPr lang="en-US" altLang="zh-CN" sz="1800" i="1">
                        <a:latin typeface="Cambria Math" panose="02040503050406030204" pitchFamily="18" charset="0"/>
                      </a:rPr>
                      <m:t> </m:t>
                    </m:r>
                    <m:r>
                      <a:rPr lang="en-US" altLang="zh-CN" sz="1800" i="1">
                        <a:latin typeface="Cambria Math" panose="02040503050406030204" pitchFamily="18" charset="0"/>
                      </a:rPr>
                      <m:t>h</m:t>
                    </m:r>
                  </m:oMath>
                </a14:m>
                <a:r>
                  <a:rPr lang="zh-CN" altLang="zh-CN" sz="1800" dirty="0">
                    <a:latin typeface="Times New Roman" panose="02020603050405020304" pitchFamily="18" charset="0"/>
                    <a:cs typeface="Times New Roman" panose="02020603050405020304" pitchFamily="18" charset="0"/>
                  </a:rPr>
                  <a:t>的满二叉树的树高</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不包括方框结点</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，即</a:t>
                </a:r>
                <a14:m>
                  <m:oMath xmlns:m="http://schemas.openxmlformats.org/officeDocument/2006/math">
                    <m:r>
                      <a:rPr lang="en-US" altLang="zh-CN" sz="1800" i="1">
                        <a:latin typeface="Cambria Math" panose="02040503050406030204" pitchFamily="18" charset="0"/>
                      </a:rPr>
                      <m:t>h</m:t>
                    </m:r>
                    <m:r>
                      <a:rPr lang="en-US" altLang="zh-CN" sz="1800">
                        <a:latin typeface="Cambria Math" panose="02040503050406030204" pitchFamily="18" charset="0"/>
                      </a:rPr>
                      <m:t>=</m:t>
                    </m:r>
                    <m:d>
                      <m:dPr>
                        <m:begChr m:val="⌊"/>
                        <m:endChr m:val="⌋"/>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𝑛</m:t>
                        </m:r>
                      </m:e>
                    </m:d>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，根据满二叉树的性质知，树中第</a:t>
                </a:r>
                <a14:m>
                  <m:oMath xmlns:m="http://schemas.openxmlformats.org/officeDocument/2006/math">
                    <m:r>
                      <a:rPr lang="en-US" altLang="zh-CN" sz="1800" i="1">
                        <a:latin typeface="Cambria Math" panose="02040503050406030204" pitchFamily="18" charset="0"/>
                      </a:rPr>
                      <m:t>𝑖</m:t>
                    </m:r>
                  </m:oMath>
                </a14:m>
                <a:r>
                  <a:rPr lang="zh-CN" altLang="zh-CN" sz="1800" dirty="0">
                    <a:latin typeface="Times New Roman" panose="02020603050405020304" pitchFamily="18" charset="0"/>
                    <a:cs typeface="Times New Roman" panose="02020603050405020304" pitchFamily="18" charset="0"/>
                  </a:rPr>
                  <a:t>层上的元素个数为</a:t>
                </a:r>
                <a14:m>
                  <m:oMath xmlns:m="http://schemas.openxmlformats.org/officeDocument/2006/math">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2</m:t>
                        </m:r>
                      </m:e>
                      <m:sup>
                        <m:r>
                          <a:rPr lang="en-US" altLang="zh-CN" sz="1800" i="1">
                            <a:latin typeface="Cambria Math" panose="02040503050406030204" pitchFamily="18" charset="0"/>
                          </a:rPr>
                          <m:t>𝑖</m:t>
                        </m:r>
                        <m:r>
                          <a:rPr lang="en-US" altLang="zh-CN" sz="1800" i="1">
                            <a:latin typeface="Cambria Math" panose="02040503050406030204" pitchFamily="18" charset="0"/>
                          </a:rPr>
                          <m:t>−1</m:t>
                        </m:r>
                      </m:sup>
                    </m:sSup>
                  </m:oMath>
                </a14:m>
                <a:r>
                  <a:rPr lang="zh-CN" altLang="zh-CN" sz="1800" dirty="0">
                    <a:latin typeface="Times New Roman" panose="02020603050405020304" pitchFamily="18" charset="0"/>
                    <a:cs typeface="Times New Roman" panose="02020603050405020304" pitchFamily="18" charset="0"/>
                  </a:rPr>
                  <a:t>，查找该层上的每个元素需进行</a:t>
                </a:r>
                <a14:m>
                  <m:oMath xmlns:m="http://schemas.openxmlformats.org/officeDocument/2006/math">
                    <m:r>
                      <a:rPr lang="en-US" altLang="zh-CN" sz="1800" i="1">
                        <a:latin typeface="Cambria Math" panose="02040503050406030204" pitchFamily="18" charset="0"/>
                      </a:rPr>
                      <m:t>𝑖</m:t>
                    </m:r>
                  </m:oMath>
                </a14:m>
                <a:r>
                  <a:rPr lang="zh-CN" altLang="zh-CN" sz="1800" dirty="0">
                    <a:latin typeface="Times New Roman" panose="02020603050405020304" pitchFamily="18" charset="0"/>
                    <a:cs typeface="Times New Roman" panose="02020603050405020304" pitchFamily="18" charset="0"/>
                  </a:rPr>
                  <a:t>次比较，若表中每个元素的查找概率相等</a:t>
                </a:r>
                <a14:m>
                  <m:oMath xmlns:m="http://schemas.openxmlformats.org/officeDocument/2006/math">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1</m:t>
                        </m:r>
                      </m:num>
                      <m:den>
                        <m:r>
                          <a:rPr lang="en-US" altLang="zh-CN" sz="1800" i="1">
                            <a:latin typeface="Cambria Math" panose="02040503050406030204" pitchFamily="18" charset="0"/>
                          </a:rPr>
                          <m:t>𝑛</m:t>
                        </m:r>
                      </m:den>
                    </m:f>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，则查找成功时二分查找的平均查找长度为</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800" i="1" smtClean="0">
                              <a:solidFill>
                                <a:srgbClr val="C00000"/>
                              </a:solidFill>
                              <a:latin typeface="Cambria Math" panose="02040503050406030204" pitchFamily="18" charset="0"/>
                            </a:rPr>
                          </m:ctrlPr>
                        </m:sSubPr>
                        <m:e>
                          <m:r>
                            <m:rPr>
                              <m:sty m:val="p"/>
                            </m:rPr>
                            <a:rPr lang="en-US" altLang="zh-CN" sz="1800">
                              <a:solidFill>
                                <a:srgbClr val="C00000"/>
                              </a:solidFill>
                              <a:latin typeface="Cambria Math" panose="02040503050406030204" pitchFamily="18" charset="0"/>
                            </a:rPr>
                            <m:t>ASL</m:t>
                          </m:r>
                        </m:e>
                        <m:sub>
                          <m:r>
                            <a:rPr lang="en-US" altLang="zh-CN" sz="1800" i="1">
                              <a:solidFill>
                                <a:srgbClr val="C00000"/>
                              </a:solidFill>
                              <a:latin typeface="Cambria Math" panose="02040503050406030204" pitchFamily="18" charset="0"/>
                            </a:rPr>
                            <m:t>𝑠𝑢𝑐𝑐</m:t>
                          </m:r>
                        </m:sub>
                      </m:sSub>
                      <m:r>
                        <a:rPr lang="en-US" altLang="zh-CN" sz="1800">
                          <a:solidFill>
                            <a:srgbClr val="C00000"/>
                          </a:solidFill>
                          <a:latin typeface="Cambria Math" panose="02040503050406030204" pitchFamily="18" charset="0"/>
                        </a:rPr>
                        <m:t>=</m:t>
                      </m:r>
                      <m:nary>
                        <m:naryPr>
                          <m:chr m:val="∑"/>
                          <m:limLoc m:val="undOvr"/>
                          <m:ctrlPr>
                            <a:rPr lang="zh-CN" altLang="zh-CN" sz="1800" i="1">
                              <a:solidFill>
                                <a:srgbClr val="C00000"/>
                              </a:solidFill>
                              <a:latin typeface="Cambria Math" panose="02040503050406030204" pitchFamily="18" charset="0"/>
                            </a:rPr>
                          </m:ctrlPr>
                        </m:naryPr>
                        <m:sub>
                          <m:r>
                            <a:rPr lang="en-US" altLang="zh-CN" sz="1800" i="1">
                              <a:solidFill>
                                <a:srgbClr val="C00000"/>
                              </a:solidFill>
                              <a:latin typeface="Cambria Math" panose="02040503050406030204" pitchFamily="18" charset="0"/>
                            </a:rPr>
                            <m:t>𝑖</m:t>
                          </m:r>
                          <m:r>
                            <a:rPr lang="en-US" altLang="zh-CN" sz="1800" i="1">
                              <a:solidFill>
                                <a:srgbClr val="C00000"/>
                              </a:solidFill>
                              <a:latin typeface="Cambria Math" panose="02040503050406030204" pitchFamily="18" charset="0"/>
                            </a:rPr>
                            <m:t>=1</m:t>
                          </m:r>
                        </m:sub>
                        <m:sup>
                          <m:r>
                            <a:rPr lang="en-US" altLang="zh-CN" sz="1800" i="1">
                              <a:solidFill>
                                <a:srgbClr val="C00000"/>
                              </a:solidFill>
                              <a:latin typeface="Cambria Math" panose="02040503050406030204" pitchFamily="18" charset="0"/>
                            </a:rPr>
                            <m:t>𝑛</m:t>
                          </m:r>
                        </m:sup>
                        <m:e>
                          <m:sSub>
                            <m:sSubPr>
                              <m:ctrlPr>
                                <a:rPr lang="zh-CN" altLang="zh-CN" sz="1800" i="1">
                                  <a:solidFill>
                                    <a:srgbClr val="C00000"/>
                                  </a:solidFill>
                                  <a:latin typeface="Cambria Math" panose="02040503050406030204" pitchFamily="18" charset="0"/>
                                </a:rPr>
                              </m:ctrlPr>
                            </m:sSubPr>
                            <m:e>
                              <m:r>
                                <a:rPr lang="en-US" altLang="zh-CN" sz="1800" i="1">
                                  <a:solidFill>
                                    <a:srgbClr val="C00000"/>
                                  </a:solidFill>
                                  <a:latin typeface="Cambria Math" panose="02040503050406030204" pitchFamily="18" charset="0"/>
                                </a:rPr>
                                <m:t>𝑝</m:t>
                              </m:r>
                            </m:e>
                            <m:sub>
                              <m:r>
                                <a:rPr lang="en-US" altLang="zh-CN" sz="1800" i="1">
                                  <a:solidFill>
                                    <a:srgbClr val="C00000"/>
                                  </a:solidFill>
                                  <a:latin typeface="Cambria Math" panose="02040503050406030204" pitchFamily="18" charset="0"/>
                                </a:rPr>
                                <m:t>𝑖</m:t>
                              </m:r>
                            </m:sub>
                          </m:sSub>
                          <m:sSub>
                            <m:sSubPr>
                              <m:ctrlPr>
                                <a:rPr lang="zh-CN" altLang="zh-CN" sz="1800" i="1">
                                  <a:solidFill>
                                    <a:srgbClr val="C00000"/>
                                  </a:solidFill>
                                  <a:latin typeface="Cambria Math" panose="02040503050406030204" pitchFamily="18" charset="0"/>
                                </a:rPr>
                              </m:ctrlPr>
                            </m:sSubPr>
                            <m:e>
                              <m:r>
                                <a:rPr lang="en-US" altLang="zh-CN" sz="1800" i="1">
                                  <a:solidFill>
                                    <a:srgbClr val="C00000"/>
                                  </a:solidFill>
                                  <a:latin typeface="Cambria Math" panose="02040503050406030204" pitchFamily="18" charset="0"/>
                                </a:rPr>
                                <m:t>𝑐</m:t>
                              </m:r>
                            </m:e>
                            <m:sub>
                              <m:r>
                                <a:rPr lang="en-US" altLang="zh-CN" sz="1800" i="1">
                                  <a:solidFill>
                                    <a:srgbClr val="C00000"/>
                                  </a:solidFill>
                                  <a:latin typeface="Cambria Math" panose="02040503050406030204" pitchFamily="18" charset="0"/>
                                </a:rPr>
                                <m:t>𝑖</m:t>
                              </m:r>
                            </m:sub>
                          </m:sSub>
                          <m:r>
                            <a:rPr lang="en-US" altLang="zh-CN" sz="1800" i="1">
                              <a:solidFill>
                                <a:srgbClr val="C00000"/>
                              </a:solidFill>
                              <a:latin typeface="Cambria Math" panose="02040503050406030204" pitchFamily="18" charset="0"/>
                            </a:rPr>
                            <m:t>=</m:t>
                          </m:r>
                          <m:f>
                            <m:fPr>
                              <m:ctrlPr>
                                <a:rPr lang="zh-CN" altLang="zh-CN" sz="1800" i="1">
                                  <a:solidFill>
                                    <a:srgbClr val="C00000"/>
                                  </a:solidFill>
                                  <a:latin typeface="Cambria Math" panose="02040503050406030204" pitchFamily="18" charset="0"/>
                                </a:rPr>
                              </m:ctrlPr>
                            </m:fPr>
                            <m:num>
                              <m:r>
                                <a:rPr lang="en-US" altLang="zh-CN" sz="1800" i="1">
                                  <a:solidFill>
                                    <a:srgbClr val="C00000"/>
                                  </a:solidFill>
                                  <a:latin typeface="Cambria Math" panose="02040503050406030204" pitchFamily="18" charset="0"/>
                                </a:rPr>
                                <m:t>1</m:t>
                              </m:r>
                            </m:num>
                            <m:den>
                              <m:r>
                                <a:rPr lang="en-US" altLang="zh-CN" sz="1800" i="1">
                                  <a:solidFill>
                                    <a:srgbClr val="C00000"/>
                                  </a:solidFill>
                                  <a:latin typeface="Cambria Math" panose="02040503050406030204" pitchFamily="18" charset="0"/>
                                </a:rPr>
                                <m:t>𝑛</m:t>
                              </m:r>
                            </m:den>
                          </m:f>
                        </m:e>
                      </m:nary>
                      <m:nary>
                        <m:naryPr>
                          <m:chr m:val="∑"/>
                          <m:limLoc m:val="undOvr"/>
                          <m:ctrlPr>
                            <a:rPr lang="zh-CN" altLang="zh-CN" sz="1800" i="1">
                              <a:solidFill>
                                <a:srgbClr val="C00000"/>
                              </a:solidFill>
                              <a:latin typeface="Cambria Math" panose="02040503050406030204" pitchFamily="18" charset="0"/>
                            </a:rPr>
                          </m:ctrlPr>
                        </m:naryPr>
                        <m:sub>
                          <m:r>
                            <a:rPr lang="en-US" altLang="zh-CN" sz="1800" i="1">
                              <a:solidFill>
                                <a:srgbClr val="C00000"/>
                              </a:solidFill>
                              <a:latin typeface="Cambria Math" panose="02040503050406030204" pitchFamily="18" charset="0"/>
                            </a:rPr>
                            <m:t>𝑖</m:t>
                          </m:r>
                          <m:r>
                            <a:rPr lang="en-US" altLang="zh-CN" sz="1800" i="1">
                              <a:solidFill>
                                <a:srgbClr val="C00000"/>
                              </a:solidFill>
                              <a:latin typeface="Cambria Math" panose="02040503050406030204" pitchFamily="18" charset="0"/>
                            </a:rPr>
                            <m:t>=1</m:t>
                          </m:r>
                        </m:sub>
                        <m:sup>
                          <m:r>
                            <a:rPr lang="en-US" altLang="zh-CN" sz="1800" i="1">
                              <a:solidFill>
                                <a:srgbClr val="C00000"/>
                              </a:solidFill>
                              <a:latin typeface="Cambria Math" panose="02040503050406030204" pitchFamily="18" charset="0"/>
                            </a:rPr>
                            <m:t>𝑛</m:t>
                          </m:r>
                        </m:sup>
                        <m:e>
                          <m:sSub>
                            <m:sSubPr>
                              <m:ctrlPr>
                                <a:rPr lang="zh-CN" altLang="zh-CN" sz="1800" i="1">
                                  <a:solidFill>
                                    <a:srgbClr val="C00000"/>
                                  </a:solidFill>
                                  <a:latin typeface="Cambria Math" panose="02040503050406030204" pitchFamily="18" charset="0"/>
                                </a:rPr>
                              </m:ctrlPr>
                            </m:sSubPr>
                            <m:e>
                              <m:r>
                                <a:rPr lang="en-US" altLang="zh-CN" sz="1800" i="1">
                                  <a:solidFill>
                                    <a:srgbClr val="C00000"/>
                                  </a:solidFill>
                                  <a:latin typeface="Cambria Math" panose="02040503050406030204" pitchFamily="18" charset="0"/>
                                </a:rPr>
                                <m:t>𝑐</m:t>
                              </m:r>
                            </m:e>
                            <m:sub>
                              <m:r>
                                <a:rPr lang="en-US" altLang="zh-CN" sz="1800" i="1">
                                  <a:solidFill>
                                    <a:srgbClr val="C00000"/>
                                  </a:solidFill>
                                  <a:latin typeface="Cambria Math" panose="02040503050406030204" pitchFamily="18" charset="0"/>
                                </a:rPr>
                                <m:t>𝑖</m:t>
                              </m:r>
                            </m:sub>
                          </m:sSub>
                        </m:e>
                      </m:nary>
                      <m:r>
                        <a:rPr lang="en-US" altLang="zh-CN" sz="1800" i="1">
                          <a:solidFill>
                            <a:srgbClr val="C00000"/>
                          </a:solidFill>
                          <a:latin typeface="Cambria Math" panose="02040503050406030204" pitchFamily="18" charset="0"/>
                        </a:rPr>
                        <m:t>=</m:t>
                      </m:r>
                      <m:f>
                        <m:fPr>
                          <m:ctrlPr>
                            <a:rPr lang="zh-CN" altLang="zh-CN" sz="1800" i="1">
                              <a:solidFill>
                                <a:srgbClr val="C00000"/>
                              </a:solidFill>
                              <a:latin typeface="Cambria Math" panose="02040503050406030204" pitchFamily="18" charset="0"/>
                            </a:rPr>
                          </m:ctrlPr>
                        </m:fPr>
                        <m:num>
                          <m:r>
                            <a:rPr lang="en-US" altLang="zh-CN" sz="1800" i="1">
                              <a:solidFill>
                                <a:srgbClr val="C00000"/>
                              </a:solidFill>
                              <a:latin typeface="Cambria Math" panose="02040503050406030204" pitchFamily="18" charset="0"/>
                            </a:rPr>
                            <m:t>1</m:t>
                          </m:r>
                        </m:num>
                        <m:den>
                          <m:r>
                            <a:rPr lang="en-US" altLang="zh-CN" sz="1800" i="1">
                              <a:solidFill>
                                <a:srgbClr val="C00000"/>
                              </a:solidFill>
                              <a:latin typeface="Cambria Math" panose="02040503050406030204" pitchFamily="18" charset="0"/>
                            </a:rPr>
                            <m:t>𝑛</m:t>
                          </m:r>
                        </m:den>
                      </m:f>
                      <m:nary>
                        <m:naryPr>
                          <m:chr m:val="∑"/>
                          <m:limLoc m:val="undOvr"/>
                          <m:ctrlPr>
                            <a:rPr lang="zh-CN" altLang="zh-CN" sz="1800" i="1">
                              <a:solidFill>
                                <a:srgbClr val="C00000"/>
                              </a:solidFill>
                              <a:latin typeface="Cambria Math" panose="02040503050406030204" pitchFamily="18" charset="0"/>
                            </a:rPr>
                          </m:ctrlPr>
                        </m:naryPr>
                        <m:sub>
                          <m:r>
                            <a:rPr lang="en-US" altLang="zh-CN" sz="1800" i="1">
                              <a:solidFill>
                                <a:srgbClr val="C00000"/>
                              </a:solidFill>
                              <a:latin typeface="Cambria Math" panose="02040503050406030204" pitchFamily="18" charset="0"/>
                            </a:rPr>
                            <m:t>𝑗</m:t>
                          </m:r>
                          <m:r>
                            <a:rPr lang="en-US" altLang="zh-CN" sz="1800" i="1">
                              <a:solidFill>
                                <a:srgbClr val="C00000"/>
                              </a:solidFill>
                              <a:latin typeface="Cambria Math" panose="02040503050406030204" pitchFamily="18" charset="0"/>
                            </a:rPr>
                            <m:t>=1</m:t>
                          </m:r>
                        </m:sub>
                        <m:sup>
                          <m:r>
                            <a:rPr lang="en-US" altLang="zh-CN" sz="1800" i="1">
                              <a:solidFill>
                                <a:srgbClr val="C00000"/>
                              </a:solidFill>
                              <a:latin typeface="Cambria Math" panose="02040503050406030204" pitchFamily="18" charset="0"/>
                            </a:rPr>
                            <m:t>h</m:t>
                          </m:r>
                        </m:sup>
                        <m:e>
                          <m:r>
                            <a:rPr lang="en-US" altLang="zh-CN" sz="1800" i="1">
                              <a:solidFill>
                                <a:srgbClr val="C00000"/>
                              </a:solidFill>
                              <a:latin typeface="Cambria Math" panose="02040503050406030204" pitchFamily="18" charset="0"/>
                            </a:rPr>
                            <m:t>𝑗</m:t>
                          </m:r>
                          <m:r>
                            <a:rPr lang="en-US" altLang="zh-CN" sz="1800" i="1">
                              <a:solidFill>
                                <a:srgbClr val="C00000"/>
                              </a:solidFill>
                              <a:latin typeface="Cambria Math" panose="02040503050406030204" pitchFamily="18" charset="0"/>
                            </a:rPr>
                            <m:t>×</m:t>
                          </m:r>
                          <m:sSup>
                            <m:sSupPr>
                              <m:ctrlPr>
                                <a:rPr lang="zh-CN" altLang="zh-CN" sz="1800" i="1">
                                  <a:solidFill>
                                    <a:srgbClr val="C00000"/>
                                  </a:solidFill>
                                  <a:latin typeface="Cambria Math" panose="02040503050406030204" pitchFamily="18" charset="0"/>
                                </a:rPr>
                              </m:ctrlPr>
                            </m:sSupPr>
                            <m:e>
                              <m:r>
                                <a:rPr lang="en-US" altLang="zh-CN" sz="1800" i="1">
                                  <a:solidFill>
                                    <a:srgbClr val="C00000"/>
                                  </a:solidFill>
                                  <a:latin typeface="Cambria Math" panose="02040503050406030204" pitchFamily="18" charset="0"/>
                                </a:rPr>
                                <m:t>2</m:t>
                              </m:r>
                            </m:e>
                            <m:sup>
                              <m:r>
                                <a:rPr lang="en-US" altLang="zh-CN" sz="1800" i="1">
                                  <a:solidFill>
                                    <a:srgbClr val="C00000"/>
                                  </a:solidFill>
                                  <a:latin typeface="Cambria Math" panose="02040503050406030204" pitchFamily="18" charset="0"/>
                                </a:rPr>
                                <m:t>𝑗</m:t>
                              </m:r>
                              <m:r>
                                <a:rPr lang="en-US" altLang="zh-CN" sz="1800" i="1">
                                  <a:solidFill>
                                    <a:srgbClr val="C00000"/>
                                  </a:solidFill>
                                  <a:latin typeface="Cambria Math" panose="02040503050406030204" pitchFamily="18" charset="0"/>
                                </a:rPr>
                                <m:t>−1</m:t>
                              </m:r>
                            </m:sup>
                          </m:sSup>
                        </m:e>
                      </m:nary>
                      <m:r>
                        <a:rPr lang="en-US" altLang="zh-CN" sz="1800" i="1">
                          <a:solidFill>
                            <a:srgbClr val="C00000"/>
                          </a:solidFill>
                          <a:latin typeface="Cambria Math" panose="02040503050406030204" pitchFamily="18" charset="0"/>
                        </a:rPr>
                        <m:t> =</m:t>
                      </m:r>
                      <m:f>
                        <m:fPr>
                          <m:ctrlPr>
                            <a:rPr lang="zh-CN" altLang="zh-CN" sz="1800" i="1">
                              <a:solidFill>
                                <a:srgbClr val="C00000"/>
                              </a:solidFill>
                              <a:latin typeface="Cambria Math" panose="02040503050406030204" pitchFamily="18" charset="0"/>
                            </a:rPr>
                          </m:ctrlPr>
                        </m:fPr>
                        <m:num>
                          <m:r>
                            <a:rPr lang="en-US" altLang="zh-CN" sz="1800" i="1">
                              <a:solidFill>
                                <a:srgbClr val="C00000"/>
                              </a:solidFill>
                              <a:latin typeface="Cambria Math" panose="02040503050406030204" pitchFamily="18" charset="0"/>
                            </a:rPr>
                            <m:t>𝑛</m:t>
                          </m:r>
                          <m:r>
                            <a:rPr lang="en-US" altLang="zh-CN" sz="1800" i="1">
                              <a:solidFill>
                                <a:srgbClr val="C00000"/>
                              </a:solidFill>
                              <a:latin typeface="Cambria Math" panose="02040503050406030204" pitchFamily="18" charset="0"/>
                            </a:rPr>
                            <m:t>+1</m:t>
                          </m:r>
                        </m:num>
                        <m:den>
                          <m:r>
                            <a:rPr lang="en-US" altLang="zh-CN" sz="1800" i="1">
                              <a:solidFill>
                                <a:srgbClr val="C00000"/>
                              </a:solidFill>
                              <a:latin typeface="Cambria Math" panose="02040503050406030204" pitchFamily="18" charset="0"/>
                            </a:rPr>
                            <m:t>𝑛</m:t>
                          </m:r>
                        </m:den>
                      </m:f>
                      <m:sSub>
                        <m:sSubPr>
                          <m:ctrlPr>
                            <a:rPr lang="zh-CN" altLang="zh-CN" sz="1800" i="1">
                              <a:solidFill>
                                <a:srgbClr val="C00000"/>
                              </a:solidFill>
                              <a:latin typeface="Cambria Math" panose="02040503050406030204" pitchFamily="18" charset="0"/>
                            </a:rPr>
                          </m:ctrlPr>
                        </m:sSubPr>
                        <m:e>
                          <m:r>
                            <a:rPr lang="en-US" altLang="zh-CN" sz="1800" i="1">
                              <a:solidFill>
                                <a:srgbClr val="C00000"/>
                              </a:solidFill>
                              <a:latin typeface="Cambria Math" panose="02040503050406030204" pitchFamily="18" charset="0"/>
                            </a:rPr>
                            <m:t>𝑙𝑜𝑔</m:t>
                          </m:r>
                        </m:e>
                        <m:sub>
                          <m:r>
                            <a:rPr lang="en-US" altLang="zh-CN" sz="1800" i="1">
                              <a:solidFill>
                                <a:srgbClr val="C00000"/>
                              </a:solidFill>
                              <a:latin typeface="Cambria Math" panose="02040503050406030204" pitchFamily="18" charset="0"/>
                            </a:rPr>
                            <m:t>2</m:t>
                          </m:r>
                        </m:sub>
                      </m:sSub>
                      <m:d>
                        <m:dPr>
                          <m:ctrlPr>
                            <a:rPr lang="zh-CN" altLang="zh-CN" sz="1800" i="1">
                              <a:solidFill>
                                <a:srgbClr val="C00000"/>
                              </a:solidFill>
                              <a:latin typeface="Cambria Math" panose="02040503050406030204" pitchFamily="18" charset="0"/>
                            </a:rPr>
                          </m:ctrlPr>
                        </m:dPr>
                        <m:e>
                          <m:r>
                            <a:rPr lang="en-US" altLang="zh-CN" sz="1800" i="1">
                              <a:solidFill>
                                <a:srgbClr val="C00000"/>
                              </a:solidFill>
                              <a:latin typeface="Cambria Math" panose="02040503050406030204" pitchFamily="18" charset="0"/>
                            </a:rPr>
                            <m:t>𝑛</m:t>
                          </m:r>
                          <m:r>
                            <a:rPr lang="en-US" altLang="zh-CN" sz="1800" i="1">
                              <a:solidFill>
                                <a:srgbClr val="C00000"/>
                              </a:solidFill>
                              <a:latin typeface="Cambria Math" panose="02040503050406030204" pitchFamily="18" charset="0"/>
                            </a:rPr>
                            <m:t>+1</m:t>
                          </m:r>
                        </m:e>
                      </m:d>
                      <m:r>
                        <a:rPr lang="en-US" altLang="zh-CN" sz="1800" i="1">
                          <a:solidFill>
                            <a:srgbClr val="C00000"/>
                          </a:solidFill>
                          <a:latin typeface="Cambria Math" panose="02040503050406030204" pitchFamily="18" charset="0"/>
                        </a:rPr>
                        <m:t>−1                </m:t>
                      </m:r>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查找不成功时二分查找的平均查找长度为</a:t>
                </a:r>
                <a14:m>
                  <m:oMath xmlns:m="http://schemas.openxmlformats.org/officeDocument/2006/math">
                    <m:r>
                      <a:rPr lang="en-US" altLang="zh-CN" sz="1800" i="1">
                        <a:latin typeface="Cambria Math" panose="02040503050406030204" pitchFamily="18" charset="0"/>
                      </a:rPr>
                      <m:t>h</m:t>
                    </m:r>
                  </m:oMath>
                </a14:m>
                <a:r>
                  <a:rPr lang="zh-CN" altLang="zh-CN" sz="1800" dirty="0">
                    <a:latin typeface="Times New Roman" panose="02020603050405020304" pitchFamily="18" charset="0"/>
                    <a:cs typeface="Times New Roman" panose="02020603050405020304" pitchFamily="18" charset="0"/>
                  </a:rPr>
                  <a:t>。</a:t>
                </a:r>
              </a:p>
              <a:p>
                <a:pPr>
                  <a:lnSpc>
                    <a:spcPts val="24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928992" cy="3507876"/>
              </a:xfrm>
              <a:blipFill>
                <a:blip r:embed="rId2"/>
                <a:stretch>
                  <a:fillRect l="-888" t="-1565" b="-21913"/>
                </a:stretch>
              </a:blipFill>
            </p:spPr>
            <p:txBody>
              <a:bodyPr/>
              <a:lstStyle/>
              <a:p>
                <a:r>
                  <a:rPr lang="zh-CN" altLang="en-US">
                    <a:noFill/>
                  </a:rPr>
                  <a:t> </a:t>
                </a:r>
              </a:p>
            </p:txBody>
          </p:sp>
        </mc:Fallback>
      </mc:AlternateContent>
      <p:sp>
        <p:nvSpPr>
          <p:cNvPr id="4" name="文本框 3"/>
          <p:cNvSpPr txBox="1"/>
          <p:nvPr/>
        </p:nvSpPr>
        <p:spPr>
          <a:xfrm>
            <a:off x="611380" y="115457"/>
            <a:ext cx="18003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二分查找分析</a:t>
            </a:r>
          </a:p>
        </p:txBody>
      </p:sp>
    </p:spTree>
    <p:extLst>
      <p:ext uri="{BB962C8B-B14F-4D97-AF65-F5344CB8AC3E}">
        <p14:creationId xmlns:p14="http://schemas.microsoft.com/office/powerpoint/2010/main" val="32224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995686"/>
                <a:ext cx="8928992" cy="2160240"/>
              </a:xfrm>
            </p:spPr>
            <p:txBody>
              <a:bodyPr/>
              <a:lstStyle/>
              <a:p>
                <a:pPr marL="0" indent="0">
                  <a:buNone/>
                </a:pPr>
                <a:r>
                  <a:rPr lang="zh-CN" altLang="zh-CN"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2</a:t>
                </a:r>
                <a:r>
                  <a:rPr lang="zh-CN" altLang="zh-CN" sz="1800" dirty="0">
                    <a:solidFill>
                      <a:srgbClr val="C00000"/>
                    </a:solidFill>
                    <a:latin typeface="Times New Roman" panose="02020603050405020304" pitchFamily="18" charset="0"/>
                    <a:cs typeface="Times New Roman" panose="02020603050405020304" pitchFamily="18" charset="0"/>
                  </a:rPr>
                  <a:t>）判定树为非满二叉树</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根据判定树构造过程可知，判定树中度数小于</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的元素只可能在最后两层上（不计方框结点），如图所示。此时，在计算查找成功时的平均查找长度应分情形处理，对于前</a:t>
                </a:r>
                <a14:m>
                  <m:oMath xmlns:m="http://schemas.openxmlformats.org/officeDocument/2006/math">
                    <m:r>
                      <a:rPr lang="en-US" altLang="zh-CN" sz="1800" i="1">
                        <a:latin typeface="Cambria Math" panose="02040503050406030204" pitchFamily="18" charset="0"/>
                      </a:rPr>
                      <m:t>h</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层，查找成功时总的比较次为</a:t>
                </a:r>
              </a:p>
              <a:p>
                <a:pPr marL="0" indent="0">
                  <a:lnSpc>
                    <a:spcPts val="2200"/>
                  </a:lnSpc>
                  <a:spcBef>
                    <a:spcPts val="0"/>
                  </a:spcBef>
                  <a:buNone/>
                </a:pPr>
                <a:endParaRPr lang="en-US" altLang="zh-CN" sz="1800" i="1"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𝑗</m:t>
                          </m:r>
                          <m:r>
                            <a:rPr lang="en-US" altLang="zh-CN" sz="1800" i="1">
                              <a:latin typeface="Cambria Math" panose="02040503050406030204" pitchFamily="18" charset="0"/>
                            </a:rPr>
                            <m:t>=1</m:t>
                          </m:r>
                        </m:sub>
                        <m:sup>
                          <m:r>
                            <a:rPr lang="en-US" altLang="zh-CN" sz="1800" i="1">
                              <a:latin typeface="Cambria Math" panose="02040503050406030204" pitchFamily="18" charset="0"/>
                            </a:rPr>
                            <m:t>h</m:t>
                          </m:r>
                          <m:r>
                            <a:rPr lang="en-US" altLang="zh-CN" sz="1800" i="1">
                              <a:latin typeface="Cambria Math" panose="02040503050406030204" pitchFamily="18" charset="0"/>
                            </a:rPr>
                            <m:t>−1</m:t>
                          </m:r>
                        </m:sup>
                        <m:e>
                          <m:r>
                            <a:rPr lang="en-US" altLang="zh-CN" sz="1800" i="1">
                              <a:latin typeface="Cambria Math" panose="02040503050406030204" pitchFamily="18" charset="0"/>
                            </a:rPr>
                            <m:t>𝑗</m:t>
                          </m:r>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2</m:t>
                              </m:r>
                            </m:e>
                            <m:sup>
                              <m:r>
                                <a:rPr lang="en-US" altLang="zh-CN" sz="1800" i="1">
                                  <a:latin typeface="Cambria Math" panose="02040503050406030204" pitchFamily="18" charset="0"/>
                                </a:rPr>
                                <m:t>𝑗</m:t>
                              </m:r>
                              <m:r>
                                <a:rPr lang="en-US" altLang="zh-CN" sz="1800" i="1">
                                  <a:latin typeface="Cambria Math" panose="02040503050406030204" pitchFamily="18" charset="0"/>
                                </a:rPr>
                                <m:t>−1</m:t>
                              </m:r>
                            </m:sup>
                          </m:sSup>
                        </m:e>
                      </m:nary>
                    </m:oMath>
                  </m:oMathPara>
                </a14:m>
                <a:endParaRPr lang="zh-CN" altLang="zh-CN" sz="1800"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995686"/>
                <a:ext cx="8928992" cy="2160240"/>
              </a:xfrm>
              <a:blipFill>
                <a:blip r:embed="rId2"/>
                <a:stretch>
                  <a:fillRect l="-888" r="-478" b="-54648"/>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4067944" y="29037"/>
            <a:ext cx="4896544" cy="2271477"/>
          </a:xfrm>
          <a:prstGeom prst="rect">
            <a:avLst/>
          </a:prstGeom>
        </p:spPr>
      </p:pic>
      <p:sp>
        <p:nvSpPr>
          <p:cNvPr id="6" name="文本框 5"/>
          <p:cNvSpPr txBox="1"/>
          <p:nvPr/>
        </p:nvSpPr>
        <p:spPr>
          <a:xfrm>
            <a:off x="611380" y="115457"/>
            <a:ext cx="18003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二分查找分析</a:t>
            </a:r>
          </a:p>
        </p:txBody>
      </p:sp>
    </p:spTree>
    <p:extLst>
      <p:ext uri="{BB962C8B-B14F-4D97-AF65-F5344CB8AC3E}">
        <p14:creationId xmlns:p14="http://schemas.microsoft.com/office/powerpoint/2010/main" val="282838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1661" y="2787774"/>
                <a:ext cx="9036496" cy="1651642"/>
              </a:xfrm>
            </p:spPr>
            <p:txBody>
              <a:bodyPr/>
              <a:lstStyle/>
              <a:p>
                <a:pPr marL="0" indent="0" algn="just">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最后一层（即第</a:t>
                </a:r>
                <a14:m>
                  <m:oMath xmlns:m="http://schemas.openxmlformats.org/officeDocument/2006/math">
                    <m:r>
                      <a:rPr lang="en-US" altLang="zh-CN" sz="1800" i="1">
                        <a:latin typeface="Cambria Math" panose="02040503050406030204" pitchFamily="18" charset="0"/>
                      </a:rPr>
                      <m:t>h</m:t>
                    </m:r>
                  </m:oMath>
                </a14:m>
                <a:r>
                  <a:rPr lang="zh-CN" altLang="zh-CN" sz="1800" dirty="0">
                    <a:latin typeface="Times New Roman" panose="02020603050405020304" pitchFamily="18" charset="0"/>
                    <a:cs typeface="Times New Roman" panose="02020603050405020304" pitchFamily="18" charset="0"/>
                  </a:rPr>
                  <a:t>层）的总的比较次为</a:t>
                </a:r>
                <a14:m>
                  <m:oMath xmlns:m="http://schemas.openxmlformats.org/officeDocument/2006/math">
                    <m:r>
                      <a:rPr lang="en-US" altLang="zh-CN" sz="1800" i="1" smtClean="0">
                        <a:solidFill>
                          <a:srgbClr val="C00000"/>
                        </a:solidFill>
                        <a:latin typeface="Cambria Math" panose="02040503050406030204" pitchFamily="18" charset="0"/>
                      </a:rPr>
                      <m:t>h</m:t>
                    </m:r>
                    <m:r>
                      <a:rPr lang="en-US" altLang="zh-CN" sz="1800" i="1" smtClean="0">
                        <a:solidFill>
                          <a:srgbClr val="C00000"/>
                        </a:solidFill>
                        <a:latin typeface="Cambria Math" panose="02040503050406030204" pitchFamily="18" charset="0"/>
                      </a:rPr>
                      <m:t>×(</m:t>
                    </m:r>
                    <m:r>
                      <a:rPr lang="en-US" altLang="zh-CN" sz="1800" i="1" smtClean="0">
                        <a:solidFill>
                          <a:srgbClr val="C00000"/>
                        </a:solidFill>
                        <a:latin typeface="Cambria Math" panose="02040503050406030204" pitchFamily="18" charset="0"/>
                      </a:rPr>
                      <m:t>𝑛</m:t>
                    </m:r>
                    <m:r>
                      <a:rPr lang="en-US" altLang="zh-CN" sz="1800" i="1" smtClean="0">
                        <a:solidFill>
                          <a:srgbClr val="C00000"/>
                        </a:solidFill>
                        <a:latin typeface="Cambria Math" panose="02040503050406030204" pitchFamily="18" charset="0"/>
                      </a:rPr>
                      <m:t>−(</m:t>
                    </m:r>
                    <m:sSup>
                      <m:sSupPr>
                        <m:ctrlPr>
                          <a:rPr lang="zh-CN" altLang="zh-CN" sz="1800" i="1">
                            <a:solidFill>
                              <a:srgbClr val="C00000"/>
                            </a:solidFill>
                            <a:latin typeface="Cambria Math" panose="02040503050406030204" pitchFamily="18" charset="0"/>
                          </a:rPr>
                        </m:ctrlPr>
                      </m:sSupPr>
                      <m:e>
                        <m:r>
                          <a:rPr lang="en-US" altLang="zh-CN" sz="1800" i="1">
                            <a:solidFill>
                              <a:srgbClr val="C00000"/>
                            </a:solidFill>
                            <a:latin typeface="Cambria Math" panose="02040503050406030204" pitchFamily="18" charset="0"/>
                          </a:rPr>
                          <m:t>2</m:t>
                        </m:r>
                      </m:e>
                      <m:sup>
                        <m:r>
                          <a:rPr lang="en-US" altLang="zh-CN" sz="1800" i="1">
                            <a:solidFill>
                              <a:srgbClr val="C00000"/>
                            </a:solidFill>
                            <a:latin typeface="Cambria Math" panose="02040503050406030204" pitchFamily="18" charset="0"/>
                          </a:rPr>
                          <m:t>h</m:t>
                        </m:r>
                        <m:r>
                          <a:rPr lang="en-US" altLang="zh-CN" sz="1800" i="1">
                            <a:solidFill>
                              <a:srgbClr val="C00000"/>
                            </a:solidFill>
                            <a:latin typeface="Cambria Math" panose="02040503050406030204" pitchFamily="18" charset="0"/>
                          </a:rPr>
                          <m:t>−1</m:t>
                        </m:r>
                      </m:sup>
                    </m:sSup>
                    <m:r>
                      <a:rPr lang="en-US" altLang="zh-CN" sz="1800" i="1">
                        <a:solidFill>
                          <a:srgbClr val="C00000"/>
                        </a:solidFill>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，即树高与最后一层元素的个数之积。因此，若表中每个元素的查找概率相等</a:t>
                </a:r>
                <a14:m>
                  <m:oMath xmlns:m="http://schemas.openxmlformats.org/officeDocument/2006/math">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1</m:t>
                        </m:r>
                      </m:num>
                      <m:den>
                        <m:r>
                          <a:rPr lang="en-US" altLang="zh-CN" sz="1800" i="1">
                            <a:latin typeface="Cambria Math" panose="02040503050406030204" pitchFamily="18" charset="0"/>
                          </a:rPr>
                          <m:t>𝑛</m:t>
                        </m:r>
                      </m:den>
                    </m:f>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，则查找成功时二分查找的平均查找长度为：</a:t>
                </a:r>
              </a:p>
              <a:p>
                <a:pPr marL="0" indent="0" algn="just">
                  <a:lnSpc>
                    <a:spcPts val="26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800" i="1" smtClean="0">
                              <a:solidFill>
                                <a:srgbClr val="002060"/>
                              </a:solidFill>
                              <a:latin typeface="Cambria Math" panose="02040503050406030204" pitchFamily="18" charset="0"/>
                            </a:rPr>
                          </m:ctrlPr>
                        </m:sSubPr>
                        <m:e>
                          <m:r>
                            <m:rPr>
                              <m:sty m:val="p"/>
                            </m:rPr>
                            <a:rPr lang="en-US" altLang="zh-CN" sz="1800">
                              <a:solidFill>
                                <a:srgbClr val="002060"/>
                              </a:solidFill>
                              <a:latin typeface="Cambria Math" panose="02040503050406030204" pitchFamily="18" charset="0"/>
                            </a:rPr>
                            <m:t>ASL</m:t>
                          </m:r>
                        </m:e>
                        <m:sub>
                          <m:r>
                            <a:rPr lang="en-US" altLang="zh-CN" sz="1800" i="1">
                              <a:solidFill>
                                <a:srgbClr val="002060"/>
                              </a:solidFill>
                              <a:latin typeface="Cambria Math" panose="02040503050406030204" pitchFamily="18" charset="0"/>
                            </a:rPr>
                            <m:t>𝑠𝑢𝑐𝑐</m:t>
                          </m:r>
                        </m:sub>
                      </m:sSub>
                      <m:r>
                        <a:rPr lang="en-US" altLang="zh-CN" sz="1800">
                          <a:solidFill>
                            <a:srgbClr val="002060"/>
                          </a:solidFill>
                          <a:latin typeface="Cambria Math" panose="02040503050406030204" pitchFamily="18" charset="0"/>
                        </a:rPr>
                        <m:t>=</m:t>
                      </m:r>
                      <m:nary>
                        <m:naryPr>
                          <m:chr m:val="∑"/>
                          <m:limLoc m:val="undOvr"/>
                          <m:ctrlPr>
                            <a:rPr lang="zh-CN" altLang="zh-CN" sz="1800" i="1">
                              <a:solidFill>
                                <a:srgbClr val="002060"/>
                              </a:solidFill>
                              <a:latin typeface="Cambria Math" panose="02040503050406030204" pitchFamily="18" charset="0"/>
                            </a:rPr>
                          </m:ctrlPr>
                        </m:naryPr>
                        <m:sub>
                          <m:r>
                            <a:rPr lang="en-US" altLang="zh-CN" sz="1800" i="1">
                              <a:solidFill>
                                <a:srgbClr val="002060"/>
                              </a:solidFill>
                              <a:latin typeface="Cambria Math" panose="02040503050406030204" pitchFamily="18" charset="0"/>
                            </a:rPr>
                            <m:t>𝑖</m:t>
                          </m:r>
                          <m:r>
                            <a:rPr lang="en-US" altLang="zh-CN" sz="1800" i="1">
                              <a:solidFill>
                                <a:srgbClr val="002060"/>
                              </a:solidFill>
                              <a:latin typeface="Cambria Math" panose="02040503050406030204" pitchFamily="18" charset="0"/>
                            </a:rPr>
                            <m:t>=1</m:t>
                          </m:r>
                        </m:sub>
                        <m:sup>
                          <m:r>
                            <a:rPr lang="en-US" altLang="zh-CN" sz="1800" i="1">
                              <a:solidFill>
                                <a:srgbClr val="002060"/>
                              </a:solidFill>
                              <a:latin typeface="Cambria Math" panose="02040503050406030204" pitchFamily="18" charset="0"/>
                            </a:rPr>
                            <m:t>𝑛</m:t>
                          </m:r>
                        </m:sup>
                        <m:e>
                          <m:sSub>
                            <m:sSubPr>
                              <m:ctrlPr>
                                <a:rPr lang="zh-CN" altLang="zh-CN" sz="1800" i="1">
                                  <a:solidFill>
                                    <a:srgbClr val="002060"/>
                                  </a:solidFill>
                                  <a:latin typeface="Cambria Math" panose="02040503050406030204" pitchFamily="18" charset="0"/>
                                </a:rPr>
                              </m:ctrlPr>
                            </m:sSubPr>
                            <m:e>
                              <m:r>
                                <a:rPr lang="en-US" altLang="zh-CN" sz="1800" i="1">
                                  <a:solidFill>
                                    <a:srgbClr val="002060"/>
                                  </a:solidFill>
                                  <a:latin typeface="Cambria Math" panose="02040503050406030204" pitchFamily="18" charset="0"/>
                                </a:rPr>
                                <m:t>𝑝</m:t>
                              </m:r>
                            </m:e>
                            <m:sub>
                              <m:r>
                                <a:rPr lang="en-US" altLang="zh-CN" sz="1800" i="1">
                                  <a:solidFill>
                                    <a:srgbClr val="002060"/>
                                  </a:solidFill>
                                  <a:latin typeface="Cambria Math" panose="02040503050406030204" pitchFamily="18" charset="0"/>
                                </a:rPr>
                                <m:t>𝑖</m:t>
                              </m:r>
                            </m:sub>
                          </m:sSub>
                          <m:sSub>
                            <m:sSubPr>
                              <m:ctrlPr>
                                <a:rPr lang="zh-CN" altLang="zh-CN" sz="1800" i="1">
                                  <a:solidFill>
                                    <a:srgbClr val="002060"/>
                                  </a:solidFill>
                                  <a:latin typeface="Cambria Math" panose="02040503050406030204" pitchFamily="18" charset="0"/>
                                </a:rPr>
                              </m:ctrlPr>
                            </m:sSubPr>
                            <m:e>
                              <m:r>
                                <a:rPr lang="en-US" altLang="zh-CN" sz="1800" i="1">
                                  <a:solidFill>
                                    <a:srgbClr val="002060"/>
                                  </a:solidFill>
                                  <a:latin typeface="Cambria Math" panose="02040503050406030204" pitchFamily="18" charset="0"/>
                                </a:rPr>
                                <m:t>𝑐</m:t>
                              </m:r>
                            </m:e>
                            <m:sub>
                              <m:r>
                                <a:rPr lang="en-US" altLang="zh-CN" sz="1800" i="1">
                                  <a:solidFill>
                                    <a:srgbClr val="002060"/>
                                  </a:solidFill>
                                  <a:latin typeface="Cambria Math" panose="02040503050406030204" pitchFamily="18" charset="0"/>
                                </a:rPr>
                                <m:t>𝑖</m:t>
                              </m:r>
                            </m:sub>
                          </m:sSub>
                          <m:r>
                            <a:rPr lang="en-US" altLang="zh-CN" sz="1800" i="1">
                              <a:solidFill>
                                <a:srgbClr val="002060"/>
                              </a:solidFill>
                              <a:latin typeface="Cambria Math" panose="02040503050406030204" pitchFamily="18" charset="0"/>
                            </a:rPr>
                            <m:t>=</m:t>
                          </m:r>
                          <m:f>
                            <m:fPr>
                              <m:ctrlPr>
                                <a:rPr lang="zh-CN" altLang="zh-CN" sz="1800" i="1">
                                  <a:solidFill>
                                    <a:srgbClr val="002060"/>
                                  </a:solidFill>
                                  <a:latin typeface="Cambria Math" panose="02040503050406030204" pitchFamily="18" charset="0"/>
                                </a:rPr>
                              </m:ctrlPr>
                            </m:fPr>
                            <m:num>
                              <m:r>
                                <a:rPr lang="en-US" altLang="zh-CN" sz="1800" i="1">
                                  <a:solidFill>
                                    <a:srgbClr val="002060"/>
                                  </a:solidFill>
                                  <a:latin typeface="Cambria Math" panose="02040503050406030204" pitchFamily="18" charset="0"/>
                                </a:rPr>
                                <m:t>1</m:t>
                              </m:r>
                            </m:num>
                            <m:den>
                              <m:r>
                                <a:rPr lang="en-US" altLang="zh-CN" sz="1800" i="1">
                                  <a:solidFill>
                                    <a:srgbClr val="002060"/>
                                  </a:solidFill>
                                  <a:latin typeface="Cambria Math" panose="02040503050406030204" pitchFamily="18" charset="0"/>
                                </a:rPr>
                                <m:t>𝑛</m:t>
                              </m:r>
                            </m:den>
                          </m:f>
                        </m:e>
                      </m:nary>
                      <m:r>
                        <a:rPr lang="en-US" altLang="zh-CN" sz="1800" i="1">
                          <a:solidFill>
                            <a:srgbClr val="002060"/>
                          </a:solidFill>
                          <a:latin typeface="Cambria Math" panose="02040503050406030204" pitchFamily="18" charset="0"/>
                        </a:rPr>
                        <m:t>(</m:t>
                      </m:r>
                      <m:nary>
                        <m:naryPr>
                          <m:chr m:val="∑"/>
                          <m:limLoc m:val="undOvr"/>
                          <m:ctrlPr>
                            <a:rPr lang="zh-CN" altLang="zh-CN" sz="1800" i="1">
                              <a:solidFill>
                                <a:srgbClr val="002060"/>
                              </a:solidFill>
                              <a:latin typeface="Cambria Math" panose="02040503050406030204" pitchFamily="18" charset="0"/>
                            </a:rPr>
                          </m:ctrlPr>
                        </m:naryPr>
                        <m:sub>
                          <m:r>
                            <a:rPr lang="en-US" altLang="zh-CN" sz="1800" i="1">
                              <a:solidFill>
                                <a:srgbClr val="002060"/>
                              </a:solidFill>
                              <a:latin typeface="Cambria Math" panose="02040503050406030204" pitchFamily="18" charset="0"/>
                            </a:rPr>
                            <m:t>𝑗</m:t>
                          </m:r>
                          <m:r>
                            <a:rPr lang="en-US" altLang="zh-CN" sz="1800" i="1">
                              <a:solidFill>
                                <a:srgbClr val="002060"/>
                              </a:solidFill>
                              <a:latin typeface="Cambria Math" panose="02040503050406030204" pitchFamily="18" charset="0"/>
                            </a:rPr>
                            <m:t>=1</m:t>
                          </m:r>
                        </m:sub>
                        <m:sup>
                          <m:r>
                            <a:rPr lang="en-US" altLang="zh-CN" sz="1800" i="1">
                              <a:solidFill>
                                <a:srgbClr val="002060"/>
                              </a:solidFill>
                              <a:latin typeface="Cambria Math" panose="02040503050406030204" pitchFamily="18" charset="0"/>
                            </a:rPr>
                            <m:t>h</m:t>
                          </m:r>
                          <m:r>
                            <a:rPr lang="en-US" altLang="zh-CN" sz="1800" i="1">
                              <a:solidFill>
                                <a:srgbClr val="002060"/>
                              </a:solidFill>
                              <a:latin typeface="Cambria Math" panose="02040503050406030204" pitchFamily="18" charset="0"/>
                            </a:rPr>
                            <m:t>−1</m:t>
                          </m:r>
                        </m:sup>
                        <m:e>
                          <m:r>
                            <a:rPr lang="en-US" altLang="zh-CN" sz="1800" i="1">
                              <a:solidFill>
                                <a:srgbClr val="002060"/>
                              </a:solidFill>
                              <a:latin typeface="Cambria Math" panose="02040503050406030204" pitchFamily="18" charset="0"/>
                            </a:rPr>
                            <m:t>𝑗</m:t>
                          </m:r>
                          <m:r>
                            <a:rPr lang="en-US" altLang="zh-CN" sz="1800" i="1">
                              <a:solidFill>
                                <a:srgbClr val="002060"/>
                              </a:solidFill>
                              <a:latin typeface="Cambria Math" panose="02040503050406030204" pitchFamily="18" charset="0"/>
                            </a:rPr>
                            <m:t>×</m:t>
                          </m:r>
                          <m:sSup>
                            <m:sSupPr>
                              <m:ctrlPr>
                                <a:rPr lang="zh-CN" altLang="zh-CN" sz="1800" i="1">
                                  <a:solidFill>
                                    <a:srgbClr val="002060"/>
                                  </a:solidFill>
                                  <a:latin typeface="Cambria Math" panose="02040503050406030204" pitchFamily="18" charset="0"/>
                                </a:rPr>
                              </m:ctrlPr>
                            </m:sSupPr>
                            <m:e>
                              <m:r>
                                <a:rPr lang="en-US" altLang="zh-CN" sz="1800" i="1">
                                  <a:solidFill>
                                    <a:srgbClr val="002060"/>
                                  </a:solidFill>
                                  <a:latin typeface="Cambria Math" panose="02040503050406030204" pitchFamily="18" charset="0"/>
                                </a:rPr>
                                <m:t>2</m:t>
                              </m:r>
                            </m:e>
                            <m:sup>
                              <m:r>
                                <a:rPr lang="en-US" altLang="zh-CN" sz="1800" i="1">
                                  <a:solidFill>
                                    <a:srgbClr val="002060"/>
                                  </a:solidFill>
                                  <a:latin typeface="Cambria Math" panose="02040503050406030204" pitchFamily="18" charset="0"/>
                                </a:rPr>
                                <m:t>𝑗</m:t>
                              </m:r>
                              <m:r>
                                <a:rPr lang="en-US" altLang="zh-CN" sz="1800" i="1">
                                  <a:solidFill>
                                    <a:srgbClr val="002060"/>
                                  </a:solidFill>
                                  <a:latin typeface="Cambria Math" panose="02040503050406030204" pitchFamily="18" charset="0"/>
                                </a:rPr>
                                <m:t>−1</m:t>
                              </m:r>
                            </m:sup>
                          </m:sSup>
                        </m:e>
                      </m:nary>
                      <m:r>
                        <a:rPr lang="en-US" altLang="zh-CN" sz="1800" i="1">
                          <a:solidFill>
                            <a:srgbClr val="002060"/>
                          </a:solidFill>
                          <a:latin typeface="Cambria Math" panose="02040503050406030204" pitchFamily="18" charset="0"/>
                        </a:rPr>
                        <m:t>+</m:t>
                      </m:r>
                      <m:r>
                        <a:rPr lang="en-US" altLang="zh-CN" sz="1800" i="1">
                          <a:solidFill>
                            <a:srgbClr val="002060"/>
                          </a:solidFill>
                          <a:latin typeface="Cambria Math" panose="02040503050406030204" pitchFamily="18" charset="0"/>
                        </a:rPr>
                        <m:t>h</m:t>
                      </m:r>
                      <m:r>
                        <a:rPr lang="en-US" altLang="zh-CN" sz="1800" i="1">
                          <a:solidFill>
                            <a:srgbClr val="002060"/>
                          </a:solidFill>
                          <a:latin typeface="Cambria Math" panose="02040503050406030204" pitchFamily="18" charset="0"/>
                        </a:rPr>
                        <m:t>×(</m:t>
                      </m:r>
                      <m:r>
                        <a:rPr lang="en-US" altLang="zh-CN" sz="1800" i="1">
                          <a:solidFill>
                            <a:srgbClr val="002060"/>
                          </a:solidFill>
                          <a:latin typeface="Cambria Math" panose="02040503050406030204" pitchFamily="18" charset="0"/>
                        </a:rPr>
                        <m:t>𝑛</m:t>
                      </m:r>
                      <m:r>
                        <a:rPr lang="en-US" altLang="zh-CN" sz="1800" i="1">
                          <a:solidFill>
                            <a:srgbClr val="002060"/>
                          </a:solidFill>
                          <a:latin typeface="Cambria Math" panose="02040503050406030204" pitchFamily="18" charset="0"/>
                        </a:rPr>
                        <m:t>−(</m:t>
                      </m:r>
                      <m:sSup>
                        <m:sSupPr>
                          <m:ctrlPr>
                            <a:rPr lang="zh-CN" altLang="zh-CN" sz="1800" i="1">
                              <a:solidFill>
                                <a:srgbClr val="002060"/>
                              </a:solidFill>
                              <a:latin typeface="Cambria Math" panose="02040503050406030204" pitchFamily="18" charset="0"/>
                            </a:rPr>
                          </m:ctrlPr>
                        </m:sSupPr>
                        <m:e>
                          <m:r>
                            <a:rPr lang="en-US" altLang="zh-CN" sz="1800" i="1">
                              <a:solidFill>
                                <a:srgbClr val="002060"/>
                              </a:solidFill>
                              <a:latin typeface="Cambria Math" panose="02040503050406030204" pitchFamily="18" charset="0"/>
                            </a:rPr>
                            <m:t>2</m:t>
                          </m:r>
                        </m:e>
                        <m:sup>
                          <m:r>
                            <a:rPr lang="en-US" altLang="zh-CN" sz="1800" i="1">
                              <a:solidFill>
                                <a:srgbClr val="002060"/>
                              </a:solidFill>
                              <a:latin typeface="Cambria Math" panose="02040503050406030204" pitchFamily="18" charset="0"/>
                            </a:rPr>
                            <m:t>h</m:t>
                          </m:r>
                          <m:r>
                            <a:rPr lang="en-US" altLang="zh-CN" sz="1800" i="1">
                              <a:solidFill>
                                <a:srgbClr val="002060"/>
                              </a:solidFill>
                              <a:latin typeface="Cambria Math" panose="02040503050406030204" pitchFamily="18" charset="0"/>
                            </a:rPr>
                            <m:t>−1</m:t>
                          </m:r>
                        </m:sup>
                      </m:sSup>
                      <m:r>
                        <a:rPr lang="en-US" altLang="zh-CN" sz="1800" i="1">
                          <a:solidFill>
                            <a:srgbClr val="002060"/>
                          </a:solidFill>
                          <a:latin typeface="Cambria Math" panose="02040503050406030204" pitchFamily="18" charset="0"/>
                        </a:rPr>
                        <m:t>−1)))</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1661" y="2787774"/>
                <a:ext cx="9036496" cy="1651642"/>
              </a:xfrm>
              <a:blipFill>
                <a:blip r:embed="rId2"/>
                <a:stretch>
                  <a:fillRect l="-877" t="-14391" r="-810" b="-71956"/>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3563888" y="555526"/>
            <a:ext cx="4536504" cy="2104456"/>
          </a:xfrm>
          <a:prstGeom prst="rect">
            <a:avLst/>
          </a:prstGeom>
        </p:spPr>
      </p:pic>
      <p:sp>
        <p:nvSpPr>
          <p:cNvPr id="6" name="文本框 5"/>
          <p:cNvSpPr txBox="1"/>
          <p:nvPr/>
        </p:nvSpPr>
        <p:spPr>
          <a:xfrm>
            <a:off x="611380" y="115457"/>
            <a:ext cx="18003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二分查找分析</a:t>
            </a:r>
          </a:p>
        </p:txBody>
      </p:sp>
    </p:spTree>
    <p:extLst>
      <p:ext uri="{BB962C8B-B14F-4D97-AF65-F5344CB8AC3E}">
        <p14:creationId xmlns:p14="http://schemas.microsoft.com/office/powerpoint/2010/main" val="94376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87574"/>
                <a:ext cx="8784976" cy="3507876"/>
              </a:xfrm>
            </p:spPr>
            <p:txBody>
              <a:bodyPr/>
              <a:lstStyle/>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在计算查找不成功时，先计算最后层上查找不成功时结点的比较次数，其次数为</a:t>
                </a:r>
                <a:endParaRPr lang="en-US"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600" i="1" smtClean="0">
                          <a:solidFill>
                            <a:srgbClr val="C00000"/>
                          </a:solidFill>
                          <a:latin typeface="Cambria Math" panose="02040503050406030204" pitchFamily="18" charset="0"/>
                        </a:rPr>
                        <m:t>h</m:t>
                      </m:r>
                      <m:r>
                        <a:rPr lang="en-US" altLang="zh-CN" sz="1600">
                          <a:solidFill>
                            <a:srgbClr val="C00000"/>
                          </a:solidFill>
                          <a:latin typeface="Cambria Math" panose="02040503050406030204" pitchFamily="18" charset="0"/>
                        </a:rPr>
                        <m:t>×</m:t>
                      </m:r>
                      <m:limLow>
                        <m:limLowPr>
                          <m:ctrlPr>
                            <a:rPr lang="zh-CN" altLang="zh-CN" sz="1600" i="1">
                              <a:solidFill>
                                <a:srgbClr val="C00000"/>
                              </a:solidFill>
                              <a:latin typeface="Cambria Math" panose="02040503050406030204" pitchFamily="18" charset="0"/>
                            </a:rPr>
                          </m:ctrlPr>
                        </m:limLowPr>
                        <m:e>
                          <m:groupChr>
                            <m:groupChrPr>
                              <m:chr m:val="⏟"/>
                              <m:ctrlPr>
                                <a:rPr lang="zh-CN" altLang="zh-CN" sz="1600" i="1">
                                  <a:solidFill>
                                    <a:srgbClr val="C00000"/>
                                  </a:solidFill>
                                  <a:latin typeface="Cambria Math" panose="02040503050406030204" pitchFamily="18" charset="0"/>
                                </a:rPr>
                              </m:ctrlPr>
                            </m:groupChrPr>
                            <m:e>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sSup>
                                    <m:sSupPr>
                                      <m:ctrlPr>
                                        <a:rPr lang="zh-CN" altLang="zh-CN" sz="1600" i="1">
                                          <a:solidFill>
                                            <a:srgbClr val="C00000"/>
                                          </a:solidFill>
                                          <a:latin typeface="Cambria Math" panose="02040503050406030204" pitchFamily="18" charset="0"/>
                                        </a:rPr>
                                      </m:ctrlPr>
                                    </m:sSupPr>
                                    <m:e>
                                      <m:r>
                                        <a:rPr lang="en-US" altLang="zh-CN" sz="1600" i="1">
                                          <a:solidFill>
                                            <a:srgbClr val="C00000"/>
                                          </a:solidFill>
                                          <a:latin typeface="Cambria Math" panose="02040503050406030204" pitchFamily="18" charset="0"/>
                                        </a:rPr>
                                        <m:t>2</m:t>
                                      </m:r>
                                    </m:e>
                                    <m:sup>
                                      <m:r>
                                        <a:rPr lang="en-US" altLang="zh-CN" sz="1600" i="1">
                                          <a:solidFill>
                                            <a:srgbClr val="C00000"/>
                                          </a:solidFill>
                                          <a:latin typeface="Cambria Math" panose="02040503050406030204" pitchFamily="18" charset="0"/>
                                        </a:rPr>
                                        <m:t>h</m:t>
                                      </m:r>
                                      <m:r>
                                        <a:rPr lang="en-US" altLang="zh-CN" sz="1600" i="1">
                                          <a:solidFill>
                                            <a:srgbClr val="C00000"/>
                                          </a:solidFill>
                                          <a:latin typeface="Cambria Math" panose="02040503050406030204" pitchFamily="18" charset="0"/>
                                        </a:rPr>
                                        <m:t>−1</m:t>
                                      </m:r>
                                    </m:sup>
                                  </m:sSup>
                                  <m:r>
                                    <a:rPr lang="en-US" altLang="zh-CN" sz="1600" i="1">
                                      <a:solidFill>
                                        <a:srgbClr val="C00000"/>
                                      </a:solidFill>
                                      <a:latin typeface="Cambria Math" panose="02040503050406030204" pitchFamily="18" charset="0"/>
                                    </a:rPr>
                                    <m:t>−1</m:t>
                                  </m:r>
                                </m:e>
                              </m:d>
                              <m:r>
                                <a:rPr lang="en-US" altLang="zh-CN" sz="1600" i="1">
                                  <a:solidFill>
                                    <a:srgbClr val="C00000"/>
                                  </a:solidFill>
                                  <a:latin typeface="Cambria Math" panose="02040503050406030204" pitchFamily="18" charset="0"/>
                                </a:rPr>
                                <m:t>)</m:t>
                              </m:r>
                            </m:e>
                          </m:groupChr>
                        </m:e>
                        <m:lim>
                          <m:r>
                            <a:rPr lang="en-US" altLang="zh-CN" sz="1600" i="1">
                              <a:solidFill>
                                <a:srgbClr val="C00000"/>
                              </a:solidFill>
                              <a:latin typeface="Cambria Math" panose="02040503050406030204" pitchFamily="18" charset="0"/>
                            </a:rPr>
                            <m:t>h</m:t>
                          </m:r>
                          <m:r>
                            <a:rPr lang="zh-CN" altLang="zh-CN" sz="1600">
                              <a:solidFill>
                                <a:srgbClr val="C00000"/>
                              </a:solidFill>
                              <a:latin typeface="Cambria Math" panose="02040503050406030204" pitchFamily="18" charset="0"/>
                            </a:rPr>
                            <m:t>层上圆形结点的个数</m:t>
                          </m:r>
                        </m:lim>
                      </m:limLow>
                      <m:r>
                        <a:rPr lang="en-US" altLang="zh-CN" sz="1600">
                          <a:solidFill>
                            <a:srgbClr val="C00000"/>
                          </a:solidFill>
                          <a:latin typeface="Cambria Math" panose="02040503050406030204" pitchFamily="18" charset="0"/>
                        </a:rPr>
                        <m:t>×2</m:t>
                      </m:r>
                    </m:oMath>
                  </m:oMathPara>
                </a14:m>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再计算最后第二层上查找不成功时结点的比较次数，其次数为</a:t>
                </a:r>
                <a:endParaRPr lang="en-US"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endParaRPr lang="zh-CN" altLang="zh-CN" sz="1600" dirty="0">
                  <a:latin typeface="Times New Roman" panose="02020603050405020304" pitchFamily="18" charset="0"/>
                  <a:cs typeface="Times New Roman" panose="02020603050405020304" pitchFamily="18" charset="0"/>
                </a:endParaRPr>
              </a:p>
              <a:p>
                <a:pPr marL="0" indent="0">
                  <a:lnSpc>
                    <a:spcPts val="2600"/>
                  </a:lnSpc>
                  <a:spcBef>
                    <a:spcPts val="0"/>
                  </a:spcBef>
                  <a:buNone/>
                </a:pPr>
                <a14:m>
                  <m:oMathPara xmlns:m="http://schemas.openxmlformats.org/officeDocument/2006/math">
                    <m:oMathParaPr>
                      <m:jc m:val="centerGroup"/>
                    </m:oMathParaPr>
                    <m:oMath xmlns:m="http://schemas.openxmlformats.org/officeDocument/2006/math">
                      <m:d>
                        <m:dPr>
                          <m:ctrlPr>
                            <a:rPr lang="zh-CN" altLang="zh-CN" sz="1600" i="1" smtClean="0">
                              <a:solidFill>
                                <a:srgbClr val="7030A0"/>
                              </a:solidFill>
                              <a:latin typeface="Cambria Math" panose="02040503050406030204" pitchFamily="18" charset="0"/>
                            </a:rPr>
                          </m:ctrlPr>
                        </m:dPr>
                        <m:e>
                          <m:r>
                            <a:rPr lang="en-US" altLang="zh-CN" sz="1600" i="1">
                              <a:solidFill>
                                <a:srgbClr val="7030A0"/>
                              </a:solidFill>
                              <a:latin typeface="Cambria Math" panose="02040503050406030204" pitchFamily="18" charset="0"/>
                            </a:rPr>
                            <m:t>h</m:t>
                          </m:r>
                          <m:r>
                            <a:rPr lang="en-US" altLang="zh-CN" sz="1600" i="1">
                              <a:solidFill>
                                <a:srgbClr val="7030A0"/>
                              </a:solidFill>
                              <a:latin typeface="Cambria Math" panose="02040503050406030204" pitchFamily="18" charset="0"/>
                            </a:rPr>
                            <m:t>−1</m:t>
                          </m:r>
                        </m:e>
                      </m:d>
                      <m:r>
                        <a:rPr lang="en-US" altLang="zh-CN" sz="1600" i="1">
                          <a:solidFill>
                            <a:srgbClr val="7030A0"/>
                          </a:solidFill>
                          <a:latin typeface="Cambria Math" panose="02040503050406030204" pitchFamily="18" charset="0"/>
                        </a:rPr>
                        <m:t>×</m:t>
                      </m:r>
                      <m:limLow>
                        <m:limLowPr>
                          <m:ctrlPr>
                            <a:rPr lang="zh-CN" altLang="zh-CN" sz="1600" i="1">
                              <a:solidFill>
                                <a:srgbClr val="7030A0"/>
                              </a:solidFill>
                              <a:latin typeface="Cambria Math" panose="02040503050406030204" pitchFamily="18" charset="0"/>
                            </a:rPr>
                          </m:ctrlPr>
                        </m:limLowPr>
                        <m:e>
                          <m:groupChr>
                            <m:groupChrPr>
                              <m:chr m:val="⏟"/>
                              <m:ctrlPr>
                                <a:rPr lang="zh-CN" altLang="zh-CN" sz="1600" i="1">
                                  <a:solidFill>
                                    <a:srgbClr val="7030A0"/>
                                  </a:solidFill>
                                  <a:latin typeface="Cambria Math" panose="02040503050406030204" pitchFamily="18" charset="0"/>
                                </a:rPr>
                              </m:ctrlPr>
                            </m:groupChrPr>
                            <m:e>
                              <m:r>
                                <a:rPr lang="en-US" altLang="zh-CN" sz="1600" i="1">
                                  <a:solidFill>
                                    <a:srgbClr val="7030A0"/>
                                  </a:solidFill>
                                  <a:latin typeface="Cambria Math" panose="02040503050406030204" pitchFamily="18" charset="0"/>
                                </a:rPr>
                                <m:t>(</m:t>
                              </m:r>
                              <m:sSup>
                                <m:sSupPr>
                                  <m:ctrlPr>
                                    <a:rPr lang="zh-CN" altLang="zh-CN" sz="1600" i="1">
                                      <a:solidFill>
                                        <a:srgbClr val="7030A0"/>
                                      </a:solidFill>
                                      <a:latin typeface="Cambria Math" panose="02040503050406030204" pitchFamily="18" charset="0"/>
                                    </a:rPr>
                                  </m:ctrlPr>
                                </m:sSupPr>
                                <m:e>
                                  <m:r>
                                    <a:rPr lang="en-US" altLang="zh-CN" sz="1600" i="1">
                                      <a:solidFill>
                                        <a:srgbClr val="7030A0"/>
                                      </a:solidFill>
                                      <a:latin typeface="Cambria Math" panose="02040503050406030204" pitchFamily="18" charset="0"/>
                                    </a:rPr>
                                    <m:t>2</m:t>
                                  </m:r>
                                </m:e>
                                <m:sup>
                                  <m:r>
                                    <a:rPr lang="en-US" altLang="zh-CN" sz="1600" i="1">
                                      <a:solidFill>
                                        <a:srgbClr val="7030A0"/>
                                      </a:solidFill>
                                      <a:latin typeface="Cambria Math" panose="02040503050406030204" pitchFamily="18" charset="0"/>
                                    </a:rPr>
                                    <m:t>h</m:t>
                                  </m:r>
                                  <m:r>
                                    <a:rPr lang="en-US" altLang="zh-CN" sz="1600" i="1">
                                      <a:solidFill>
                                        <a:srgbClr val="7030A0"/>
                                      </a:solidFill>
                                      <a:latin typeface="Cambria Math" panose="02040503050406030204" pitchFamily="18" charset="0"/>
                                    </a:rPr>
                                    <m:t>−1</m:t>
                                  </m:r>
                                </m:sup>
                              </m:sSup>
                              <m:r>
                                <a:rPr lang="en-US" altLang="zh-CN" sz="1600" i="1">
                                  <a:solidFill>
                                    <a:srgbClr val="7030A0"/>
                                  </a:solidFill>
                                  <a:latin typeface="Cambria Math" panose="02040503050406030204" pitchFamily="18" charset="0"/>
                                </a:rPr>
                                <m:t>−(</m:t>
                              </m:r>
                              <m:r>
                                <a:rPr lang="en-US" altLang="zh-CN" sz="1600" i="1">
                                  <a:solidFill>
                                    <a:srgbClr val="7030A0"/>
                                  </a:solidFill>
                                  <a:latin typeface="Cambria Math" panose="02040503050406030204" pitchFamily="18" charset="0"/>
                                </a:rPr>
                                <m:t>𝑛</m:t>
                              </m:r>
                              <m:r>
                                <a:rPr lang="en-US" altLang="zh-CN" sz="1600" i="1">
                                  <a:solidFill>
                                    <a:srgbClr val="7030A0"/>
                                  </a:solidFill>
                                  <a:latin typeface="Cambria Math" panose="02040503050406030204" pitchFamily="18" charset="0"/>
                                </a:rPr>
                                <m:t>−(</m:t>
                              </m:r>
                              <m:sSup>
                                <m:sSupPr>
                                  <m:ctrlPr>
                                    <a:rPr lang="zh-CN" altLang="zh-CN" sz="1600" i="1">
                                      <a:solidFill>
                                        <a:srgbClr val="7030A0"/>
                                      </a:solidFill>
                                      <a:latin typeface="Cambria Math" panose="02040503050406030204" pitchFamily="18" charset="0"/>
                                    </a:rPr>
                                  </m:ctrlPr>
                                </m:sSupPr>
                                <m:e>
                                  <m:r>
                                    <a:rPr lang="en-US" altLang="zh-CN" sz="1600" i="1">
                                      <a:solidFill>
                                        <a:srgbClr val="7030A0"/>
                                      </a:solidFill>
                                      <a:latin typeface="Cambria Math" panose="02040503050406030204" pitchFamily="18" charset="0"/>
                                    </a:rPr>
                                    <m:t>2</m:t>
                                  </m:r>
                                </m:e>
                                <m:sup>
                                  <m:r>
                                    <a:rPr lang="en-US" altLang="zh-CN" sz="1600" i="1">
                                      <a:solidFill>
                                        <a:srgbClr val="7030A0"/>
                                      </a:solidFill>
                                      <a:latin typeface="Cambria Math" panose="02040503050406030204" pitchFamily="18" charset="0"/>
                                    </a:rPr>
                                    <m:t>h</m:t>
                                  </m:r>
                                  <m:r>
                                    <a:rPr lang="en-US" altLang="zh-CN" sz="1600" i="1">
                                      <a:solidFill>
                                        <a:srgbClr val="7030A0"/>
                                      </a:solidFill>
                                      <a:latin typeface="Cambria Math" panose="02040503050406030204" pitchFamily="18" charset="0"/>
                                    </a:rPr>
                                    <m:t>−1</m:t>
                                  </m:r>
                                </m:sup>
                              </m:sSup>
                              <m:r>
                                <a:rPr lang="en-US" altLang="zh-CN" sz="1600" i="1">
                                  <a:solidFill>
                                    <a:srgbClr val="7030A0"/>
                                  </a:solidFill>
                                  <a:latin typeface="Cambria Math" panose="02040503050406030204" pitchFamily="18" charset="0"/>
                                </a:rPr>
                                <m:t>−1)))</m:t>
                              </m:r>
                            </m:e>
                          </m:groupChr>
                        </m:e>
                        <m:lim>
                          <m:r>
                            <a:rPr lang="en-US" altLang="zh-CN" sz="1600" i="1">
                              <a:solidFill>
                                <a:srgbClr val="7030A0"/>
                              </a:solidFill>
                              <a:latin typeface="Cambria Math" panose="02040503050406030204" pitchFamily="18" charset="0"/>
                            </a:rPr>
                            <m:t>h</m:t>
                          </m:r>
                          <m:r>
                            <a:rPr lang="zh-CN" altLang="zh-CN" sz="1600">
                              <a:solidFill>
                                <a:srgbClr val="7030A0"/>
                              </a:solidFill>
                              <a:latin typeface="Cambria Math" panose="02040503050406030204" pitchFamily="18" charset="0"/>
                            </a:rPr>
                            <m:t>层上方框结点的个数</m:t>
                          </m:r>
                        </m:lim>
                      </m:limLow>
                      <m:r>
                        <a:rPr lang="en-US" altLang="zh-CN" sz="1600" i="1">
                          <a:solidFill>
                            <a:srgbClr val="7030A0"/>
                          </a:solidFill>
                          <a:latin typeface="Cambria Math" panose="02040503050406030204" pitchFamily="18" charset="0"/>
                        </a:rPr>
                        <m:t>=</m:t>
                      </m:r>
                      <m:d>
                        <m:dPr>
                          <m:ctrlPr>
                            <a:rPr lang="zh-CN" altLang="zh-CN" sz="1600" i="1">
                              <a:solidFill>
                                <a:srgbClr val="7030A0"/>
                              </a:solidFill>
                              <a:latin typeface="Cambria Math" panose="02040503050406030204" pitchFamily="18" charset="0"/>
                            </a:rPr>
                          </m:ctrlPr>
                        </m:dPr>
                        <m:e>
                          <m:r>
                            <a:rPr lang="en-US" altLang="zh-CN" sz="1600" i="1">
                              <a:solidFill>
                                <a:srgbClr val="7030A0"/>
                              </a:solidFill>
                              <a:latin typeface="Cambria Math" panose="02040503050406030204" pitchFamily="18" charset="0"/>
                            </a:rPr>
                            <m:t>h</m:t>
                          </m:r>
                          <m:r>
                            <a:rPr lang="en-US" altLang="zh-CN" sz="1600" i="1">
                              <a:solidFill>
                                <a:srgbClr val="7030A0"/>
                              </a:solidFill>
                              <a:latin typeface="Cambria Math" panose="02040503050406030204" pitchFamily="18" charset="0"/>
                            </a:rPr>
                            <m:t>−1</m:t>
                          </m:r>
                        </m:e>
                      </m:d>
                      <m:r>
                        <a:rPr lang="en-US" altLang="zh-CN" sz="1600" i="1">
                          <a:solidFill>
                            <a:srgbClr val="7030A0"/>
                          </a:solidFill>
                          <a:latin typeface="Cambria Math" panose="02040503050406030204" pitchFamily="18" charset="0"/>
                        </a:rPr>
                        <m:t>×</m:t>
                      </m:r>
                      <m:d>
                        <m:dPr>
                          <m:ctrlPr>
                            <a:rPr lang="zh-CN" altLang="zh-CN" sz="1600" i="1">
                              <a:solidFill>
                                <a:srgbClr val="7030A0"/>
                              </a:solidFill>
                              <a:latin typeface="Cambria Math" panose="02040503050406030204" pitchFamily="18" charset="0"/>
                            </a:rPr>
                          </m:ctrlPr>
                        </m:dPr>
                        <m:e>
                          <m:sSup>
                            <m:sSupPr>
                              <m:ctrlPr>
                                <a:rPr lang="zh-CN" altLang="zh-CN" sz="1600" i="1">
                                  <a:solidFill>
                                    <a:srgbClr val="7030A0"/>
                                  </a:solidFill>
                                  <a:latin typeface="Cambria Math" panose="02040503050406030204" pitchFamily="18" charset="0"/>
                                </a:rPr>
                              </m:ctrlPr>
                            </m:sSupPr>
                            <m:e>
                              <m:r>
                                <a:rPr lang="en-US" altLang="zh-CN" sz="1600" i="1">
                                  <a:solidFill>
                                    <a:srgbClr val="7030A0"/>
                                  </a:solidFill>
                                  <a:latin typeface="Cambria Math" panose="02040503050406030204" pitchFamily="18" charset="0"/>
                                </a:rPr>
                                <m:t>2</m:t>
                              </m:r>
                            </m:e>
                            <m:sup>
                              <m:r>
                                <a:rPr lang="en-US" altLang="zh-CN" sz="1600" i="1">
                                  <a:solidFill>
                                    <a:srgbClr val="7030A0"/>
                                  </a:solidFill>
                                  <a:latin typeface="Cambria Math" panose="02040503050406030204" pitchFamily="18" charset="0"/>
                                </a:rPr>
                                <m:t>h</m:t>
                              </m:r>
                            </m:sup>
                          </m:sSup>
                          <m:r>
                            <a:rPr lang="en-US" altLang="zh-CN" sz="1600" i="1">
                              <a:solidFill>
                                <a:srgbClr val="7030A0"/>
                              </a:solidFill>
                              <a:latin typeface="Cambria Math" panose="02040503050406030204" pitchFamily="18" charset="0"/>
                            </a:rPr>
                            <m:t>−</m:t>
                          </m:r>
                          <m:r>
                            <a:rPr lang="en-US" altLang="zh-CN" sz="1600" i="1">
                              <a:solidFill>
                                <a:srgbClr val="7030A0"/>
                              </a:solidFill>
                              <a:latin typeface="Cambria Math" panose="02040503050406030204" pitchFamily="18" charset="0"/>
                            </a:rPr>
                            <m:t>𝑛</m:t>
                          </m:r>
                          <m:r>
                            <a:rPr lang="en-US" altLang="zh-CN" sz="1600" i="1">
                              <a:solidFill>
                                <a:srgbClr val="7030A0"/>
                              </a:solidFill>
                              <a:latin typeface="Cambria Math" panose="02040503050406030204" pitchFamily="18" charset="0"/>
                            </a:rPr>
                            <m:t>−1</m:t>
                          </m:r>
                        </m:e>
                      </m:d>
                    </m:oMath>
                  </m:oMathPara>
                </a14:m>
                <a:endParaRPr lang="en-US"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因此，若表中每个元素的查找概率相等，则查找不成功时二分查找的平均查找长度为：</a:t>
                </a:r>
                <a:endParaRPr lang="en-US"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endParaRPr lang="zh-CN" altLang="zh-CN" sz="1800" dirty="0">
                  <a:latin typeface="Times New Roman" panose="02020603050405020304" pitchFamily="18" charset="0"/>
                  <a:cs typeface="Times New Roman" panose="02020603050405020304" pitchFamily="18" charset="0"/>
                </a:endParaRPr>
              </a:p>
              <a:p>
                <a:pPr marL="0" indent="0">
                  <a:lnSpc>
                    <a:spcPts val="28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smtClean="0">
                              <a:solidFill>
                                <a:srgbClr val="002060"/>
                              </a:solidFill>
                              <a:latin typeface="Cambria Math" panose="02040503050406030204" pitchFamily="18" charset="0"/>
                            </a:rPr>
                          </m:ctrlPr>
                        </m:sSubPr>
                        <m:e>
                          <m:r>
                            <m:rPr>
                              <m:sty m:val="p"/>
                            </m:rPr>
                            <a:rPr lang="en-US" altLang="zh-CN" sz="1600">
                              <a:solidFill>
                                <a:srgbClr val="002060"/>
                              </a:solidFill>
                              <a:latin typeface="Cambria Math" panose="02040503050406030204" pitchFamily="18" charset="0"/>
                            </a:rPr>
                            <m:t>ASL</m:t>
                          </m:r>
                        </m:e>
                        <m:sub>
                          <m:r>
                            <a:rPr lang="en-US" altLang="zh-CN" sz="1600" i="1">
                              <a:solidFill>
                                <a:srgbClr val="002060"/>
                              </a:solidFill>
                              <a:latin typeface="Cambria Math" panose="02040503050406030204" pitchFamily="18" charset="0"/>
                            </a:rPr>
                            <m:t>𝑢𝑛𝑠𝑢𝑐𝑐</m:t>
                          </m:r>
                        </m:sub>
                      </m:sSub>
                      <m:r>
                        <a:rPr lang="en-US" altLang="zh-CN" sz="1600" i="1">
                          <a:solidFill>
                            <a:srgbClr val="002060"/>
                          </a:solidFill>
                          <a:latin typeface="Cambria Math" panose="02040503050406030204" pitchFamily="18" charset="0"/>
                        </a:rPr>
                        <m:t>=</m:t>
                      </m:r>
                      <m:f>
                        <m:fPr>
                          <m:ctrlPr>
                            <a:rPr lang="zh-CN" altLang="zh-CN" sz="1600" i="1">
                              <a:solidFill>
                                <a:srgbClr val="002060"/>
                              </a:solidFill>
                              <a:latin typeface="Cambria Math" panose="02040503050406030204" pitchFamily="18" charset="0"/>
                            </a:rPr>
                          </m:ctrlPr>
                        </m:fPr>
                        <m:num>
                          <m:r>
                            <a:rPr lang="en-US" altLang="zh-CN" sz="1600" i="1">
                              <a:solidFill>
                                <a:srgbClr val="002060"/>
                              </a:solidFill>
                              <a:latin typeface="Cambria Math" panose="02040503050406030204" pitchFamily="18" charset="0"/>
                            </a:rPr>
                            <m:t>1</m:t>
                          </m:r>
                        </m:num>
                        <m:den>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den>
                      </m:f>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h</m:t>
                      </m:r>
                      <m:r>
                        <a:rPr lang="en-US" altLang="zh-CN" sz="1600">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m:t>
                      </m:r>
                      <m:r>
                        <a:rPr lang="en-US" altLang="zh-CN" sz="1600">
                          <a:solidFill>
                            <a:srgbClr val="002060"/>
                          </a:solidFill>
                          <a:latin typeface="Cambria Math" panose="02040503050406030204" pitchFamily="18" charset="0"/>
                        </a:rPr>
                        <m:t>(</m:t>
                      </m:r>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2</m:t>
                          </m:r>
                        </m:e>
                        <m:sup>
                          <m:r>
                            <a:rPr lang="en-US" altLang="zh-CN" sz="1600" i="1">
                              <a:solidFill>
                                <a:srgbClr val="002060"/>
                              </a:solidFill>
                              <a:latin typeface="Cambria Math" panose="02040503050406030204" pitchFamily="18" charset="0"/>
                            </a:rPr>
                            <m:t>h</m:t>
                          </m:r>
                          <m:r>
                            <a:rPr lang="en-US" altLang="zh-CN" sz="1600" i="1">
                              <a:solidFill>
                                <a:srgbClr val="002060"/>
                              </a:solidFill>
                              <a:latin typeface="Cambria Math" panose="02040503050406030204" pitchFamily="18" charset="0"/>
                            </a:rPr>
                            <m:t>−1</m:t>
                          </m:r>
                        </m:sup>
                      </m:sSup>
                      <m:r>
                        <a:rPr lang="en-US" altLang="zh-CN" sz="1600" i="1">
                          <a:solidFill>
                            <a:srgbClr val="002060"/>
                          </a:solidFill>
                          <a:latin typeface="Cambria Math" panose="02040503050406030204" pitchFamily="18" charset="0"/>
                        </a:rPr>
                        <m:t>−1</m:t>
                      </m:r>
                      <m:r>
                        <a:rPr lang="en-US" altLang="zh-CN" sz="1600">
                          <a:solidFill>
                            <a:srgbClr val="002060"/>
                          </a:solidFill>
                          <a:latin typeface="Cambria Math" panose="02040503050406030204" pitchFamily="18" charset="0"/>
                        </a:rPr>
                        <m:t>))×2+</m:t>
                      </m:r>
                      <m:d>
                        <m:dPr>
                          <m:ctrlPr>
                            <a:rPr lang="zh-CN" altLang="zh-CN" sz="1600" i="1">
                              <a:solidFill>
                                <a:srgbClr val="002060"/>
                              </a:solidFill>
                              <a:latin typeface="Cambria Math" panose="02040503050406030204" pitchFamily="18" charset="0"/>
                            </a:rPr>
                          </m:ctrlPr>
                        </m:dPr>
                        <m:e>
                          <m:r>
                            <a:rPr lang="en-US" altLang="zh-CN" sz="1600" i="1">
                              <a:solidFill>
                                <a:srgbClr val="002060"/>
                              </a:solidFill>
                              <a:latin typeface="Cambria Math" panose="02040503050406030204" pitchFamily="18" charset="0"/>
                            </a:rPr>
                            <m:t>h</m:t>
                          </m:r>
                          <m:r>
                            <a:rPr lang="en-US" altLang="zh-CN" sz="1600" i="1">
                              <a:solidFill>
                                <a:srgbClr val="002060"/>
                              </a:solidFill>
                              <a:latin typeface="Cambria Math" panose="02040503050406030204" pitchFamily="18" charset="0"/>
                            </a:rPr>
                            <m:t>−1</m:t>
                          </m:r>
                        </m:e>
                      </m:d>
                      <m:r>
                        <a:rPr lang="en-US" altLang="zh-CN" sz="1600" i="1">
                          <a:solidFill>
                            <a:srgbClr val="002060"/>
                          </a:solidFill>
                          <a:latin typeface="Cambria Math" panose="02040503050406030204" pitchFamily="18" charset="0"/>
                        </a:rPr>
                        <m:t>×</m:t>
                      </m:r>
                      <m:d>
                        <m:dPr>
                          <m:ctrlPr>
                            <a:rPr lang="zh-CN" altLang="zh-CN" sz="1600" i="1">
                              <a:solidFill>
                                <a:srgbClr val="002060"/>
                              </a:solidFill>
                              <a:latin typeface="Cambria Math" panose="02040503050406030204" pitchFamily="18" charset="0"/>
                            </a:rPr>
                          </m:ctrlPr>
                        </m:dPr>
                        <m:e>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2</m:t>
                              </m:r>
                            </m:e>
                            <m:sup>
                              <m:r>
                                <a:rPr lang="en-US" altLang="zh-CN" sz="1600" i="1">
                                  <a:solidFill>
                                    <a:srgbClr val="002060"/>
                                  </a:solidFill>
                                  <a:latin typeface="Cambria Math" panose="02040503050406030204" pitchFamily="18" charset="0"/>
                                </a:rPr>
                                <m:t>h</m:t>
                              </m:r>
                            </m:sup>
                          </m:sSup>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e>
                      </m:d>
                      <m:r>
                        <a:rPr lang="en-US" altLang="zh-CN" sz="1600" i="1">
                          <a:solidFill>
                            <a:srgbClr val="002060"/>
                          </a:solidFill>
                          <a:latin typeface="Cambria Math" panose="02040503050406030204" pitchFamily="18" charset="0"/>
                        </a:rPr>
                        <m:t>)=</m:t>
                      </m:r>
                      <m:r>
                        <a:rPr lang="en-US" altLang="zh-CN" sz="1600" i="1">
                          <a:solidFill>
                            <a:srgbClr val="002060"/>
                          </a:solidFill>
                          <a:latin typeface="Cambria Math" panose="02040503050406030204" pitchFamily="18" charset="0"/>
                        </a:rPr>
                        <m:t>h</m:t>
                      </m:r>
                      <m:r>
                        <a:rPr lang="en-US" altLang="zh-CN" sz="1600" i="1">
                          <a:solidFill>
                            <a:srgbClr val="002060"/>
                          </a:solidFill>
                          <a:latin typeface="Cambria Math" panose="02040503050406030204" pitchFamily="18" charset="0"/>
                        </a:rPr>
                        <m:t>+1−</m:t>
                      </m:r>
                      <m:f>
                        <m:fPr>
                          <m:ctrlPr>
                            <a:rPr lang="zh-CN" altLang="zh-CN" sz="1600" i="1">
                              <a:solidFill>
                                <a:srgbClr val="002060"/>
                              </a:solidFill>
                              <a:latin typeface="Cambria Math" panose="02040503050406030204" pitchFamily="18" charset="0"/>
                            </a:rPr>
                          </m:ctrlPr>
                        </m:fPr>
                        <m:num>
                          <m:sSup>
                            <m:sSupPr>
                              <m:ctrlPr>
                                <a:rPr lang="zh-CN" altLang="zh-CN" sz="1600" i="1">
                                  <a:solidFill>
                                    <a:srgbClr val="002060"/>
                                  </a:solidFill>
                                  <a:latin typeface="Cambria Math" panose="02040503050406030204" pitchFamily="18" charset="0"/>
                                </a:rPr>
                              </m:ctrlPr>
                            </m:sSupPr>
                            <m:e>
                              <m:r>
                                <a:rPr lang="en-US" altLang="zh-CN" sz="1600" i="1">
                                  <a:solidFill>
                                    <a:srgbClr val="002060"/>
                                  </a:solidFill>
                                  <a:latin typeface="Cambria Math" panose="02040503050406030204" pitchFamily="18" charset="0"/>
                                </a:rPr>
                                <m:t>2</m:t>
                              </m:r>
                            </m:e>
                            <m:sup>
                              <m:r>
                                <a:rPr lang="en-US" altLang="zh-CN" sz="1600" i="1">
                                  <a:solidFill>
                                    <a:srgbClr val="002060"/>
                                  </a:solidFill>
                                  <a:latin typeface="Cambria Math" panose="02040503050406030204" pitchFamily="18" charset="0"/>
                                </a:rPr>
                                <m:t>h</m:t>
                              </m:r>
                            </m:sup>
                          </m:sSup>
                        </m:num>
                        <m:den>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den>
                      </m:f>
                    </m:oMath>
                  </m:oMathPara>
                </a14:m>
                <a:endParaRPr lang="zh-CN" altLang="zh-CN" sz="1600" dirty="0">
                  <a:latin typeface="Times New Roman" panose="02020603050405020304" pitchFamily="18" charset="0"/>
                  <a:cs typeface="Times New Roman" panose="02020603050405020304" pitchFamily="18" charset="0"/>
                </a:endParaRPr>
              </a:p>
              <a:p>
                <a:pPr>
                  <a:lnSpc>
                    <a:spcPts val="26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87574"/>
                <a:ext cx="8784976" cy="3507876"/>
              </a:xfrm>
              <a:blipFill>
                <a:blip r:embed="rId2"/>
                <a:stretch>
                  <a:fillRect l="-902" t="-870" r="-1180"/>
                </a:stretch>
              </a:blipFill>
            </p:spPr>
            <p:txBody>
              <a:bodyPr/>
              <a:lstStyle/>
              <a:p>
                <a:r>
                  <a:rPr lang="zh-CN" altLang="en-US">
                    <a:noFill/>
                  </a:rPr>
                  <a:t> </a:t>
                </a:r>
              </a:p>
            </p:txBody>
          </p:sp>
        </mc:Fallback>
      </mc:AlternateContent>
      <p:sp>
        <p:nvSpPr>
          <p:cNvPr id="4" name="文本框 3"/>
          <p:cNvSpPr txBox="1"/>
          <p:nvPr/>
        </p:nvSpPr>
        <p:spPr>
          <a:xfrm>
            <a:off x="611380" y="115457"/>
            <a:ext cx="18003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二分查找分析</a:t>
            </a:r>
          </a:p>
        </p:txBody>
      </p:sp>
    </p:spTree>
    <p:extLst>
      <p:ext uri="{BB962C8B-B14F-4D97-AF65-F5344CB8AC3E}">
        <p14:creationId xmlns:p14="http://schemas.microsoft.com/office/powerpoint/2010/main" val="322573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87574"/>
                <a:ext cx="8964488" cy="1728192"/>
              </a:xfrm>
            </p:spPr>
            <p:txBody>
              <a:bodyPr/>
              <a:lstStyle/>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例</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给定</a:t>
                </a:r>
                <a:r>
                  <a:rPr lang="en-US" altLang="zh-CN" sz="1800" dirty="0">
                    <a:latin typeface="Times New Roman" panose="02020603050405020304" pitchFamily="18" charset="0"/>
                    <a:cs typeface="Times New Roman" panose="02020603050405020304" pitchFamily="18" charset="0"/>
                  </a:rPr>
                  <a:t>18</a:t>
                </a:r>
                <a:r>
                  <a:rPr lang="zh-CN" altLang="zh-CN" sz="1800" dirty="0">
                    <a:latin typeface="Times New Roman" panose="02020603050405020304" pitchFamily="18" charset="0"/>
                    <a:cs typeface="Times New Roman" panose="02020603050405020304" pitchFamily="18" charset="0"/>
                  </a:rPr>
                  <a:t>个元素的有序表</a:t>
                </a:r>
                <a14:m>
                  <m:oMath xmlns:m="http://schemas.openxmlformats.org/officeDocument/2006/math">
                    <m:r>
                      <a:rPr lang="en-US" altLang="zh-CN" sz="1800">
                        <a:latin typeface="Cambria Math" panose="02040503050406030204" pitchFamily="18" charset="0"/>
                      </a:rPr>
                      <m:t>{2,5,8,10,15,40,42,55,66,70,72,75,80,88,90,100,108,200}</m:t>
                    </m:r>
                  </m:oMath>
                </a14:m>
                <a:r>
                  <a:rPr lang="zh-CN" altLang="zh-CN" sz="1800" dirty="0">
                    <a:latin typeface="Times New Roman" panose="02020603050405020304" pitchFamily="18" charset="0"/>
                    <a:cs typeface="Times New Roman" panose="02020603050405020304" pitchFamily="18" charset="0"/>
                  </a:rPr>
                  <a:t>，采用二分查找，试问：</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）查找长度为</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5</a:t>
                </a:r>
                <a:r>
                  <a:rPr lang="zh-CN" altLang="zh-CN" sz="1800" dirty="0">
                    <a:latin typeface="Times New Roman" panose="02020603050405020304" pitchFamily="18" charset="0"/>
                    <a:cs typeface="Times New Roman" panose="02020603050405020304" pitchFamily="18" charset="0"/>
                  </a:rPr>
                  <a:t>的元素个数分别有多少？</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）若要查找值为</a:t>
                </a:r>
                <a:r>
                  <a:rPr lang="en-US" altLang="zh-CN" sz="1800" dirty="0">
                    <a:latin typeface="Times New Roman" panose="02020603050405020304" pitchFamily="18" charset="0"/>
                    <a:cs typeface="Times New Roman" panose="02020603050405020304" pitchFamily="18" charset="0"/>
                  </a:rPr>
                  <a:t>15</a:t>
                </a:r>
                <a:r>
                  <a:rPr lang="zh-CN" altLang="zh-CN" sz="1800" dirty="0">
                    <a:latin typeface="Times New Roman" panose="02020603050405020304" pitchFamily="18" charset="0"/>
                    <a:cs typeface="Times New Roman" panose="02020603050405020304" pitchFamily="18" charset="0"/>
                  </a:rPr>
                  <a:t>的数据元素，要经过多少次比较？依次与哪些元素比较？</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）在查找概率相等的情况下，计算查找成功和查找不成功时的平均查找长度。</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87574"/>
                <a:ext cx="8964488" cy="1728192"/>
              </a:xfrm>
              <a:blipFill>
                <a:blip r:embed="rId2"/>
                <a:stretch>
                  <a:fillRect l="-816" t="-2473" r="-272" b="-707"/>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979712" y="2715766"/>
            <a:ext cx="4734989" cy="2269097"/>
          </a:xfrm>
          <a:prstGeom prst="rect">
            <a:avLst/>
          </a:prstGeom>
        </p:spPr>
      </p:pic>
      <p:sp>
        <p:nvSpPr>
          <p:cNvPr id="6" name="文本框 5"/>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26900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ppt_x"/>
                                          </p:val>
                                        </p:tav>
                                        <p:tav tm="100000">
                                          <p:val>
                                            <p:strVal val="#ppt_x"/>
                                          </p:val>
                                        </p:tav>
                                      </p:tavLst>
                                    </p:anim>
                                    <p:anim calcmode="lin" valueType="num">
                                      <p:cBhvr additive="base">
                                        <p:cTn id="3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349" y="854909"/>
                <a:ext cx="8928992" cy="3507876"/>
              </a:xfrm>
            </p:spPr>
            <p:txBody>
              <a:bodyPr/>
              <a:lstStyle/>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解：二分查找判定树如图所示。</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）查找长度为</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的元素个数分别为</a:t>
                </a:r>
                <a:r>
                  <a:rPr lang="en-US" altLang="zh-CN" sz="1600" dirty="0">
                    <a:latin typeface="Times New Roman" panose="02020603050405020304" pitchFamily="18" charset="0"/>
                    <a:cs typeface="Times New Roman" panose="02020603050405020304" pitchFamily="18" charset="0"/>
                  </a:rPr>
                  <a:t>8</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）查找值为</a:t>
                </a:r>
                <a:r>
                  <a:rPr lang="en-US" altLang="zh-CN" sz="1600" dirty="0">
                    <a:latin typeface="Times New Roman" panose="02020603050405020304" pitchFamily="18" charset="0"/>
                    <a:cs typeface="Times New Roman" panose="02020603050405020304" pitchFamily="18" charset="0"/>
                  </a:rPr>
                  <a:t>15</a:t>
                </a:r>
                <a:r>
                  <a:rPr lang="zh-CN" altLang="zh-CN" sz="1600" dirty="0">
                    <a:latin typeface="Times New Roman" panose="02020603050405020304" pitchFamily="18" charset="0"/>
                    <a:cs typeface="Times New Roman" panose="02020603050405020304" pitchFamily="18" charset="0"/>
                  </a:rPr>
                  <a:t>的数据元素，要经过</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次比较，依次与表中元素</a:t>
                </a:r>
                <a:r>
                  <a:rPr lang="en-US" altLang="zh-CN" sz="1600" dirty="0">
                    <a:latin typeface="Times New Roman" panose="02020603050405020304" pitchFamily="18" charset="0"/>
                    <a:cs typeface="Times New Roman" panose="02020603050405020304" pitchFamily="18" charset="0"/>
                  </a:rPr>
                  <a:t>66</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10</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40</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15</a:t>
                </a:r>
                <a:r>
                  <a:rPr lang="zh-CN" altLang="zh-CN" sz="1600" dirty="0">
                    <a:latin typeface="Times New Roman" panose="02020603050405020304" pitchFamily="18" charset="0"/>
                    <a:cs typeface="Times New Roman" panose="02020603050405020304" pitchFamily="18" charset="0"/>
                  </a:rPr>
                  <a:t>比较。</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）在查找概率相等的情况下，查找成功时的平均查找长度为：</a:t>
                </a:r>
              </a:p>
              <a:p>
                <a:pPr marL="0" indent="0">
                  <a:lnSpc>
                    <a:spcPts val="2400"/>
                  </a:lnSpc>
                  <a:spcBef>
                    <a:spcPts val="0"/>
                  </a:spcBef>
                  <a:buNone/>
                </a:pPr>
                <a:endParaRPr lang="en-US" altLang="zh-CN" sz="1600" i="1" dirty="0">
                  <a:latin typeface="Times New Roman" panose="02020603050405020304" pitchFamily="18" charset="0"/>
                  <a:cs typeface="Times New Roman" panose="02020603050405020304" pitchFamily="18" charset="0"/>
                </a:endParaRPr>
              </a:p>
              <a:p>
                <a:pPr marL="0" indent="0">
                  <a:lnSpc>
                    <a:spcPts val="24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ASL</m:t>
                          </m:r>
                        </m:e>
                        <m:sub>
                          <m:r>
                            <a:rPr lang="en-US" altLang="zh-CN" sz="1600" i="1">
                              <a:latin typeface="Cambria Math" panose="02040503050406030204" pitchFamily="18" charset="0"/>
                            </a:rPr>
                            <m:t>𝑠𝑢𝑐𝑐</m:t>
                          </m:r>
                        </m:sub>
                      </m:sSub>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𝑛</m:t>
                          </m:r>
                        </m:sup>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𝑝</m:t>
                              </m:r>
                            </m:e>
                            <m:sub>
                              <m:r>
                                <a:rPr lang="en-US" altLang="zh-CN" sz="1600" i="1">
                                  <a:latin typeface="Cambria Math" panose="02040503050406030204" pitchFamily="18" charset="0"/>
                                </a:rPr>
                                <m:t>𝑖</m:t>
                              </m:r>
                            </m:sub>
                          </m:s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𝑐</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1</m:t>
                              </m:r>
                            </m:num>
                            <m:den>
                              <m:r>
                                <a:rPr lang="en-US" altLang="zh-CN" sz="1600" i="1">
                                  <a:latin typeface="Cambria Math" panose="02040503050406030204" pitchFamily="18" charset="0"/>
                                </a:rPr>
                                <m:t>𝑛</m:t>
                              </m:r>
                            </m:den>
                          </m:f>
                        </m:e>
                      </m:nary>
                      <m:r>
                        <a:rPr lang="en-US" altLang="zh-CN" sz="1600" i="1">
                          <a:latin typeface="Cambria Math" panose="02040503050406030204" pitchFamily="18" charset="0"/>
                        </a:rPr>
                        <m:t>(</m:t>
                      </m:r>
                      <m:nary>
                        <m:naryPr>
                          <m:chr m:val="∑"/>
                          <m:limLoc m:val="undOvr"/>
                          <m:ctrlPr>
                            <a:rPr lang="zh-CN" altLang="zh-CN" sz="1600" i="1" smtClean="0">
                              <a:solidFill>
                                <a:srgbClr val="C00000"/>
                              </a:solidFill>
                              <a:latin typeface="Cambria Math" panose="02040503050406030204" pitchFamily="18" charset="0"/>
                            </a:rPr>
                          </m:ctrlPr>
                        </m:naryPr>
                        <m:sub>
                          <m:r>
                            <a:rPr lang="en-US" altLang="zh-CN" sz="1600" i="1">
                              <a:solidFill>
                                <a:srgbClr val="C00000"/>
                              </a:solidFill>
                              <a:latin typeface="Cambria Math" panose="02040503050406030204" pitchFamily="18" charset="0"/>
                            </a:rPr>
                            <m:t>𝑗</m:t>
                          </m:r>
                          <m:r>
                            <a:rPr lang="en-US" altLang="zh-CN" sz="1600" i="1">
                              <a:solidFill>
                                <a:srgbClr val="C00000"/>
                              </a:solidFill>
                              <a:latin typeface="Cambria Math" panose="02040503050406030204" pitchFamily="18" charset="0"/>
                            </a:rPr>
                            <m:t>=1</m:t>
                          </m:r>
                        </m:sub>
                        <m:sup>
                          <m:r>
                            <a:rPr lang="en-US" altLang="zh-CN" sz="1600" i="1">
                              <a:solidFill>
                                <a:srgbClr val="C00000"/>
                              </a:solidFill>
                              <a:latin typeface="Cambria Math" panose="02040503050406030204" pitchFamily="18" charset="0"/>
                            </a:rPr>
                            <m:t>h</m:t>
                          </m:r>
                          <m:r>
                            <a:rPr lang="en-US" altLang="zh-CN" sz="1600" i="1">
                              <a:solidFill>
                                <a:srgbClr val="C00000"/>
                              </a:solidFill>
                              <a:latin typeface="Cambria Math" panose="02040503050406030204" pitchFamily="18" charset="0"/>
                            </a:rPr>
                            <m:t>−1</m:t>
                          </m:r>
                        </m:sup>
                        <m:e>
                          <m:r>
                            <a:rPr lang="en-US" altLang="zh-CN" sz="1600" i="1">
                              <a:solidFill>
                                <a:srgbClr val="C00000"/>
                              </a:solidFill>
                              <a:latin typeface="Cambria Math" panose="02040503050406030204" pitchFamily="18" charset="0"/>
                            </a:rPr>
                            <m:t>𝑗</m:t>
                          </m:r>
                          <m:r>
                            <a:rPr lang="en-US" altLang="zh-CN" sz="1600" i="1">
                              <a:solidFill>
                                <a:srgbClr val="C00000"/>
                              </a:solidFill>
                              <a:latin typeface="Cambria Math" panose="02040503050406030204" pitchFamily="18" charset="0"/>
                            </a:rPr>
                            <m:t>×</m:t>
                          </m:r>
                          <m:sSup>
                            <m:sSupPr>
                              <m:ctrlPr>
                                <a:rPr lang="zh-CN" altLang="zh-CN" sz="1600" i="1">
                                  <a:solidFill>
                                    <a:srgbClr val="C00000"/>
                                  </a:solidFill>
                                  <a:latin typeface="Cambria Math" panose="02040503050406030204" pitchFamily="18" charset="0"/>
                                </a:rPr>
                              </m:ctrlPr>
                            </m:sSupPr>
                            <m:e>
                              <m:r>
                                <a:rPr lang="en-US" altLang="zh-CN" sz="1600" i="1">
                                  <a:solidFill>
                                    <a:srgbClr val="C00000"/>
                                  </a:solidFill>
                                  <a:latin typeface="Cambria Math" panose="02040503050406030204" pitchFamily="18" charset="0"/>
                                </a:rPr>
                                <m:t>2</m:t>
                              </m:r>
                            </m:e>
                            <m:sup>
                              <m:r>
                                <a:rPr lang="en-US" altLang="zh-CN" sz="1600" i="1">
                                  <a:solidFill>
                                    <a:srgbClr val="C00000"/>
                                  </a:solidFill>
                                  <a:latin typeface="Cambria Math" panose="02040503050406030204" pitchFamily="18" charset="0"/>
                                </a:rPr>
                                <m:t>𝑗</m:t>
                              </m:r>
                              <m:r>
                                <a:rPr lang="en-US" altLang="zh-CN" sz="1600" i="1">
                                  <a:solidFill>
                                    <a:srgbClr val="C00000"/>
                                  </a:solidFill>
                                  <a:latin typeface="Cambria Math" panose="02040503050406030204" pitchFamily="18" charset="0"/>
                                </a:rPr>
                                <m:t>−1</m:t>
                              </m:r>
                            </m:sup>
                          </m:sSup>
                        </m:e>
                      </m:nary>
                      <m:r>
                        <a:rPr lang="en-US" altLang="zh-CN" sz="1600" i="1">
                          <a:latin typeface="Cambria Math" panose="02040503050406030204" pitchFamily="18" charset="0"/>
                        </a:rPr>
                        <m:t>+</m:t>
                      </m:r>
                      <m:r>
                        <a:rPr lang="en-US" altLang="zh-CN" sz="1600" i="1" smtClean="0">
                          <a:solidFill>
                            <a:srgbClr val="7030A0"/>
                          </a:solidFill>
                          <a:latin typeface="Cambria Math" panose="02040503050406030204" pitchFamily="18" charset="0"/>
                        </a:rPr>
                        <m:t>h</m:t>
                      </m:r>
                      <m:r>
                        <a:rPr lang="en-US" altLang="zh-CN" sz="1600" i="1" smtClean="0">
                          <a:solidFill>
                            <a:srgbClr val="7030A0"/>
                          </a:solidFill>
                          <a:latin typeface="Cambria Math" panose="02040503050406030204" pitchFamily="18" charset="0"/>
                        </a:rPr>
                        <m:t>×(</m:t>
                      </m:r>
                      <m:r>
                        <a:rPr lang="en-US" altLang="zh-CN" sz="1600" i="1" smtClean="0">
                          <a:solidFill>
                            <a:srgbClr val="7030A0"/>
                          </a:solidFill>
                          <a:latin typeface="Cambria Math" panose="02040503050406030204" pitchFamily="18" charset="0"/>
                        </a:rPr>
                        <m:t>𝑛</m:t>
                      </m:r>
                      <m:r>
                        <a:rPr lang="en-US" altLang="zh-CN" sz="1600" i="1" smtClean="0">
                          <a:solidFill>
                            <a:srgbClr val="7030A0"/>
                          </a:solidFill>
                          <a:latin typeface="Cambria Math" panose="02040503050406030204" pitchFamily="18" charset="0"/>
                        </a:rPr>
                        <m:t>−(</m:t>
                      </m:r>
                      <m:sSup>
                        <m:sSupPr>
                          <m:ctrlPr>
                            <a:rPr lang="zh-CN" altLang="zh-CN" sz="1600" i="1">
                              <a:solidFill>
                                <a:srgbClr val="7030A0"/>
                              </a:solidFill>
                              <a:latin typeface="Cambria Math" panose="02040503050406030204" pitchFamily="18" charset="0"/>
                            </a:rPr>
                          </m:ctrlPr>
                        </m:sSupPr>
                        <m:e>
                          <m:r>
                            <a:rPr lang="en-US" altLang="zh-CN" sz="1600" i="1">
                              <a:solidFill>
                                <a:srgbClr val="7030A0"/>
                              </a:solidFill>
                              <a:latin typeface="Cambria Math" panose="02040503050406030204" pitchFamily="18" charset="0"/>
                            </a:rPr>
                            <m:t>2</m:t>
                          </m:r>
                        </m:e>
                        <m:sup>
                          <m:r>
                            <a:rPr lang="en-US" altLang="zh-CN" sz="1600" i="1">
                              <a:solidFill>
                                <a:srgbClr val="7030A0"/>
                              </a:solidFill>
                              <a:latin typeface="Cambria Math" panose="02040503050406030204" pitchFamily="18" charset="0"/>
                            </a:rPr>
                            <m:t>h</m:t>
                          </m:r>
                          <m:r>
                            <a:rPr lang="en-US" altLang="zh-CN" sz="1600" i="1">
                              <a:solidFill>
                                <a:srgbClr val="7030A0"/>
                              </a:solidFill>
                              <a:latin typeface="Cambria Math" panose="02040503050406030204" pitchFamily="18" charset="0"/>
                            </a:rPr>
                            <m:t>−1</m:t>
                          </m:r>
                        </m:sup>
                      </m:sSup>
                      <m:r>
                        <a:rPr lang="en-US" altLang="zh-CN" sz="1600" i="1">
                          <a:solidFill>
                            <a:srgbClr val="7030A0"/>
                          </a:solidFill>
                          <a:latin typeface="Cambria Math" panose="02040503050406030204" pitchFamily="18" charset="0"/>
                        </a:rPr>
                        <m:t>−1))</m:t>
                      </m:r>
                      <m:r>
                        <a:rPr lang="en-US" altLang="zh-CN" sz="1600" i="1">
                          <a:latin typeface="Cambria Math" panose="02040503050406030204" pitchFamily="18" charset="0"/>
                        </a:rPr>
                        <m:t>)</m:t>
                      </m:r>
                      <m:r>
                        <a:rPr lang="en-US" altLang="zh-CN" sz="1600">
                          <a:latin typeface="Cambria Math" panose="02040503050406030204" pitchFamily="18" charset="0"/>
                        </a:rPr>
                        <m:t>               </m:t>
                      </m:r>
                    </m:oMath>
                  </m:oMathPara>
                </a14:m>
                <a:endParaRPr lang="en-US" altLang="zh-CN" sz="1600" dirty="0">
                  <a:latin typeface="Times New Roman" panose="02020603050405020304" pitchFamily="18" charset="0"/>
                  <a:cs typeface="Times New Roman" panose="02020603050405020304" pitchFamily="18" charset="0"/>
                </a:endParaRPr>
              </a:p>
              <a:p>
                <a:pPr marL="0" indent="0">
                  <a:lnSpc>
                    <a:spcPts val="31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nSpc>
                    <a:spcPts val="31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smtClean="0">
                              <a:solidFill>
                                <a:srgbClr val="C00000"/>
                              </a:solidFill>
                              <a:latin typeface="Cambria Math" panose="02040503050406030204" pitchFamily="18" charset="0"/>
                            </a:rPr>
                            <m:t>1×1+2×2+3×4+4×8</m:t>
                          </m:r>
                          <m:r>
                            <a:rPr lang="en-US" altLang="zh-CN" sz="1600" i="1">
                              <a:latin typeface="Cambria Math" panose="02040503050406030204" pitchFamily="18" charset="0"/>
                            </a:rPr>
                            <m:t>+</m:t>
                          </m:r>
                          <m:r>
                            <a:rPr lang="en-US" altLang="zh-CN" sz="1600" i="1" smtClean="0">
                              <a:solidFill>
                                <a:srgbClr val="7030A0"/>
                              </a:solidFill>
                              <a:latin typeface="Cambria Math" panose="02040503050406030204" pitchFamily="18" charset="0"/>
                            </a:rPr>
                            <m:t>5×3</m:t>
                          </m:r>
                        </m:num>
                        <m:den>
                          <m:r>
                            <a:rPr lang="en-US" altLang="zh-CN" sz="1600" i="1">
                              <a:latin typeface="Cambria Math" panose="02040503050406030204" pitchFamily="18" charset="0"/>
                            </a:rPr>
                            <m:t>18</m:t>
                          </m:r>
                        </m:den>
                      </m:f>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64</m:t>
                          </m:r>
                        </m:num>
                        <m:den>
                          <m:r>
                            <a:rPr lang="en-US" altLang="zh-CN" sz="1600" i="1">
                              <a:latin typeface="Cambria Math" panose="02040503050406030204" pitchFamily="18" charset="0"/>
                            </a:rPr>
                            <m:t>18</m:t>
                          </m:r>
                        </m:den>
                      </m:f>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32</m:t>
                          </m:r>
                        </m:num>
                        <m:den>
                          <m:r>
                            <a:rPr lang="en-US" altLang="zh-CN" sz="1600" i="1">
                              <a:latin typeface="Cambria Math" panose="02040503050406030204" pitchFamily="18" charset="0"/>
                            </a:rPr>
                            <m:t>9</m:t>
                          </m:r>
                        </m:den>
                      </m:f>
                    </m:oMath>
                  </m:oMathPara>
                </a14:m>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zh-CN" altLang="zh-CN" sz="1600" dirty="0">
                    <a:latin typeface="Times New Roman" panose="02020603050405020304" pitchFamily="18" charset="0"/>
                    <a:cs typeface="Times New Roman" panose="02020603050405020304" pitchFamily="18" charset="0"/>
                  </a:rPr>
                  <a:t>在查找概率相等的情况下，查找不成功时的平均查找长度为：</a:t>
                </a:r>
              </a:p>
              <a:p>
                <a:pPr marL="0" indent="0">
                  <a:lnSpc>
                    <a:spcPts val="2400"/>
                  </a:lnSpc>
                  <a:spcBef>
                    <a:spcPts val="0"/>
                  </a:spcBef>
                  <a:buNone/>
                </a:pPr>
                <a:endParaRPr lang="en-US" altLang="zh-CN" sz="1600" i="1" dirty="0">
                  <a:latin typeface="Times New Roman" panose="02020603050405020304" pitchFamily="18" charset="0"/>
                  <a:cs typeface="Times New Roman" panose="02020603050405020304" pitchFamily="18" charset="0"/>
                </a:endParaRPr>
              </a:p>
              <a:p>
                <a:pPr marL="0" indent="0">
                  <a:lnSpc>
                    <a:spcPts val="24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ASL</m:t>
                          </m:r>
                        </m:e>
                        <m:sub>
                          <m:r>
                            <a:rPr lang="en-US" altLang="zh-CN" sz="1600" i="1">
                              <a:latin typeface="Cambria Math" panose="02040503050406030204" pitchFamily="18" charset="0"/>
                            </a:rPr>
                            <m:t>𝑢𝑛𝑠𝑢𝑐𝑐</m:t>
                          </m:r>
                        </m:sub>
                      </m:sSub>
                      <m:r>
                        <a:rPr lang="en-US" altLang="zh-CN" sz="1600" i="1">
                          <a:latin typeface="Cambria Math" panose="02040503050406030204" pitchFamily="18" charset="0"/>
                        </a:rPr>
                        <m:t>=</m:t>
                      </m:r>
                      <m:r>
                        <a:rPr lang="en-US" altLang="zh-CN" sz="1600" i="1">
                          <a:latin typeface="Cambria Math" panose="02040503050406030204" pitchFamily="18" charset="0"/>
                        </a:rPr>
                        <m:t>h</m:t>
                      </m:r>
                      <m:r>
                        <a:rPr lang="en-US" altLang="zh-CN" sz="1600" i="1">
                          <a:latin typeface="Cambria Math" panose="02040503050406030204" pitchFamily="18" charset="0"/>
                        </a:rPr>
                        <m:t>+1−</m:t>
                      </m:r>
                      <m:f>
                        <m:fPr>
                          <m:ctrlPr>
                            <a:rPr lang="zh-CN" altLang="zh-CN" sz="1600" i="1">
                              <a:latin typeface="Cambria Math" panose="02040503050406030204" pitchFamily="18" charset="0"/>
                            </a:rPr>
                          </m:ctrlPr>
                        </m:fPr>
                        <m:num>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h</m:t>
                              </m:r>
                            </m:sup>
                          </m:sSup>
                        </m:num>
                        <m:den>
                          <m:r>
                            <a:rPr lang="en-US" altLang="zh-CN" sz="1600" i="1">
                              <a:latin typeface="Cambria Math" panose="02040503050406030204" pitchFamily="18" charset="0"/>
                            </a:rPr>
                            <m:t>𝑛</m:t>
                          </m:r>
                          <m:r>
                            <a:rPr lang="en-US" altLang="zh-CN" sz="1600" i="1">
                              <a:latin typeface="Cambria Math" panose="02040503050406030204" pitchFamily="18" charset="0"/>
                            </a:rPr>
                            <m:t>+1</m:t>
                          </m:r>
                        </m:den>
                      </m:f>
                      <m:r>
                        <a:rPr lang="en-US" altLang="zh-CN" sz="1600" i="1">
                          <a:latin typeface="Cambria Math" panose="02040503050406030204" pitchFamily="18" charset="0"/>
                        </a:rPr>
                        <m:t>=5+1−</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32</m:t>
                          </m:r>
                        </m:num>
                        <m:den>
                          <m:r>
                            <a:rPr lang="en-US" altLang="zh-CN" sz="1600" i="1">
                              <a:latin typeface="Cambria Math" panose="02040503050406030204" pitchFamily="18" charset="0"/>
                            </a:rPr>
                            <m:t>19</m:t>
                          </m:r>
                        </m:den>
                      </m:f>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82</m:t>
                          </m:r>
                        </m:num>
                        <m:den>
                          <m:r>
                            <a:rPr lang="en-US" altLang="zh-CN" sz="1600" i="1">
                              <a:latin typeface="Cambria Math" panose="02040503050406030204" pitchFamily="18" charset="0"/>
                            </a:rPr>
                            <m:t>19</m:t>
                          </m:r>
                        </m:den>
                      </m:f>
                    </m:oMath>
                  </m:oMathPara>
                </a14:m>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zh-CN" altLang="zh-CN" sz="1600" dirty="0">
                    <a:latin typeface="Times New Roman" panose="02020603050405020304" pitchFamily="18" charset="0"/>
                    <a:cs typeface="Times New Roman" panose="02020603050405020304" pitchFamily="18" charset="0"/>
                  </a:rPr>
                  <a:t>或以查找如图中方框结点方式计算：</a:t>
                </a:r>
              </a:p>
              <a:p>
                <a:pPr marL="0" indent="0">
                  <a:lnSpc>
                    <a:spcPts val="24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ASL</m:t>
                          </m:r>
                        </m:e>
                        <m:sub>
                          <m:r>
                            <a:rPr lang="en-US" altLang="zh-CN" sz="1600" i="1">
                              <a:latin typeface="Cambria Math" panose="02040503050406030204" pitchFamily="18" charset="0"/>
                            </a:rPr>
                            <m:t>𝑢𝑛𝑠𝑢𝑐𝑐</m:t>
                          </m:r>
                        </m:sub>
                      </m:sSub>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4×13+5×6</m:t>
                          </m:r>
                        </m:num>
                        <m:den>
                          <m:r>
                            <a:rPr lang="en-US" altLang="zh-CN" sz="1600" i="1">
                              <a:latin typeface="Cambria Math" panose="02040503050406030204" pitchFamily="18" charset="0"/>
                            </a:rPr>
                            <m:t>19</m:t>
                          </m:r>
                        </m:den>
                      </m:f>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82</m:t>
                          </m:r>
                        </m:num>
                        <m:den>
                          <m:r>
                            <a:rPr lang="en-US" altLang="zh-CN" sz="1600" i="1">
                              <a:latin typeface="Cambria Math" panose="02040503050406030204" pitchFamily="18" charset="0"/>
                            </a:rPr>
                            <m:t>19</m:t>
                          </m:r>
                        </m:den>
                      </m:f>
                    </m:oMath>
                  </m:oMathPara>
                </a14:m>
                <a:endParaRPr lang="zh-CN" altLang="zh-CN"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349" y="854909"/>
                <a:ext cx="8928992" cy="3507876"/>
              </a:xfrm>
              <a:blipFill>
                <a:blip r:embed="rId2"/>
                <a:stretch>
                  <a:fillRect l="-614" t="-174" b="-2187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5508104" y="32887"/>
            <a:ext cx="3168352" cy="1518335"/>
          </a:xfrm>
          <a:prstGeom prst="rect">
            <a:avLst/>
          </a:prstGeom>
        </p:spPr>
      </p:pic>
      <p:cxnSp>
        <p:nvCxnSpPr>
          <p:cNvPr id="6" name="直接连接符 5"/>
          <p:cNvCxnSpPr/>
          <p:nvPr/>
        </p:nvCxnSpPr>
        <p:spPr>
          <a:xfrm flipH="1">
            <a:off x="6300192" y="217337"/>
            <a:ext cx="648072" cy="124128"/>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300192" y="381834"/>
            <a:ext cx="360040" cy="173692"/>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6444208" y="555526"/>
            <a:ext cx="216024" cy="360040"/>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436096" y="32887"/>
            <a:ext cx="3168352" cy="102669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p:nvPr/>
        </p:nvCxnSpPr>
        <p:spPr>
          <a:xfrm flipV="1">
            <a:off x="4067944" y="771550"/>
            <a:ext cx="1368152" cy="160169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6804248" y="1140705"/>
            <a:ext cx="1872208" cy="190867"/>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p:nvPr/>
        </p:nvCxnSpPr>
        <p:spPr>
          <a:xfrm flipV="1">
            <a:off x="5436096" y="1347614"/>
            <a:ext cx="1961524" cy="102563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4098880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additive="base">
                                        <p:cTn id="4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additive="base">
                                        <p:cTn id="5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 calcmode="lin" valueType="num">
                                      <p:cBhvr additive="base">
                                        <p:cTn id="5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1000"/>
                                        <p:tgtEl>
                                          <p:spTgt spid="13"/>
                                        </p:tgtEl>
                                      </p:cBhvr>
                                    </p:animEffect>
                                    <p:anim calcmode="lin" valueType="num">
                                      <p:cBhvr>
                                        <p:cTn id="69" dur="1000" fill="hold"/>
                                        <p:tgtEl>
                                          <p:spTgt spid="13"/>
                                        </p:tgtEl>
                                        <p:attrNameLst>
                                          <p:attrName>ppt_x</p:attrName>
                                        </p:attrNameLst>
                                      </p:cBhvr>
                                      <p:tavLst>
                                        <p:tav tm="0">
                                          <p:val>
                                            <p:strVal val="#ppt_x"/>
                                          </p:val>
                                        </p:tav>
                                        <p:tav tm="100000">
                                          <p:val>
                                            <p:strVal val="#ppt_x"/>
                                          </p:val>
                                        </p:tav>
                                      </p:tavLst>
                                    </p:anim>
                                    <p:anim calcmode="lin" valueType="num">
                                      <p:cBhvr>
                                        <p:cTn id="7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00" fill="hold"/>
                                        <p:tgtEl>
                                          <p:spTgt spid="16"/>
                                        </p:tgtEl>
                                        <p:attrNameLst>
                                          <p:attrName>ppt_x</p:attrName>
                                        </p:attrNameLst>
                                      </p:cBhvr>
                                      <p:tavLst>
                                        <p:tav tm="0">
                                          <p:val>
                                            <p:strVal val="#ppt_x"/>
                                          </p:val>
                                        </p:tav>
                                        <p:tav tm="100000">
                                          <p:val>
                                            <p:strVal val="#ppt_x"/>
                                          </p:val>
                                        </p:tav>
                                      </p:tavLst>
                                    </p:anim>
                                    <p:anim calcmode="lin" valueType="num">
                                      <p:cBhvr additive="base">
                                        <p:cTn id="76" dur="500" fill="hold"/>
                                        <p:tgtEl>
                                          <p:spTgt spid="16"/>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8" end="8"/>
                                            </p:txEl>
                                          </p:spTgt>
                                        </p:tgtEl>
                                        <p:attrNameLst>
                                          <p:attrName>style.visibility</p:attrName>
                                        </p:attrNameLst>
                                      </p:cBhvr>
                                      <p:to>
                                        <p:strVal val="visible"/>
                                      </p:to>
                                    </p:set>
                                    <p:anim calcmode="lin" valueType="num">
                                      <p:cBhvr additive="base">
                                        <p:cTn id="8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3">
                                            <p:txEl>
                                              <p:pRg st="10" end="10"/>
                                            </p:txEl>
                                          </p:spTgt>
                                        </p:tgtEl>
                                        <p:attrNameLst>
                                          <p:attrName>style.visibility</p:attrName>
                                        </p:attrNameLst>
                                      </p:cBhvr>
                                      <p:to>
                                        <p:strVal val="visible"/>
                                      </p:to>
                                    </p:set>
                                    <p:anim calcmode="lin" valueType="num">
                                      <p:cBhvr additive="base">
                                        <p:cTn id="8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3">
                                            <p:txEl>
                                              <p:pRg st="11" end="11"/>
                                            </p:txEl>
                                          </p:spTgt>
                                        </p:tgtEl>
                                        <p:attrNameLst>
                                          <p:attrName>style.visibility</p:attrName>
                                        </p:attrNameLst>
                                      </p:cBhvr>
                                      <p:to>
                                        <p:strVal val="visible"/>
                                      </p:to>
                                    </p:set>
                                    <p:animEffect transition="in" filter="fade">
                                      <p:cBhvr>
                                        <p:cTn id="95" dur="1000"/>
                                        <p:tgtEl>
                                          <p:spTgt spid="3">
                                            <p:txEl>
                                              <p:pRg st="11" end="11"/>
                                            </p:txEl>
                                          </p:spTgt>
                                        </p:tgtEl>
                                      </p:cBhvr>
                                    </p:animEffect>
                                    <p:anim calcmode="lin" valueType="num">
                                      <p:cBhvr>
                                        <p:cTn id="96"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7"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3">
                                            <p:txEl>
                                              <p:pRg st="12" end="12"/>
                                            </p:txEl>
                                          </p:spTgt>
                                        </p:tgtEl>
                                        <p:attrNameLst>
                                          <p:attrName>style.visibility</p:attrName>
                                        </p:attrNameLst>
                                      </p:cBhvr>
                                      <p:to>
                                        <p:strVal val="visible"/>
                                      </p:to>
                                    </p:set>
                                    <p:animEffect transition="in" filter="fade">
                                      <p:cBhvr>
                                        <p:cTn id="100" dur="1000"/>
                                        <p:tgtEl>
                                          <p:spTgt spid="3">
                                            <p:txEl>
                                              <p:pRg st="12" end="12"/>
                                            </p:txEl>
                                          </p:spTgt>
                                        </p:tgtEl>
                                      </p:cBhvr>
                                    </p:animEffect>
                                    <p:anim calcmode="lin" valueType="num">
                                      <p:cBhvr>
                                        <p:cTn id="101"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102"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87574"/>
                <a:ext cx="9036496" cy="3507876"/>
              </a:xfrm>
            </p:spPr>
            <p:txBody>
              <a:bodyPr/>
              <a:lstStyle/>
              <a:p>
                <a:pPr marL="0" indent="0" algn="just">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分块查找又称为索引顺序查找，它是顺序查找的一种改进方法，其性能介于顺序查找和二分查找之间。在索引查找方法中，除存储表本身以外，还需存储一个索引表。存储方法如下：</a:t>
                </a:r>
              </a:p>
              <a:p>
                <a:pPr marL="0" indent="0" algn="just">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）将线性表</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[1..n]</a:t>
                </a:r>
                <a:r>
                  <a:rPr lang="zh-CN" altLang="zh-CN" sz="1800" dirty="0">
                    <a:latin typeface="Times New Roman" panose="02020603050405020304" pitchFamily="18" charset="0"/>
                    <a:cs typeface="Times New Roman" panose="02020603050405020304" pitchFamily="18" charset="0"/>
                  </a:rPr>
                  <a:t>均分为</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块，前</a:t>
                </a:r>
                <a14:m>
                  <m:oMath xmlns:m="http://schemas.openxmlformats.org/officeDocument/2006/math">
                    <m:r>
                      <m:rPr>
                        <m:sty m:val="p"/>
                      </m:rPr>
                      <a:rPr lang="en-US" altLang="zh-CN" sz="1800">
                        <a:latin typeface="Cambria Math" panose="02040503050406030204" pitchFamily="18" charset="0"/>
                      </a:rPr>
                      <m:t>b</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块中元素个数为</a:t>
                </a:r>
                <a14:m>
                  <m:oMath xmlns:m="http://schemas.openxmlformats.org/officeDocument/2006/math">
                    <m:r>
                      <m:rPr>
                        <m:sty m:val="p"/>
                      </m:rPr>
                      <a:rPr lang="en-US" altLang="zh-CN" sz="1800">
                        <a:latin typeface="Cambria Math" panose="02040503050406030204" pitchFamily="18" charset="0"/>
                      </a:rPr>
                      <m:t>s</m:t>
                    </m:r>
                    <m:r>
                      <a:rPr lang="en-US" altLang="zh-CN" sz="1800">
                        <a:latin typeface="Cambria Math" panose="02040503050406030204" pitchFamily="18" charset="0"/>
                      </a:rPr>
                      <m:t>=</m:t>
                    </m:r>
                    <m:d>
                      <m:dPr>
                        <m:begChr m:val="⌈"/>
                        <m:endChr m:val="⌉"/>
                        <m:ctrlPr>
                          <a:rPr lang="zh-CN" altLang="zh-CN" sz="1800" i="1">
                            <a:latin typeface="Cambria Math" panose="02040503050406030204" pitchFamily="18" charset="0"/>
                          </a:rPr>
                        </m:ctrlPr>
                      </m:dPr>
                      <m:e>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𝑛</m:t>
                            </m:r>
                          </m:num>
                          <m:den>
                            <m:r>
                              <a:rPr lang="en-US" altLang="zh-CN" sz="1800" i="1">
                                <a:latin typeface="Cambria Math" panose="02040503050406030204" pitchFamily="18" charset="0"/>
                              </a:rPr>
                              <m:t>𝑏</m:t>
                            </m:r>
                          </m:den>
                        </m:f>
                      </m:e>
                    </m:d>
                  </m:oMath>
                </a14:m>
                <a:r>
                  <a:rPr lang="zh-CN" altLang="zh-CN" sz="1800" dirty="0">
                    <a:latin typeface="Times New Roman" panose="02020603050405020304" pitchFamily="18" charset="0"/>
                    <a:cs typeface="Times New Roman" panose="02020603050405020304" pitchFamily="18" charset="0"/>
                  </a:rPr>
                  <a:t>，最后一块即</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块的元素个数小于等于</a:t>
                </a:r>
                <a14:m>
                  <m:oMath xmlns:m="http://schemas.openxmlformats.org/officeDocument/2006/math">
                    <m:r>
                      <m:rPr>
                        <m:sty m:val="p"/>
                      </m:rPr>
                      <a:rPr lang="en-US" altLang="zh-CN" sz="1800">
                        <a:latin typeface="Cambria Math" panose="02040503050406030204" pitchFamily="18" charset="0"/>
                      </a:rPr>
                      <m:t>s</m:t>
                    </m:r>
                  </m:oMath>
                </a14:m>
                <a:r>
                  <a:rPr lang="zh-CN" altLang="zh-CN" sz="1800" dirty="0">
                    <a:latin typeface="Times New Roman" panose="02020603050405020304" pitchFamily="18" charset="0"/>
                    <a:cs typeface="Times New Roman" panose="02020603050405020304" pitchFamily="18" charset="0"/>
                  </a:rPr>
                  <a:t>；</a:t>
                </a:r>
              </a:p>
              <a:p>
                <a:pPr marL="0" indent="0" algn="just">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）每一块中的关键字不一定有序，但前一块中的最大关键字小于后一块中的最小关键字，即块内无序，块间有序；</a:t>
                </a:r>
              </a:p>
              <a:p>
                <a:pPr marL="0" indent="0" algn="just">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）抽取各块的最大关键字及起始位置构成一个索引表</a:t>
                </a:r>
                <a:r>
                  <a:rPr lang="en-US" altLang="zh-CN" sz="1800" dirty="0">
                    <a:latin typeface="Times New Roman" panose="02020603050405020304" pitchFamily="18" charset="0"/>
                    <a:cs typeface="Times New Roman" panose="02020603050405020304" pitchFamily="18" charset="0"/>
                  </a:rPr>
                  <a:t>index[0..b-1]</a:t>
                </a:r>
                <a:r>
                  <a:rPr lang="zh-CN" altLang="zh-CN" sz="1800" dirty="0">
                    <a:latin typeface="Times New Roman" panose="02020603050405020304" pitchFamily="18" charset="0"/>
                    <a:cs typeface="Times New Roman" panose="02020603050405020304" pitchFamily="18" charset="0"/>
                  </a:rPr>
                  <a:t>，即</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index</m:t>
                    </m:r>
                    <m:r>
                      <a:rPr lang="en-US" altLang="zh-CN" sz="1800">
                        <a:latin typeface="Cambria Math" panose="02040503050406030204" pitchFamily="18" charset="0"/>
                        <a:ea typeface="隶书" panose="02010509060101010101" pitchFamily="49" charset="-122"/>
                      </a:rPr>
                      <m:t>[</m:t>
                    </m:r>
                    <m:r>
                      <m:rPr>
                        <m:sty m:val="p"/>
                      </m:rPr>
                      <a:rPr lang="en-US" altLang="zh-CN" sz="1800">
                        <a:latin typeface="Cambria Math" panose="02040503050406030204" pitchFamily="18" charset="0"/>
                        <a:ea typeface="隶书" panose="02010509060101010101" pitchFamily="49" charset="-122"/>
                      </a:rPr>
                      <m:t>i</m:t>
                    </m:r>
                    <m:r>
                      <a:rPr lang="en-US" altLang="zh-CN" sz="1800">
                        <a:latin typeface="Cambria Math" panose="02040503050406030204" pitchFamily="18" charset="0"/>
                        <a:ea typeface="隶书" panose="02010509060101010101" pitchFamily="49" charset="-122"/>
                      </a:rPr>
                      <m:t>](0≤</m:t>
                    </m:r>
                    <m:r>
                      <a:rPr lang="en-US" altLang="zh-CN" sz="1800">
                        <a:latin typeface="Cambria Math" panose="02040503050406030204" pitchFamily="18" charset="0"/>
                        <a:ea typeface="隶书" panose="02010509060101010101" pitchFamily="49" charset="-122"/>
                      </a:rPr>
                      <m:t>𝑖</m:t>
                    </m:r>
                    <m:r>
                      <a:rPr lang="en-US" altLang="zh-CN" sz="1800">
                        <a:latin typeface="Cambria Math" panose="02040503050406030204" pitchFamily="18" charset="0"/>
                        <a:ea typeface="隶书" panose="02010509060101010101" pitchFamily="49" charset="-122"/>
                      </a:rPr>
                      <m:t>≤</m:t>
                    </m:r>
                    <m:r>
                      <a:rPr lang="en-US" altLang="zh-CN" sz="1800">
                        <a:latin typeface="Cambria Math" panose="02040503050406030204" pitchFamily="18" charset="0"/>
                        <a:ea typeface="隶书" panose="02010509060101010101" pitchFamily="49" charset="-122"/>
                      </a:rPr>
                      <m:t>𝑏</m:t>
                    </m:r>
                    <m:r>
                      <a:rPr lang="en-US" altLang="zh-CN" sz="1800">
                        <a:latin typeface="Cambria Math" panose="02040503050406030204" pitchFamily="18" charset="0"/>
                        <a:ea typeface="隶书" panose="02010509060101010101" pitchFamily="49" charset="-122"/>
                      </a:rPr>
                      <m:t>−1)</m:t>
                    </m:r>
                  </m:oMath>
                </a14:m>
                <a:r>
                  <a:rPr lang="zh-CN" altLang="zh-CN" sz="1800" dirty="0">
                    <a:latin typeface="Times New Roman" panose="02020603050405020304" pitchFamily="18" charset="0"/>
                    <a:cs typeface="Times New Roman" panose="02020603050405020304" pitchFamily="18" charset="0"/>
                  </a:rPr>
                  <a:t>中存放第</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i</m:t>
                    </m:r>
                  </m:oMath>
                </a14:m>
                <a:r>
                  <a:rPr lang="zh-CN" altLang="zh-CN" sz="1800" dirty="0">
                    <a:latin typeface="Times New Roman" panose="02020603050405020304" pitchFamily="18" charset="0"/>
                    <a:cs typeface="Times New Roman" panose="02020603050405020304" pitchFamily="18" charset="0"/>
                  </a:rPr>
                  <a:t>块的最大关键字和该块在表中的起始位置。</a:t>
                </a:r>
              </a:p>
              <a:p>
                <a:pPr marL="0" indent="0">
                  <a:lnSpc>
                    <a:spcPts val="26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87574"/>
                <a:ext cx="9036496" cy="3507876"/>
              </a:xfrm>
              <a:blipFill>
                <a:blip r:embed="rId2"/>
                <a:stretch>
                  <a:fillRect l="-877" t="-870" r="-810"/>
                </a:stretch>
              </a:blipFill>
            </p:spPr>
            <p:txBody>
              <a:bodyPr/>
              <a:lstStyle/>
              <a:p>
                <a:r>
                  <a:rPr lang="zh-CN" altLang="en-US">
                    <a:noFill/>
                  </a:rPr>
                  <a:t> </a:t>
                </a:r>
              </a:p>
            </p:txBody>
          </p:sp>
        </mc:Fallback>
      </mc:AlternateContent>
      <p:sp>
        <p:nvSpPr>
          <p:cNvPr id="4" name="文本框 3"/>
          <p:cNvSpPr txBox="1"/>
          <p:nvPr/>
        </p:nvSpPr>
        <p:spPr>
          <a:xfrm>
            <a:off x="611380" y="115457"/>
            <a:ext cx="129632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分块查找</a:t>
            </a:r>
          </a:p>
        </p:txBody>
      </p:sp>
    </p:spTree>
    <p:extLst>
      <p:ext uri="{BB962C8B-B14F-4D97-AF65-F5344CB8AC3E}">
        <p14:creationId xmlns:p14="http://schemas.microsoft.com/office/powerpoint/2010/main" val="270535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2139702"/>
                <a:ext cx="8749480" cy="2516823"/>
              </a:xfrm>
            </p:spPr>
            <p:txBody>
              <a:bodyPr/>
              <a:lstStyle/>
              <a:p>
                <a:pPr marL="0" indent="0" algn="just">
                  <a:lnSpc>
                    <a:spcPts val="2400"/>
                  </a:lnSpc>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例如，设有一个有</a:t>
                </a:r>
                <a:r>
                  <a:rPr lang="en-US" altLang="zh-CN" sz="1800" dirty="0">
                    <a:latin typeface="Times New Roman" panose="02020603050405020304" pitchFamily="18" charset="0"/>
                    <a:cs typeface="Times New Roman" panose="02020603050405020304" pitchFamily="18" charset="0"/>
                  </a:rPr>
                  <a:t>23</a:t>
                </a:r>
                <a:r>
                  <a:rPr lang="zh-CN" altLang="zh-CN" sz="1800" dirty="0">
                    <a:latin typeface="Times New Roman" panose="02020603050405020304" pitchFamily="18" charset="0"/>
                    <a:cs typeface="Times New Roman" panose="02020603050405020304" pitchFamily="18" charset="0"/>
                  </a:rPr>
                  <a:t>个元素的线性表采用顺序存储结构存放在表</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[1..n]</a:t>
                </a:r>
                <a:r>
                  <a:rPr lang="zh-CN" altLang="zh-CN" sz="1800" dirty="0">
                    <a:latin typeface="Times New Roman" panose="02020603050405020304" pitchFamily="18" charset="0"/>
                    <a:cs typeface="Times New Roman" panose="02020603050405020304" pitchFamily="18" charset="0"/>
                  </a:rPr>
                  <a:t>中，假设将</a:t>
                </a:r>
                <a:r>
                  <a:rPr lang="en-US" altLang="zh-CN" sz="1800" dirty="0">
                    <a:latin typeface="Times New Roman" panose="02020603050405020304" pitchFamily="18" charset="0"/>
                    <a:cs typeface="Times New Roman" panose="02020603050405020304" pitchFamily="18" charset="0"/>
                  </a:rPr>
                  <a:t>23</a:t>
                </a:r>
                <a:r>
                  <a:rPr lang="zh-CN" altLang="zh-CN" sz="1800" dirty="0">
                    <a:latin typeface="Times New Roman" panose="02020603050405020304" pitchFamily="18" charset="0"/>
                    <a:cs typeface="Times New Roman" panose="02020603050405020304" pitchFamily="18" charset="0"/>
                  </a:rPr>
                  <a:t>个关键字分成</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块</a:t>
                </a:r>
                <a14:m>
                  <m:oMath xmlns:m="http://schemas.openxmlformats.org/officeDocument/2006/math">
                    <m:r>
                      <a:rPr lang="en-US" altLang="zh-CN" sz="1800">
                        <a:latin typeface="Cambria Math" panose="02040503050406030204" pitchFamily="18" charset="0"/>
                      </a:rPr>
                      <m:t>(</m:t>
                    </m:r>
                    <m:r>
                      <m:rPr>
                        <m:sty m:val="p"/>
                      </m:rPr>
                      <a:rPr lang="en-US" altLang="zh-CN" sz="1800">
                        <a:latin typeface="Cambria Math" panose="02040503050406030204" pitchFamily="18" charset="0"/>
                      </a:rPr>
                      <m:t>b</m:t>
                    </m:r>
                    <m:r>
                      <a:rPr lang="en-US" altLang="zh-CN" sz="1800" i="1">
                        <a:latin typeface="Cambria Math" panose="02040503050406030204" pitchFamily="18" charset="0"/>
                      </a:rPr>
                      <m:t>=4</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，前</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块中有</a:t>
                </a:r>
                <a:r>
                  <a:rPr lang="en-US" altLang="zh-CN" sz="1800" dirty="0">
                    <a:latin typeface="Times New Roman" panose="02020603050405020304" pitchFamily="18" charset="0"/>
                    <a:cs typeface="Times New Roman" panose="02020603050405020304" pitchFamily="18" charset="0"/>
                  </a:rPr>
                  <a:t>6</a:t>
                </a:r>
                <a:r>
                  <a:rPr lang="zh-CN" altLang="zh-CN" sz="1800" dirty="0">
                    <a:latin typeface="Times New Roman" panose="02020603050405020304" pitchFamily="18" charset="0"/>
                    <a:cs typeface="Times New Roman" panose="02020603050405020304" pitchFamily="18" charset="0"/>
                  </a:rPr>
                  <a:t>个元素，最后一块有</a:t>
                </a:r>
                <a:r>
                  <a:rPr lang="en-US" altLang="zh-CN" sz="1800" dirty="0">
                    <a:latin typeface="Times New Roman" panose="02020603050405020304" pitchFamily="18" charset="0"/>
                    <a:cs typeface="Times New Roman" panose="02020603050405020304" pitchFamily="18" charset="0"/>
                  </a:rPr>
                  <a:t>5</a:t>
                </a:r>
                <a:r>
                  <a:rPr lang="zh-CN" altLang="zh-CN" sz="1800" dirty="0">
                    <a:latin typeface="Times New Roman" panose="02020603050405020304" pitchFamily="18" charset="0"/>
                    <a:cs typeface="Times New Roman" panose="02020603050405020304" pitchFamily="18" charset="0"/>
                  </a:rPr>
                  <a:t>个元素，如图所示。假设</a:t>
                </a:r>
                <a:r>
                  <a:rPr lang="en-US" altLang="zh-CN" sz="1800" dirty="0">
                    <a:latin typeface="Times New Roman" panose="02020603050405020304" pitchFamily="18" charset="0"/>
                    <a:cs typeface="Times New Roman" panose="02020603050405020304" pitchFamily="18" charset="0"/>
                  </a:rPr>
                  <a:t>key=49</a:t>
                </a:r>
                <a:r>
                  <a:rPr lang="zh-CN" altLang="zh-CN" sz="1800" dirty="0">
                    <a:latin typeface="Times New Roman" panose="02020603050405020304" pitchFamily="18" charset="0"/>
                    <a:cs typeface="Times New Roman" panose="02020603050405020304" pitchFamily="18" charset="0"/>
                  </a:rPr>
                  <a:t>，则先将</a:t>
                </a:r>
                <a:r>
                  <a:rPr lang="en-US" altLang="zh-CN" sz="1800" dirty="0">
                    <a:latin typeface="Times New Roman" panose="02020603050405020304" pitchFamily="18" charset="0"/>
                    <a:cs typeface="Times New Roman" panose="02020603050405020304" pitchFamily="18" charset="0"/>
                  </a:rPr>
                  <a:t>49</a:t>
                </a:r>
                <a:r>
                  <a:rPr lang="zh-CN" altLang="zh-CN" sz="1800" dirty="0">
                    <a:latin typeface="Times New Roman" panose="02020603050405020304" pitchFamily="18" charset="0"/>
                    <a:cs typeface="Times New Roman" panose="02020603050405020304" pitchFamily="18" charset="0"/>
                  </a:rPr>
                  <a:t>与索引表中各最大关键字进行比较，查找时可采用顺序查找或二分查找，因为</a:t>
                </a:r>
                <a14:m>
                  <m:oMath xmlns:m="http://schemas.openxmlformats.org/officeDocument/2006/math">
                    <m:r>
                      <a:rPr lang="en-US" altLang="zh-CN" sz="1800">
                        <a:latin typeface="Cambria Math" panose="02040503050406030204" pitchFamily="18" charset="0"/>
                      </a:rPr>
                      <m:t>48&lt;49&lt;80</m:t>
                    </m:r>
                  </m:oMath>
                </a14:m>
                <a:r>
                  <a:rPr lang="zh-CN" altLang="zh-CN" sz="1800" dirty="0">
                    <a:latin typeface="Times New Roman" panose="02020603050405020304" pitchFamily="18" charset="0"/>
                    <a:cs typeface="Times New Roman" panose="02020603050405020304" pitchFamily="18" charset="0"/>
                  </a:rPr>
                  <a:t>，所以关键字</a:t>
                </a:r>
                <a:r>
                  <a:rPr lang="en-US" altLang="zh-CN" sz="1800" dirty="0">
                    <a:latin typeface="Times New Roman" panose="02020603050405020304" pitchFamily="18" charset="0"/>
                    <a:cs typeface="Times New Roman" panose="02020603050405020304" pitchFamily="18" charset="0"/>
                  </a:rPr>
                  <a:t>49</a:t>
                </a:r>
                <a:r>
                  <a:rPr lang="zh-CN" altLang="zh-CN" sz="1800" dirty="0">
                    <a:latin typeface="Times New Roman" panose="02020603050405020304" pitchFamily="18" charset="0"/>
                    <a:cs typeface="Times New Roman" panose="02020603050405020304" pitchFamily="18" charset="0"/>
                  </a:rPr>
                  <a:t>若存在，一定在第</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个子表中，由于第</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个子表的起始地址为</a:t>
                </a:r>
                <a:r>
                  <a:rPr lang="en-US" altLang="zh-CN" sz="1800" dirty="0">
                    <a:latin typeface="Times New Roman" panose="02020603050405020304" pitchFamily="18" charset="0"/>
                    <a:cs typeface="Times New Roman" panose="02020603050405020304" pitchFamily="18" charset="0"/>
                  </a:rPr>
                  <a:t>13</a:t>
                </a:r>
                <a:r>
                  <a:rPr lang="zh-CN" altLang="zh-CN" sz="1800" dirty="0">
                    <a:latin typeface="Times New Roman" panose="02020603050405020304" pitchFamily="18" charset="0"/>
                    <a:cs typeface="Times New Roman" panose="02020603050405020304" pitchFamily="18" charset="0"/>
                  </a:rPr>
                  <a:t>，所以从第</a:t>
                </a:r>
                <a:r>
                  <a:rPr lang="en-US" altLang="zh-CN" sz="1800" dirty="0">
                    <a:latin typeface="Times New Roman" panose="02020603050405020304" pitchFamily="18" charset="0"/>
                    <a:cs typeface="Times New Roman" panose="02020603050405020304" pitchFamily="18" charset="0"/>
                  </a:rPr>
                  <a:t>13</a:t>
                </a:r>
                <a:r>
                  <a:rPr lang="zh-CN" altLang="zh-CN" sz="1800" dirty="0">
                    <a:latin typeface="Times New Roman" panose="02020603050405020304" pitchFamily="18" charset="0"/>
                    <a:cs typeface="Times New Roman" panose="02020603050405020304" pitchFamily="18" charset="0"/>
                  </a:rPr>
                  <a:t>个元素开始顺序查找，直到</a:t>
                </a:r>
                <a:r>
                  <a:rPr lang="en-US" altLang="zh-CN" sz="1800" dirty="0" err="1">
                    <a:latin typeface="Times New Roman" panose="02020603050405020304" pitchFamily="18" charset="0"/>
                    <a:cs typeface="Times New Roman" panose="02020603050405020304" pitchFamily="18" charset="0"/>
                  </a:rPr>
                  <a:t>elem</a:t>
                </a:r>
                <a:r>
                  <a:rPr lang="en-US" altLang="zh-CN" sz="1800" dirty="0">
                    <a:latin typeface="Times New Roman" panose="02020603050405020304" pitchFamily="18" charset="0"/>
                    <a:cs typeface="Times New Roman" panose="02020603050405020304" pitchFamily="18" charset="0"/>
                  </a:rPr>
                  <a:t>[15].key=key</a:t>
                </a:r>
                <a:r>
                  <a:rPr lang="zh-CN" altLang="zh-CN" sz="1800" dirty="0">
                    <a:latin typeface="Times New Roman" panose="02020603050405020304" pitchFamily="18" charset="0"/>
                    <a:cs typeface="Times New Roman" panose="02020603050405020304" pitchFamily="18" charset="0"/>
                  </a:rPr>
                  <a:t>为止；如果子表中没有该关键字，则查找不成功。</a:t>
                </a:r>
              </a:p>
              <a:p>
                <a:pPr marL="0" indent="0">
                  <a:buNone/>
                </a:pPr>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2139702"/>
                <a:ext cx="8749480" cy="2516823"/>
              </a:xfrm>
              <a:blipFill>
                <a:blip r:embed="rId2"/>
                <a:stretch>
                  <a:fillRect l="-836" t="-1937" r="-3552"/>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2699792" y="233275"/>
            <a:ext cx="5361492" cy="1729414"/>
          </a:xfrm>
          <a:prstGeom prst="rect">
            <a:avLst/>
          </a:prstGeom>
        </p:spPr>
      </p:pic>
      <p:sp>
        <p:nvSpPr>
          <p:cNvPr id="5" name="文本框 4"/>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示例</a:t>
            </a:r>
          </a:p>
        </p:txBody>
      </p:sp>
    </p:spTree>
    <p:extLst>
      <p:ext uri="{BB962C8B-B14F-4D97-AF65-F5344CB8AC3E}">
        <p14:creationId xmlns:p14="http://schemas.microsoft.com/office/powerpoint/2010/main" val="33151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15566"/>
                <a:ext cx="7488832" cy="3507876"/>
              </a:xfrm>
            </p:spPr>
            <p:txBody>
              <a:bodyPr/>
              <a:lstStyle/>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索引表的数据类型定义如下：</a:t>
                </a:r>
              </a:p>
              <a:p>
                <a:pPr marL="0" indent="0">
                  <a:lnSpc>
                    <a:spcPts val="2300"/>
                  </a:lnSpc>
                  <a:spcBef>
                    <a:spcPts val="0"/>
                  </a:spcBef>
                  <a:buNone/>
                </a:pPr>
                <a:r>
                  <a:rPr lang="en-US" altLang="zh-CN" sz="1800" dirty="0" err="1">
                    <a:latin typeface="Times New Roman" panose="02020603050405020304" pitchFamily="18" charset="0"/>
                    <a:cs typeface="Times New Roman" panose="02020603050405020304" pitchFamily="18" charset="0"/>
                  </a:rPr>
                  <a:t>typedef</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struct</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KeyType</a:t>
                </a:r>
                <a:r>
                  <a:rPr lang="en-US" altLang="zh-CN" sz="1800" dirty="0">
                    <a:latin typeface="Times New Roman" panose="02020603050405020304" pitchFamily="18" charset="0"/>
                    <a:cs typeface="Times New Roman" panose="02020603050405020304" pitchFamily="18" charset="0"/>
                  </a:rPr>
                  <a:t> key;         //</a:t>
                </a:r>
                <a:r>
                  <a:rPr lang="en-US" altLang="zh-CN" sz="1800" dirty="0" err="1">
                    <a:latin typeface="Times New Roman" panose="02020603050405020304" pitchFamily="18" charset="0"/>
                    <a:cs typeface="Times New Roman" panose="02020603050405020304" pitchFamily="18" charset="0"/>
                  </a:rPr>
                  <a:t>KeyType</a:t>
                </a:r>
                <a:r>
                  <a:rPr lang="zh-CN" altLang="zh-CN" sz="1800" dirty="0">
                    <a:latin typeface="Times New Roman" panose="02020603050405020304" pitchFamily="18" charset="0"/>
                    <a:cs typeface="Times New Roman" panose="02020603050405020304" pitchFamily="18" charset="0"/>
                  </a:rPr>
                  <a:t>为关键字数据类型</a:t>
                </a: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link;</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IndexType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分块查找算法如下：</a:t>
                </a:r>
              </a:p>
              <a:p>
                <a:pPr marL="0" indent="0">
                  <a:lnSpc>
                    <a:spcPts val="2300"/>
                  </a:lnSpc>
                  <a:spcBef>
                    <a:spcPts val="0"/>
                  </a:spcBef>
                  <a:buNone/>
                </a:pP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StaticSearchtable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IndexSearch</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IndexType</a:t>
                </a:r>
                <a:r>
                  <a:rPr lang="en-US" altLang="zh-CN" sz="1800" dirty="0">
                    <a:latin typeface="Times New Roman" panose="02020603050405020304" pitchFamily="18" charset="0"/>
                    <a:cs typeface="Times New Roman" panose="02020603050405020304" pitchFamily="18" charset="0"/>
                  </a:rPr>
                  <a:t> index[max],</a:t>
                </a:r>
                <a:r>
                  <a:rPr lang="en-US" altLang="zh-CN" sz="1800" dirty="0" err="1">
                    <a:latin typeface="Times New Roman" panose="02020603050405020304" pitchFamily="18" charset="0"/>
                    <a:cs typeface="Times New Roman" panose="02020603050405020304" pitchFamily="18" charset="0"/>
                  </a:rPr>
                  <a:t>KeyType</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key,int</a:t>
                </a:r>
                <a:r>
                  <a:rPr lang="en-US" altLang="zh-CN" sz="1800" dirty="0">
                    <a:latin typeface="Times New Roman" panose="02020603050405020304" pitchFamily="18" charset="0"/>
                    <a:cs typeface="Times New Roman" panose="02020603050405020304" pitchFamily="18" charset="0"/>
                  </a:rPr>
                  <a:t> b){</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分块查找值等于</a:t>
                </a:r>
                <a:r>
                  <a:rPr lang="en-US" altLang="zh-CN" sz="1800" dirty="0">
                    <a:latin typeface="Times New Roman" panose="02020603050405020304" pitchFamily="18" charset="0"/>
                    <a:cs typeface="Times New Roman" panose="02020603050405020304" pitchFamily="18" charset="0"/>
                  </a:rPr>
                  <a:t>key</a:t>
                </a:r>
                <a:r>
                  <a:rPr lang="zh-CN" altLang="zh-CN" sz="1800" dirty="0">
                    <a:latin typeface="Times New Roman" panose="02020603050405020304" pitchFamily="18" charset="0"/>
                    <a:cs typeface="Times New Roman" panose="02020603050405020304" pitchFamily="18" charset="0"/>
                  </a:rPr>
                  <a:t>的关键字，</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为块数</a:t>
                </a: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low=0,high=b-1,mid,i,s;</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if(</a:t>
                </a:r>
                <a:r>
                  <a:rPr lang="en-US" altLang="zh-CN" sz="1800" dirty="0" err="1">
                    <a:latin typeface="Times New Roman" panose="02020603050405020304" pitchFamily="18" charset="0"/>
                    <a:cs typeface="Times New Roman" panose="02020603050405020304" pitchFamily="18" charset="0"/>
                  </a:rPr>
                  <a:t>length%b</a:t>
                </a:r>
                <a:r>
                  <a:rPr lang="en-US" altLang="zh-CN" sz="1800" dirty="0">
                    <a:latin typeface="Times New Roman" panose="02020603050405020304" pitchFamily="18" charset="0"/>
                    <a:cs typeface="Times New Roman" panose="02020603050405020304" pitchFamily="18" charset="0"/>
                  </a:rPr>
                  <a:t>==0) s=length/b;    //</a:t>
                </a:r>
                <a14:m>
                  <m:oMath xmlns:m="http://schemas.openxmlformats.org/officeDocument/2006/math">
                    <m:r>
                      <m:rPr>
                        <m:sty m:val="p"/>
                      </m:rPr>
                      <a:rPr lang="en-US" altLang="zh-CN" sz="1800">
                        <a:latin typeface="Cambria Math" panose="02040503050406030204" pitchFamily="18" charset="0"/>
                      </a:rPr>
                      <m:t>s</m:t>
                    </m:r>
                    <m:r>
                      <a:rPr lang="en-US" altLang="zh-CN" sz="1800">
                        <a:latin typeface="Cambria Math" panose="02040503050406030204" pitchFamily="18" charset="0"/>
                      </a:rPr>
                      <m:t>=</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length</m:t>
                        </m:r>
                        <m:r>
                          <a:rPr lang="en-US" altLang="zh-CN" sz="1800">
                            <a:latin typeface="Cambria Math" panose="02040503050406030204" pitchFamily="18" charset="0"/>
                          </a:rPr>
                          <m:t>/</m:t>
                        </m:r>
                        <m:r>
                          <m:rPr>
                            <m:sty m:val="p"/>
                          </m:rPr>
                          <a:rPr lang="en-US" altLang="zh-CN" sz="1800">
                            <a:latin typeface="Cambria Math" panose="02040503050406030204" pitchFamily="18" charset="0"/>
                          </a:rPr>
                          <m:t>b</m:t>
                        </m:r>
                      </m:e>
                    </m:d>
                  </m:oMath>
                </a14:m>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else s=length/b+1;</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15566"/>
                <a:ext cx="7488832" cy="3507876"/>
              </a:xfrm>
              <a:blipFill>
                <a:blip r:embed="rId2"/>
                <a:stretch>
                  <a:fillRect l="-976" t="-1736"/>
                </a:stretch>
              </a:blipFill>
            </p:spPr>
            <p:txBody>
              <a:bodyPr/>
              <a:lstStyle/>
              <a:p>
                <a:r>
                  <a:rPr lang="zh-CN" altLang="en-US">
                    <a:noFill/>
                  </a:rPr>
                  <a:t> </a:t>
                </a:r>
              </a:p>
            </p:txBody>
          </p:sp>
        </mc:Fallback>
      </mc:AlternateContent>
      <p:sp>
        <p:nvSpPr>
          <p:cNvPr id="4" name="文本框 3"/>
          <p:cNvSpPr txBox="1"/>
          <p:nvPr/>
        </p:nvSpPr>
        <p:spPr>
          <a:xfrm>
            <a:off x="3311352" y="515567"/>
            <a:ext cx="5653136" cy="4201728"/>
          </a:xfrm>
          <a:prstGeom prst="rect">
            <a:avLst/>
          </a:prstGeom>
          <a:solidFill>
            <a:schemeClr val="accent2"/>
          </a:solidFill>
        </p:spPr>
        <p:txBody>
          <a:bodyPr wrap="square" rtlCol="0">
            <a:spAutoFit/>
          </a:bodyPr>
          <a:lstStyle/>
          <a:p>
            <a:pPr>
              <a:lnSpc>
                <a:spcPts val="2300"/>
              </a:lnSpc>
              <a:spcBef>
                <a:spcPts val="0"/>
              </a:spcBef>
            </a:pPr>
            <a:r>
              <a:rPr lang="en-US" altLang="zh-CN" dirty="0">
                <a:latin typeface="Times New Roman" panose="02020603050405020304" pitchFamily="18" charset="0"/>
                <a:cs typeface="Times New Roman" panose="02020603050405020304" pitchFamily="18" charset="0"/>
              </a:rPr>
              <a:t>     while(low&lt;=high){</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mid=(</a:t>
            </a:r>
            <a:r>
              <a:rPr lang="en-US" altLang="zh-CN" dirty="0" err="1">
                <a:latin typeface="Times New Roman" panose="02020603050405020304" pitchFamily="18" charset="0"/>
                <a:cs typeface="Times New Roman" panose="02020603050405020304" pitchFamily="18" charset="0"/>
              </a:rPr>
              <a:t>low+high</a:t>
            </a:r>
            <a:r>
              <a:rPr lang="en-US" altLang="zh-CN" dirty="0">
                <a:latin typeface="Times New Roman" panose="02020603050405020304" pitchFamily="18" charset="0"/>
                <a:cs typeface="Times New Roman" panose="02020603050405020304" pitchFamily="18" charset="0"/>
              </a:rPr>
              <a:t>)/2;</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if(index[mid].key&gt;=key) high=mid-1;</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else low=mid+1;</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在索引表的</a:t>
            </a:r>
            <a:r>
              <a:rPr lang="en-US" altLang="zh-CN" sz="1600" dirty="0">
                <a:latin typeface="Times New Roman" panose="02020603050405020304" pitchFamily="18" charset="0"/>
                <a:cs typeface="Times New Roman" panose="02020603050405020304" pitchFamily="18" charset="0"/>
              </a:rPr>
              <a:t>high+1</a:t>
            </a:r>
            <a:r>
              <a:rPr lang="zh-CN" altLang="zh-CN" sz="1600" dirty="0">
                <a:latin typeface="Times New Roman" panose="02020603050405020304" pitchFamily="18" charset="0"/>
                <a:cs typeface="Times New Roman" panose="02020603050405020304" pitchFamily="18" charset="0"/>
              </a:rPr>
              <a:t>块对应的线性表中顺序查找</a:t>
            </a:r>
            <a:r>
              <a:rPr lang="en-US" altLang="zh-CN" sz="1600" dirty="0">
                <a:latin typeface="Times New Roman" panose="02020603050405020304" pitchFamily="18" charset="0"/>
                <a:cs typeface="Times New Roman" panose="02020603050405020304" pitchFamily="18" charset="0"/>
              </a:rPr>
              <a:t>key</a:t>
            </a:r>
            <a:endParaRPr lang="zh-CN" altLang="zh-CN" sz="1600"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=index[high+1].link;</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while(</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&lt;=index[high+1].link+s-1&amp;&amp;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&lt;=length</a:t>
            </a: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&amp;&amp;</a:t>
            </a:r>
            <a:r>
              <a:rPr lang="en-US" altLang="zh-CN" dirty="0" err="1">
                <a:latin typeface="Times New Roman" panose="02020603050405020304" pitchFamily="18" charset="0"/>
                <a:cs typeface="Times New Roman" panose="02020603050405020304" pitchFamily="18" charset="0"/>
              </a:rPr>
              <a:t>elem</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].key!=key)</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if(</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&lt;=index[high+1].link+s-1 &amp;&amp;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&lt;=length)</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return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查找成功，返回该元素下标</a:t>
            </a:r>
          </a:p>
          <a:p>
            <a:pPr>
              <a:lnSpc>
                <a:spcPts val="2300"/>
              </a:lnSpc>
              <a:spcBef>
                <a:spcPts val="0"/>
              </a:spcBef>
            </a:pPr>
            <a:r>
              <a:rPr lang="en-US" altLang="zh-CN" dirty="0">
                <a:latin typeface="Times New Roman" panose="02020603050405020304" pitchFamily="18" charset="0"/>
                <a:cs typeface="Times New Roman" panose="02020603050405020304" pitchFamily="18" charset="0"/>
              </a:rPr>
              <a:t>       else return 0;                 //</a:t>
            </a:r>
            <a:r>
              <a:rPr lang="zh-CN" altLang="zh-CN" dirty="0">
                <a:latin typeface="Times New Roman" panose="02020603050405020304" pitchFamily="18" charset="0"/>
                <a:cs typeface="Times New Roman" panose="02020603050405020304" pitchFamily="18" charset="0"/>
              </a:rPr>
              <a:t>查找失败，返回</a:t>
            </a:r>
            <a:r>
              <a:rPr lang="en-US" altLang="zh-CN" dirty="0">
                <a:latin typeface="Times New Roman" panose="02020603050405020304" pitchFamily="18" charset="0"/>
                <a:cs typeface="Times New Roman" panose="02020603050405020304" pitchFamily="18" charset="0"/>
              </a:rPr>
              <a:t>0</a:t>
            </a:r>
            <a:endParaRPr lang="zh-CN" altLang="zh-CN"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latin typeface="Times New Roman" panose="02020603050405020304" pitchFamily="18" charset="0"/>
                <a:cs typeface="Times New Roman" panose="02020603050405020304" pitchFamily="18" charset="0"/>
              </a:rPr>
              <a:t>}</a:t>
            </a:r>
            <a:endParaRPr lang="zh-CN" altLang="en-US" dirty="0"/>
          </a:p>
        </p:txBody>
      </p:sp>
      <p:sp>
        <p:nvSpPr>
          <p:cNvPr id="5" name="文本框 4"/>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分块查找算法</a:t>
            </a:r>
          </a:p>
        </p:txBody>
      </p:sp>
    </p:spTree>
    <p:extLst>
      <p:ext uri="{BB962C8B-B14F-4D97-AF65-F5344CB8AC3E}">
        <p14:creationId xmlns:p14="http://schemas.microsoft.com/office/powerpoint/2010/main" val="189235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1000"/>
                                        <p:tgtEl>
                                          <p:spTgt spid="4"/>
                                        </p:tgtEl>
                                      </p:cBhvr>
                                    </p:animEffect>
                                    <p:anim calcmode="lin" valueType="num">
                                      <p:cBhvr>
                                        <p:cTn id="80" dur="1000" fill="hold"/>
                                        <p:tgtEl>
                                          <p:spTgt spid="4"/>
                                        </p:tgtEl>
                                        <p:attrNameLst>
                                          <p:attrName>ppt_x</p:attrName>
                                        </p:attrNameLst>
                                      </p:cBhvr>
                                      <p:tavLst>
                                        <p:tav tm="0">
                                          <p:val>
                                            <p:strVal val="#ppt_x"/>
                                          </p:val>
                                        </p:tav>
                                        <p:tav tm="100000">
                                          <p:val>
                                            <p:strVal val="#ppt_x"/>
                                          </p:val>
                                        </p:tav>
                                      </p:tavLst>
                                    </p:anim>
                                    <p:anim calcmode="lin" valueType="num">
                                      <p:cBhvr>
                                        <p:cTn id="8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4">
                                            <p:txEl>
                                              <p:pRg st="0" end="0"/>
                                            </p:txEl>
                                          </p:spTgt>
                                        </p:tgtEl>
                                        <p:attrNameLst>
                                          <p:attrName>style.visibility</p:attrName>
                                        </p:attrNameLst>
                                      </p:cBhvr>
                                      <p:to>
                                        <p:strVal val="visible"/>
                                      </p:to>
                                    </p:set>
                                    <p:anim calcmode="lin" valueType="num">
                                      <p:cBhvr additive="base">
                                        <p:cTn id="86"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4">
                                            <p:txEl>
                                              <p:pRg st="1" end="1"/>
                                            </p:txEl>
                                          </p:spTgt>
                                        </p:tgtEl>
                                        <p:attrNameLst>
                                          <p:attrName>style.visibility</p:attrName>
                                        </p:attrNameLst>
                                      </p:cBhvr>
                                      <p:to>
                                        <p:strVal val="visible"/>
                                      </p:to>
                                    </p:set>
                                    <p:anim calcmode="lin" valueType="num">
                                      <p:cBhvr additive="base">
                                        <p:cTn id="92"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2" end="2"/>
                                            </p:txEl>
                                          </p:spTgt>
                                        </p:tgtEl>
                                        <p:attrNameLst>
                                          <p:attrName>style.visibility</p:attrName>
                                        </p:attrNameLst>
                                      </p:cBhvr>
                                      <p:to>
                                        <p:strVal val="visible"/>
                                      </p:to>
                                    </p:set>
                                    <p:animEffect transition="in" filter="fade">
                                      <p:cBhvr>
                                        <p:cTn id="98" dur="1000"/>
                                        <p:tgtEl>
                                          <p:spTgt spid="4">
                                            <p:txEl>
                                              <p:pRg st="2" end="2"/>
                                            </p:txEl>
                                          </p:spTgt>
                                        </p:tgtEl>
                                      </p:cBhvr>
                                    </p:animEffect>
                                    <p:anim calcmode="lin" valueType="num">
                                      <p:cBhvr>
                                        <p:cTn id="9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3" end="3"/>
                                            </p:txEl>
                                          </p:spTgt>
                                        </p:tgtEl>
                                        <p:attrNameLst>
                                          <p:attrName>style.visibility</p:attrName>
                                        </p:attrNameLst>
                                      </p:cBhvr>
                                      <p:to>
                                        <p:strVal val="visible"/>
                                      </p:to>
                                    </p:set>
                                    <p:animEffect transition="in" filter="fade">
                                      <p:cBhvr>
                                        <p:cTn id="105" dur="1000"/>
                                        <p:tgtEl>
                                          <p:spTgt spid="4">
                                            <p:txEl>
                                              <p:pRg st="3" end="3"/>
                                            </p:txEl>
                                          </p:spTgt>
                                        </p:tgtEl>
                                      </p:cBhvr>
                                    </p:animEffect>
                                    <p:anim calcmode="lin" valueType="num">
                                      <p:cBhvr>
                                        <p:cTn id="10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4" end="4"/>
                                            </p:txEl>
                                          </p:spTgt>
                                        </p:tgtEl>
                                        <p:attrNameLst>
                                          <p:attrName>style.visibility</p:attrName>
                                        </p:attrNameLst>
                                      </p:cBhvr>
                                      <p:to>
                                        <p:strVal val="visible"/>
                                      </p:to>
                                    </p:set>
                                    <p:animEffect transition="in" filter="fade">
                                      <p:cBhvr>
                                        <p:cTn id="110" dur="1000"/>
                                        <p:tgtEl>
                                          <p:spTgt spid="4">
                                            <p:txEl>
                                              <p:pRg st="4" end="4"/>
                                            </p:txEl>
                                          </p:spTgt>
                                        </p:tgtEl>
                                      </p:cBhvr>
                                    </p:animEffect>
                                    <p:anim calcmode="lin" valueType="num">
                                      <p:cBhvr>
                                        <p:cTn id="11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4">
                                            <p:txEl>
                                              <p:pRg st="5" end="5"/>
                                            </p:txEl>
                                          </p:spTgt>
                                        </p:tgtEl>
                                        <p:attrNameLst>
                                          <p:attrName>style.visibility</p:attrName>
                                        </p:attrNameLst>
                                      </p:cBhvr>
                                      <p:to>
                                        <p:strVal val="visible"/>
                                      </p:to>
                                    </p:set>
                                    <p:animEffect transition="in" filter="fade">
                                      <p:cBhvr>
                                        <p:cTn id="117" dur="1000"/>
                                        <p:tgtEl>
                                          <p:spTgt spid="4">
                                            <p:txEl>
                                              <p:pRg st="5" end="5"/>
                                            </p:txEl>
                                          </p:spTgt>
                                        </p:tgtEl>
                                      </p:cBhvr>
                                    </p:animEffect>
                                    <p:anim calcmode="lin" valueType="num">
                                      <p:cBhvr>
                                        <p:cTn id="11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1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42" presetClass="entr" presetSubtype="0" fill="hold" nodeType="clickEffect">
                                  <p:stCondLst>
                                    <p:cond delay="0"/>
                                  </p:stCondLst>
                                  <p:childTnLst>
                                    <p:set>
                                      <p:cBhvr>
                                        <p:cTn id="123" dur="1" fill="hold">
                                          <p:stCondLst>
                                            <p:cond delay="0"/>
                                          </p:stCondLst>
                                        </p:cTn>
                                        <p:tgtEl>
                                          <p:spTgt spid="4">
                                            <p:txEl>
                                              <p:pRg st="6" end="6"/>
                                            </p:txEl>
                                          </p:spTgt>
                                        </p:tgtEl>
                                        <p:attrNameLst>
                                          <p:attrName>style.visibility</p:attrName>
                                        </p:attrNameLst>
                                      </p:cBhvr>
                                      <p:to>
                                        <p:strVal val="visible"/>
                                      </p:to>
                                    </p:set>
                                    <p:animEffect transition="in" filter="fade">
                                      <p:cBhvr>
                                        <p:cTn id="124" dur="1000"/>
                                        <p:tgtEl>
                                          <p:spTgt spid="4">
                                            <p:txEl>
                                              <p:pRg st="6" end="6"/>
                                            </p:txEl>
                                          </p:spTgt>
                                        </p:tgtEl>
                                      </p:cBhvr>
                                    </p:animEffect>
                                    <p:anim calcmode="lin" valueType="num">
                                      <p:cBhvr>
                                        <p:cTn id="125"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26"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42" presetClass="entr" presetSubtype="0" fill="hold" nodeType="clickEffect">
                                  <p:stCondLst>
                                    <p:cond delay="0"/>
                                  </p:stCondLst>
                                  <p:childTnLst>
                                    <p:set>
                                      <p:cBhvr>
                                        <p:cTn id="130" dur="1" fill="hold">
                                          <p:stCondLst>
                                            <p:cond delay="0"/>
                                          </p:stCondLst>
                                        </p:cTn>
                                        <p:tgtEl>
                                          <p:spTgt spid="4">
                                            <p:txEl>
                                              <p:pRg st="7" end="7"/>
                                            </p:txEl>
                                          </p:spTgt>
                                        </p:tgtEl>
                                        <p:attrNameLst>
                                          <p:attrName>style.visibility</p:attrName>
                                        </p:attrNameLst>
                                      </p:cBhvr>
                                      <p:to>
                                        <p:strVal val="visible"/>
                                      </p:to>
                                    </p:set>
                                    <p:animEffect transition="in" filter="fade">
                                      <p:cBhvr>
                                        <p:cTn id="131" dur="1000"/>
                                        <p:tgtEl>
                                          <p:spTgt spid="4">
                                            <p:txEl>
                                              <p:pRg st="7" end="7"/>
                                            </p:txEl>
                                          </p:spTgt>
                                        </p:tgtEl>
                                      </p:cBhvr>
                                    </p:animEffect>
                                    <p:anim calcmode="lin" valueType="num">
                                      <p:cBhvr>
                                        <p:cTn id="13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3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nodeType="clickEffect">
                                  <p:stCondLst>
                                    <p:cond delay="0"/>
                                  </p:stCondLst>
                                  <p:childTnLst>
                                    <p:set>
                                      <p:cBhvr>
                                        <p:cTn id="137" dur="1" fill="hold">
                                          <p:stCondLst>
                                            <p:cond delay="0"/>
                                          </p:stCondLst>
                                        </p:cTn>
                                        <p:tgtEl>
                                          <p:spTgt spid="4">
                                            <p:txEl>
                                              <p:pRg st="8" end="8"/>
                                            </p:txEl>
                                          </p:spTgt>
                                        </p:tgtEl>
                                        <p:attrNameLst>
                                          <p:attrName>style.visibility</p:attrName>
                                        </p:attrNameLst>
                                      </p:cBhvr>
                                      <p:to>
                                        <p:strVal val="visible"/>
                                      </p:to>
                                    </p:set>
                                    <p:animEffect transition="in" filter="fade">
                                      <p:cBhvr>
                                        <p:cTn id="138" dur="1000"/>
                                        <p:tgtEl>
                                          <p:spTgt spid="4">
                                            <p:txEl>
                                              <p:pRg st="8" end="8"/>
                                            </p:txEl>
                                          </p:spTgt>
                                        </p:tgtEl>
                                      </p:cBhvr>
                                    </p:animEffect>
                                    <p:anim calcmode="lin" valueType="num">
                                      <p:cBhvr>
                                        <p:cTn id="13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40"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41" presetID="42" presetClass="entr" presetSubtype="0" fill="hold" nodeType="withEffect">
                                  <p:stCondLst>
                                    <p:cond delay="0"/>
                                  </p:stCondLst>
                                  <p:childTnLst>
                                    <p:set>
                                      <p:cBhvr>
                                        <p:cTn id="142" dur="1" fill="hold">
                                          <p:stCondLst>
                                            <p:cond delay="0"/>
                                          </p:stCondLst>
                                        </p:cTn>
                                        <p:tgtEl>
                                          <p:spTgt spid="4">
                                            <p:txEl>
                                              <p:pRg st="9" end="9"/>
                                            </p:txEl>
                                          </p:spTgt>
                                        </p:tgtEl>
                                        <p:attrNameLst>
                                          <p:attrName>style.visibility</p:attrName>
                                        </p:attrNameLst>
                                      </p:cBhvr>
                                      <p:to>
                                        <p:strVal val="visible"/>
                                      </p:to>
                                    </p:set>
                                    <p:animEffect transition="in" filter="fade">
                                      <p:cBhvr>
                                        <p:cTn id="143" dur="1000"/>
                                        <p:tgtEl>
                                          <p:spTgt spid="4">
                                            <p:txEl>
                                              <p:pRg st="9" end="9"/>
                                            </p:txEl>
                                          </p:spTgt>
                                        </p:tgtEl>
                                      </p:cBhvr>
                                    </p:animEffect>
                                    <p:anim calcmode="lin" valueType="num">
                                      <p:cBhvr>
                                        <p:cTn id="14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4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42" presetClass="entr" presetSubtype="0" fill="hold" nodeType="clickEffect">
                                  <p:stCondLst>
                                    <p:cond delay="0"/>
                                  </p:stCondLst>
                                  <p:childTnLst>
                                    <p:set>
                                      <p:cBhvr>
                                        <p:cTn id="149" dur="1" fill="hold">
                                          <p:stCondLst>
                                            <p:cond delay="0"/>
                                          </p:stCondLst>
                                        </p:cTn>
                                        <p:tgtEl>
                                          <p:spTgt spid="4">
                                            <p:txEl>
                                              <p:pRg st="10" end="10"/>
                                            </p:txEl>
                                          </p:spTgt>
                                        </p:tgtEl>
                                        <p:attrNameLst>
                                          <p:attrName>style.visibility</p:attrName>
                                        </p:attrNameLst>
                                      </p:cBhvr>
                                      <p:to>
                                        <p:strVal val="visible"/>
                                      </p:to>
                                    </p:set>
                                    <p:animEffect transition="in" filter="fade">
                                      <p:cBhvr>
                                        <p:cTn id="150" dur="1000"/>
                                        <p:tgtEl>
                                          <p:spTgt spid="4">
                                            <p:txEl>
                                              <p:pRg st="10" end="10"/>
                                            </p:txEl>
                                          </p:spTgt>
                                        </p:tgtEl>
                                      </p:cBhvr>
                                    </p:animEffect>
                                    <p:anim calcmode="lin" valueType="num">
                                      <p:cBhvr>
                                        <p:cTn id="151"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152"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54" dur="1" fill="hold">
                                          <p:stCondLst>
                                            <p:cond delay="0"/>
                                          </p:stCondLst>
                                        </p:cTn>
                                        <p:tgtEl>
                                          <p:spTgt spid="4">
                                            <p:txEl>
                                              <p:pRg st="11" end="11"/>
                                            </p:txEl>
                                          </p:spTgt>
                                        </p:tgtEl>
                                        <p:attrNameLst>
                                          <p:attrName>style.visibility</p:attrName>
                                        </p:attrNameLst>
                                      </p:cBhvr>
                                      <p:to>
                                        <p:strVal val="visible"/>
                                      </p:to>
                                    </p:set>
                                    <p:animEffect transition="in" filter="fade">
                                      <p:cBhvr>
                                        <p:cTn id="155" dur="1000"/>
                                        <p:tgtEl>
                                          <p:spTgt spid="4">
                                            <p:txEl>
                                              <p:pRg st="11" end="11"/>
                                            </p:txEl>
                                          </p:spTgt>
                                        </p:tgtEl>
                                      </p:cBhvr>
                                    </p:animEffect>
                                    <p:anim calcmode="lin" valueType="num">
                                      <p:cBhvr>
                                        <p:cTn id="156"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157"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42" presetClass="entr" presetSubtype="0" fill="hold" nodeType="clickEffect">
                                  <p:stCondLst>
                                    <p:cond delay="0"/>
                                  </p:stCondLst>
                                  <p:childTnLst>
                                    <p:set>
                                      <p:cBhvr>
                                        <p:cTn id="161" dur="1" fill="hold">
                                          <p:stCondLst>
                                            <p:cond delay="0"/>
                                          </p:stCondLst>
                                        </p:cTn>
                                        <p:tgtEl>
                                          <p:spTgt spid="4">
                                            <p:txEl>
                                              <p:pRg st="12" end="12"/>
                                            </p:txEl>
                                          </p:spTgt>
                                        </p:tgtEl>
                                        <p:attrNameLst>
                                          <p:attrName>style.visibility</p:attrName>
                                        </p:attrNameLst>
                                      </p:cBhvr>
                                      <p:to>
                                        <p:strVal val="visible"/>
                                      </p:to>
                                    </p:set>
                                    <p:animEffect transition="in" filter="fade">
                                      <p:cBhvr>
                                        <p:cTn id="162" dur="1000"/>
                                        <p:tgtEl>
                                          <p:spTgt spid="4">
                                            <p:txEl>
                                              <p:pRg st="12" end="12"/>
                                            </p:txEl>
                                          </p:spTgt>
                                        </p:tgtEl>
                                      </p:cBhvr>
                                    </p:animEffect>
                                    <p:anim calcmode="lin" valueType="num">
                                      <p:cBhvr>
                                        <p:cTn id="163"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164"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4">
                                            <p:txEl>
                                              <p:pRg st="13" end="13"/>
                                            </p:txEl>
                                          </p:spTgt>
                                        </p:tgtEl>
                                        <p:attrNameLst>
                                          <p:attrName>style.visibility</p:attrName>
                                        </p:attrNameLst>
                                      </p:cBhvr>
                                      <p:to>
                                        <p:strVal val="visible"/>
                                      </p:to>
                                    </p:set>
                                    <p:animEffect transition="in" filter="fade">
                                      <p:cBhvr>
                                        <p:cTn id="167" dur="1000"/>
                                        <p:tgtEl>
                                          <p:spTgt spid="4">
                                            <p:txEl>
                                              <p:pRg st="13" end="13"/>
                                            </p:txEl>
                                          </p:spTgt>
                                        </p:tgtEl>
                                      </p:cBhvr>
                                    </p:animEffect>
                                    <p:anim calcmode="lin" valueType="num">
                                      <p:cBhvr>
                                        <p:cTn id="168"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169"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1064124"/>
            <a:ext cx="8928992" cy="3507876"/>
          </a:xfrm>
        </p:spPr>
        <p:txBody>
          <a:bodyPr/>
          <a:lstStyle/>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(1)</a:t>
            </a:r>
            <a:r>
              <a:rPr lang="zh-CN" altLang="en-US" sz="1800" dirty="0">
                <a:latin typeface="Times New Roman" panose="02020603050405020304" pitchFamily="18" charset="0"/>
                <a:cs typeface="Times New Roman" panose="02020603050405020304" pitchFamily="18" charset="0"/>
              </a:rPr>
              <a:t>顺序查找的时间复杂度最差</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二分查找的时间复杂度最好</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分块查找的时间复杂度介于两者之间</a:t>
            </a:r>
            <a:r>
              <a:rPr lang="en-US" altLang="zh-CN" sz="1800" dirty="0">
                <a:latin typeface="Times New Roman" panose="02020603050405020304" pitchFamily="18" charset="0"/>
                <a:cs typeface="Times New Roman" panose="02020603050405020304" pitchFamily="18" charset="0"/>
              </a:rPr>
              <a:t>; </a:t>
            </a:r>
          </a:p>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(2)</a:t>
            </a:r>
            <a:r>
              <a:rPr lang="zh-CN" altLang="en-US" sz="1800" dirty="0">
                <a:latin typeface="Times New Roman" panose="02020603050405020304" pitchFamily="18" charset="0"/>
                <a:cs typeface="Times New Roman" panose="02020603050405020304" pitchFamily="18" charset="0"/>
              </a:rPr>
              <a:t>分块查找需要增加索引数据的空间</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空间复杂度最大</a:t>
            </a:r>
            <a:r>
              <a:rPr lang="en-US" altLang="zh-CN" sz="1800" dirty="0">
                <a:latin typeface="Times New Roman" panose="02020603050405020304" pitchFamily="18" charset="0"/>
                <a:cs typeface="Times New Roman" panose="02020603050405020304" pitchFamily="18" charset="0"/>
              </a:rPr>
              <a:t>;</a:t>
            </a:r>
          </a:p>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(3)</a:t>
            </a:r>
            <a:r>
              <a:rPr lang="zh-CN" altLang="en-US" sz="1800" dirty="0">
                <a:latin typeface="Times New Roman" panose="02020603050405020304" pitchFamily="18" charset="0"/>
                <a:cs typeface="Times New Roman" panose="02020603050405020304" pitchFamily="18" charset="0"/>
              </a:rPr>
              <a:t>顺序查找对表没有特殊要求</a:t>
            </a:r>
            <a:r>
              <a:rPr lang="en-US" altLang="zh-CN" sz="1800" dirty="0">
                <a:latin typeface="Times New Roman" panose="02020603050405020304" pitchFamily="18" charset="0"/>
                <a:cs typeface="Times New Roman" panose="02020603050405020304" pitchFamily="18" charset="0"/>
              </a:rPr>
              <a:t>; </a:t>
            </a:r>
          </a:p>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(4)</a:t>
            </a:r>
            <a:r>
              <a:rPr lang="zh-CN" altLang="en-US" sz="1800" dirty="0">
                <a:latin typeface="Times New Roman" panose="02020603050405020304" pitchFamily="18" charset="0"/>
                <a:cs typeface="Times New Roman" panose="02020603050405020304" pitchFamily="18" charset="0"/>
              </a:rPr>
              <a:t>分块查找的数据块之间在物理上可以不连续</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插入、删除数据只涉及对应的块</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但增加了索引的维护</a:t>
            </a:r>
            <a:r>
              <a:rPr lang="en-US" altLang="zh-CN" sz="1800" dirty="0">
                <a:latin typeface="Times New Roman" panose="02020603050405020304" pitchFamily="18" charset="0"/>
                <a:cs typeface="Times New Roman" panose="02020603050405020304" pitchFamily="18" charset="0"/>
              </a:rPr>
              <a:t>; </a:t>
            </a:r>
          </a:p>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(5)</a:t>
            </a:r>
            <a:r>
              <a:rPr lang="zh-CN" altLang="en-US" sz="1800" dirty="0">
                <a:latin typeface="Times New Roman" panose="02020603050405020304" pitchFamily="18" charset="0"/>
                <a:cs typeface="Times New Roman" panose="02020603050405020304" pitchFamily="18" charset="0"/>
              </a:rPr>
              <a:t>二分查找要求表有序</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若表的元素插入与删除很频繁</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则维持表有序的工作量极大</a:t>
            </a:r>
            <a:r>
              <a:rPr lang="en-US" altLang="zh-CN" sz="1800" dirty="0">
                <a:latin typeface="Times New Roman" panose="02020603050405020304" pitchFamily="18" charset="0"/>
                <a:cs typeface="Times New Roman" panose="02020603050405020304" pitchFamily="18" charset="0"/>
              </a:rPr>
              <a:t>; </a:t>
            </a:r>
          </a:p>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(6)</a:t>
            </a:r>
            <a:r>
              <a:rPr lang="zh-CN" altLang="en-US" sz="1800" dirty="0">
                <a:latin typeface="Times New Roman" panose="02020603050405020304" pitchFamily="18" charset="0"/>
                <a:cs typeface="Times New Roman" panose="02020603050405020304" pitchFamily="18" charset="0"/>
              </a:rPr>
              <a:t>在表不大时</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一般使用顺序查找。</a:t>
            </a:r>
          </a:p>
        </p:txBody>
      </p:sp>
      <p:sp>
        <p:nvSpPr>
          <p:cNvPr id="4" name="文本框 3"/>
          <p:cNvSpPr txBox="1"/>
          <p:nvPr/>
        </p:nvSpPr>
        <p:spPr>
          <a:xfrm>
            <a:off x="611380" y="115457"/>
            <a:ext cx="216042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3</a:t>
            </a:r>
            <a:r>
              <a:rPr lang="zh-CN" altLang="en-US" sz="2000" dirty="0"/>
              <a:t>种算法比较分析</a:t>
            </a:r>
          </a:p>
        </p:txBody>
      </p:sp>
    </p:spTree>
    <p:extLst>
      <p:ext uri="{BB962C8B-B14F-4D97-AF65-F5344CB8AC3E}">
        <p14:creationId xmlns:p14="http://schemas.microsoft.com/office/powerpoint/2010/main" val="362912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动态查找表</a:t>
            </a:r>
          </a:p>
        </p:txBody>
      </p:sp>
      <p:sp>
        <p:nvSpPr>
          <p:cNvPr id="5" name="文本占位符 4"/>
          <p:cNvSpPr>
            <a:spLocks noGrp="1"/>
          </p:cNvSpPr>
          <p:nvPr>
            <p:ph type="body" sz="quarter" idx="11"/>
          </p:nvPr>
        </p:nvSpPr>
        <p:spPr/>
        <p:txBody>
          <a:bodyPr/>
          <a:lstStyle/>
          <a:p>
            <a:r>
              <a:rPr lang="en-US" altLang="zh-CN" dirty="0"/>
              <a:t>03</a:t>
            </a:r>
            <a:endParaRPr lang="zh-CN" altLang="en-US" dirty="0"/>
          </a:p>
        </p:txBody>
      </p:sp>
      <p:sp>
        <p:nvSpPr>
          <p:cNvPr id="2" name="矩形 1"/>
          <p:cNvSpPr/>
          <p:nvPr/>
        </p:nvSpPr>
        <p:spPr>
          <a:xfrm>
            <a:off x="179512" y="4371950"/>
            <a:ext cx="3456384"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7923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55349" y="781308"/>
            <a:ext cx="9108504" cy="1939674"/>
          </a:xfrm>
        </p:spPr>
        <p:txBody>
          <a:bodyPr/>
          <a:lstStyle/>
          <a:p>
            <a:pPr marL="0" indent="0">
              <a:lnSpc>
                <a:spcPts val="2700"/>
              </a:lnSpc>
              <a:spcBef>
                <a:spcPts val="0"/>
              </a:spcBef>
              <a:buNone/>
            </a:pPr>
            <a:r>
              <a:rPr lang="zh-CN" altLang="zh-CN" sz="1800" dirty="0">
                <a:solidFill>
                  <a:srgbClr val="FF0000"/>
                </a:solidFill>
                <a:latin typeface="Times New Roman" panose="02020603050405020304" pitchFamily="18" charset="0"/>
                <a:cs typeface="Times New Roman" panose="02020603050405020304" pitchFamily="18" charset="0"/>
              </a:rPr>
              <a:t>二叉排序树（</a:t>
            </a:r>
            <a:r>
              <a:rPr lang="en-US" altLang="zh-CN" sz="1800" dirty="0">
                <a:solidFill>
                  <a:srgbClr val="FF0000"/>
                </a:solidFill>
                <a:latin typeface="Times New Roman" panose="02020603050405020304" pitchFamily="18" charset="0"/>
                <a:cs typeface="Times New Roman" panose="02020603050405020304" pitchFamily="18" charset="0"/>
              </a:rPr>
              <a:t>Binary Sort Tree</a:t>
            </a:r>
            <a:r>
              <a:rPr lang="zh-CN" altLang="zh-CN" sz="1800" dirty="0">
                <a:solidFill>
                  <a:srgbClr val="FF0000"/>
                </a:solidFill>
                <a:latin typeface="Times New Roman" panose="02020603050405020304" pitchFamily="18" charset="0"/>
                <a:cs typeface="Times New Roman" panose="02020603050405020304" pitchFamily="18" charset="0"/>
              </a:rPr>
              <a:t>，</a:t>
            </a:r>
            <a:r>
              <a:rPr lang="en-US" altLang="zh-CN" sz="1800" dirty="0">
                <a:solidFill>
                  <a:srgbClr val="FF0000"/>
                </a:solidFill>
                <a:latin typeface="Times New Roman" panose="02020603050405020304" pitchFamily="18" charset="0"/>
                <a:cs typeface="Times New Roman" panose="02020603050405020304" pitchFamily="18" charset="0"/>
              </a:rPr>
              <a:t>BST</a:t>
            </a:r>
            <a:r>
              <a:rPr lang="zh-CN" altLang="zh-CN" sz="1800" dirty="0">
                <a:solidFill>
                  <a:srgbClr val="FF0000"/>
                </a:solidFill>
                <a:latin typeface="Times New Roman" panose="02020603050405020304" pitchFamily="18" charset="0"/>
                <a:cs typeface="Times New Roman" panose="02020603050405020304" pitchFamily="18" charset="0"/>
              </a:rPr>
              <a:t>），又称为二叉查找树</a:t>
            </a:r>
            <a:r>
              <a:rPr lang="zh-CN" altLang="zh-CN" sz="1800" dirty="0">
                <a:latin typeface="Times New Roman" panose="02020603050405020304" pitchFamily="18" charset="0"/>
                <a:cs typeface="Times New Roman" panose="02020603050405020304" pitchFamily="18" charset="0"/>
              </a:rPr>
              <a:t>，其或者是一棵空树，或者是满足下列性质的二叉树：</a:t>
            </a:r>
          </a:p>
          <a:p>
            <a:pPr marL="0" indent="0">
              <a:lnSpc>
                <a:spcPts val="27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）若它的左子树不空，则左子树上所有元素的值均小于根结点元素的值；</a:t>
            </a:r>
          </a:p>
          <a:p>
            <a:pPr marL="0" indent="0">
              <a:lnSpc>
                <a:spcPts val="27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）若它的右子树不空，则右子树上所有元素的值均大于根结点元素的值；</a:t>
            </a:r>
          </a:p>
          <a:p>
            <a:pPr marL="0" indent="0">
              <a:lnSpc>
                <a:spcPts val="27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）左右子树分别为二叉排序树。</a:t>
            </a: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103929" y="2525287"/>
            <a:ext cx="5472608" cy="1754326"/>
          </a:xfrm>
          <a:prstGeom prst="rect">
            <a:avLst/>
          </a:prstGeom>
          <a:noFill/>
        </p:spPr>
        <p:txBody>
          <a:bodyPr wrap="square" rtlCol="0">
            <a:spAutoFit/>
          </a:bodyPr>
          <a:lstStyle/>
          <a:p>
            <a:r>
              <a:rPr lang="zh-CN"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上述定义要求查找表中没有相同关键字的数据元素，若查找表中存在关键字相同的数据元素，则可以将（</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）中的</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小于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改为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小于等于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，或将（</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）中的</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大于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改为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大于等于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。本节仅讨论查找表中无相同关键字的数据元素。</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6321360" y="2139702"/>
            <a:ext cx="2088232" cy="1786817"/>
          </a:xfrm>
          <a:prstGeom prst="rect">
            <a:avLst/>
          </a:prstGeom>
        </p:spPr>
      </p:pic>
      <p:sp>
        <p:nvSpPr>
          <p:cNvPr id="8" name="文本框 7"/>
          <p:cNvSpPr txBox="1"/>
          <p:nvPr/>
        </p:nvSpPr>
        <p:spPr>
          <a:xfrm>
            <a:off x="78469" y="3926519"/>
            <a:ext cx="8138337" cy="923330"/>
          </a:xfrm>
          <a:prstGeom prst="rect">
            <a:avLst/>
          </a:prstGeom>
          <a:noFill/>
        </p:spPr>
        <p:txBody>
          <a:bodyPr wrap="square" rtlCol="0">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     二叉排序树如图所示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根据二叉排序树的定义可知</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对二叉排序树进行</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中序遍历</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可以得到一个</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有序序列</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因此对于任意一个关键字序列构造一棵二叉排序树</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其实质是对此关键字序列进行排序</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使其变成有序序列。 </a:t>
            </a:r>
          </a:p>
        </p:txBody>
      </p:sp>
      <p:sp>
        <p:nvSpPr>
          <p:cNvPr id="7" name="文本框 6"/>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a:t>
            </a:r>
          </a:p>
        </p:txBody>
      </p:sp>
    </p:spTree>
    <p:extLst>
      <p:ext uri="{BB962C8B-B14F-4D97-AF65-F5344CB8AC3E}">
        <p14:creationId xmlns:p14="http://schemas.microsoft.com/office/powerpoint/2010/main" val="22575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0" y="987574"/>
            <a:ext cx="8532440" cy="3507876"/>
          </a:xfrm>
        </p:spPr>
        <p:txBody>
          <a:bodyPr/>
          <a:lstStyle/>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typedef</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struct</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KeyType</a:t>
            </a:r>
            <a:r>
              <a:rPr lang="en-US" altLang="zh-CN" sz="1800" dirty="0">
                <a:latin typeface="Times New Roman" panose="02020603050405020304" pitchFamily="18" charset="0"/>
                <a:cs typeface="Times New Roman" panose="02020603050405020304" pitchFamily="18" charset="0"/>
              </a:rPr>
              <a:t> key;     //</a:t>
            </a:r>
            <a:r>
              <a:rPr lang="en-US" altLang="zh-CN" sz="1800" dirty="0" err="1">
                <a:latin typeface="Times New Roman" panose="02020603050405020304" pitchFamily="18" charset="0"/>
                <a:cs typeface="Times New Roman" panose="02020603050405020304" pitchFamily="18" charset="0"/>
              </a:rPr>
              <a:t>KeyType</a:t>
            </a:r>
            <a:r>
              <a:rPr lang="zh-CN" altLang="zh-CN" sz="1800" dirty="0">
                <a:latin typeface="Times New Roman" panose="02020603050405020304" pitchFamily="18" charset="0"/>
                <a:cs typeface="Times New Roman" panose="02020603050405020304" pitchFamily="18" charset="0"/>
              </a:rPr>
              <a:t>为关键字数据类型</a:t>
            </a: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InfoType</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otherinfo</a:t>
            </a: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其他域</a:t>
            </a: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DElemType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err="1">
                <a:latin typeface="Times New Roman" panose="02020603050405020304" pitchFamily="18" charset="0"/>
                <a:cs typeface="Times New Roman" panose="02020603050405020304" pitchFamily="18" charset="0"/>
              </a:rPr>
              <a:t>typedef</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struct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DElemType</a:t>
            </a:r>
            <a:r>
              <a:rPr lang="en-US" altLang="zh-CN" sz="1800" dirty="0">
                <a:latin typeface="Times New Roman" panose="02020603050405020304" pitchFamily="18" charset="0"/>
                <a:cs typeface="Times New Roman" panose="02020603050405020304" pitchFamily="18" charset="0"/>
              </a:rPr>
              <a:t> data;   </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lchild</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rchild</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class </a:t>
            </a:r>
            <a:r>
              <a:rPr lang="en-US" altLang="zh-CN" sz="1800" dirty="0" err="1">
                <a:latin typeface="Times New Roman" panose="02020603050405020304" pitchFamily="18" charset="0"/>
                <a:cs typeface="Times New Roman" panose="02020603050405020304" pitchFamily="18" charset="0"/>
              </a:rPr>
              <a:t>BsTree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private:</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bst</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void Insert(</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 *&amp;</a:t>
            </a:r>
            <a:r>
              <a:rPr lang="en-US" altLang="zh-CN" sz="1800" dirty="0" err="1">
                <a:latin typeface="Times New Roman" panose="02020603050405020304" pitchFamily="18" charset="0"/>
                <a:cs typeface="Times New Roman" panose="02020603050405020304" pitchFamily="18" charset="0"/>
              </a:rPr>
              <a:t>t,DElemType</a:t>
            </a:r>
            <a:r>
              <a:rPr lang="en-US" altLang="zh-CN" sz="1800" dirty="0">
                <a:latin typeface="Times New Roman" panose="02020603050405020304" pitchFamily="18" charset="0"/>
                <a:cs typeface="Times New Roman" panose="02020603050405020304" pitchFamily="18" charset="0"/>
              </a:rPr>
              <a:t> e);     //</a:t>
            </a:r>
            <a:r>
              <a:rPr lang="zh-CN" altLang="zh-CN" sz="1800" dirty="0">
                <a:latin typeface="Times New Roman" panose="02020603050405020304" pitchFamily="18" charset="0"/>
                <a:cs typeface="Times New Roman" panose="02020603050405020304" pitchFamily="18" charset="0"/>
              </a:rPr>
              <a:t>二叉排序树中递归插入一个结点</a:t>
            </a: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 *Search(</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 *t, </a:t>
            </a:r>
            <a:r>
              <a:rPr lang="en-US" altLang="zh-CN" sz="1800" dirty="0" err="1">
                <a:latin typeface="Times New Roman" panose="02020603050405020304" pitchFamily="18" charset="0"/>
                <a:cs typeface="Times New Roman" panose="02020603050405020304" pitchFamily="18" charset="0"/>
              </a:rPr>
              <a:t>KeyType</a:t>
            </a:r>
            <a:r>
              <a:rPr lang="en-US" altLang="zh-CN" sz="1800" dirty="0">
                <a:latin typeface="Times New Roman" panose="02020603050405020304" pitchFamily="18" charset="0"/>
                <a:cs typeface="Times New Roman" panose="02020603050405020304" pitchFamily="18" charset="0"/>
              </a:rPr>
              <a:t> key); //</a:t>
            </a:r>
            <a:r>
              <a:rPr lang="zh-CN" altLang="zh-CN" sz="1800" dirty="0">
                <a:latin typeface="Times New Roman" panose="02020603050405020304" pitchFamily="18" charset="0"/>
                <a:cs typeface="Times New Roman" panose="02020603050405020304" pitchFamily="18" charset="0"/>
              </a:rPr>
              <a:t>递归查找关键字</a:t>
            </a:r>
            <a:r>
              <a:rPr lang="en-US" altLang="zh-CN" sz="1800" dirty="0">
                <a:latin typeface="Times New Roman" panose="02020603050405020304" pitchFamily="18" charset="0"/>
                <a:cs typeface="Times New Roman" panose="02020603050405020304" pitchFamily="18" charset="0"/>
              </a:rPr>
              <a:t>key</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635896" y="843558"/>
            <a:ext cx="5400600" cy="3631763"/>
          </a:xfrm>
          <a:prstGeom prst="rect">
            <a:avLst/>
          </a:prstGeom>
          <a:solidFill>
            <a:schemeClr val="accent2"/>
          </a:solidFill>
        </p:spPr>
        <p:txBody>
          <a:bodyPr wrap="square" rtlCol="0">
            <a:spAutoFit/>
          </a:bodyPr>
          <a:lstStyle/>
          <a:p>
            <a:r>
              <a:rPr lang="en-US" altLang="zh-CN" dirty="0"/>
              <a:t>    public:</a:t>
            </a:r>
            <a:endParaRPr lang="zh-CN" altLang="zh-CN" dirty="0"/>
          </a:p>
          <a:p>
            <a:r>
              <a:rPr lang="en-US" altLang="zh-CN" dirty="0"/>
              <a:t>       </a:t>
            </a:r>
            <a:r>
              <a:rPr lang="en-US" altLang="zh-CN" dirty="0" err="1"/>
              <a:t>BsTree</a:t>
            </a:r>
            <a:r>
              <a:rPr lang="en-US" altLang="zh-CN" dirty="0"/>
              <a:t>(){</a:t>
            </a:r>
            <a:r>
              <a:rPr lang="en-US" altLang="zh-CN" dirty="0" err="1"/>
              <a:t>bst</a:t>
            </a:r>
            <a:r>
              <a:rPr lang="en-US" altLang="zh-CN" dirty="0"/>
              <a:t>=NULL;}; </a:t>
            </a:r>
            <a:r>
              <a:rPr lang="en-US" altLang="zh-CN" sz="1400" dirty="0"/>
              <a:t>//</a:t>
            </a:r>
            <a:r>
              <a:rPr lang="zh-CN" altLang="zh-CN" sz="1400" dirty="0"/>
              <a:t>构造函数，创建空二叉排序树</a:t>
            </a:r>
          </a:p>
          <a:p>
            <a:r>
              <a:rPr lang="en-US" altLang="zh-CN" dirty="0"/>
              <a:t>       </a:t>
            </a:r>
            <a:r>
              <a:rPr lang="en-US" altLang="zh-CN" dirty="0" err="1"/>
              <a:t>BstNode</a:t>
            </a:r>
            <a:r>
              <a:rPr lang="en-US" altLang="zh-CN" dirty="0"/>
              <a:t> *</a:t>
            </a:r>
            <a:r>
              <a:rPr lang="en-US" altLang="zh-CN" dirty="0" err="1"/>
              <a:t>SearchBST</a:t>
            </a:r>
            <a:r>
              <a:rPr lang="en-US" altLang="zh-CN" dirty="0"/>
              <a:t>(</a:t>
            </a:r>
            <a:r>
              <a:rPr lang="en-US" altLang="zh-CN" dirty="0" err="1"/>
              <a:t>KeyType</a:t>
            </a:r>
            <a:r>
              <a:rPr lang="en-US" altLang="zh-CN" dirty="0"/>
              <a:t> key);   </a:t>
            </a:r>
          </a:p>
          <a:p>
            <a:r>
              <a:rPr lang="en-US" altLang="zh-CN" dirty="0"/>
              <a:t>        //</a:t>
            </a:r>
            <a:r>
              <a:rPr lang="zh-CN" altLang="zh-CN" dirty="0"/>
              <a:t>查找关键字值等于</a:t>
            </a:r>
            <a:r>
              <a:rPr lang="en-US" altLang="zh-CN" dirty="0"/>
              <a:t>key</a:t>
            </a:r>
            <a:r>
              <a:rPr lang="zh-CN" altLang="zh-CN" dirty="0"/>
              <a:t>的结点</a:t>
            </a:r>
          </a:p>
          <a:p>
            <a:r>
              <a:rPr lang="en-US" altLang="zh-CN" dirty="0"/>
              <a:t>       void </a:t>
            </a:r>
            <a:r>
              <a:rPr lang="en-US" altLang="zh-CN" dirty="0" err="1"/>
              <a:t>InsertBST</a:t>
            </a:r>
            <a:r>
              <a:rPr lang="en-US" altLang="zh-CN" dirty="0"/>
              <a:t>(</a:t>
            </a:r>
            <a:r>
              <a:rPr lang="en-US" altLang="zh-CN" dirty="0" err="1"/>
              <a:t>DElemType</a:t>
            </a:r>
            <a:r>
              <a:rPr lang="en-US" altLang="zh-CN" dirty="0"/>
              <a:t> e);        </a:t>
            </a:r>
          </a:p>
          <a:p>
            <a:r>
              <a:rPr lang="en-US" altLang="zh-CN" dirty="0"/>
              <a:t>      //</a:t>
            </a:r>
            <a:r>
              <a:rPr lang="zh-CN" altLang="zh-CN" dirty="0"/>
              <a:t>递归创建的二叉排序树传递给私有成员</a:t>
            </a:r>
          </a:p>
          <a:p>
            <a:r>
              <a:rPr lang="en-US" altLang="zh-CN" dirty="0"/>
              <a:t>       void </a:t>
            </a:r>
            <a:r>
              <a:rPr lang="en-US" altLang="zh-CN" dirty="0" err="1"/>
              <a:t>CreateBiTree</a:t>
            </a:r>
            <a:r>
              <a:rPr lang="en-US" altLang="zh-CN" dirty="0"/>
              <a:t>(</a:t>
            </a:r>
            <a:r>
              <a:rPr lang="en-US" altLang="zh-CN" dirty="0" err="1"/>
              <a:t>DElemType</a:t>
            </a:r>
            <a:r>
              <a:rPr lang="en-US" altLang="zh-CN" dirty="0"/>
              <a:t> d[ ],</a:t>
            </a:r>
            <a:r>
              <a:rPr lang="en-US" altLang="zh-CN" dirty="0" err="1"/>
              <a:t>int</a:t>
            </a:r>
            <a:r>
              <a:rPr lang="en-US" altLang="zh-CN" dirty="0"/>
              <a:t> n); </a:t>
            </a:r>
          </a:p>
          <a:p>
            <a:r>
              <a:rPr lang="en-US" altLang="zh-CN" dirty="0"/>
              <a:t>       //</a:t>
            </a:r>
            <a:r>
              <a:rPr lang="zh-CN" altLang="zh-CN" dirty="0"/>
              <a:t>生成二叉排序树，</a:t>
            </a:r>
            <a:r>
              <a:rPr lang="en-US" altLang="zh-CN" dirty="0"/>
              <a:t>n</a:t>
            </a:r>
            <a:r>
              <a:rPr lang="zh-CN" altLang="zh-CN" dirty="0"/>
              <a:t>个数据在数组</a:t>
            </a:r>
            <a:r>
              <a:rPr lang="en-US" altLang="zh-CN" dirty="0"/>
              <a:t>d</a:t>
            </a:r>
            <a:r>
              <a:rPr lang="zh-CN" altLang="zh-CN" dirty="0"/>
              <a:t>中</a:t>
            </a:r>
          </a:p>
          <a:p>
            <a:r>
              <a:rPr lang="en-US" altLang="zh-CN" dirty="0"/>
              <a:t>       void </a:t>
            </a:r>
            <a:r>
              <a:rPr lang="en-US" altLang="zh-CN" dirty="0" err="1"/>
              <a:t>DeleteBst</a:t>
            </a:r>
            <a:r>
              <a:rPr lang="en-US" altLang="zh-CN" dirty="0"/>
              <a:t>(</a:t>
            </a:r>
            <a:r>
              <a:rPr lang="en-US" altLang="zh-CN" dirty="0" err="1"/>
              <a:t>BstNode</a:t>
            </a:r>
            <a:r>
              <a:rPr lang="en-US" altLang="zh-CN" dirty="0"/>
              <a:t> *&amp;t, </a:t>
            </a:r>
            <a:r>
              <a:rPr lang="en-US" altLang="zh-CN" dirty="0" err="1"/>
              <a:t>DElemType</a:t>
            </a:r>
            <a:r>
              <a:rPr lang="en-US" altLang="zh-CN" dirty="0"/>
              <a:t> e);</a:t>
            </a:r>
          </a:p>
          <a:p>
            <a:r>
              <a:rPr lang="en-US" altLang="zh-CN" dirty="0"/>
              <a:t>         //</a:t>
            </a:r>
            <a:r>
              <a:rPr lang="zh-CN" altLang="zh-CN" dirty="0"/>
              <a:t>删除二叉排序树中的一个结点</a:t>
            </a:r>
          </a:p>
          <a:p>
            <a:r>
              <a:rPr lang="en-US" altLang="zh-CN" dirty="0"/>
              <a:t>       void </a:t>
            </a:r>
            <a:r>
              <a:rPr lang="en-US" altLang="zh-CN" dirty="0" err="1"/>
              <a:t>Deletep</a:t>
            </a:r>
            <a:r>
              <a:rPr lang="en-US" altLang="zh-CN" dirty="0"/>
              <a:t>(</a:t>
            </a:r>
            <a:r>
              <a:rPr lang="en-US" altLang="zh-CN" dirty="0" err="1"/>
              <a:t>BstNode</a:t>
            </a:r>
            <a:r>
              <a:rPr lang="en-US" altLang="zh-CN" dirty="0"/>
              <a:t>* &amp;p);   </a:t>
            </a:r>
            <a:endParaRPr lang="zh-CN" altLang="zh-CN" dirty="0"/>
          </a:p>
          <a:p>
            <a:r>
              <a:rPr lang="en-US" altLang="zh-CN" sz="1400" dirty="0"/>
              <a:t>         //</a:t>
            </a:r>
            <a:r>
              <a:rPr lang="zh-CN" altLang="zh-CN" sz="1400" dirty="0"/>
              <a:t>从二叉排序树中删除结点</a:t>
            </a:r>
            <a:r>
              <a:rPr lang="en-US" altLang="zh-CN" sz="1400" dirty="0"/>
              <a:t>p</a:t>
            </a:r>
            <a:r>
              <a:rPr lang="zh-CN" altLang="zh-CN" sz="1400" dirty="0"/>
              <a:t>，并重接它的左子树或右子树</a:t>
            </a:r>
          </a:p>
          <a:p>
            <a:r>
              <a:rPr lang="en-US" altLang="zh-CN" dirty="0"/>
              <a:t>};  </a:t>
            </a:r>
            <a:endParaRPr lang="zh-CN" altLang="zh-CN" dirty="0"/>
          </a:p>
        </p:txBody>
      </p:sp>
      <p:sp>
        <p:nvSpPr>
          <p:cNvPr id="5" name="文本框 4"/>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二叉排序树的类定义</a:t>
            </a:r>
          </a:p>
        </p:txBody>
      </p:sp>
    </p:spTree>
    <p:extLst>
      <p:ext uri="{BB962C8B-B14F-4D97-AF65-F5344CB8AC3E}">
        <p14:creationId xmlns:p14="http://schemas.microsoft.com/office/powerpoint/2010/main" val="353293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
                                        </p:tgtEl>
                                        <p:attrNameLst>
                                          <p:attrName>style.visibility</p:attrName>
                                        </p:attrNameLst>
                                      </p:cBhvr>
                                      <p:to>
                                        <p:strVal val="visible"/>
                                      </p:to>
                                    </p:set>
                                    <p:anim calcmode="lin" valueType="num">
                                      <p:cBhvr additive="base">
                                        <p:cTn id="85" dur="500" fill="hold"/>
                                        <p:tgtEl>
                                          <p:spTgt spid="4"/>
                                        </p:tgtEl>
                                        <p:attrNameLst>
                                          <p:attrName>ppt_x</p:attrName>
                                        </p:attrNameLst>
                                      </p:cBhvr>
                                      <p:tavLst>
                                        <p:tav tm="0">
                                          <p:val>
                                            <p:strVal val="#ppt_x"/>
                                          </p:val>
                                        </p:tav>
                                        <p:tav tm="100000">
                                          <p:val>
                                            <p:strVal val="#ppt_x"/>
                                          </p:val>
                                        </p:tav>
                                      </p:tavLst>
                                    </p:anim>
                                    <p:anim calcmode="lin" valueType="num">
                                      <p:cBhvr additive="base">
                                        <p:cTn id="8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0" end="0"/>
                                            </p:txEl>
                                          </p:spTgt>
                                        </p:tgtEl>
                                        <p:attrNameLst>
                                          <p:attrName>style.visibility</p:attrName>
                                        </p:attrNameLst>
                                      </p:cBhvr>
                                      <p:to>
                                        <p:strVal val="visible"/>
                                      </p:to>
                                    </p:set>
                                    <p:animEffect transition="in" filter="fade">
                                      <p:cBhvr>
                                        <p:cTn id="91" dur="1000"/>
                                        <p:tgtEl>
                                          <p:spTgt spid="4">
                                            <p:txEl>
                                              <p:pRg st="0" end="0"/>
                                            </p:txEl>
                                          </p:spTgt>
                                        </p:tgtEl>
                                      </p:cBhvr>
                                    </p:animEffect>
                                    <p:anim calcmode="lin" valueType="num">
                                      <p:cBhvr>
                                        <p:cTn id="9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1" end="1"/>
                                            </p:txEl>
                                          </p:spTgt>
                                        </p:tgtEl>
                                        <p:attrNameLst>
                                          <p:attrName>style.visibility</p:attrName>
                                        </p:attrNameLst>
                                      </p:cBhvr>
                                      <p:to>
                                        <p:strVal val="visible"/>
                                      </p:to>
                                    </p:set>
                                    <p:animEffect transition="in" filter="fade">
                                      <p:cBhvr>
                                        <p:cTn id="98" dur="1000"/>
                                        <p:tgtEl>
                                          <p:spTgt spid="4">
                                            <p:txEl>
                                              <p:pRg st="1" end="1"/>
                                            </p:txEl>
                                          </p:spTgt>
                                        </p:tgtEl>
                                      </p:cBhvr>
                                    </p:animEffect>
                                    <p:anim calcmode="lin" valueType="num">
                                      <p:cBhvr>
                                        <p:cTn id="9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2" end="2"/>
                                            </p:txEl>
                                          </p:spTgt>
                                        </p:tgtEl>
                                        <p:attrNameLst>
                                          <p:attrName>style.visibility</p:attrName>
                                        </p:attrNameLst>
                                      </p:cBhvr>
                                      <p:to>
                                        <p:strVal val="visible"/>
                                      </p:to>
                                    </p:set>
                                    <p:animEffect transition="in" filter="fade">
                                      <p:cBhvr>
                                        <p:cTn id="105" dur="1000"/>
                                        <p:tgtEl>
                                          <p:spTgt spid="4">
                                            <p:txEl>
                                              <p:pRg st="2" end="2"/>
                                            </p:txEl>
                                          </p:spTgt>
                                        </p:tgtEl>
                                      </p:cBhvr>
                                    </p:animEffect>
                                    <p:anim calcmode="lin" valueType="num">
                                      <p:cBhvr>
                                        <p:cTn id="10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3" end="3"/>
                                            </p:txEl>
                                          </p:spTgt>
                                        </p:tgtEl>
                                        <p:attrNameLst>
                                          <p:attrName>style.visibility</p:attrName>
                                        </p:attrNameLst>
                                      </p:cBhvr>
                                      <p:to>
                                        <p:strVal val="visible"/>
                                      </p:to>
                                    </p:set>
                                    <p:animEffect transition="in" filter="fade">
                                      <p:cBhvr>
                                        <p:cTn id="110" dur="1000"/>
                                        <p:tgtEl>
                                          <p:spTgt spid="4">
                                            <p:txEl>
                                              <p:pRg st="3" end="3"/>
                                            </p:txEl>
                                          </p:spTgt>
                                        </p:tgtEl>
                                      </p:cBhvr>
                                    </p:animEffect>
                                    <p:anim calcmode="lin" valueType="num">
                                      <p:cBhvr>
                                        <p:cTn id="11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4">
                                            <p:txEl>
                                              <p:pRg st="4" end="4"/>
                                            </p:txEl>
                                          </p:spTgt>
                                        </p:tgtEl>
                                        <p:attrNameLst>
                                          <p:attrName>style.visibility</p:attrName>
                                        </p:attrNameLst>
                                      </p:cBhvr>
                                      <p:to>
                                        <p:strVal val="visible"/>
                                      </p:to>
                                    </p:set>
                                    <p:animEffect transition="in" filter="fade">
                                      <p:cBhvr>
                                        <p:cTn id="117" dur="1000"/>
                                        <p:tgtEl>
                                          <p:spTgt spid="4">
                                            <p:txEl>
                                              <p:pRg st="4" end="4"/>
                                            </p:txEl>
                                          </p:spTgt>
                                        </p:tgtEl>
                                      </p:cBhvr>
                                    </p:animEffect>
                                    <p:anim calcmode="lin" valueType="num">
                                      <p:cBhvr>
                                        <p:cTn id="11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1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21" dur="1" fill="hold">
                                          <p:stCondLst>
                                            <p:cond delay="0"/>
                                          </p:stCondLst>
                                        </p:cTn>
                                        <p:tgtEl>
                                          <p:spTgt spid="4">
                                            <p:txEl>
                                              <p:pRg st="5" end="5"/>
                                            </p:txEl>
                                          </p:spTgt>
                                        </p:tgtEl>
                                        <p:attrNameLst>
                                          <p:attrName>style.visibility</p:attrName>
                                        </p:attrNameLst>
                                      </p:cBhvr>
                                      <p:to>
                                        <p:strVal val="visible"/>
                                      </p:to>
                                    </p:set>
                                    <p:animEffect transition="in" filter="fade">
                                      <p:cBhvr>
                                        <p:cTn id="122" dur="1000"/>
                                        <p:tgtEl>
                                          <p:spTgt spid="4">
                                            <p:txEl>
                                              <p:pRg st="5" end="5"/>
                                            </p:txEl>
                                          </p:spTgt>
                                        </p:tgtEl>
                                      </p:cBhvr>
                                    </p:animEffect>
                                    <p:anim calcmode="lin" valueType="num">
                                      <p:cBhvr>
                                        <p:cTn id="1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2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nodeType="clickEffect">
                                  <p:stCondLst>
                                    <p:cond delay="0"/>
                                  </p:stCondLst>
                                  <p:childTnLst>
                                    <p:set>
                                      <p:cBhvr>
                                        <p:cTn id="128" dur="1" fill="hold">
                                          <p:stCondLst>
                                            <p:cond delay="0"/>
                                          </p:stCondLst>
                                        </p:cTn>
                                        <p:tgtEl>
                                          <p:spTgt spid="4">
                                            <p:txEl>
                                              <p:pRg st="6" end="6"/>
                                            </p:txEl>
                                          </p:spTgt>
                                        </p:tgtEl>
                                        <p:attrNameLst>
                                          <p:attrName>style.visibility</p:attrName>
                                        </p:attrNameLst>
                                      </p:cBhvr>
                                      <p:to>
                                        <p:strVal val="visible"/>
                                      </p:to>
                                    </p:set>
                                    <p:animEffect transition="in" filter="fade">
                                      <p:cBhvr>
                                        <p:cTn id="129" dur="1000"/>
                                        <p:tgtEl>
                                          <p:spTgt spid="4">
                                            <p:txEl>
                                              <p:pRg st="6" end="6"/>
                                            </p:txEl>
                                          </p:spTgt>
                                        </p:tgtEl>
                                      </p:cBhvr>
                                    </p:animEffect>
                                    <p:anim calcmode="lin" valueType="num">
                                      <p:cBhvr>
                                        <p:cTn id="13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3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33" dur="1" fill="hold">
                                          <p:stCondLst>
                                            <p:cond delay="0"/>
                                          </p:stCondLst>
                                        </p:cTn>
                                        <p:tgtEl>
                                          <p:spTgt spid="4">
                                            <p:txEl>
                                              <p:pRg st="7" end="7"/>
                                            </p:txEl>
                                          </p:spTgt>
                                        </p:tgtEl>
                                        <p:attrNameLst>
                                          <p:attrName>style.visibility</p:attrName>
                                        </p:attrNameLst>
                                      </p:cBhvr>
                                      <p:to>
                                        <p:strVal val="visible"/>
                                      </p:to>
                                    </p:set>
                                    <p:animEffect transition="in" filter="fade">
                                      <p:cBhvr>
                                        <p:cTn id="134" dur="1000"/>
                                        <p:tgtEl>
                                          <p:spTgt spid="4">
                                            <p:txEl>
                                              <p:pRg st="7" end="7"/>
                                            </p:txEl>
                                          </p:spTgt>
                                        </p:tgtEl>
                                      </p:cBhvr>
                                    </p:animEffect>
                                    <p:anim calcmode="lin" valueType="num">
                                      <p:cBhvr>
                                        <p:cTn id="13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3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4">
                                            <p:txEl>
                                              <p:pRg st="8" end="8"/>
                                            </p:txEl>
                                          </p:spTgt>
                                        </p:tgtEl>
                                        <p:attrNameLst>
                                          <p:attrName>style.visibility</p:attrName>
                                        </p:attrNameLst>
                                      </p:cBhvr>
                                      <p:to>
                                        <p:strVal val="visible"/>
                                      </p:to>
                                    </p:set>
                                    <p:animEffect transition="in" filter="fade">
                                      <p:cBhvr>
                                        <p:cTn id="141" dur="1000"/>
                                        <p:tgtEl>
                                          <p:spTgt spid="4">
                                            <p:txEl>
                                              <p:pRg st="8" end="8"/>
                                            </p:txEl>
                                          </p:spTgt>
                                        </p:tgtEl>
                                      </p:cBhvr>
                                    </p:animEffect>
                                    <p:anim calcmode="lin" valueType="num">
                                      <p:cBhvr>
                                        <p:cTn id="14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43" dur="1000" fill="hold"/>
                                        <p:tgtEl>
                                          <p:spTgt spid="4">
                                            <p:txEl>
                                              <p:pRg st="8" end="8"/>
                                            </p:txEl>
                                          </p:spTgt>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4">
                                            <p:txEl>
                                              <p:pRg st="9" end="9"/>
                                            </p:txEl>
                                          </p:spTgt>
                                        </p:tgtEl>
                                        <p:attrNameLst>
                                          <p:attrName>style.visibility</p:attrName>
                                        </p:attrNameLst>
                                      </p:cBhvr>
                                      <p:to>
                                        <p:strVal val="visible"/>
                                      </p:to>
                                    </p:set>
                                    <p:animEffect transition="in" filter="fade">
                                      <p:cBhvr>
                                        <p:cTn id="146" dur="1000"/>
                                        <p:tgtEl>
                                          <p:spTgt spid="4">
                                            <p:txEl>
                                              <p:pRg st="9" end="9"/>
                                            </p:txEl>
                                          </p:spTgt>
                                        </p:tgtEl>
                                      </p:cBhvr>
                                    </p:animEffect>
                                    <p:anim calcmode="lin" valueType="num">
                                      <p:cBhvr>
                                        <p:cTn id="147"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148"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4">
                                            <p:txEl>
                                              <p:pRg st="10" end="10"/>
                                            </p:txEl>
                                          </p:spTgt>
                                        </p:tgtEl>
                                        <p:attrNameLst>
                                          <p:attrName>style.visibility</p:attrName>
                                        </p:attrNameLst>
                                      </p:cBhvr>
                                      <p:to>
                                        <p:strVal val="visible"/>
                                      </p:to>
                                    </p:set>
                                    <p:animEffect transition="in" filter="fade">
                                      <p:cBhvr>
                                        <p:cTn id="153" dur="1000"/>
                                        <p:tgtEl>
                                          <p:spTgt spid="4">
                                            <p:txEl>
                                              <p:pRg st="10" end="10"/>
                                            </p:txEl>
                                          </p:spTgt>
                                        </p:tgtEl>
                                      </p:cBhvr>
                                    </p:animEffect>
                                    <p:anim calcmode="lin" valueType="num">
                                      <p:cBhvr>
                                        <p:cTn id="154"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155"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156" presetID="42" presetClass="entr" presetSubtype="0" fill="hold" nodeType="withEffect">
                                  <p:stCondLst>
                                    <p:cond delay="0"/>
                                  </p:stCondLst>
                                  <p:childTnLst>
                                    <p:set>
                                      <p:cBhvr>
                                        <p:cTn id="157" dur="1" fill="hold">
                                          <p:stCondLst>
                                            <p:cond delay="0"/>
                                          </p:stCondLst>
                                        </p:cTn>
                                        <p:tgtEl>
                                          <p:spTgt spid="4">
                                            <p:txEl>
                                              <p:pRg st="11" end="11"/>
                                            </p:txEl>
                                          </p:spTgt>
                                        </p:tgtEl>
                                        <p:attrNameLst>
                                          <p:attrName>style.visibility</p:attrName>
                                        </p:attrNameLst>
                                      </p:cBhvr>
                                      <p:to>
                                        <p:strVal val="visible"/>
                                      </p:to>
                                    </p:set>
                                    <p:animEffect transition="in" filter="fade">
                                      <p:cBhvr>
                                        <p:cTn id="158" dur="1000"/>
                                        <p:tgtEl>
                                          <p:spTgt spid="4">
                                            <p:txEl>
                                              <p:pRg st="11" end="11"/>
                                            </p:txEl>
                                          </p:spTgt>
                                        </p:tgtEl>
                                      </p:cBhvr>
                                    </p:animEffect>
                                    <p:anim calcmode="lin" valueType="num">
                                      <p:cBhvr>
                                        <p:cTn id="159"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160"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161" presetID="42" presetClass="entr" presetSubtype="0" fill="hold" nodeType="withEffect">
                                  <p:stCondLst>
                                    <p:cond delay="0"/>
                                  </p:stCondLst>
                                  <p:childTnLst>
                                    <p:set>
                                      <p:cBhvr>
                                        <p:cTn id="162" dur="1" fill="hold">
                                          <p:stCondLst>
                                            <p:cond delay="0"/>
                                          </p:stCondLst>
                                        </p:cTn>
                                        <p:tgtEl>
                                          <p:spTgt spid="4">
                                            <p:txEl>
                                              <p:pRg st="12" end="12"/>
                                            </p:txEl>
                                          </p:spTgt>
                                        </p:tgtEl>
                                        <p:attrNameLst>
                                          <p:attrName>style.visibility</p:attrName>
                                        </p:attrNameLst>
                                      </p:cBhvr>
                                      <p:to>
                                        <p:strVal val="visible"/>
                                      </p:to>
                                    </p:set>
                                    <p:animEffect transition="in" filter="fade">
                                      <p:cBhvr>
                                        <p:cTn id="163" dur="1000"/>
                                        <p:tgtEl>
                                          <p:spTgt spid="4">
                                            <p:txEl>
                                              <p:pRg st="12" end="12"/>
                                            </p:txEl>
                                          </p:spTgt>
                                        </p:tgtEl>
                                      </p:cBhvr>
                                    </p:animEffect>
                                    <p:anim calcmode="lin" valueType="num">
                                      <p:cBhvr>
                                        <p:cTn id="164"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165"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99075" y="776092"/>
                <a:ext cx="8928992" cy="1795658"/>
              </a:xfrm>
            </p:spPr>
            <p:txBody>
              <a:bodyPr/>
              <a:lstStyle/>
              <a:p>
                <a:pPr>
                  <a:lnSpc>
                    <a:spcPts val="2700"/>
                  </a:lnSpc>
                  <a:spcBef>
                    <a:spcPts val="0"/>
                  </a:spcBef>
                </a:pPr>
                <a:r>
                  <a:rPr lang="zh-CN" altLang="zh-CN" sz="1800" dirty="0">
                    <a:latin typeface="Times New Roman" panose="02020603050405020304" pitchFamily="18" charset="0"/>
                    <a:cs typeface="Times New Roman" panose="02020603050405020304" pitchFamily="18" charset="0"/>
                  </a:rPr>
                  <a:t>二叉排序树的插入操作应保证插入后仍满足二叉排序树的定义，新插入的结点总是叶子结点。其插入过程如下：</a:t>
                </a:r>
              </a:p>
              <a:p>
                <a:pPr marL="0" indent="0">
                  <a:lnSpc>
                    <a:spcPts val="27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）若二叉树</a:t>
                </a:r>
                <a14:m>
                  <m:oMath xmlns:m="http://schemas.openxmlformats.org/officeDocument/2006/math">
                    <m:r>
                      <m:rPr>
                        <m:sty m:val="p"/>
                      </m:rPr>
                      <a:rPr lang="en-US" altLang="zh-CN" sz="1800">
                        <a:latin typeface="Cambria Math" panose="02040503050406030204" pitchFamily="18" charset="0"/>
                      </a:rPr>
                      <m:t>t</m:t>
                    </m:r>
                  </m:oMath>
                </a14:m>
                <a:r>
                  <a:rPr lang="zh-CN" altLang="zh-CN" sz="1800" dirty="0">
                    <a:latin typeface="Times New Roman" panose="02020603050405020304" pitchFamily="18" charset="0"/>
                    <a:cs typeface="Times New Roman" panose="02020603050405020304" pitchFamily="18" charset="0"/>
                  </a:rPr>
                  <a:t>为空，则生成一个根结点；否则，</a:t>
                </a:r>
              </a:p>
              <a:p>
                <a:pPr marL="0" indent="0">
                  <a:lnSpc>
                    <a:spcPts val="27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）将</a:t>
                </a:r>
                <a14:m>
                  <m:oMath xmlns:m="http://schemas.openxmlformats.org/officeDocument/2006/math">
                    <m:r>
                      <m:rPr>
                        <m:sty m:val="p"/>
                      </m:rPr>
                      <a:rPr lang="en-US" altLang="zh-CN" sz="1800">
                        <a:latin typeface="Cambria Math" panose="02040503050406030204" pitchFamily="18" charset="0"/>
                      </a:rPr>
                      <m:t>key</m:t>
                    </m:r>
                  </m:oMath>
                </a14:m>
                <a:r>
                  <a:rPr lang="zh-CN" altLang="zh-CN" sz="1800" dirty="0">
                    <a:latin typeface="Times New Roman" panose="02020603050405020304" pitchFamily="18" charset="0"/>
                    <a:cs typeface="Times New Roman" panose="02020603050405020304" pitchFamily="18" charset="0"/>
                  </a:rPr>
                  <a:t>与根结点的关键字比较，若</a:t>
                </a:r>
                <a14:m>
                  <m:oMath xmlns:m="http://schemas.openxmlformats.org/officeDocument/2006/math">
                    <m:r>
                      <m:rPr>
                        <m:sty m:val="p"/>
                      </m:rPr>
                      <a:rPr lang="en-US" altLang="zh-CN" sz="1800">
                        <a:latin typeface="Cambria Math" panose="02040503050406030204" pitchFamily="18" charset="0"/>
                      </a:rPr>
                      <m:t>key</m:t>
                    </m:r>
                    <m:r>
                      <a:rPr lang="en-US" altLang="zh-CN" sz="1800">
                        <a:latin typeface="Cambria Math" panose="02040503050406030204" pitchFamily="18" charset="0"/>
                      </a:rPr>
                      <m:t>&lt;</m:t>
                    </m:r>
                    <m:r>
                      <m:rPr>
                        <m:sty m:val="p"/>
                      </m:rPr>
                      <a:rPr lang="en-US" altLang="zh-CN" sz="1800">
                        <a:latin typeface="Cambria Math" panose="02040503050406030204" pitchFamily="18" charset="0"/>
                      </a:rPr>
                      <m:t>t</m:t>
                    </m:r>
                    <m:r>
                      <a:rPr lang="en-US" altLang="zh-CN" sz="1800" i="1">
                        <a:latin typeface="Cambria Math" panose="02040503050406030204" pitchFamily="18" charset="0"/>
                      </a:rPr>
                      <m:t>−</m:t>
                    </m:r>
                    <m:r>
                      <a:rPr lang="en-US" altLang="zh-CN" sz="1800">
                        <a:latin typeface="Cambria Math" panose="02040503050406030204" pitchFamily="18" charset="0"/>
                      </a:rPr>
                      <m:t>&gt;</m:t>
                    </m:r>
                    <m:r>
                      <m:rPr>
                        <m:sty m:val="p"/>
                      </m:rPr>
                      <a:rPr lang="en-US" altLang="zh-CN" sz="1800">
                        <a:latin typeface="Cambria Math" panose="02040503050406030204" pitchFamily="18" charset="0"/>
                      </a:rPr>
                      <m:t>data</m:t>
                    </m:r>
                  </m:oMath>
                </a14:m>
                <a:r>
                  <a:rPr lang="zh-CN" altLang="zh-CN" sz="1800" dirty="0">
                    <a:latin typeface="Times New Roman" panose="02020603050405020304" pitchFamily="18" charset="0"/>
                    <a:cs typeface="Times New Roman" panose="02020603050405020304" pitchFamily="18" charset="0"/>
                  </a:rPr>
                  <a:t>，则将</a:t>
                </a:r>
                <a:r>
                  <a:rPr lang="en-US" altLang="zh-CN" sz="1800" dirty="0">
                    <a:latin typeface="Times New Roman" panose="02020603050405020304" pitchFamily="18" charset="0"/>
                    <a:cs typeface="Times New Roman" panose="02020603050405020304" pitchFamily="18" charset="0"/>
                  </a:rPr>
                  <a:t>key</a:t>
                </a:r>
                <a:r>
                  <a:rPr lang="zh-CN" altLang="zh-CN" sz="1800" dirty="0">
                    <a:latin typeface="Times New Roman" panose="02020603050405020304" pitchFamily="18" charset="0"/>
                    <a:cs typeface="Times New Roman" panose="02020603050405020304" pitchFamily="18" charset="0"/>
                  </a:rPr>
                  <a:t>插入到根结点的左子树中，否则插入到根结点的右子树中。</a:t>
                </a:r>
              </a:p>
              <a:p>
                <a:pPr marL="0" indent="0">
                  <a:lnSpc>
                    <a:spcPct val="1000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a:lnSpc>
                    <a:spcPct val="100000"/>
                  </a:lnSpc>
                  <a:spcBef>
                    <a:spcPts val="0"/>
                  </a:spcBef>
                </a:pPr>
                <a:r>
                  <a:rPr lang="zh-CN" altLang="zh-CN" sz="1800" dirty="0">
                    <a:latin typeface="Times New Roman" panose="02020603050405020304" pitchFamily="18" charset="0"/>
                    <a:cs typeface="Times New Roman" panose="02020603050405020304" pitchFamily="18" charset="0"/>
                  </a:rPr>
                  <a:t>二叉排序树插入操作的递归模型如下：</a:t>
                </a:r>
                <a:endParaRPr lang="en-US"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smtClean="0">
                          <a:solidFill>
                            <a:srgbClr val="FF0000"/>
                          </a:solidFill>
                          <a:latin typeface="Cambria Math" panose="02040503050406030204" pitchFamily="18" charset="0"/>
                        </a:rPr>
                        <m:t>Insert</m:t>
                      </m:r>
                      <m:d>
                        <m:dPr>
                          <m:ctrlPr>
                            <a:rPr lang="zh-CN" altLang="zh-CN" sz="1800" i="1">
                              <a:solidFill>
                                <a:srgbClr val="FF0000"/>
                              </a:solidFill>
                              <a:latin typeface="Cambria Math" panose="02040503050406030204" pitchFamily="18" charset="0"/>
                            </a:rPr>
                          </m:ctrlPr>
                        </m:dPr>
                        <m:e>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e</m:t>
                          </m:r>
                        </m:e>
                      </m:d>
                      <m:r>
                        <a:rPr lang="en-US" altLang="zh-CN" sz="1800">
                          <a:solidFill>
                            <a:srgbClr val="FF0000"/>
                          </a:solidFill>
                          <a:latin typeface="Cambria Math" panose="02040503050406030204" pitchFamily="18" charset="0"/>
                        </a:rPr>
                        <m:t>=</m:t>
                      </m:r>
                      <m:d>
                        <m:dPr>
                          <m:begChr m:val="{"/>
                          <m:endChr m:val=""/>
                          <m:ctrlPr>
                            <a:rPr lang="zh-CN" altLang="zh-CN" sz="1800" i="1">
                              <a:solidFill>
                                <a:srgbClr val="FF0000"/>
                              </a:solidFill>
                              <a:latin typeface="Cambria Math" panose="02040503050406030204" pitchFamily="18" charset="0"/>
                            </a:rPr>
                          </m:ctrlPr>
                        </m:dPr>
                        <m:e>
                          <m:eqArr>
                            <m:eqArrPr>
                              <m:ctrlPr>
                                <a:rPr lang="zh-CN" altLang="zh-CN" sz="1800" i="1">
                                  <a:solidFill>
                                    <a:srgbClr val="FF0000"/>
                                  </a:solidFill>
                                  <a:latin typeface="Cambria Math" panose="02040503050406030204" pitchFamily="18" charset="0"/>
                                </a:rPr>
                              </m:ctrlPr>
                            </m:eqArrPr>
                            <m:e>
                              <m:d>
                                <m:dPr>
                                  <m:begChr m:val="{"/>
                                  <m:endChr m:val=""/>
                                  <m:ctrlPr>
                                    <a:rPr lang="zh-CN" altLang="zh-CN" sz="1800" i="1">
                                      <a:solidFill>
                                        <a:srgbClr val="FF0000"/>
                                      </a:solidFill>
                                      <a:latin typeface="Cambria Math" panose="02040503050406030204" pitchFamily="18" charset="0"/>
                                    </a:rPr>
                                  </m:ctrlPr>
                                </m:dPr>
                                <m:e>
                                  <m:eqArr>
                                    <m:eqArrPr>
                                      <m:ctrlPr>
                                        <a:rPr lang="zh-CN" altLang="zh-CN" sz="1800" i="1">
                                          <a:solidFill>
                                            <a:srgbClr val="FF0000"/>
                                          </a:solidFill>
                                          <a:latin typeface="Cambria Math" panose="02040503050406030204" pitchFamily="18" charset="0"/>
                                        </a:rPr>
                                      </m:ctrlPr>
                                    </m:eqArrPr>
                                    <m:e>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new</m:t>
                                      </m:r>
                                      <m:r>
                                        <a:rPr lang="en-US" altLang="zh-CN" sz="1800">
                                          <a:solidFill>
                                            <a:srgbClr val="FF0000"/>
                                          </a:solidFill>
                                          <a:latin typeface="Cambria Math" panose="02040503050406030204" pitchFamily="18" charset="0"/>
                                        </a:rPr>
                                        <m:t> </m:t>
                                      </m:r>
                                      <m:r>
                                        <m:rPr>
                                          <m:sty m:val="p"/>
                                        </m:rPr>
                                        <a:rPr lang="en-US" altLang="zh-CN" sz="1800">
                                          <a:solidFill>
                                            <a:srgbClr val="FF0000"/>
                                          </a:solidFill>
                                          <a:latin typeface="Cambria Math" panose="02040503050406030204" pitchFamily="18" charset="0"/>
                                        </a:rPr>
                                        <m:t>BstNode</m:t>
                                      </m:r>
                                      <m:r>
                                        <a:rPr lang="en-US" altLang="zh-CN" sz="1800">
                                          <a:solidFill>
                                            <a:srgbClr val="FF0000"/>
                                          </a:solidFill>
                                          <a:latin typeface="Cambria Math" panose="02040503050406030204" pitchFamily="18" charset="0"/>
                                        </a:rPr>
                                        <m:t>                                                                                                   </m:t>
                                      </m:r>
                                    </m:e>
                                    <m:e>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data</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e</m:t>
                                      </m:r>
                                      <m:r>
                                        <a:rPr lang="en-US" altLang="zh-CN" sz="1800">
                                          <a:solidFill>
                                            <a:srgbClr val="FF0000"/>
                                          </a:solidFill>
                                          <a:latin typeface="Cambria Math" panose="02040503050406030204" pitchFamily="18" charset="0"/>
                                        </a:rPr>
                                        <m:t>                                                                                        </m:t>
                                      </m:r>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NULL</m:t>
                                      </m:r>
                                    </m:e>
                                    <m:e>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lchild</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rchild</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NULL</m:t>
                                      </m:r>
                                      <m:r>
                                        <a:rPr lang="en-US" altLang="zh-CN" sz="1800">
                                          <a:solidFill>
                                            <a:srgbClr val="FF0000"/>
                                          </a:solidFill>
                                          <a:latin typeface="Cambria Math" panose="02040503050406030204" pitchFamily="18" charset="0"/>
                                        </a:rPr>
                                        <m:t>                                                                      </m:t>
                                      </m:r>
                                    </m:e>
                                  </m:eqArr>
                                </m:e>
                              </m:d>
                            </m:e>
                            <m:e>
                              <m:d>
                                <m:dPr>
                                  <m:begChr m:val="{"/>
                                  <m:endChr m:val=""/>
                                  <m:ctrlPr>
                                    <a:rPr lang="zh-CN" altLang="zh-CN" sz="1800" i="1">
                                      <a:solidFill>
                                        <a:srgbClr val="FF0000"/>
                                      </a:solidFill>
                                      <a:latin typeface="Cambria Math" panose="02040503050406030204" pitchFamily="18" charset="0"/>
                                    </a:rPr>
                                  </m:ctrlPr>
                                </m:dPr>
                                <m:e>
                                  <m:eqArr>
                                    <m:eqArrPr>
                                      <m:ctrlPr>
                                        <a:rPr lang="zh-CN" altLang="zh-CN" sz="1800" i="1">
                                          <a:solidFill>
                                            <a:srgbClr val="FF0000"/>
                                          </a:solidFill>
                                          <a:latin typeface="Cambria Math" panose="02040503050406030204" pitchFamily="18" charset="0"/>
                                        </a:rPr>
                                      </m:ctrlPr>
                                    </m:eqArrPr>
                                    <m:e>
                                      <m:r>
                                        <m:rPr>
                                          <m:sty m:val="p"/>
                                        </m:rPr>
                                        <a:rPr lang="en-US" altLang="zh-CN" sz="1800">
                                          <a:solidFill>
                                            <a:srgbClr val="FF0000"/>
                                          </a:solidFill>
                                          <a:latin typeface="Cambria Math" panose="02040503050406030204" pitchFamily="18" charset="0"/>
                                        </a:rPr>
                                        <m:t>Insert</m:t>
                                      </m:r>
                                      <m:d>
                                        <m:dPr>
                                          <m:ctrlPr>
                                            <a:rPr lang="zh-CN" altLang="zh-CN" sz="1800" i="1">
                                              <a:solidFill>
                                                <a:srgbClr val="FF0000"/>
                                              </a:solidFill>
                                              <a:latin typeface="Cambria Math" panose="02040503050406030204" pitchFamily="18" charset="0"/>
                                            </a:rPr>
                                          </m:ctrlPr>
                                        </m:dPr>
                                        <m:e>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lchild</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e</m:t>
                                          </m:r>
                                        </m:e>
                                      </m:d>
                                      <m:r>
                                        <a:rPr lang="en-US" altLang="zh-CN" sz="1800">
                                          <a:solidFill>
                                            <a:srgbClr val="FF0000"/>
                                          </a:solidFill>
                                          <a:latin typeface="Cambria Math" panose="02040503050406030204" pitchFamily="18" charset="0"/>
                                        </a:rPr>
                                        <m:t>       </m:t>
                                      </m:r>
                                      <m:r>
                                        <a:rPr lang="zh-CN" altLang="zh-CN" sz="1800">
                                          <a:solidFill>
                                            <a:srgbClr val="FF0000"/>
                                          </a:solidFill>
                                          <a:latin typeface="Cambria Math" panose="02040503050406030204" pitchFamily="18" charset="0"/>
                                        </a:rPr>
                                        <m:t>若</m:t>
                                      </m:r>
                                      <m:r>
                                        <m:rPr>
                                          <m:sty m:val="p"/>
                                        </m:rPr>
                                        <a:rPr lang="en-US" altLang="zh-CN" sz="1800">
                                          <a:solidFill>
                                            <a:srgbClr val="FF0000"/>
                                          </a:solidFill>
                                          <a:latin typeface="Cambria Math" panose="02040503050406030204" pitchFamily="18" charset="0"/>
                                        </a:rPr>
                                        <m:t>e</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key</m:t>
                                      </m:r>
                                      <m:r>
                                        <a:rPr lang="en-US" altLang="zh-CN" sz="1800">
                                          <a:solidFill>
                                            <a:srgbClr val="FF0000"/>
                                          </a:solidFill>
                                          <a:latin typeface="Cambria Math" panose="02040503050406030204" pitchFamily="18" charset="0"/>
                                        </a:rPr>
                                        <m:t>&lt;</m:t>
                                      </m:r>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data</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key</m:t>
                                      </m:r>
                                    </m:e>
                                    <m:e>
                                      <m:r>
                                        <m:rPr>
                                          <m:sty m:val="p"/>
                                        </m:rPr>
                                        <a:rPr lang="en-US" altLang="zh-CN" sz="1800">
                                          <a:solidFill>
                                            <a:srgbClr val="FF0000"/>
                                          </a:solidFill>
                                          <a:latin typeface="Cambria Math" panose="02040503050406030204" pitchFamily="18" charset="0"/>
                                        </a:rPr>
                                        <m:t>Insert</m:t>
                                      </m:r>
                                      <m:d>
                                        <m:dPr>
                                          <m:ctrlPr>
                                            <a:rPr lang="zh-CN" altLang="zh-CN" sz="1800" i="1">
                                              <a:solidFill>
                                                <a:srgbClr val="FF0000"/>
                                              </a:solidFill>
                                              <a:latin typeface="Cambria Math" panose="02040503050406030204" pitchFamily="18" charset="0"/>
                                            </a:rPr>
                                          </m:ctrlPr>
                                        </m:dPr>
                                        <m:e>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rchild</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e</m:t>
                                          </m:r>
                                        </m:e>
                                      </m:d>
                                      <m:r>
                                        <a:rPr lang="en-US" altLang="zh-CN" sz="1800">
                                          <a:solidFill>
                                            <a:srgbClr val="FF0000"/>
                                          </a:solidFill>
                                          <a:latin typeface="Cambria Math" panose="02040503050406030204" pitchFamily="18" charset="0"/>
                                        </a:rPr>
                                        <m:t>       </m:t>
                                      </m:r>
                                      <m:r>
                                        <a:rPr lang="zh-CN" altLang="zh-CN" sz="1800">
                                          <a:solidFill>
                                            <a:srgbClr val="FF0000"/>
                                          </a:solidFill>
                                          <a:latin typeface="Cambria Math" panose="02040503050406030204" pitchFamily="18" charset="0"/>
                                        </a:rPr>
                                        <m:t>若</m:t>
                                      </m:r>
                                      <m:r>
                                        <m:rPr>
                                          <m:sty m:val="p"/>
                                        </m:rPr>
                                        <a:rPr lang="en-US" altLang="zh-CN" sz="1800">
                                          <a:solidFill>
                                            <a:srgbClr val="FF0000"/>
                                          </a:solidFill>
                                          <a:latin typeface="Cambria Math" panose="02040503050406030204" pitchFamily="18" charset="0"/>
                                        </a:rPr>
                                        <m:t>e</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key</m:t>
                                      </m:r>
                                      <m:r>
                                        <a:rPr lang="en-US" altLang="zh-CN" sz="1800">
                                          <a:solidFill>
                                            <a:srgbClr val="FF0000"/>
                                          </a:solidFill>
                                          <a:latin typeface="Cambria Math" panose="02040503050406030204" pitchFamily="18" charset="0"/>
                                        </a:rPr>
                                        <m:t>&gt;</m:t>
                                      </m:r>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data</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key</m:t>
                                      </m:r>
                                    </m:e>
                                  </m:eqArr>
                                </m:e>
                              </m:d>
                              <m:r>
                                <a:rPr lang="en-US" altLang="zh-CN" sz="1800">
                                  <a:solidFill>
                                    <a:srgbClr val="FF0000"/>
                                  </a:solidFill>
                                  <a:latin typeface="Cambria Math" panose="02040503050406030204" pitchFamily="18" charset="0"/>
                                </a:rPr>
                                <m:t>           </m:t>
                              </m:r>
                              <m:r>
                                <a:rPr lang="en-US" altLang="zh-CN" sz="1800" b="0" i="0" smtClean="0">
                                  <a:solidFill>
                                    <a:srgbClr val="FF0000"/>
                                  </a:solidFill>
                                  <a:latin typeface="Cambria Math" panose="02040503050406030204" pitchFamily="18" charset="0"/>
                                </a:rPr>
                                <m:t>         </m:t>
                              </m:r>
                              <m:r>
                                <m:rPr>
                                  <m:sty m:val="p"/>
                                </m:rPr>
                                <a:rPr lang="en-US" altLang="zh-CN" sz="1800">
                                  <a:solidFill>
                                    <a:srgbClr val="FF0000"/>
                                  </a:solidFill>
                                  <a:latin typeface="Cambria Math" panose="02040503050406030204" pitchFamily="18" charset="0"/>
                                </a:rPr>
                                <m:t>t</m:t>
                              </m:r>
                              <m:r>
                                <a:rPr lang="en-US" altLang="zh-CN" sz="1800">
                                  <a:solidFill>
                                    <a:srgbClr val="FF0000"/>
                                  </a:solidFill>
                                  <a:latin typeface="Cambria Math" panose="02040503050406030204" pitchFamily="18" charset="0"/>
                                </a:rPr>
                                <m:t>!=</m:t>
                              </m:r>
                              <m:r>
                                <m:rPr>
                                  <m:sty m:val="p"/>
                                </m:rPr>
                                <a:rPr lang="en-US" altLang="zh-CN" sz="1800">
                                  <a:solidFill>
                                    <a:srgbClr val="FF0000"/>
                                  </a:solidFill>
                                  <a:latin typeface="Cambria Math" panose="02040503050406030204" pitchFamily="18" charset="0"/>
                                </a:rPr>
                                <m:t>NULL</m:t>
                              </m:r>
                            </m:e>
                          </m:eqArr>
                        </m:e>
                      </m:d>
                    </m:oMath>
                  </m:oMathPara>
                </a14:m>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99075" y="776092"/>
                <a:ext cx="8928992" cy="1795658"/>
              </a:xfrm>
              <a:blipFill>
                <a:blip r:embed="rId2"/>
                <a:stretch>
                  <a:fillRect l="-888" t="-1356" b="-136271"/>
                </a:stretch>
              </a:blipFill>
            </p:spPr>
            <p:txBody>
              <a:bodyPr/>
              <a:lstStyle/>
              <a:p>
                <a:r>
                  <a:rPr lang="zh-CN" altLang="en-US">
                    <a:noFill/>
                  </a:rPr>
                  <a:t> </a:t>
                </a:r>
              </a:p>
            </p:txBody>
          </p:sp>
        </mc:Fallback>
      </mc:AlternateContent>
      <p:sp>
        <p:nvSpPr>
          <p:cNvPr id="4" name="文本框 3"/>
          <p:cNvSpPr txBox="1"/>
          <p:nvPr/>
        </p:nvSpPr>
        <p:spPr>
          <a:xfrm>
            <a:off x="611380" y="115457"/>
            <a:ext cx="30245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二叉排序树的插入与生成</a:t>
            </a:r>
          </a:p>
        </p:txBody>
      </p:sp>
    </p:spTree>
    <p:extLst>
      <p:ext uri="{BB962C8B-B14F-4D97-AF65-F5344CB8AC3E}">
        <p14:creationId xmlns:p14="http://schemas.microsoft.com/office/powerpoint/2010/main" val="80293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87574"/>
            <a:ext cx="6912768" cy="3507876"/>
          </a:xfrm>
        </p:spPr>
        <p:txBody>
          <a:bodyPr/>
          <a:lstStyle/>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BsTree</a:t>
            </a:r>
            <a:r>
              <a:rPr lang="en-US" altLang="zh-CN" sz="1800" dirty="0">
                <a:solidFill>
                  <a:srgbClr val="002060"/>
                </a:solidFill>
                <a:latin typeface="Times New Roman" panose="02020603050405020304" pitchFamily="18" charset="0"/>
                <a:cs typeface="Times New Roman" panose="02020603050405020304" pitchFamily="18" charset="0"/>
              </a:rPr>
              <a:t>:: Insert(</a:t>
            </a:r>
            <a:r>
              <a:rPr lang="en-US" altLang="zh-CN" sz="1800" dirty="0" err="1">
                <a:solidFill>
                  <a:srgbClr val="002060"/>
                </a:solidFill>
                <a:latin typeface="Times New Roman" panose="02020603050405020304" pitchFamily="18" charset="0"/>
                <a:cs typeface="Times New Roman" panose="02020603050405020304" pitchFamily="18" charset="0"/>
              </a:rPr>
              <a:t>BstNode</a:t>
            </a:r>
            <a:r>
              <a:rPr lang="en-US" altLang="zh-CN" sz="1800" dirty="0">
                <a:solidFill>
                  <a:srgbClr val="002060"/>
                </a:solidFill>
                <a:latin typeface="Times New Roman" panose="02020603050405020304" pitchFamily="18" charset="0"/>
                <a:cs typeface="Times New Roman" panose="02020603050405020304" pitchFamily="18" charset="0"/>
              </a:rPr>
              <a:t> *&amp;</a:t>
            </a:r>
            <a:r>
              <a:rPr lang="en-US" altLang="zh-CN" sz="1800" dirty="0" err="1">
                <a:solidFill>
                  <a:srgbClr val="002060"/>
                </a:solidFill>
                <a:latin typeface="Times New Roman" panose="02020603050405020304" pitchFamily="18" charset="0"/>
                <a:cs typeface="Times New Roman" panose="02020603050405020304" pitchFamily="18" charset="0"/>
              </a:rPr>
              <a:t>t,DElemType</a:t>
            </a:r>
            <a:r>
              <a:rPr lang="en-US" altLang="zh-CN" sz="1800" dirty="0">
                <a:solidFill>
                  <a:srgbClr val="002060"/>
                </a:solidFill>
                <a:latin typeface="Times New Roman" panose="02020603050405020304" pitchFamily="18" charset="0"/>
                <a:cs typeface="Times New Roman" panose="02020603050405020304" pitchFamily="18" charset="0"/>
              </a:rPr>
              <a:t> e){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if(t==NULL){</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t=new </a:t>
            </a:r>
            <a:r>
              <a:rPr lang="en-US" altLang="zh-CN" sz="1800" dirty="0" err="1">
                <a:solidFill>
                  <a:srgbClr val="002060"/>
                </a:solidFill>
                <a:latin typeface="Times New Roman" panose="02020603050405020304" pitchFamily="18" charset="0"/>
                <a:cs typeface="Times New Roman" panose="02020603050405020304" pitchFamily="18" charset="0"/>
              </a:rPr>
              <a:t>BstNode</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创建根结点</a:t>
            </a: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t-&gt;</a:t>
            </a:r>
            <a:r>
              <a:rPr lang="en-US" altLang="zh-CN" sz="1800" dirty="0" err="1">
                <a:solidFill>
                  <a:srgbClr val="002060"/>
                </a:solidFill>
                <a:latin typeface="Times New Roman" panose="02020603050405020304" pitchFamily="18" charset="0"/>
                <a:cs typeface="Times New Roman" panose="02020603050405020304" pitchFamily="18" charset="0"/>
              </a:rPr>
              <a:t>lchild</a:t>
            </a:r>
            <a:r>
              <a:rPr lang="en-US" altLang="zh-CN" sz="1800" dirty="0">
                <a:solidFill>
                  <a:srgbClr val="002060"/>
                </a:solidFill>
                <a:latin typeface="Times New Roman" panose="02020603050405020304" pitchFamily="18" charset="0"/>
                <a:cs typeface="Times New Roman" panose="02020603050405020304" pitchFamily="18" charset="0"/>
              </a:rPr>
              <a:t>=t-&gt;</a:t>
            </a:r>
            <a:r>
              <a:rPr lang="en-US" altLang="zh-CN" sz="1800" dirty="0" err="1">
                <a:solidFill>
                  <a:srgbClr val="002060"/>
                </a:solidFill>
                <a:latin typeface="Times New Roman" panose="02020603050405020304" pitchFamily="18" charset="0"/>
                <a:cs typeface="Times New Roman" panose="02020603050405020304" pitchFamily="18" charset="0"/>
              </a:rPr>
              <a:t>rchild</a:t>
            </a:r>
            <a:r>
              <a:rPr lang="en-US" altLang="zh-CN" sz="1800" dirty="0">
                <a:solidFill>
                  <a:srgbClr val="002060"/>
                </a:solidFill>
                <a:latin typeface="Times New Roman" panose="02020603050405020304" pitchFamily="18" charset="0"/>
                <a:cs typeface="Times New Roman" panose="02020603050405020304" pitchFamily="18" charset="0"/>
              </a:rPr>
              <a:t>=NULL;</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t-&gt;data=e;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return;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a:t>
            </a:r>
            <a:r>
              <a:rPr lang="en-US" altLang="zh-CN" sz="1800" dirty="0" err="1">
                <a:solidFill>
                  <a:srgbClr val="002060"/>
                </a:solidFill>
                <a:latin typeface="Times New Roman" panose="02020603050405020304" pitchFamily="18" charset="0"/>
                <a:cs typeface="Times New Roman" panose="02020603050405020304" pitchFamily="18" charset="0"/>
              </a:rPr>
              <a:t>e.key</a:t>
            </a:r>
            <a:r>
              <a:rPr lang="en-US" altLang="zh-CN" sz="1800" dirty="0">
                <a:solidFill>
                  <a:srgbClr val="002060"/>
                </a:solidFill>
                <a:latin typeface="Times New Roman" panose="02020603050405020304" pitchFamily="18" charset="0"/>
                <a:cs typeface="Times New Roman" panose="02020603050405020304" pitchFamily="18" charset="0"/>
              </a:rPr>
              <a:t>&lt;t-&gt;</a:t>
            </a:r>
            <a:r>
              <a:rPr lang="en-US" altLang="zh-CN" sz="1800" dirty="0" err="1">
                <a:solidFill>
                  <a:srgbClr val="002060"/>
                </a:solidFill>
                <a:latin typeface="Times New Roman" panose="02020603050405020304" pitchFamily="18" charset="0"/>
                <a:cs typeface="Times New Roman" panose="02020603050405020304" pitchFamily="18" charset="0"/>
              </a:rPr>
              <a:t>data.key</a:t>
            </a:r>
            <a:r>
              <a:rPr lang="en-US" altLang="zh-CN" sz="1800" dirty="0">
                <a:solidFill>
                  <a:srgbClr val="002060"/>
                </a:solidFill>
                <a:latin typeface="Times New Roman" panose="02020603050405020304" pitchFamily="18" charset="0"/>
                <a:cs typeface="Times New Roman" panose="02020603050405020304" pitchFamily="18" charset="0"/>
              </a:rPr>
              <a:t>) Insert(t-&gt;</a:t>
            </a:r>
            <a:r>
              <a:rPr lang="en-US" altLang="zh-CN" sz="1800" dirty="0" err="1">
                <a:solidFill>
                  <a:srgbClr val="002060"/>
                </a:solidFill>
                <a:latin typeface="Times New Roman" panose="02020603050405020304" pitchFamily="18" charset="0"/>
                <a:cs typeface="Times New Roman" panose="02020603050405020304" pitchFamily="18" charset="0"/>
              </a:rPr>
              <a:t>lchild,e</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在左子树中插入结点</a:t>
            </a:r>
            <a:r>
              <a:rPr lang="en-US" altLang="zh-CN" sz="1800" dirty="0">
                <a:solidFill>
                  <a:srgbClr val="002060"/>
                </a:solidFill>
                <a:latin typeface="Times New Roman" panose="02020603050405020304" pitchFamily="18" charset="0"/>
                <a:cs typeface="Times New Roman" panose="02020603050405020304" pitchFamily="18" charset="0"/>
              </a:rPr>
              <a: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Insert(t-&gt;</a:t>
            </a:r>
            <a:r>
              <a:rPr lang="en-US" altLang="zh-CN" sz="1800" dirty="0" err="1">
                <a:solidFill>
                  <a:srgbClr val="002060"/>
                </a:solidFill>
                <a:latin typeface="Times New Roman" panose="02020603050405020304" pitchFamily="18" charset="0"/>
                <a:cs typeface="Times New Roman" panose="02020603050405020304" pitchFamily="18" charset="0"/>
              </a:rPr>
              <a:t>rchild</a:t>
            </a:r>
            <a:r>
              <a:rPr lang="en-US" altLang="zh-CN" sz="1800" dirty="0">
                <a:solidFill>
                  <a:srgbClr val="002060"/>
                </a:solidFill>
                <a:latin typeface="Times New Roman" panose="02020603050405020304" pitchFamily="18" charset="0"/>
                <a:cs typeface="Times New Roman" panose="02020603050405020304" pitchFamily="18" charset="0"/>
              </a:rPr>
              <a:t>, e);               //</a:t>
            </a:r>
            <a:r>
              <a:rPr lang="zh-CN" altLang="zh-CN" sz="1800" dirty="0">
                <a:solidFill>
                  <a:srgbClr val="002060"/>
                </a:solidFill>
                <a:latin typeface="Times New Roman" panose="02020603050405020304" pitchFamily="18" charset="0"/>
                <a:cs typeface="Times New Roman" panose="02020603050405020304" pitchFamily="18" charset="0"/>
              </a:rPr>
              <a:t>在右子树中插入结点</a:t>
            </a:r>
            <a:r>
              <a:rPr lang="en-US" altLang="zh-CN" sz="1800" dirty="0">
                <a:solidFill>
                  <a:srgbClr val="002060"/>
                </a:solidFill>
                <a:latin typeface="Times New Roman" panose="02020603050405020304" pitchFamily="18" charset="0"/>
                <a:cs typeface="Times New Roman" panose="02020603050405020304" pitchFamily="18" charset="0"/>
              </a:rPr>
              <a: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4427984" y="843558"/>
            <a:ext cx="4680520" cy="2031325"/>
          </a:xfrm>
          <a:prstGeom prst="rect">
            <a:avLst/>
          </a:prstGeom>
          <a:solidFill>
            <a:schemeClr val="accent2"/>
          </a:solidFill>
        </p:spPr>
        <p:txBody>
          <a:bodyPr wrap="square" rtlCol="0">
            <a:spAutoFit/>
          </a:bodyPr>
          <a:lstStyle/>
          <a:p>
            <a:r>
              <a:rPr lang="en-US" altLang="zh-CN" dirty="0"/>
              <a:t>void </a:t>
            </a:r>
            <a:r>
              <a:rPr lang="en-US" altLang="zh-CN" dirty="0" err="1"/>
              <a:t>BsTree</a:t>
            </a:r>
            <a:r>
              <a:rPr lang="en-US" altLang="zh-CN" dirty="0"/>
              <a:t>::</a:t>
            </a:r>
            <a:r>
              <a:rPr lang="en-US" altLang="zh-CN" dirty="0" err="1"/>
              <a:t>InsertBST</a:t>
            </a:r>
            <a:r>
              <a:rPr lang="en-US" altLang="zh-CN" dirty="0"/>
              <a:t>(</a:t>
            </a:r>
            <a:r>
              <a:rPr lang="en-US" altLang="zh-CN" dirty="0" err="1"/>
              <a:t>DElemType</a:t>
            </a:r>
            <a:r>
              <a:rPr lang="en-US" altLang="zh-CN" dirty="0"/>
              <a:t> e){</a:t>
            </a:r>
          </a:p>
          <a:p>
            <a:r>
              <a:rPr lang="en-US" altLang="zh-CN" dirty="0"/>
              <a:t> //</a:t>
            </a:r>
            <a:r>
              <a:rPr lang="zh-CN" altLang="zh-CN" dirty="0"/>
              <a:t>递归创建的二叉排序树传递给私有成员</a:t>
            </a:r>
          </a:p>
          <a:p>
            <a:r>
              <a:rPr lang="en-US" altLang="zh-CN" dirty="0"/>
              <a:t>   </a:t>
            </a:r>
            <a:r>
              <a:rPr lang="en-US" altLang="zh-CN" dirty="0" err="1"/>
              <a:t>BstNode</a:t>
            </a:r>
            <a:r>
              <a:rPr lang="en-US" altLang="zh-CN" dirty="0"/>
              <a:t> *t=</a:t>
            </a:r>
            <a:r>
              <a:rPr lang="en-US" altLang="zh-CN" dirty="0" err="1"/>
              <a:t>bst</a:t>
            </a:r>
            <a:r>
              <a:rPr lang="en-US" altLang="zh-CN" dirty="0"/>
              <a:t>;</a:t>
            </a:r>
            <a:endParaRPr lang="zh-CN" altLang="zh-CN" dirty="0"/>
          </a:p>
          <a:p>
            <a:r>
              <a:rPr lang="en-US" altLang="zh-CN" dirty="0"/>
              <a:t>   Insert(</a:t>
            </a:r>
            <a:r>
              <a:rPr lang="en-US" altLang="zh-CN" dirty="0" err="1"/>
              <a:t>t,e</a:t>
            </a:r>
            <a:r>
              <a:rPr lang="en-US" altLang="zh-CN" dirty="0"/>
              <a:t>);</a:t>
            </a:r>
            <a:endParaRPr lang="zh-CN" altLang="zh-CN" dirty="0"/>
          </a:p>
          <a:p>
            <a:r>
              <a:rPr lang="en-US" altLang="zh-CN" dirty="0"/>
              <a:t>   </a:t>
            </a:r>
            <a:r>
              <a:rPr lang="en-US" altLang="zh-CN" dirty="0" err="1"/>
              <a:t>bst</a:t>
            </a:r>
            <a:r>
              <a:rPr lang="en-US" altLang="zh-CN" dirty="0"/>
              <a:t>=t;</a:t>
            </a:r>
            <a:endParaRPr lang="zh-CN" altLang="zh-CN" dirty="0"/>
          </a:p>
          <a:p>
            <a:r>
              <a:rPr lang="en-US" altLang="zh-CN" dirty="0"/>
              <a:t>}</a:t>
            </a:r>
            <a:endParaRPr lang="zh-CN" altLang="zh-CN" dirty="0"/>
          </a:p>
          <a:p>
            <a:endParaRPr lang="zh-CN" altLang="en-US" dirty="0"/>
          </a:p>
        </p:txBody>
      </p:sp>
      <p:sp>
        <p:nvSpPr>
          <p:cNvPr id="5" name="文本框 4"/>
          <p:cNvSpPr txBox="1"/>
          <p:nvPr/>
        </p:nvSpPr>
        <p:spPr>
          <a:xfrm>
            <a:off x="3612994" y="2615057"/>
            <a:ext cx="5508104" cy="2246769"/>
          </a:xfrm>
          <a:prstGeom prst="rect">
            <a:avLst/>
          </a:prstGeom>
          <a:solidFill>
            <a:schemeClr val="accent2">
              <a:lumMod val="40000"/>
              <a:lumOff val="60000"/>
            </a:schemeClr>
          </a:solidFill>
        </p:spPr>
        <p:txBody>
          <a:bodyPr wrap="square" rtlCol="0">
            <a:spAutoFit/>
          </a:bodyPr>
          <a:lstStyle/>
          <a:p>
            <a:pPr algn="just"/>
            <a:r>
              <a:rPr lang="zh-CN" altLang="zh-CN" sz="1600" dirty="0"/>
              <a:t>二叉排序树的生成是从一个空树出发，每插入一个关键字，就调用一次插入算法</a:t>
            </a:r>
            <a:r>
              <a:rPr lang="en-US" altLang="zh-CN" sz="1600" dirty="0" err="1"/>
              <a:t>InsertBST</a:t>
            </a:r>
            <a:r>
              <a:rPr lang="zh-CN" altLang="zh-CN" sz="1600" dirty="0"/>
              <a:t>。从关键字数组</a:t>
            </a:r>
            <a:r>
              <a:rPr lang="en-US" altLang="zh-CN" sz="1600" dirty="0"/>
              <a:t>d[]</a:t>
            </a:r>
            <a:r>
              <a:rPr lang="zh-CN" altLang="zh-CN" sz="1600" dirty="0"/>
              <a:t>生成二叉排序树的算法如下：</a:t>
            </a:r>
          </a:p>
          <a:p>
            <a:r>
              <a:rPr lang="en-US" altLang="zh-CN" dirty="0"/>
              <a:t>void </a:t>
            </a:r>
            <a:r>
              <a:rPr lang="en-US" altLang="zh-CN" dirty="0" err="1"/>
              <a:t>BsTree</a:t>
            </a:r>
            <a:r>
              <a:rPr lang="en-US" altLang="zh-CN" dirty="0"/>
              <a:t>::</a:t>
            </a:r>
            <a:r>
              <a:rPr lang="en-US" altLang="zh-CN" dirty="0" err="1"/>
              <a:t>CreateBiTree</a:t>
            </a:r>
            <a:r>
              <a:rPr lang="en-US" altLang="zh-CN" dirty="0"/>
              <a:t>(</a:t>
            </a:r>
            <a:r>
              <a:rPr lang="en-US" altLang="zh-CN" dirty="0" err="1"/>
              <a:t>DElemType</a:t>
            </a:r>
            <a:r>
              <a:rPr lang="en-US" altLang="zh-CN" dirty="0"/>
              <a:t> d[ ],</a:t>
            </a:r>
            <a:r>
              <a:rPr lang="en-US" altLang="zh-CN" dirty="0" err="1"/>
              <a:t>int</a:t>
            </a:r>
            <a:r>
              <a:rPr lang="en-US" altLang="zh-CN" dirty="0"/>
              <a:t> n){</a:t>
            </a:r>
          </a:p>
          <a:p>
            <a:r>
              <a:rPr lang="en-US" altLang="zh-CN" dirty="0"/>
              <a:t>    //n</a:t>
            </a:r>
            <a:r>
              <a:rPr lang="zh-CN" altLang="zh-CN" dirty="0"/>
              <a:t>个数据在数组</a:t>
            </a:r>
            <a:r>
              <a:rPr lang="en-US" altLang="zh-CN" dirty="0"/>
              <a:t>d</a:t>
            </a:r>
            <a:r>
              <a:rPr lang="zh-CN" altLang="zh-CN" dirty="0"/>
              <a:t>中</a:t>
            </a:r>
          </a:p>
          <a:p>
            <a:r>
              <a:rPr lang="en-US" altLang="zh-CN" dirty="0"/>
              <a:t>    for(</a:t>
            </a:r>
            <a:r>
              <a:rPr lang="en-US" altLang="zh-CN" dirty="0" err="1"/>
              <a:t>int</a:t>
            </a:r>
            <a:r>
              <a:rPr lang="en-US" altLang="zh-CN" dirty="0"/>
              <a:t> </a:t>
            </a:r>
            <a:r>
              <a:rPr lang="en-US" altLang="zh-CN" dirty="0" err="1"/>
              <a:t>i</a:t>
            </a:r>
            <a:r>
              <a:rPr lang="en-US" altLang="zh-CN" dirty="0"/>
              <a:t>=0;i&lt;</a:t>
            </a:r>
            <a:r>
              <a:rPr lang="en-US" altLang="zh-CN" dirty="0" err="1"/>
              <a:t>n;i</a:t>
            </a:r>
            <a:r>
              <a:rPr lang="en-US" altLang="zh-CN" dirty="0"/>
              <a:t>++)</a:t>
            </a:r>
            <a:endParaRPr lang="zh-CN" altLang="zh-CN" dirty="0"/>
          </a:p>
          <a:p>
            <a:r>
              <a:rPr lang="en-US" altLang="zh-CN" dirty="0"/>
              <a:t>       </a:t>
            </a:r>
            <a:r>
              <a:rPr lang="en-US" altLang="zh-CN" dirty="0" err="1"/>
              <a:t>InsertBST</a:t>
            </a:r>
            <a:r>
              <a:rPr lang="en-US" altLang="zh-CN" dirty="0"/>
              <a:t>(d[</a:t>
            </a:r>
            <a:r>
              <a:rPr lang="en-US" altLang="zh-CN" dirty="0" err="1"/>
              <a:t>i</a:t>
            </a:r>
            <a:r>
              <a:rPr lang="en-US" altLang="zh-CN" dirty="0"/>
              <a:t>]);</a:t>
            </a:r>
            <a:endParaRPr lang="zh-CN" altLang="zh-CN" dirty="0"/>
          </a:p>
          <a:p>
            <a:r>
              <a:rPr lang="en-US" altLang="zh-CN" dirty="0"/>
              <a:t>}</a:t>
            </a:r>
            <a:endParaRPr lang="zh-CN" altLang="zh-CN" dirty="0"/>
          </a:p>
        </p:txBody>
      </p:sp>
      <p:sp>
        <p:nvSpPr>
          <p:cNvPr id="6" name="文本框 5"/>
          <p:cNvSpPr txBox="1"/>
          <p:nvPr/>
        </p:nvSpPr>
        <p:spPr>
          <a:xfrm>
            <a:off x="611380" y="115457"/>
            <a:ext cx="30245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二叉排序树的插入与生成</a:t>
            </a:r>
          </a:p>
        </p:txBody>
      </p:sp>
    </p:spTree>
    <p:extLst>
      <p:ext uri="{BB962C8B-B14F-4D97-AF65-F5344CB8AC3E}">
        <p14:creationId xmlns:p14="http://schemas.microsoft.com/office/powerpoint/2010/main" val="133004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500" fill="hold"/>
                                        <p:tgtEl>
                                          <p:spTgt spid="4"/>
                                        </p:tgtEl>
                                        <p:attrNameLst>
                                          <p:attrName>ppt_x</p:attrName>
                                        </p:attrNameLst>
                                      </p:cBhvr>
                                      <p:tavLst>
                                        <p:tav tm="0">
                                          <p:val>
                                            <p:strVal val="0-#ppt_w/2"/>
                                          </p:val>
                                        </p:tav>
                                        <p:tav tm="100000">
                                          <p:val>
                                            <p:strVal val="#ppt_x"/>
                                          </p:val>
                                        </p:tav>
                                      </p:tavLst>
                                    </p:anim>
                                    <p:anim calcmode="lin" valueType="num">
                                      <p:cBhvr additive="base">
                                        <p:cTn id="6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4">
                                            <p:txEl>
                                              <p:pRg st="0" end="0"/>
                                            </p:txEl>
                                          </p:spTgt>
                                        </p:tgtEl>
                                        <p:attrNameLst>
                                          <p:attrName>style.visibility</p:attrName>
                                        </p:attrNameLst>
                                      </p:cBhvr>
                                      <p:to>
                                        <p:strVal val="visible"/>
                                      </p:to>
                                    </p:set>
                                    <p:animEffect transition="in" filter="fade">
                                      <p:cBhvr>
                                        <p:cTn id="73" dur="1000"/>
                                        <p:tgtEl>
                                          <p:spTgt spid="4">
                                            <p:txEl>
                                              <p:pRg st="0" end="0"/>
                                            </p:txEl>
                                          </p:spTgt>
                                        </p:tgtEl>
                                      </p:cBhvr>
                                    </p:animEffect>
                                    <p:anim calcmode="lin" valueType="num">
                                      <p:cBhvr>
                                        <p:cTn id="7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75" dur="1000" fill="hold"/>
                                        <p:tgtEl>
                                          <p:spTgt spid="4">
                                            <p:txEl>
                                              <p:pRg st="0" end="0"/>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4">
                                            <p:txEl>
                                              <p:pRg st="1" end="1"/>
                                            </p:txEl>
                                          </p:spTgt>
                                        </p:tgtEl>
                                        <p:attrNameLst>
                                          <p:attrName>style.visibility</p:attrName>
                                        </p:attrNameLst>
                                      </p:cBhvr>
                                      <p:to>
                                        <p:strVal val="visible"/>
                                      </p:to>
                                    </p:set>
                                    <p:animEffect transition="in" filter="fade">
                                      <p:cBhvr>
                                        <p:cTn id="78" dur="1000"/>
                                        <p:tgtEl>
                                          <p:spTgt spid="4">
                                            <p:txEl>
                                              <p:pRg st="1" end="1"/>
                                            </p:txEl>
                                          </p:spTgt>
                                        </p:tgtEl>
                                      </p:cBhvr>
                                    </p:animEffect>
                                    <p:anim calcmode="lin" valueType="num">
                                      <p:cBhvr>
                                        <p:cTn id="7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8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4">
                                            <p:txEl>
                                              <p:pRg st="2" end="2"/>
                                            </p:txEl>
                                          </p:spTgt>
                                        </p:tgtEl>
                                        <p:attrNameLst>
                                          <p:attrName>style.visibility</p:attrName>
                                        </p:attrNameLst>
                                      </p:cBhvr>
                                      <p:to>
                                        <p:strVal val="visible"/>
                                      </p:to>
                                    </p:set>
                                    <p:animEffect transition="in" filter="fade">
                                      <p:cBhvr>
                                        <p:cTn id="85" dur="1000"/>
                                        <p:tgtEl>
                                          <p:spTgt spid="4">
                                            <p:txEl>
                                              <p:pRg st="2" end="2"/>
                                            </p:txEl>
                                          </p:spTgt>
                                        </p:tgtEl>
                                      </p:cBhvr>
                                    </p:animEffect>
                                    <p:anim calcmode="lin" valueType="num">
                                      <p:cBhvr>
                                        <p:cTn id="8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8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4">
                                            <p:txEl>
                                              <p:pRg st="3" end="3"/>
                                            </p:txEl>
                                          </p:spTgt>
                                        </p:tgtEl>
                                        <p:attrNameLst>
                                          <p:attrName>style.visibility</p:attrName>
                                        </p:attrNameLst>
                                      </p:cBhvr>
                                      <p:to>
                                        <p:strVal val="visible"/>
                                      </p:to>
                                    </p:set>
                                    <p:animEffect transition="in" filter="fade">
                                      <p:cBhvr>
                                        <p:cTn id="92" dur="1000"/>
                                        <p:tgtEl>
                                          <p:spTgt spid="4">
                                            <p:txEl>
                                              <p:pRg st="3" end="3"/>
                                            </p:txEl>
                                          </p:spTgt>
                                        </p:tgtEl>
                                      </p:cBhvr>
                                    </p:animEffect>
                                    <p:anim calcmode="lin" valueType="num">
                                      <p:cBhvr>
                                        <p:cTn id="9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4">
                                            <p:txEl>
                                              <p:pRg st="4" end="4"/>
                                            </p:txEl>
                                          </p:spTgt>
                                        </p:tgtEl>
                                        <p:attrNameLst>
                                          <p:attrName>style.visibility</p:attrName>
                                        </p:attrNameLst>
                                      </p:cBhvr>
                                      <p:to>
                                        <p:strVal val="visible"/>
                                      </p:to>
                                    </p:set>
                                    <p:animEffect transition="in" filter="fade">
                                      <p:cBhvr>
                                        <p:cTn id="99" dur="1000"/>
                                        <p:tgtEl>
                                          <p:spTgt spid="4">
                                            <p:txEl>
                                              <p:pRg st="4" end="4"/>
                                            </p:txEl>
                                          </p:spTgt>
                                        </p:tgtEl>
                                      </p:cBhvr>
                                    </p:animEffect>
                                    <p:anim calcmode="lin" valueType="num">
                                      <p:cBhvr>
                                        <p:cTn id="10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0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0"/>
                                  </p:stCondLst>
                                  <p:childTnLst>
                                    <p:set>
                                      <p:cBhvr>
                                        <p:cTn id="103" dur="1" fill="hold">
                                          <p:stCondLst>
                                            <p:cond delay="0"/>
                                          </p:stCondLst>
                                        </p:cTn>
                                        <p:tgtEl>
                                          <p:spTgt spid="4">
                                            <p:txEl>
                                              <p:pRg st="5" end="5"/>
                                            </p:txEl>
                                          </p:spTgt>
                                        </p:tgtEl>
                                        <p:attrNameLst>
                                          <p:attrName>style.visibility</p:attrName>
                                        </p:attrNameLst>
                                      </p:cBhvr>
                                      <p:to>
                                        <p:strVal val="visible"/>
                                      </p:to>
                                    </p:set>
                                    <p:animEffect transition="in" filter="fade">
                                      <p:cBhvr>
                                        <p:cTn id="104" dur="1000"/>
                                        <p:tgtEl>
                                          <p:spTgt spid="4">
                                            <p:txEl>
                                              <p:pRg st="5" end="5"/>
                                            </p:txEl>
                                          </p:spTgt>
                                        </p:tgtEl>
                                      </p:cBhvr>
                                    </p:animEffect>
                                    <p:anim calcmode="lin" valueType="num">
                                      <p:cBhvr>
                                        <p:cTn id="10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0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8" fill="hold" grpId="0" nodeType="clickEffect">
                                  <p:stCondLst>
                                    <p:cond delay="0"/>
                                  </p:stCondLst>
                                  <p:childTnLst>
                                    <p:set>
                                      <p:cBhvr>
                                        <p:cTn id="110" dur="1" fill="hold">
                                          <p:stCondLst>
                                            <p:cond delay="0"/>
                                          </p:stCondLst>
                                        </p:cTn>
                                        <p:tgtEl>
                                          <p:spTgt spid="5"/>
                                        </p:tgtEl>
                                        <p:attrNameLst>
                                          <p:attrName>style.visibility</p:attrName>
                                        </p:attrNameLst>
                                      </p:cBhvr>
                                      <p:to>
                                        <p:strVal val="visible"/>
                                      </p:to>
                                    </p:set>
                                    <p:anim calcmode="lin" valueType="num">
                                      <p:cBhvr additive="base">
                                        <p:cTn id="111" dur="500" fill="hold"/>
                                        <p:tgtEl>
                                          <p:spTgt spid="5"/>
                                        </p:tgtEl>
                                        <p:attrNameLst>
                                          <p:attrName>ppt_x</p:attrName>
                                        </p:attrNameLst>
                                      </p:cBhvr>
                                      <p:tavLst>
                                        <p:tav tm="0">
                                          <p:val>
                                            <p:strVal val="0-#ppt_w/2"/>
                                          </p:val>
                                        </p:tav>
                                        <p:tav tm="100000">
                                          <p:val>
                                            <p:strVal val="#ppt_x"/>
                                          </p:val>
                                        </p:tav>
                                      </p:tavLst>
                                    </p:anim>
                                    <p:anim calcmode="lin" valueType="num">
                                      <p:cBhvr additive="base">
                                        <p:cTn id="1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5">
                                            <p:txEl>
                                              <p:pRg st="0" end="0"/>
                                            </p:txEl>
                                          </p:spTgt>
                                        </p:tgtEl>
                                        <p:attrNameLst>
                                          <p:attrName>style.visibility</p:attrName>
                                        </p:attrNameLst>
                                      </p:cBhvr>
                                      <p:to>
                                        <p:strVal val="visible"/>
                                      </p:to>
                                    </p:set>
                                    <p:animEffect transition="in" filter="fade">
                                      <p:cBhvr>
                                        <p:cTn id="117" dur="1000"/>
                                        <p:tgtEl>
                                          <p:spTgt spid="5">
                                            <p:txEl>
                                              <p:pRg st="0" end="0"/>
                                            </p:txEl>
                                          </p:spTgt>
                                        </p:tgtEl>
                                      </p:cBhvr>
                                    </p:animEffect>
                                    <p:anim calcmode="lin" valueType="num">
                                      <p:cBhvr>
                                        <p:cTn id="1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1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clickEffect">
                                  <p:stCondLst>
                                    <p:cond delay="0"/>
                                  </p:stCondLst>
                                  <p:childTnLst>
                                    <p:set>
                                      <p:cBhvr>
                                        <p:cTn id="123" dur="1" fill="hold">
                                          <p:stCondLst>
                                            <p:cond delay="0"/>
                                          </p:stCondLst>
                                        </p:cTn>
                                        <p:tgtEl>
                                          <p:spTgt spid="5">
                                            <p:txEl>
                                              <p:pRg st="1" end="1"/>
                                            </p:txEl>
                                          </p:spTgt>
                                        </p:tgtEl>
                                        <p:attrNameLst>
                                          <p:attrName>style.visibility</p:attrName>
                                        </p:attrNameLst>
                                      </p:cBhvr>
                                      <p:to>
                                        <p:strVal val="visible"/>
                                      </p:to>
                                    </p:set>
                                    <p:anim calcmode="lin" valueType="num">
                                      <p:cBhvr additive="base">
                                        <p:cTn id="12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26" presetID="2" presetClass="entr" presetSubtype="4" fill="hold" nodeType="withEffect">
                                  <p:stCondLst>
                                    <p:cond delay="0"/>
                                  </p:stCondLst>
                                  <p:childTnLst>
                                    <p:set>
                                      <p:cBhvr>
                                        <p:cTn id="127" dur="1" fill="hold">
                                          <p:stCondLst>
                                            <p:cond delay="0"/>
                                          </p:stCondLst>
                                        </p:cTn>
                                        <p:tgtEl>
                                          <p:spTgt spid="5">
                                            <p:txEl>
                                              <p:pRg st="2" end="2"/>
                                            </p:txEl>
                                          </p:spTgt>
                                        </p:tgtEl>
                                        <p:attrNameLst>
                                          <p:attrName>style.visibility</p:attrName>
                                        </p:attrNameLst>
                                      </p:cBhvr>
                                      <p:to>
                                        <p:strVal val="visible"/>
                                      </p:to>
                                    </p:set>
                                    <p:anim calcmode="lin" valueType="num">
                                      <p:cBhvr additive="base">
                                        <p:cTn id="12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nodeType="clickEffect">
                                  <p:stCondLst>
                                    <p:cond delay="0"/>
                                  </p:stCondLst>
                                  <p:childTnLst>
                                    <p:set>
                                      <p:cBhvr>
                                        <p:cTn id="133" dur="1" fill="hold">
                                          <p:stCondLst>
                                            <p:cond delay="0"/>
                                          </p:stCondLst>
                                        </p:cTn>
                                        <p:tgtEl>
                                          <p:spTgt spid="5">
                                            <p:txEl>
                                              <p:pRg st="3" end="3"/>
                                            </p:txEl>
                                          </p:spTgt>
                                        </p:tgtEl>
                                        <p:attrNameLst>
                                          <p:attrName>style.visibility</p:attrName>
                                        </p:attrNameLst>
                                      </p:cBhvr>
                                      <p:to>
                                        <p:strVal val="visible"/>
                                      </p:to>
                                    </p:set>
                                    <p:animEffect transition="in" filter="fade">
                                      <p:cBhvr>
                                        <p:cTn id="134" dur="1000"/>
                                        <p:tgtEl>
                                          <p:spTgt spid="5">
                                            <p:txEl>
                                              <p:pRg st="3" end="3"/>
                                            </p:txEl>
                                          </p:spTgt>
                                        </p:tgtEl>
                                      </p:cBhvr>
                                    </p:animEffect>
                                    <p:anim calcmode="lin" valueType="num">
                                      <p:cBhvr>
                                        <p:cTn id="13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36"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0"/>
                                  </p:stCondLst>
                                  <p:childTnLst>
                                    <p:set>
                                      <p:cBhvr>
                                        <p:cTn id="138" dur="1" fill="hold">
                                          <p:stCondLst>
                                            <p:cond delay="0"/>
                                          </p:stCondLst>
                                        </p:cTn>
                                        <p:tgtEl>
                                          <p:spTgt spid="5">
                                            <p:txEl>
                                              <p:pRg st="4" end="4"/>
                                            </p:txEl>
                                          </p:spTgt>
                                        </p:tgtEl>
                                        <p:attrNameLst>
                                          <p:attrName>style.visibility</p:attrName>
                                        </p:attrNameLst>
                                      </p:cBhvr>
                                      <p:to>
                                        <p:strVal val="visible"/>
                                      </p:to>
                                    </p:set>
                                    <p:animEffect transition="in" filter="fade">
                                      <p:cBhvr>
                                        <p:cTn id="139" dur="1000"/>
                                        <p:tgtEl>
                                          <p:spTgt spid="5">
                                            <p:txEl>
                                              <p:pRg st="4" end="4"/>
                                            </p:txEl>
                                          </p:spTgt>
                                        </p:tgtEl>
                                      </p:cBhvr>
                                    </p:animEffect>
                                    <p:anim calcmode="lin" valueType="num">
                                      <p:cBhvr>
                                        <p:cTn id="14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1"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42" presetID="42" presetClass="entr" presetSubtype="0" fill="hold" nodeType="withEffect">
                                  <p:stCondLst>
                                    <p:cond delay="0"/>
                                  </p:stCondLst>
                                  <p:childTnLst>
                                    <p:set>
                                      <p:cBhvr>
                                        <p:cTn id="143" dur="1" fill="hold">
                                          <p:stCondLst>
                                            <p:cond delay="0"/>
                                          </p:stCondLst>
                                        </p:cTn>
                                        <p:tgtEl>
                                          <p:spTgt spid="5">
                                            <p:txEl>
                                              <p:pRg st="5" end="5"/>
                                            </p:txEl>
                                          </p:spTgt>
                                        </p:tgtEl>
                                        <p:attrNameLst>
                                          <p:attrName>style.visibility</p:attrName>
                                        </p:attrNameLst>
                                      </p:cBhvr>
                                      <p:to>
                                        <p:strVal val="visible"/>
                                      </p:to>
                                    </p:set>
                                    <p:animEffect transition="in" filter="fade">
                                      <p:cBhvr>
                                        <p:cTn id="144" dur="1000"/>
                                        <p:tgtEl>
                                          <p:spTgt spid="5">
                                            <p:txEl>
                                              <p:pRg st="5" end="5"/>
                                            </p:txEl>
                                          </p:spTgt>
                                        </p:tgtEl>
                                      </p:cBhvr>
                                    </p:animEffect>
                                    <p:anim calcmode="lin" valueType="num">
                                      <p:cBhvr>
                                        <p:cTn id="14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9001000" cy="1795658"/>
              </a:xfrm>
            </p:spPr>
            <p:txBody>
              <a:bodyPr/>
              <a:lstStyle/>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由于二叉排序树按中序遍历可得有序序列，所以在二叉排序树中进行查找，与二分查找类似，也是一个逐步缩小查找范围的过程。查找的步骤如下：</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）若二叉树</a:t>
                </a:r>
                <a14:m>
                  <m:oMath xmlns:m="http://schemas.openxmlformats.org/officeDocument/2006/math">
                    <m:r>
                      <m:rPr>
                        <m:sty m:val="p"/>
                      </m:rPr>
                      <a:rPr lang="en-US" altLang="zh-CN" sz="1800">
                        <a:latin typeface="Cambria Math" panose="02040503050406030204" pitchFamily="18" charset="0"/>
                      </a:rPr>
                      <m:t>t</m:t>
                    </m:r>
                  </m:oMath>
                </a14:m>
                <a:r>
                  <a:rPr lang="zh-CN" altLang="zh-CN" sz="1800" dirty="0">
                    <a:latin typeface="Times New Roman" panose="02020603050405020304" pitchFamily="18" charset="0"/>
                    <a:cs typeface="Times New Roman" panose="02020603050405020304" pitchFamily="18" charset="0"/>
                  </a:rPr>
                  <a:t>为空，或</a:t>
                </a:r>
                <a:r>
                  <a:rPr lang="en-US" altLang="zh-CN" sz="1800" dirty="0">
                    <a:latin typeface="Times New Roman" panose="02020603050405020304" pitchFamily="18" charset="0"/>
                    <a:cs typeface="Times New Roman" panose="02020603050405020304" pitchFamily="18" charset="0"/>
                  </a:rPr>
                  <a:t>key==t-&gt;</a:t>
                </a:r>
                <a:r>
                  <a:rPr lang="en-US" altLang="zh-CN" sz="1800" dirty="0" err="1">
                    <a:latin typeface="Times New Roman" panose="02020603050405020304" pitchFamily="18" charset="0"/>
                    <a:cs typeface="Times New Roman" panose="02020603050405020304" pitchFamily="18" charset="0"/>
                  </a:rPr>
                  <a:t>data.key</a:t>
                </a:r>
                <a:r>
                  <a:rPr lang="zh-CN" altLang="zh-CN" sz="1800" dirty="0">
                    <a:latin typeface="Times New Roman" panose="02020603050405020304" pitchFamily="18" charset="0"/>
                    <a:cs typeface="Times New Roman" panose="02020603050405020304" pitchFamily="18" charset="0"/>
                  </a:rPr>
                  <a:t>，则返回</a:t>
                </a:r>
                <a:r>
                  <a:rPr lang="en-US" altLang="zh-CN" sz="1800" dirty="0">
                    <a:latin typeface="Times New Roman" panose="02020603050405020304" pitchFamily="18" charset="0"/>
                    <a:cs typeface="Times New Roman" panose="02020603050405020304" pitchFamily="18" charset="0"/>
                  </a:rPr>
                  <a:t>t</a:t>
                </a:r>
                <a:r>
                  <a:rPr lang="zh-CN" altLang="zh-CN" sz="1800" dirty="0">
                    <a:latin typeface="Times New Roman" panose="02020603050405020304" pitchFamily="18" charset="0"/>
                    <a:cs typeface="Times New Roman" panose="02020603050405020304" pitchFamily="18" charset="0"/>
                  </a:rPr>
                  <a:t>；否则，</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）将</a:t>
                </a:r>
                <a14:m>
                  <m:oMath xmlns:m="http://schemas.openxmlformats.org/officeDocument/2006/math">
                    <m:r>
                      <m:rPr>
                        <m:sty m:val="p"/>
                      </m:rPr>
                      <a:rPr lang="en-US" altLang="zh-CN" sz="1800">
                        <a:latin typeface="Cambria Math" panose="02040503050406030204" pitchFamily="18" charset="0"/>
                      </a:rPr>
                      <m:t>key</m:t>
                    </m:r>
                  </m:oMath>
                </a14:m>
                <a:r>
                  <a:rPr lang="zh-CN" altLang="zh-CN" sz="1800" dirty="0">
                    <a:latin typeface="Times New Roman" panose="02020603050405020304" pitchFamily="18" charset="0"/>
                    <a:cs typeface="Times New Roman" panose="02020603050405020304" pitchFamily="18" charset="0"/>
                  </a:rPr>
                  <a:t>与根结点的关键字比较，若</a:t>
                </a:r>
                <a14:m>
                  <m:oMath xmlns:m="http://schemas.openxmlformats.org/officeDocument/2006/math">
                    <m:r>
                      <m:rPr>
                        <m:sty m:val="p"/>
                      </m:rPr>
                      <a:rPr lang="en-US" altLang="zh-CN" sz="1800">
                        <a:latin typeface="Cambria Math" panose="02040503050406030204" pitchFamily="18" charset="0"/>
                      </a:rPr>
                      <m:t>key</m:t>
                    </m:r>
                    <m:r>
                      <a:rPr lang="en-US" altLang="zh-CN" sz="1800">
                        <a:latin typeface="Cambria Math" panose="02040503050406030204" pitchFamily="18" charset="0"/>
                      </a:rPr>
                      <m:t>&lt;</m:t>
                    </m:r>
                    <m:r>
                      <m:rPr>
                        <m:sty m:val="p"/>
                      </m:rPr>
                      <a:rPr lang="en-US" altLang="zh-CN" sz="1800">
                        <a:latin typeface="Cambria Math" panose="02040503050406030204" pitchFamily="18" charset="0"/>
                      </a:rPr>
                      <m:t>t</m:t>
                    </m:r>
                    <m:r>
                      <a:rPr lang="en-US" altLang="zh-CN" sz="1800" i="1">
                        <a:latin typeface="Cambria Math" panose="02040503050406030204" pitchFamily="18" charset="0"/>
                      </a:rPr>
                      <m:t>−</m:t>
                    </m:r>
                    <m:r>
                      <a:rPr lang="en-US" altLang="zh-CN" sz="1800">
                        <a:latin typeface="Cambria Math" panose="02040503050406030204" pitchFamily="18" charset="0"/>
                      </a:rPr>
                      <m:t>&gt;</m:t>
                    </m:r>
                    <m:r>
                      <m:rPr>
                        <m:sty m:val="p"/>
                      </m:rPr>
                      <a:rPr lang="en-US" altLang="zh-CN" sz="1800">
                        <a:latin typeface="Cambria Math" panose="02040503050406030204" pitchFamily="18" charset="0"/>
                      </a:rPr>
                      <m:t>data</m:t>
                    </m:r>
                    <m:r>
                      <a:rPr lang="en-US" altLang="zh-CN" sz="1800">
                        <a:latin typeface="Cambria Math" panose="02040503050406030204" pitchFamily="18" charset="0"/>
                      </a:rPr>
                      <m:t>.</m:t>
                    </m:r>
                    <m:r>
                      <m:rPr>
                        <m:sty m:val="p"/>
                      </m:rPr>
                      <a:rPr lang="en-US" altLang="zh-CN" sz="1800">
                        <a:latin typeface="Cambria Math" panose="02040503050406030204" pitchFamily="18" charset="0"/>
                      </a:rPr>
                      <m:t>key</m:t>
                    </m:r>
                  </m:oMath>
                </a14:m>
                <a:r>
                  <a:rPr lang="zh-CN" altLang="zh-CN" sz="1800" dirty="0">
                    <a:latin typeface="Times New Roman" panose="02020603050405020304" pitchFamily="18" charset="0"/>
                    <a:cs typeface="Times New Roman" panose="02020603050405020304" pitchFamily="18" charset="0"/>
                  </a:rPr>
                  <a:t>，则递归查找左子树，否则递归查找右子树。</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9001000" cy="1795658"/>
              </a:xfrm>
              <a:blipFill>
                <a:blip r:embed="rId2"/>
                <a:stretch>
                  <a:fillRect l="-881" t="-27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07504" y="2931790"/>
                <a:ext cx="9505056" cy="1636025"/>
              </a:xfrm>
              <a:prstGeom prst="rect">
                <a:avLst/>
              </a:prstGeom>
              <a:noFill/>
            </p:spPr>
            <p:txBody>
              <a:bodyPr wrap="square" rtlCol="0">
                <a:spAutoFit/>
              </a:bodyPr>
              <a:lstStyle/>
              <a:p>
                <a:r>
                  <a:rPr lang="zh-CN" altLang="zh-CN" dirty="0">
                    <a:latin typeface="Times New Roman" panose="02020603050405020304" pitchFamily="18" charset="0"/>
                    <a:ea typeface="黑体" panose="02010609060101010101" pitchFamily="49" charset="-122"/>
                    <a:cs typeface="Times New Roman" panose="02020603050405020304" pitchFamily="18" charset="0"/>
                  </a:rPr>
                  <a:t>二叉排序树查找的递归模型如下：</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m:rPr>
                          <m:sty m:val="p"/>
                        </m:rPr>
                        <a:rPr lang="en-US" altLang="zh-CN" sz="1600">
                          <a:latin typeface="Cambria Math" panose="02040503050406030204" pitchFamily="18" charset="0"/>
                        </a:rPr>
                        <m:t>Search</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t</m:t>
                          </m:r>
                          <m:r>
                            <a:rPr lang="en-US" altLang="zh-CN" sz="1600">
                              <a:latin typeface="Cambria Math" panose="02040503050406030204" pitchFamily="18" charset="0"/>
                            </a:rPr>
                            <m:t>, </m:t>
                          </m:r>
                          <m:r>
                            <m:rPr>
                              <m:sty m:val="p"/>
                            </m:rPr>
                            <a:rPr lang="en-US" altLang="zh-CN" sz="1600">
                              <a:latin typeface="Cambria Math" panose="02040503050406030204" pitchFamily="18" charset="0"/>
                            </a:rPr>
                            <m:t>key</m:t>
                          </m:r>
                        </m:e>
                      </m:d>
                      <m:r>
                        <a:rPr lang="en-U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eqArr>
                            <m:eqArrPr>
                              <m:ctrlPr>
                                <a:rPr lang="zh-CN" altLang="zh-CN" sz="1600" i="1">
                                  <a:latin typeface="Cambria Math" panose="02040503050406030204" pitchFamily="18" charset="0"/>
                                </a:rPr>
                              </m:ctrlPr>
                            </m:eqArrPr>
                            <m:e>
                              <m:r>
                                <m:rPr>
                                  <m:sty m:val="p"/>
                                </m:rPr>
                                <a:rPr lang="en-US" altLang="zh-CN" sz="1600">
                                  <a:latin typeface="Cambria Math" panose="02040503050406030204" pitchFamily="18" charset="0"/>
                                </a:rPr>
                                <m:t>t</m:t>
                              </m:r>
                              <m:r>
                                <a:rPr lang="en-US" altLang="zh-CN" sz="1600">
                                  <a:latin typeface="Cambria Math" panose="02040503050406030204" pitchFamily="18" charset="0"/>
                                </a:rPr>
                                <m:t>       </m:t>
                              </m:r>
                              <m:r>
                                <a:rPr lang="zh-CN" altLang="zh-CN" sz="1600">
                                  <a:latin typeface="Cambria Math" panose="02040503050406030204" pitchFamily="18" charset="0"/>
                                </a:rPr>
                                <m:t>若</m:t>
                              </m:r>
                              <m:r>
                                <m:rPr>
                                  <m:sty m:val="p"/>
                                </m:rPr>
                                <a:rPr lang="en-US" altLang="zh-CN" sz="1600">
                                  <a:latin typeface="Cambria Math" panose="02040503050406030204" pitchFamily="18" charset="0"/>
                                </a:rPr>
                                <m:t>t</m:t>
                              </m:r>
                              <m:r>
                                <a:rPr lang="en-US" altLang="zh-CN" sz="1600">
                                  <a:latin typeface="Cambria Math" panose="02040503050406030204" pitchFamily="18" charset="0"/>
                                </a:rPr>
                                <m:t>==</m:t>
                              </m:r>
                              <m:r>
                                <m:rPr>
                                  <m:sty m:val="p"/>
                                </m:rPr>
                                <a:rPr lang="en-US" altLang="zh-CN" sz="1600">
                                  <a:latin typeface="Cambria Math" panose="02040503050406030204" pitchFamily="18" charset="0"/>
                                </a:rPr>
                                <m:t>NULL</m:t>
                              </m:r>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r>
                                <a:rPr lang="en-US" altLang="zh-CN" sz="1600">
                                  <a:latin typeface="Cambria Math" panose="02040503050406030204" pitchFamily="18" charset="0"/>
                                </a:rPr>
                                <m:t>==</m:t>
                              </m:r>
                              <m:r>
                                <m:rPr>
                                  <m:sty m:val="p"/>
                                </m:rPr>
                                <a:rPr lang="en-US" altLang="zh-CN" sz="1600">
                                  <a:latin typeface="Cambria Math" panose="02040503050406030204" pitchFamily="18" charset="0"/>
                                </a:rPr>
                                <m:t>t</m:t>
                              </m:r>
                              <m:r>
                                <a:rPr lang="en-US" altLang="zh-CN" sz="1600">
                                  <a:latin typeface="Cambria Math" panose="02040503050406030204" pitchFamily="18" charset="0"/>
                                </a:rPr>
                                <m:t>→</m:t>
                              </m:r>
                              <m:r>
                                <m:rPr>
                                  <m:sty m:val="p"/>
                                </m:rPr>
                                <a:rPr lang="en-US" altLang="zh-CN" sz="1600">
                                  <a:latin typeface="Cambria Math" panose="02040503050406030204" pitchFamily="18" charset="0"/>
                                </a:rPr>
                                <m:t>data</m:t>
                              </m:r>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e>
                            <m:e>
                              <m:d>
                                <m:dPr>
                                  <m:begChr m:val="{"/>
                                  <m:endChr m:val=""/>
                                  <m:ctrlPr>
                                    <a:rPr lang="zh-CN" altLang="zh-CN" sz="1600" i="1">
                                      <a:latin typeface="Cambria Math" panose="02040503050406030204" pitchFamily="18" charset="0"/>
                                    </a:rPr>
                                  </m:ctrlPr>
                                </m:dPr>
                                <m:e>
                                  <m:eqArr>
                                    <m:eqArrPr>
                                      <m:ctrlPr>
                                        <a:rPr lang="zh-CN" altLang="zh-CN" sz="1600" i="1">
                                          <a:latin typeface="Cambria Math" panose="02040503050406030204" pitchFamily="18" charset="0"/>
                                        </a:rPr>
                                      </m:ctrlPr>
                                    </m:eqArrPr>
                                    <m:e>
                                      <m:r>
                                        <m:rPr>
                                          <m:sty m:val="p"/>
                                        </m:rPr>
                                        <a:rPr lang="en-US" altLang="zh-CN" sz="1600">
                                          <a:latin typeface="Cambria Math" panose="02040503050406030204" pitchFamily="18" charset="0"/>
                                        </a:rPr>
                                        <m:t>Search</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t</m:t>
                                          </m:r>
                                          <m:r>
                                            <a:rPr lang="en-US" altLang="zh-CN" sz="1600">
                                              <a:latin typeface="Cambria Math" panose="02040503050406030204" pitchFamily="18" charset="0"/>
                                            </a:rPr>
                                            <m:t>→</m:t>
                                          </m:r>
                                          <m:r>
                                            <m:rPr>
                                              <m:sty m:val="p"/>
                                            </m:rPr>
                                            <a:rPr lang="en-US" altLang="zh-CN" sz="1600">
                                              <a:latin typeface="Cambria Math" panose="02040503050406030204" pitchFamily="18" charset="0"/>
                                            </a:rPr>
                                            <m:t>lchild</m:t>
                                          </m:r>
                                          <m:r>
                                            <a:rPr lang="en-US" altLang="zh-CN" sz="1600">
                                              <a:latin typeface="Cambria Math" panose="02040503050406030204" pitchFamily="18" charset="0"/>
                                            </a:rPr>
                                            <m:t>, </m:t>
                                          </m:r>
                                          <m:r>
                                            <m:rPr>
                                              <m:sty m:val="p"/>
                                            </m:rPr>
                                            <a:rPr lang="en-US" altLang="zh-CN" sz="1600">
                                              <a:latin typeface="Cambria Math" panose="02040503050406030204" pitchFamily="18" charset="0"/>
                                            </a:rPr>
                                            <m:t>key</m:t>
                                          </m:r>
                                        </m:e>
                                      </m:d>
                                      <m:r>
                                        <a:rPr lang="en-US" altLang="zh-CN" sz="1600">
                                          <a:latin typeface="Cambria Math" panose="02040503050406030204" pitchFamily="18" charset="0"/>
                                        </a:rPr>
                                        <m:t>      </m:t>
                                      </m:r>
                                      <m:r>
                                        <a:rPr lang="zh-CN" altLang="zh-CN" sz="1600">
                                          <a:latin typeface="Cambria Math" panose="02040503050406030204" pitchFamily="18" charset="0"/>
                                        </a:rPr>
                                        <m:t>若</m:t>
                                      </m:r>
                                      <m:r>
                                        <m:rPr>
                                          <m:sty m:val="p"/>
                                        </m:rPr>
                                        <a:rPr lang="en-US" altLang="zh-CN" sz="1600">
                                          <a:latin typeface="Cambria Math" panose="02040503050406030204" pitchFamily="18" charset="0"/>
                                        </a:rPr>
                                        <m:t>key</m:t>
                                      </m:r>
                                      <m:r>
                                        <a:rPr lang="en-US" altLang="zh-CN" sz="1600">
                                          <a:latin typeface="Cambria Math" panose="02040503050406030204" pitchFamily="18" charset="0"/>
                                        </a:rPr>
                                        <m:t>&lt;</m:t>
                                      </m:r>
                                      <m:r>
                                        <m:rPr>
                                          <m:sty m:val="p"/>
                                        </m:rPr>
                                        <a:rPr lang="en-US" altLang="zh-CN" sz="1600">
                                          <a:latin typeface="Cambria Math" panose="02040503050406030204" pitchFamily="18" charset="0"/>
                                        </a:rPr>
                                        <m:t>t</m:t>
                                      </m:r>
                                      <m:r>
                                        <a:rPr lang="en-US" altLang="zh-CN" sz="1600">
                                          <a:latin typeface="Cambria Math" panose="02040503050406030204" pitchFamily="18" charset="0"/>
                                        </a:rPr>
                                        <m:t>→</m:t>
                                      </m:r>
                                      <m:r>
                                        <m:rPr>
                                          <m:sty m:val="p"/>
                                        </m:rPr>
                                        <a:rPr lang="en-US" altLang="zh-CN" sz="1600">
                                          <a:latin typeface="Cambria Math" panose="02040503050406030204" pitchFamily="18" charset="0"/>
                                        </a:rPr>
                                        <m:t>data</m:t>
                                      </m:r>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e>
                                    <m:e>
                                      <m:r>
                                        <m:rPr>
                                          <m:sty m:val="p"/>
                                        </m:rPr>
                                        <a:rPr lang="en-US" altLang="zh-CN" sz="1600">
                                          <a:latin typeface="Cambria Math" panose="02040503050406030204" pitchFamily="18" charset="0"/>
                                        </a:rPr>
                                        <m:t>Search</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t</m:t>
                                          </m:r>
                                          <m:r>
                                            <a:rPr lang="en-US" altLang="zh-CN" sz="1600">
                                              <a:latin typeface="Cambria Math" panose="02040503050406030204" pitchFamily="18" charset="0"/>
                                            </a:rPr>
                                            <m:t>→</m:t>
                                          </m:r>
                                          <m:r>
                                            <m:rPr>
                                              <m:sty m:val="p"/>
                                            </m:rPr>
                                            <a:rPr lang="en-US" altLang="zh-CN" sz="1600">
                                              <a:latin typeface="Cambria Math" panose="02040503050406030204" pitchFamily="18" charset="0"/>
                                            </a:rPr>
                                            <m:t>rchild</m:t>
                                          </m:r>
                                          <m:r>
                                            <a:rPr lang="en-US" altLang="zh-CN" sz="1600">
                                              <a:latin typeface="Cambria Math" panose="02040503050406030204" pitchFamily="18" charset="0"/>
                                            </a:rPr>
                                            <m:t>, </m:t>
                                          </m:r>
                                          <m:r>
                                            <m:rPr>
                                              <m:sty m:val="p"/>
                                            </m:rPr>
                                            <a:rPr lang="en-US" altLang="zh-CN" sz="1600">
                                              <a:latin typeface="Cambria Math" panose="02040503050406030204" pitchFamily="18" charset="0"/>
                                            </a:rPr>
                                            <m:t>key</m:t>
                                          </m:r>
                                        </m:e>
                                      </m:d>
                                      <m:r>
                                        <a:rPr lang="en-US" altLang="zh-CN" sz="1600">
                                          <a:latin typeface="Cambria Math" panose="02040503050406030204" pitchFamily="18" charset="0"/>
                                        </a:rPr>
                                        <m:t>     </m:t>
                                      </m:r>
                                      <m:r>
                                        <a:rPr lang="zh-CN" altLang="zh-CN" sz="1600">
                                          <a:latin typeface="Cambria Math" panose="02040503050406030204" pitchFamily="18" charset="0"/>
                                        </a:rPr>
                                        <m:t>若</m:t>
                                      </m:r>
                                      <m:r>
                                        <m:rPr>
                                          <m:sty m:val="p"/>
                                        </m:rPr>
                                        <a:rPr lang="en-US" altLang="zh-CN" sz="1600">
                                          <a:latin typeface="Cambria Math" panose="02040503050406030204" pitchFamily="18" charset="0"/>
                                        </a:rPr>
                                        <m:t>key</m:t>
                                      </m:r>
                                      <m:r>
                                        <a:rPr lang="en-US" altLang="zh-CN" sz="1600" b="0" i="1" smtClean="0">
                                          <a:latin typeface="Cambria Math" panose="02040503050406030204" pitchFamily="18" charset="0"/>
                                        </a:rPr>
                                        <m:t>&gt;</m:t>
                                      </m:r>
                                      <m:r>
                                        <m:rPr>
                                          <m:sty m:val="p"/>
                                        </m:rPr>
                                        <a:rPr lang="en-US" altLang="zh-CN" sz="1600">
                                          <a:latin typeface="Cambria Math" panose="02040503050406030204" pitchFamily="18" charset="0"/>
                                        </a:rPr>
                                        <m:t>t</m:t>
                                      </m:r>
                                      <m:r>
                                        <a:rPr lang="en-US" altLang="zh-CN" sz="1600">
                                          <a:latin typeface="Cambria Math" panose="02040503050406030204" pitchFamily="18" charset="0"/>
                                        </a:rPr>
                                        <m:t>→</m:t>
                                      </m:r>
                                      <m:r>
                                        <m:rPr>
                                          <m:sty m:val="p"/>
                                        </m:rPr>
                                        <a:rPr lang="en-US" altLang="zh-CN" sz="1600">
                                          <a:latin typeface="Cambria Math" panose="02040503050406030204" pitchFamily="18" charset="0"/>
                                        </a:rPr>
                                        <m:t>data</m:t>
                                      </m:r>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e>
                                  </m:eqArr>
                                </m:e>
                              </m:d>
                              <m:r>
                                <a:rPr lang="en-US" altLang="zh-CN" sz="1600">
                                  <a:latin typeface="Cambria Math" panose="02040503050406030204" pitchFamily="18" charset="0"/>
                                </a:rPr>
                                <m:t> </m:t>
                              </m:r>
                              <m:r>
                                <a:rPr lang="en-US" altLang="zh-CN" sz="1600" smtClean="0">
                                  <a:latin typeface="Cambria Math" panose="02040503050406030204" pitchFamily="18" charset="0"/>
                                </a:rPr>
                                <m:t>     </m:t>
                              </m:r>
                              <m:r>
                                <a:rPr lang="zh-CN" altLang="zh-CN" sz="1600">
                                  <a:latin typeface="Cambria Math" panose="02040503050406030204" pitchFamily="18" charset="0"/>
                                </a:rPr>
                                <m:t>否则</m:t>
                              </m:r>
                              <m:r>
                                <a:rPr lang="en-US" altLang="zh-CN" sz="1600">
                                  <a:latin typeface="Cambria Math" panose="02040503050406030204" pitchFamily="18" charset="0"/>
                                </a:rPr>
                                <m:t>                                                       </m:t>
                              </m:r>
                            </m:e>
                          </m:eqArr>
                        </m:e>
                      </m:d>
                    </m:oMath>
                  </m:oMathPara>
                </a14:m>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07504" y="2931790"/>
                <a:ext cx="9505056" cy="1636025"/>
              </a:xfrm>
              <a:prstGeom prst="rect">
                <a:avLst/>
              </a:prstGeom>
              <a:blipFill>
                <a:blip r:embed="rId3"/>
                <a:stretch>
                  <a:fillRect l="-577" t="-2985"/>
                </a:stretch>
              </a:blipFill>
            </p:spPr>
            <p:txBody>
              <a:bodyPr/>
              <a:lstStyle/>
              <a:p>
                <a:r>
                  <a:rPr lang="zh-CN" altLang="en-US">
                    <a:noFill/>
                  </a:rPr>
                  <a:t> </a:t>
                </a:r>
              </a:p>
            </p:txBody>
          </p:sp>
        </mc:Fallback>
      </mc:AlternateContent>
      <p:sp>
        <p:nvSpPr>
          <p:cNvPr id="5" name="文本框 4"/>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二叉排序树的查找</a:t>
            </a:r>
          </a:p>
        </p:txBody>
      </p:sp>
    </p:spTree>
    <p:extLst>
      <p:ext uri="{BB962C8B-B14F-4D97-AF65-F5344CB8AC3E}">
        <p14:creationId xmlns:p14="http://schemas.microsoft.com/office/powerpoint/2010/main" val="391246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611380" y="915566"/>
            <a:ext cx="6526020" cy="3507876"/>
          </a:xfrm>
        </p:spPr>
        <p:txBody>
          <a:bodyPr/>
          <a:lstStyle/>
          <a:p>
            <a:pPr marL="0" indent="0">
              <a:lnSpc>
                <a:spcPts val="24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BstNode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BsTree</a:t>
            </a:r>
            <a:r>
              <a:rPr lang="en-US" altLang="zh-CN" sz="1800" dirty="0">
                <a:solidFill>
                  <a:srgbClr val="002060"/>
                </a:solidFill>
                <a:latin typeface="Times New Roman" panose="02020603050405020304" pitchFamily="18" charset="0"/>
                <a:cs typeface="Times New Roman" panose="02020603050405020304" pitchFamily="18" charset="0"/>
              </a:rPr>
              <a:t>::Search(</a:t>
            </a:r>
            <a:r>
              <a:rPr lang="en-US" altLang="zh-CN" sz="1800" dirty="0" err="1">
                <a:solidFill>
                  <a:srgbClr val="002060"/>
                </a:solidFill>
                <a:latin typeface="Times New Roman" panose="02020603050405020304" pitchFamily="18" charset="0"/>
                <a:cs typeface="Times New Roman" panose="02020603050405020304" pitchFamily="18" charset="0"/>
              </a:rPr>
              <a:t>BstNode</a:t>
            </a:r>
            <a:r>
              <a:rPr lang="en-US" altLang="zh-CN" sz="1800" dirty="0">
                <a:solidFill>
                  <a:srgbClr val="002060"/>
                </a:solidFill>
                <a:latin typeface="Times New Roman" panose="02020603050405020304" pitchFamily="18" charset="0"/>
                <a:cs typeface="Times New Roman" panose="02020603050405020304" pitchFamily="18" charset="0"/>
              </a:rPr>
              <a:t> *t, </a:t>
            </a:r>
            <a:r>
              <a:rPr lang="en-US" altLang="zh-CN" sz="1800" dirty="0" err="1">
                <a:solidFill>
                  <a:srgbClr val="002060"/>
                </a:solidFill>
                <a:latin typeface="Times New Roman" panose="02020603050405020304" pitchFamily="18" charset="0"/>
                <a:cs typeface="Times New Roman" panose="02020603050405020304" pitchFamily="18" charset="0"/>
              </a:rPr>
              <a:t>KeyType</a:t>
            </a:r>
            <a:r>
              <a:rPr lang="en-US" altLang="zh-CN" sz="1800" dirty="0">
                <a:solidFill>
                  <a:srgbClr val="002060"/>
                </a:solidFill>
                <a:latin typeface="Times New Roman" panose="02020603050405020304" pitchFamily="18" charset="0"/>
                <a:cs typeface="Times New Roman" panose="02020603050405020304" pitchFamily="18" charset="0"/>
              </a:rPr>
              <a:t> key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if(t==NULL||key==t-&gt;</a:t>
            </a:r>
            <a:r>
              <a:rPr lang="en-US" altLang="zh-CN" sz="1800" dirty="0" err="1">
                <a:solidFill>
                  <a:srgbClr val="002060"/>
                </a:solidFill>
                <a:latin typeface="Times New Roman" panose="02020603050405020304" pitchFamily="18" charset="0"/>
                <a:cs typeface="Times New Roman" panose="02020603050405020304" pitchFamily="18" charset="0"/>
              </a:rPr>
              <a:t>data.key</a:t>
            </a:r>
            <a:r>
              <a:rPr lang="en-US" altLang="zh-CN" sz="1800" dirty="0">
                <a:solidFill>
                  <a:srgbClr val="002060"/>
                </a:solidFill>
                <a:latin typeface="Times New Roman" panose="02020603050405020304" pitchFamily="18" charset="0"/>
                <a:cs typeface="Times New Roman" panose="02020603050405020304" pitchFamily="18" charset="0"/>
              </a:rPr>
              <a:t>) return 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if(key&lt;t-&gt;</a:t>
            </a:r>
            <a:r>
              <a:rPr lang="en-US" altLang="zh-CN" sz="1800" dirty="0" err="1">
                <a:solidFill>
                  <a:srgbClr val="002060"/>
                </a:solidFill>
                <a:latin typeface="Times New Roman" panose="02020603050405020304" pitchFamily="18" charset="0"/>
                <a:cs typeface="Times New Roman" panose="02020603050405020304" pitchFamily="18" charset="0"/>
              </a:rPr>
              <a:t>data.key</a:t>
            </a: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return Search(t-&gt;</a:t>
            </a:r>
            <a:r>
              <a:rPr lang="en-US" altLang="zh-CN" sz="1800" dirty="0" err="1">
                <a:solidFill>
                  <a:srgbClr val="002060"/>
                </a:solidFill>
                <a:latin typeface="Times New Roman" panose="02020603050405020304" pitchFamily="18" charset="0"/>
                <a:cs typeface="Times New Roman" panose="02020603050405020304" pitchFamily="18" charset="0"/>
              </a:rPr>
              <a:t>lchild,key</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查找左子树</a:t>
            </a: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return Search(t-&gt;</a:t>
            </a:r>
            <a:r>
              <a:rPr lang="en-US" altLang="zh-CN" sz="1800" dirty="0" err="1">
                <a:solidFill>
                  <a:srgbClr val="002060"/>
                </a:solidFill>
                <a:latin typeface="Times New Roman" panose="02020603050405020304" pitchFamily="18" charset="0"/>
                <a:cs typeface="Times New Roman" panose="02020603050405020304" pitchFamily="18" charset="0"/>
              </a:rPr>
              <a:t>rchild,key</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查找右子树</a:t>
            </a: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BstNode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BsTree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SearchBST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KeyType</a:t>
            </a:r>
            <a:r>
              <a:rPr lang="en-US" altLang="zh-CN" sz="1800" dirty="0">
                <a:solidFill>
                  <a:srgbClr val="002060"/>
                </a:solidFill>
                <a:latin typeface="Times New Roman" panose="02020603050405020304" pitchFamily="18" charset="0"/>
                <a:cs typeface="Times New Roman" panose="02020603050405020304" pitchFamily="18" charset="0"/>
              </a:rPr>
              <a:t> key){</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BstNode</a:t>
            </a:r>
            <a:r>
              <a:rPr lang="en-US" altLang="zh-CN" sz="1800" dirty="0">
                <a:solidFill>
                  <a:srgbClr val="002060"/>
                </a:solidFill>
                <a:latin typeface="Times New Roman" panose="02020603050405020304" pitchFamily="18" charset="0"/>
                <a:cs typeface="Times New Roman" panose="02020603050405020304" pitchFamily="18" charset="0"/>
              </a:rPr>
              <a:t> *t=</a:t>
            </a:r>
            <a:r>
              <a:rPr lang="en-US" altLang="zh-CN" sz="1800" dirty="0" err="1">
                <a:solidFill>
                  <a:srgbClr val="002060"/>
                </a:solidFill>
                <a:latin typeface="Times New Roman" panose="02020603050405020304" pitchFamily="18" charset="0"/>
                <a:cs typeface="Times New Roman" panose="02020603050405020304" pitchFamily="18" charset="0"/>
              </a:rPr>
              <a:t>bst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return Search (</a:t>
            </a:r>
            <a:r>
              <a:rPr lang="en-US" altLang="zh-CN" sz="1800" dirty="0" err="1">
                <a:solidFill>
                  <a:srgbClr val="002060"/>
                </a:solidFill>
                <a:latin typeface="Times New Roman" panose="02020603050405020304" pitchFamily="18" charset="0"/>
                <a:cs typeface="Times New Roman" panose="02020603050405020304" pitchFamily="18" charset="0"/>
              </a:rPr>
              <a:t>t,key</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二叉排序树的查找算法</a:t>
            </a:r>
          </a:p>
        </p:txBody>
      </p:sp>
    </p:spTree>
    <p:extLst>
      <p:ext uri="{BB962C8B-B14F-4D97-AF65-F5344CB8AC3E}">
        <p14:creationId xmlns:p14="http://schemas.microsoft.com/office/powerpoint/2010/main" val="97295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04" y="917307"/>
            <a:ext cx="8928992" cy="646331"/>
          </a:xfrm>
          <a:prstGeom prst="rect">
            <a:avLst/>
          </a:prstGeom>
          <a:noFill/>
        </p:spPr>
        <p:txBody>
          <a:bodyPr wrap="square" rtlCol="0">
            <a:spAutoFit/>
          </a:bodyPr>
          <a:lstStyle/>
          <a:p>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例：分别</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构造一个递归或非递归算法，返回二叉排序树中关键字值最大结点的地址。</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p:cNvSpPr txBox="1"/>
          <p:nvPr/>
        </p:nvSpPr>
        <p:spPr>
          <a:xfrm>
            <a:off x="251520" y="1433672"/>
            <a:ext cx="8640960" cy="3693319"/>
          </a:xfrm>
          <a:prstGeom prst="rect">
            <a:avLst/>
          </a:prstGeom>
          <a:noFill/>
        </p:spPr>
        <p:txBody>
          <a:bodyPr wrap="square" rtlCol="0">
            <a:spAutoFit/>
          </a:bodyPr>
          <a:lstStyle/>
          <a:p>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递归算法</a:t>
            </a:r>
            <a:endPar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FindMax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if(</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==NULL||</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==NULL) return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else return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FindMax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非递归算法</a:t>
            </a:r>
            <a:endPar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FindMax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*p=</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if(p==NULL||p-&gt;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==NULL) return p;</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while(p-&gt;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p=p-&gt;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return p;</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p:cNvSpPr txBox="1"/>
          <p:nvPr/>
        </p:nvSpPr>
        <p:spPr>
          <a:xfrm>
            <a:off x="4572000" y="339502"/>
            <a:ext cx="4536504" cy="3970318"/>
          </a:xfrm>
          <a:prstGeom prst="rect">
            <a:avLst/>
          </a:prstGeom>
          <a:solidFill>
            <a:schemeClr val="accent2"/>
          </a:solidFill>
        </p:spPr>
        <p:txBody>
          <a:bodyPr wrap="square" rtlCol="0">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如果改为最小值，算法如下：</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递归算法</a:t>
            </a:r>
            <a:endPar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FindMnn</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if(</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==NULL||</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==NULL)  return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else return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FindMax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非递归算法</a:t>
            </a:r>
            <a:endPar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FindMin</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*p=</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bt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if(p==NULL||p-&gt;</a:t>
            </a:r>
            <a:r>
              <a:rPr lang="en-US" altLang="zh-CN"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==NULL)  return p;</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while(p-&gt;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p=p-&gt;</a:t>
            </a:r>
            <a:r>
              <a:rPr lang="en-US" altLang="zh-CN"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return p;</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0" name="直接箭头连接符 9"/>
          <p:cNvCxnSpPr/>
          <p:nvPr/>
        </p:nvCxnSpPr>
        <p:spPr>
          <a:xfrm flipH="1">
            <a:off x="2339752" y="1433672"/>
            <a:ext cx="4608512" cy="70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2915816" y="1707654"/>
            <a:ext cx="4464496" cy="81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2411760" y="3039682"/>
            <a:ext cx="4320480" cy="756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1612123" y="3363838"/>
            <a:ext cx="4472045" cy="717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2806026" y="3417784"/>
            <a:ext cx="4430270" cy="76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例题</a:t>
            </a:r>
          </a:p>
        </p:txBody>
      </p:sp>
    </p:spTree>
    <p:extLst>
      <p:ext uri="{BB962C8B-B14F-4D97-AF65-F5344CB8AC3E}">
        <p14:creationId xmlns:p14="http://schemas.microsoft.com/office/powerpoint/2010/main" val="51359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1000"/>
                                        <p:tgtEl>
                                          <p:spTgt spid="5">
                                            <p:txEl>
                                              <p:pRg st="1" end="1"/>
                                            </p:txEl>
                                          </p:spTgt>
                                        </p:tgtEl>
                                      </p:cBhvr>
                                    </p:animEffect>
                                    <p:anim calcmode="lin" valueType="num">
                                      <p:cBhvr>
                                        <p:cTn id="20"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 calcmode="lin" valueType="num">
                                      <p:cBhvr additive="base">
                                        <p:cTn id="26"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 calcmode="lin" valueType="num">
                                      <p:cBhvr additive="base">
                                        <p:cTn id="32"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3" end="3"/>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5">
                                            <p:txEl>
                                              <p:pRg st="4" end="4"/>
                                            </p:txEl>
                                          </p:spTgt>
                                        </p:tgtEl>
                                        <p:attrNameLst>
                                          <p:attrName>style.visibility</p:attrName>
                                        </p:attrNameLst>
                                      </p:cBhvr>
                                      <p:to>
                                        <p:strVal val="visible"/>
                                      </p:to>
                                    </p:set>
                                    <p:anim calcmode="lin" valueType="num">
                                      <p:cBhvr additive="base">
                                        <p:cTn id="36"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 calcmode="lin" valueType="num">
                                      <p:cBhvr additive="base">
                                        <p:cTn id="42"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5">
                                            <p:txEl>
                                              <p:pRg st="6" end="6"/>
                                            </p:txEl>
                                          </p:spTgt>
                                        </p:tgtEl>
                                        <p:attrNameLst>
                                          <p:attrName>style.visibility</p:attrName>
                                        </p:attrNameLst>
                                      </p:cBhvr>
                                      <p:to>
                                        <p:strVal val="visible"/>
                                      </p:to>
                                    </p:set>
                                    <p:anim calcmode="lin" valueType="num">
                                      <p:cBhvr additive="base">
                                        <p:cTn id="48"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5">
                                            <p:txEl>
                                              <p:pRg st="6" end="6"/>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5">
                                            <p:txEl>
                                              <p:pRg st="7" end="7"/>
                                            </p:txEl>
                                          </p:spTgt>
                                        </p:tgtEl>
                                        <p:attrNameLst>
                                          <p:attrName>style.visibility</p:attrName>
                                        </p:attrNameLst>
                                      </p:cBhvr>
                                      <p:to>
                                        <p:strVal val="visible"/>
                                      </p:to>
                                    </p:set>
                                    <p:anim calcmode="lin" valueType="num">
                                      <p:cBhvr additive="base">
                                        <p:cTn id="52"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5">
                                            <p:txEl>
                                              <p:pRg st="8" end="8"/>
                                            </p:txEl>
                                          </p:spTgt>
                                        </p:tgtEl>
                                        <p:attrNameLst>
                                          <p:attrName>style.visibility</p:attrName>
                                        </p:attrNameLst>
                                      </p:cBhvr>
                                      <p:to>
                                        <p:strVal val="visible"/>
                                      </p:to>
                                    </p:set>
                                    <p:anim calcmode="lin" valueType="num">
                                      <p:cBhvr additive="base">
                                        <p:cTn id="58"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5">
                                            <p:txEl>
                                              <p:pRg st="9" end="9"/>
                                            </p:txEl>
                                          </p:spTgt>
                                        </p:tgtEl>
                                        <p:attrNameLst>
                                          <p:attrName>style.visibility</p:attrName>
                                        </p:attrNameLst>
                                      </p:cBhvr>
                                      <p:to>
                                        <p:strVal val="visible"/>
                                      </p:to>
                                    </p:set>
                                    <p:anim calcmode="lin" valueType="num">
                                      <p:cBhvr additive="base">
                                        <p:cTn id="64"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5">
                                            <p:txEl>
                                              <p:pRg st="10" end="10"/>
                                            </p:txEl>
                                          </p:spTgt>
                                        </p:tgtEl>
                                        <p:attrNameLst>
                                          <p:attrName>style.visibility</p:attrName>
                                        </p:attrNameLst>
                                      </p:cBhvr>
                                      <p:to>
                                        <p:strVal val="visible"/>
                                      </p:to>
                                    </p:set>
                                    <p:anim calcmode="lin" valueType="num">
                                      <p:cBhvr additive="base">
                                        <p:cTn id="70"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5">
                                            <p:txEl>
                                              <p:pRg st="11" end="11"/>
                                            </p:txEl>
                                          </p:spTgt>
                                        </p:tgtEl>
                                        <p:attrNameLst>
                                          <p:attrName>style.visibility</p:attrName>
                                        </p:attrNameLst>
                                      </p:cBhvr>
                                      <p:to>
                                        <p:strVal val="visible"/>
                                      </p:to>
                                    </p:set>
                                    <p:anim calcmode="lin" valueType="num">
                                      <p:cBhvr additive="base">
                                        <p:cTn id="74"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8"/>
                                        </p:tgtEl>
                                        <p:attrNameLst>
                                          <p:attrName>style.visibility</p:attrName>
                                        </p:attrNameLst>
                                      </p:cBhvr>
                                      <p:to>
                                        <p:strVal val="visible"/>
                                      </p:to>
                                    </p:set>
                                    <p:anim calcmode="lin" valueType="num">
                                      <p:cBhvr additive="base">
                                        <p:cTn id="80" dur="500" fill="hold"/>
                                        <p:tgtEl>
                                          <p:spTgt spid="8"/>
                                        </p:tgtEl>
                                        <p:attrNameLst>
                                          <p:attrName>ppt_x</p:attrName>
                                        </p:attrNameLst>
                                      </p:cBhvr>
                                      <p:tavLst>
                                        <p:tav tm="0">
                                          <p:val>
                                            <p:strVal val="#ppt_x"/>
                                          </p:val>
                                        </p:tav>
                                        <p:tav tm="100000">
                                          <p:val>
                                            <p:strVal val="#ppt_x"/>
                                          </p:val>
                                        </p:tav>
                                      </p:tavLst>
                                    </p:anim>
                                    <p:anim calcmode="lin" valueType="num">
                                      <p:cBhvr additive="base">
                                        <p:cTn id="8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10"/>
                                        </p:tgtEl>
                                        <p:attrNameLst>
                                          <p:attrName>style.visibility</p:attrName>
                                        </p:attrNameLst>
                                      </p:cBhvr>
                                      <p:to>
                                        <p:strVal val="visible"/>
                                      </p:to>
                                    </p:set>
                                    <p:anim calcmode="lin" valueType="num">
                                      <p:cBhvr additive="base">
                                        <p:cTn id="86" dur="500" fill="hold"/>
                                        <p:tgtEl>
                                          <p:spTgt spid="10"/>
                                        </p:tgtEl>
                                        <p:attrNameLst>
                                          <p:attrName>ppt_x</p:attrName>
                                        </p:attrNameLst>
                                      </p:cBhvr>
                                      <p:tavLst>
                                        <p:tav tm="0">
                                          <p:val>
                                            <p:strVal val="#ppt_x"/>
                                          </p:val>
                                        </p:tav>
                                        <p:tav tm="100000">
                                          <p:val>
                                            <p:strVal val="#ppt_x"/>
                                          </p:val>
                                        </p:tav>
                                      </p:tavLst>
                                    </p:anim>
                                    <p:anim calcmode="lin" valueType="num">
                                      <p:cBhvr additive="base">
                                        <p:cTn id="8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12"/>
                                        </p:tgtEl>
                                        <p:attrNameLst>
                                          <p:attrName>style.visibility</p:attrName>
                                        </p:attrNameLst>
                                      </p:cBhvr>
                                      <p:to>
                                        <p:strVal val="visible"/>
                                      </p:to>
                                    </p:set>
                                    <p:anim calcmode="lin" valueType="num">
                                      <p:cBhvr additive="base">
                                        <p:cTn id="92" dur="500" fill="hold"/>
                                        <p:tgtEl>
                                          <p:spTgt spid="12"/>
                                        </p:tgtEl>
                                        <p:attrNameLst>
                                          <p:attrName>ppt_x</p:attrName>
                                        </p:attrNameLst>
                                      </p:cBhvr>
                                      <p:tavLst>
                                        <p:tav tm="0">
                                          <p:val>
                                            <p:strVal val="#ppt_x"/>
                                          </p:val>
                                        </p:tav>
                                        <p:tav tm="100000">
                                          <p:val>
                                            <p:strVal val="#ppt_x"/>
                                          </p:val>
                                        </p:tav>
                                      </p:tavLst>
                                    </p:anim>
                                    <p:anim calcmode="lin" valueType="num">
                                      <p:cBhvr additive="base">
                                        <p:cTn id="9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nodeType="click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additive="base">
                                        <p:cTn id="98" dur="500" fill="hold"/>
                                        <p:tgtEl>
                                          <p:spTgt spid="14"/>
                                        </p:tgtEl>
                                        <p:attrNameLst>
                                          <p:attrName>ppt_x</p:attrName>
                                        </p:attrNameLst>
                                      </p:cBhvr>
                                      <p:tavLst>
                                        <p:tav tm="0">
                                          <p:val>
                                            <p:strVal val="#ppt_x"/>
                                          </p:val>
                                        </p:tav>
                                        <p:tav tm="100000">
                                          <p:val>
                                            <p:strVal val="#ppt_x"/>
                                          </p:val>
                                        </p:tav>
                                      </p:tavLst>
                                    </p:anim>
                                    <p:anim calcmode="lin" valueType="num">
                                      <p:cBhvr additive="base">
                                        <p:cTn id="9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nodeType="clickEffect">
                                  <p:stCondLst>
                                    <p:cond delay="0"/>
                                  </p:stCondLst>
                                  <p:childTnLst>
                                    <p:set>
                                      <p:cBhvr>
                                        <p:cTn id="103" dur="1" fill="hold">
                                          <p:stCondLst>
                                            <p:cond delay="0"/>
                                          </p:stCondLst>
                                        </p:cTn>
                                        <p:tgtEl>
                                          <p:spTgt spid="16"/>
                                        </p:tgtEl>
                                        <p:attrNameLst>
                                          <p:attrName>style.visibility</p:attrName>
                                        </p:attrNameLst>
                                      </p:cBhvr>
                                      <p:to>
                                        <p:strVal val="visible"/>
                                      </p:to>
                                    </p:set>
                                    <p:anim calcmode="lin" valueType="num">
                                      <p:cBhvr additive="base">
                                        <p:cTn id="104" dur="500" fill="hold"/>
                                        <p:tgtEl>
                                          <p:spTgt spid="16"/>
                                        </p:tgtEl>
                                        <p:attrNameLst>
                                          <p:attrName>ppt_x</p:attrName>
                                        </p:attrNameLst>
                                      </p:cBhvr>
                                      <p:tavLst>
                                        <p:tav tm="0">
                                          <p:val>
                                            <p:strVal val="#ppt_x"/>
                                          </p:val>
                                        </p:tav>
                                        <p:tav tm="100000">
                                          <p:val>
                                            <p:strVal val="#ppt_x"/>
                                          </p:val>
                                        </p:tav>
                                      </p:tavLst>
                                    </p:anim>
                                    <p:anim calcmode="lin" valueType="num">
                                      <p:cBhvr additive="base">
                                        <p:cTn id="10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nodeType="clickEffect">
                                  <p:stCondLst>
                                    <p:cond delay="0"/>
                                  </p:stCondLst>
                                  <p:childTnLst>
                                    <p:set>
                                      <p:cBhvr>
                                        <p:cTn id="109" dur="1" fill="hold">
                                          <p:stCondLst>
                                            <p:cond delay="0"/>
                                          </p:stCondLst>
                                        </p:cTn>
                                        <p:tgtEl>
                                          <p:spTgt spid="19"/>
                                        </p:tgtEl>
                                        <p:attrNameLst>
                                          <p:attrName>style.visibility</p:attrName>
                                        </p:attrNameLst>
                                      </p:cBhvr>
                                      <p:to>
                                        <p:strVal val="visible"/>
                                      </p:to>
                                    </p:set>
                                    <p:anim calcmode="lin" valueType="num">
                                      <p:cBhvr additive="base">
                                        <p:cTn id="110" dur="500" fill="hold"/>
                                        <p:tgtEl>
                                          <p:spTgt spid="19"/>
                                        </p:tgtEl>
                                        <p:attrNameLst>
                                          <p:attrName>ppt_x</p:attrName>
                                        </p:attrNameLst>
                                      </p:cBhvr>
                                      <p:tavLst>
                                        <p:tav tm="0">
                                          <p:val>
                                            <p:strVal val="#ppt_x"/>
                                          </p:val>
                                        </p:tav>
                                        <p:tav tm="100000">
                                          <p:val>
                                            <p:strVal val="#ppt_x"/>
                                          </p:val>
                                        </p:tav>
                                      </p:tavLst>
                                    </p:anim>
                                    <p:anim calcmode="lin" valueType="num">
                                      <p:cBhvr additive="base">
                                        <p:cTn id="11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928992" cy="3507876"/>
              </a:xfrm>
            </p:spPr>
            <p:txBody>
              <a:bodyPr/>
              <a:lstStyle/>
              <a:p>
                <a:pPr marL="0" indent="0">
                  <a:lnSpc>
                    <a:spcPts val="2600"/>
                  </a:lnSpc>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在二叉排序树中删除结点的原则是：删除结点后仍是二叉排序树。</a:t>
                </a:r>
              </a:p>
              <a:p>
                <a:pPr marL="0" indent="0">
                  <a:lnSpc>
                    <a:spcPts val="2600"/>
                  </a:lnSpc>
                  <a:spcBef>
                    <a:spcPts val="0"/>
                  </a:spcBef>
                  <a:buNone/>
                </a:pPr>
                <a:r>
                  <a:rPr lang="zh-CN" altLang="zh-CN" sz="1800" dirty="0">
                    <a:solidFill>
                      <a:srgbClr val="002060"/>
                    </a:solidFill>
                    <a:latin typeface="Times New Roman" panose="02020603050405020304" pitchFamily="18" charset="0"/>
                    <a:cs typeface="Times New Roman" panose="02020603050405020304" pitchFamily="18" charset="0"/>
                  </a:rPr>
                  <a:t>设在二叉排序树被删除结点是</a:t>
                </a:r>
                <a14:m>
                  <m:oMath xmlns:m="http://schemas.openxmlformats.org/officeDocument/2006/math">
                    <m:r>
                      <a:rPr lang="en-US" altLang="zh-CN" sz="1800" i="1">
                        <a:solidFill>
                          <a:srgbClr val="002060"/>
                        </a:solidFill>
                        <a:latin typeface="Cambria Math" panose="02040503050406030204" pitchFamily="18" charset="0"/>
                      </a:rPr>
                      <m:t>𝑝</m:t>
                    </m:r>
                  </m:oMath>
                </a14:m>
                <a:r>
                  <a:rPr lang="zh-CN" altLang="zh-CN" sz="1800" dirty="0">
                    <a:solidFill>
                      <a:srgbClr val="002060"/>
                    </a:solidFill>
                    <a:latin typeface="Times New Roman" panose="02020603050405020304" pitchFamily="18" charset="0"/>
                    <a:cs typeface="Times New Roman" panose="02020603050405020304" pitchFamily="18" charset="0"/>
                  </a:rPr>
                  <a:t>，其双亲结点为</a:t>
                </a:r>
                <a14:m>
                  <m:oMath xmlns:m="http://schemas.openxmlformats.org/officeDocument/2006/math">
                    <m:r>
                      <a:rPr lang="en-US" altLang="zh-CN" sz="1800" i="1">
                        <a:solidFill>
                          <a:srgbClr val="002060"/>
                        </a:solidFill>
                        <a:latin typeface="Cambria Math" panose="02040503050406030204" pitchFamily="18" charset="0"/>
                      </a:rPr>
                      <m:t>𝑓</m:t>
                    </m:r>
                  </m:oMath>
                </a14:m>
                <a:r>
                  <a:rPr lang="zh-CN" altLang="zh-CN" sz="1800" dirty="0">
                    <a:solidFill>
                      <a:srgbClr val="002060"/>
                    </a:solidFill>
                    <a:latin typeface="Times New Roman" panose="02020603050405020304" pitchFamily="18" charset="0"/>
                    <a:cs typeface="Times New Roman" panose="02020603050405020304" pitchFamily="18" charset="0"/>
                  </a:rPr>
                  <a:t>。不失一般性，设</a:t>
                </a:r>
                <a14:m>
                  <m:oMath xmlns:m="http://schemas.openxmlformats.org/officeDocument/2006/math">
                    <m:r>
                      <a:rPr lang="en-US" altLang="zh-CN" sz="1800" i="1">
                        <a:solidFill>
                          <a:srgbClr val="002060"/>
                        </a:solidFill>
                        <a:latin typeface="Cambria Math" panose="02040503050406030204" pitchFamily="18" charset="0"/>
                      </a:rPr>
                      <m:t>𝑝</m:t>
                    </m:r>
                  </m:oMath>
                </a14:m>
                <a:r>
                  <a:rPr lang="zh-CN" altLang="zh-CN" sz="1800" dirty="0">
                    <a:solidFill>
                      <a:srgbClr val="002060"/>
                    </a:solidFill>
                    <a:latin typeface="Times New Roman" panose="02020603050405020304" pitchFamily="18" charset="0"/>
                    <a:cs typeface="Times New Roman" panose="02020603050405020304" pitchFamily="18" charset="0"/>
                  </a:rPr>
                  <a:t>是</a:t>
                </a:r>
                <a14:m>
                  <m:oMath xmlns:m="http://schemas.openxmlformats.org/officeDocument/2006/math">
                    <m:r>
                      <a:rPr lang="en-US" altLang="zh-CN" sz="1800" i="1">
                        <a:solidFill>
                          <a:srgbClr val="002060"/>
                        </a:solidFill>
                        <a:latin typeface="Cambria Math" panose="02040503050406030204" pitchFamily="18" charset="0"/>
                      </a:rPr>
                      <m:t>𝑓</m:t>
                    </m:r>
                  </m:oMath>
                </a14:m>
                <a:r>
                  <a:rPr lang="zh-CN" altLang="zh-CN" sz="1800" dirty="0">
                    <a:solidFill>
                      <a:srgbClr val="002060"/>
                    </a:solidFill>
                    <a:latin typeface="Times New Roman" panose="02020603050405020304" pitchFamily="18" charset="0"/>
                    <a:cs typeface="Times New Roman" panose="02020603050405020304" pitchFamily="18" charset="0"/>
                  </a:rPr>
                  <a:t>的左孩子或</a:t>
                </a:r>
                <a14:m>
                  <m:oMath xmlns:m="http://schemas.openxmlformats.org/officeDocument/2006/math">
                    <m:r>
                      <a:rPr lang="en-US" altLang="zh-CN" sz="1800" i="1">
                        <a:solidFill>
                          <a:srgbClr val="002060"/>
                        </a:solidFill>
                        <a:latin typeface="Cambria Math" panose="02040503050406030204" pitchFamily="18" charset="0"/>
                      </a:rPr>
                      <m:t>𝑝</m:t>
                    </m:r>
                  </m:oMath>
                </a14:m>
                <a:r>
                  <a:rPr lang="zh-CN" altLang="zh-CN" sz="1800" dirty="0">
                    <a:solidFill>
                      <a:srgbClr val="002060"/>
                    </a:solidFill>
                    <a:latin typeface="Times New Roman" panose="02020603050405020304" pitchFamily="18" charset="0"/>
                    <a:cs typeface="Times New Roman" panose="02020603050405020304" pitchFamily="18" charset="0"/>
                  </a:rPr>
                  <a:t>为根结点。</a:t>
                </a:r>
              </a:p>
              <a:p>
                <a:pPr marL="0" indent="0">
                  <a:lnSpc>
                    <a:spcPts val="2600"/>
                  </a:lnSpc>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分三种情况讨论： </a:t>
                </a: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FF0000"/>
                    </a:solidFill>
                    <a:latin typeface="Times New Roman" panose="02020603050405020304" pitchFamily="18" charset="0"/>
                    <a:cs typeface="Times New Roman" panose="02020603050405020304" pitchFamily="18" charset="0"/>
                  </a:rPr>
                  <a:t>（</a:t>
                </a:r>
                <a:r>
                  <a:rPr lang="en-US" altLang="zh-CN" sz="1800" dirty="0">
                    <a:solidFill>
                      <a:srgbClr val="FF0000"/>
                    </a:solidFill>
                    <a:latin typeface="Times New Roman" panose="02020603050405020304" pitchFamily="18" charset="0"/>
                    <a:cs typeface="Times New Roman" panose="02020603050405020304" pitchFamily="18" charset="0"/>
                  </a:rPr>
                  <a:t>1</a:t>
                </a:r>
                <a:r>
                  <a:rPr lang="zh-CN" altLang="zh-CN" sz="1800" dirty="0">
                    <a:solidFill>
                      <a:srgbClr val="FF0000"/>
                    </a:solidFill>
                    <a:latin typeface="Times New Roman" panose="02020603050405020304" pitchFamily="18" charset="0"/>
                    <a:cs typeface="Times New Roman" panose="02020603050405020304" pitchFamily="18" charset="0"/>
                  </a:rPr>
                  <a:t>）若</a:t>
                </a:r>
                <a14:m>
                  <m:oMath xmlns:m="http://schemas.openxmlformats.org/officeDocument/2006/math">
                    <m:r>
                      <a:rPr lang="en-US" altLang="zh-CN" sz="1800" i="1">
                        <a:solidFill>
                          <a:srgbClr val="FF0000"/>
                        </a:solidFill>
                        <a:latin typeface="Cambria Math" panose="02040503050406030204" pitchFamily="18" charset="0"/>
                      </a:rPr>
                      <m:t>𝑝</m:t>
                    </m:r>
                  </m:oMath>
                </a14:m>
                <a:r>
                  <a:rPr lang="zh-CN" altLang="zh-CN" sz="1800" dirty="0">
                    <a:solidFill>
                      <a:srgbClr val="FF0000"/>
                    </a:solidFill>
                    <a:latin typeface="Times New Roman" panose="02020603050405020304" pitchFamily="18" charset="0"/>
                    <a:cs typeface="Times New Roman" panose="02020603050405020304" pitchFamily="18" charset="0"/>
                  </a:rPr>
                  <a:t>为叶子结点，则直接删除。如图中的</a:t>
                </a:r>
                <a:r>
                  <a:rPr lang="en-US" altLang="zh-CN" sz="1800" dirty="0">
                    <a:solidFill>
                      <a:srgbClr val="FF0000"/>
                    </a:solidFill>
                    <a:latin typeface="Times New Roman" panose="02020603050405020304" pitchFamily="18" charset="0"/>
                    <a:cs typeface="Times New Roman" panose="02020603050405020304" pitchFamily="18" charset="0"/>
                  </a:rPr>
                  <a:t>(a)</a:t>
                </a:r>
                <a:r>
                  <a:rPr lang="zh-CN" altLang="zh-CN" sz="1800" dirty="0">
                    <a:solidFill>
                      <a:srgbClr val="FF0000"/>
                    </a:solidFill>
                    <a:latin typeface="Times New Roman" panose="02020603050405020304" pitchFamily="18" charset="0"/>
                    <a:cs typeface="Times New Roman" panose="02020603050405020304" pitchFamily="18" charset="0"/>
                  </a:rPr>
                  <a:t>所示。</a:t>
                </a: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800" i="1">
                        <a:latin typeface="Cambria Math" panose="02040503050406030204" pitchFamily="18" charset="0"/>
                      </a:rPr>
                      <m:t>𝑝</m:t>
                    </m:r>
                  </m:oMath>
                </a14:m>
                <a:r>
                  <a:rPr lang="zh-CN" altLang="zh-CN" sz="1800" dirty="0">
                    <a:latin typeface="Times New Roman" panose="02020603050405020304" pitchFamily="18" charset="0"/>
                    <a:cs typeface="Times New Roman" panose="02020603050405020304" pitchFamily="18" charset="0"/>
                  </a:rPr>
                  <a:t>只有左子树</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𝐿</m:t>
                        </m:r>
                      </m:sub>
                    </m:sSub>
                  </m:oMath>
                </a14:m>
                <a:r>
                  <a:rPr lang="zh-CN" altLang="zh-CN" sz="1800" dirty="0">
                    <a:latin typeface="Times New Roman" panose="02020603050405020304" pitchFamily="18" charset="0"/>
                    <a:cs typeface="Times New Roman" panose="02020603050405020304" pitchFamily="18" charset="0"/>
                  </a:rPr>
                  <a:t>或只有右子树</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𝑅</m:t>
                        </m:r>
                      </m:sub>
                    </m:sSub>
                  </m:oMath>
                </a14:m>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则令</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𝐿</m:t>
                        </m:r>
                      </m:sub>
                    </m:sSub>
                  </m:oMath>
                </a14:m>
                <a:r>
                  <a:rPr lang="zh-CN" altLang="zh-CN" sz="1800" dirty="0">
                    <a:latin typeface="Times New Roman" panose="02020603050405020304" pitchFamily="18" charset="0"/>
                    <a:cs typeface="Times New Roman" panose="02020603050405020304" pitchFamily="18" charset="0"/>
                  </a:rPr>
                  <a:t>或</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𝑅</m:t>
                        </m:r>
                      </m:sub>
                    </m:sSub>
                  </m:oMath>
                </a14:m>
                <a:r>
                  <a:rPr lang="zh-CN" altLang="zh-CN" sz="1800" dirty="0">
                    <a:latin typeface="Times New Roman" panose="02020603050405020304" pitchFamily="18" charset="0"/>
                    <a:cs typeface="Times New Roman" panose="02020603050405020304" pitchFamily="18" charset="0"/>
                  </a:rPr>
                  <a:t>直接成为双亲结点</a:t>
                </a:r>
                <a14:m>
                  <m:oMath xmlns:m="http://schemas.openxmlformats.org/officeDocument/2006/math">
                    <m:r>
                      <a:rPr lang="en-US" altLang="zh-CN" sz="1800" i="1">
                        <a:latin typeface="Cambria Math" panose="02040503050406030204" pitchFamily="18" charset="0"/>
                      </a:rPr>
                      <m:t>𝑓</m:t>
                    </m:r>
                  </m:oMath>
                </a14:m>
                <a:r>
                  <a:rPr lang="zh-CN" altLang="zh-CN" sz="1800" dirty="0">
                    <a:latin typeface="Times New Roman" panose="02020603050405020304" pitchFamily="18" charset="0"/>
                    <a:cs typeface="Times New Roman" panose="02020603050405020304" pitchFamily="18" charset="0"/>
                  </a:rPr>
                  <a:t>的子树。如图中</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或</a:t>
                </a:r>
                <a:r>
                  <a:rPr lang="en-US" altLang="zh-CN" sz="1800" dirty="0">
                    <a:latin typeface="Times New Roman" panose="02020603050405020304" pitchFamily="18" charset="0"/>
                    <a:cs typeface="Times New Roman" panose="02020603050405020304" pitchFamily="18" charset="0"/>
                  </a:rPr>
                  <a:t>(c)</a:t>
                </a:r>
                <a:r>
                  <a:rPr lang="zh-CN" altLang="zh-CN" sz="1800" dirty="0">
                    <a:latin typeface="Times New Roman" panose="02020603050405020304" pitchFamily="18" charset="0"/>
                    <a:cs typeface="Times New Roman" panose="02020603050405020304" pitchFamily="18" charset="0"/>
                  </a:rPr>
                  <a:t>所示。 </a:t>
                </a:r>
              </a:p>
              <a:p>
                <a:pPr marL="0" indent="0">
                  <a:lnSpc>
                    <a:spcPts val="26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928992" cy="3507876"/>
              </a:xfrm>
              <a:blipFill>
                <a:blip r:embed="rId2"/>
                <a:stretch>
                  <a:fillRect l="-888" t="-868"/>
                </a:stretch>
              </a:blipFill>
            </p:spPr>
            <p:txBody>
              <a:bodyPr/>
              <a:lstStyle/>
              <a:p>
                <a:r>
                  <a:rPr lang="zh-CN" altLang="en-US">
                    <a:noFill/>
                  </a:rPr>
                  <a:t> </a:t>
                </a:r>
              </a:p>
            </p:txBody>
          </p:sp>
        </mc:Fallback>
      </mc:AlternateContent>
      <p:pic>
        <p:nvPicPr>
          <p:cNvPr id="54" name="图片 53"/>
          <p:cNvPicPr>
            <a:picLocks noChangeAspect="1"/>
          </p:cNvPicPr>
          <p:nvPr/>
        </p:nvPicPr>
        <p:blipFill>
          <a:blip r:embed="rId3"/>
          <a:stretch>
            <a:fillRect/>
          </a:stretch>
        </p:blipFill>
        <p:spPr>
          <a:xfrm>
            <a:off x="323528" y="3363838"/>
            <a:ext cx="2592288" cy="1544971"/>
          </a:xfrm>
          <a:prstGeom prst="rect">
            <a:avLst/>
          </a:prstGeom>
        </p:spPr>
      </p:pic>
      <p:pic>
        <p:nvPicPr>
          <p:cNvPr id="55" name="图片 54"/>
          <p:cNvPicPr>
            <a:picLocks noChangeAspect="1"/>
          </p:cNvPicPr>
          <p:nvPr/>
        </p:nvPicPr>
        <p:blipFill>
          <a:blip r:embed="rId4"/>
          <a:stretch>
            <a:fillRect/>
          </a:stretch>
        </p:blipFill>
        <p:spPr>
          <a:xfrm>
            <a:off x="2939734" y="3272393"/>
            <a:ext cx="5357379" cy="1612466"/>
          </a:xfrm>
          <a:prstGeom prst="rect">
            <a:avLst/>
          </a:prstGeom>
        </p:spPr>
      </p:pic>
      <p:sp>
        <p:nvSpPr>
          <p:cNvPr id="6" name="文本框 5"/>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a:t>
            </a:r>
          </a:p>
        </p:txBody>
      </p:sp>
    </p:spTree>
    <p:extLst>
      <p:ext uri="{BB962C8B-B14F-4D97-AF65-F5344CB8AC3E}">
        <p14:creationId xmlns:p14="http://schemas.microsoft.com/office/powerpoint/2010/main" val="338612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additive="base">
                                        <p:cTn id="31" dur="500" fill="hold"/>
                                        <p:tgtEl>
                                          <p:spTgt spid="54"/>
                                        </p:tgtEl>
                                        <p:attrNameLst>
                                          <p:attrName>ppt_x</p:attrName>
                                        </p:attrNameLst>
                                      </p:cBhvr>
                                      <p:tavLst>
                                        <p:tav tm="0">
                                          <p:val>
                                            <p:strVal val="#ppt_x"/>
                                          </p:val>
                                        </p:tav>
                                        <p:tav tm="100000">
                                          <p:val>
                                            <p:strVal val="#ppt_x"/>
                                          </p:val>
                                        </p:tav>
                                      </p:tavLst>
                                    </p:anim>
                                    <p:anim calcmode="lin" valueType="num">
                                      <p:cBhvr additive="base">
                                        <p:cTn id="3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1000"/>
                                        <p:tgtEl>
                                          <p:spTgt spid="3">
                                            <p:txEl>
                                              <p:pRg st="4" end="4"/>
                                            </p:txEl>
                                          </p:spTgt>
                                        </p:tgtEl>
                                      </p:cBhvr>
                                    </p:animEffect>
                                    <p:anim calcmode="lin" valueType="num">
                                      <p:cBhvr>
                                        <p:cTn id="3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1000"/>
                                        <p:tgtEl>
                                          <p:spTgt spid="55"/>
                                        </p:tgtEl>
                                      </p:cBhvr>
                                    </p:animEffect>
                                    <p:anim calcmode="lin" valueType="num">
                                      <p:cBhvr>
                                        <p:cTn id="45" dur="1000" fill="hold"/>
                                        <p:tgtEl>
                                          <p:spTgt spid="55"/>
                                        </p:tgtEl>
                                        <p:attrNameLst>
                                          <p:attrName>ppt_x</p:attrName>
                                        </p:attrNameLst>
                                      </p:cBhvr>
                                      <p:tavLst>
                                        <p:tav tm="0">
                                          <p:val>
                                            <p:strVal val="#ppt_x"/>
                                          </p:val>
                                        </p:tav>
                                        <p:tav tm="100000">
                                          <p:val>
                                            <p:strVal val="#ppt_x"/>
                                          </p:val>
                                        </p:tav>
                                      </p:tavLst>
                                    </p:anim>
                                    <p:anim calcmode="lin" valueType="num">
                                      <p:cBhvr>
                                        <p:cTn id="46"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5496" y="1064124"/>
                <a:ext cx="9001000" cy="1291602"/>
              </a:xfrm>
            </p:spPr>
            <p:txBody>
              <a:bodyPr/>
              <a:lstStyle/>
              <a:p>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）若被删除结点</a:t>
                </a:r>
                <a14:m>
                  <m:oMath xmlns:m="http://schemas.openxmlformats.org/officeDocument/2006/math">
                    <m:r>
                      <a:rPr lang="en-US" altLang="zh-CN" sz="1800" i="1">
                        <a:latin typeface="Cambria Math" panose="02040503050406030204" pitchFamily="18" charset="0"/>
                      </a:rPr>
                      <m:t>𝑝</m:t>
                    </m:r>
                  </m:oMath>
                </a14:m>
                <a:r>
                  <a:rPr lang="zh-CN" altLang="zh-CN" sz="1800" dirty="0">
                    <a:latin typeface="Times New Roman" panose="02020603050405020304" pitchFamily="18" charset="0"/>
                    <a:cs typeface="Times New Roman" panose="02020603050405020304" pitchFamily="18" charset="0"/>
                  </a:rPr>
                  <a:t>既有左子树</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𝐿</m:t>
                        </m:r>
                      </m:sub>
                    </m:sSub>
                  </m:oMath>
                </a14:m>
                <a:r>
                  <a:rPr lang="zh-CN" altLang="zh-CN" sz="1800" dirty="0">
                    <a:latin typeface="Times New Roman" panose="02020603050405020304" pitchFamily="18" charset="0"/>
                    <a:cs typeface="Times New Roman" panose="02020603050405020304" pitchFamily="18" charset="0"/>
                  </a:rPr>
                  <a:t>又有右子树</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𝑅</m:t>
                        </m:r>
                      </m:sub>
                    </m:sSub>
                  </m:oMath>
                </a14:m>
                <a:r>
                  <a:rPr lang="zh-CN" altLang="zh-CN" sz="1800" dirty="0">
                    <a:latin typeface="Times New Roman" panose="02020603050405020304" pitchFamily="18" charset="0"/>
                    <a:cs typeface="Times New Roman" panose="02020603050405020304" pitchFamily="18" charset="0"/>
                  </a:rPr>
                  <a:t>，则在</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𝑝</m:t>
                        </m:r>
                      </m:e>
                      <m:sub>
                        <m:r>
                          <a:rPr lang="en-US" altLang="zh-CN" sz="1800" i="1">
                            <a:latin typeface="Cambria Math" panose="02040503050406030204" pitchFamily="18" charset="0"/>
                          </a:rPr>
                          <m:t>𝐿</m:t>
                        </m:r>
                      </m:sub>
                    </m:sSub>
                  </m:oMath>
                </a14:m>
                <a:r>
                  <a:rPr lang="zh-CN" altLang="zh-CN" sz="1800" dirty="0">
                    <a:latin typeface="Times New Roman" panose="02020603050405020304" pitchFamily="18" charset="0"/>
                    <a:cs typeface="Times New Roman" panose="02020603050405020304" pitchFamily="18" charset="0"/>
                  </a:rPr>
                  <a:t>中选值最大的代替</a:t>
                </a:r>
                <a14:m>
                  <m:oMath xmlns:m="http://schemas.openxmlformats.org/officeDocument/2006/math">
                    <m:r>
                      <a:rPr lang="en-US" altLang="zh-CN" sz="1800" i="1">
                        <a:latin typeface="Cambria Math" panose="02040503050406030204" pitchFamily="18" charset="0"/>
                      </a:rPr>
                      <m:t>𝑝</m:t>
                    </m:r>
                  </m:oMath>
                </a14:m>
                <a:r>
                  <a:rPr lang="zh-CN" altLang="zh-CN" sz="1800" dirty="0">
                    <a:latin typeface="Times New Roman" panose="02020603050405020304" pitchFamily="18" charset="0"/>
                    <a:cs typeface="Times New Roman" panose="02020603050405020304" pitchFamily="18" charset="0"/>
                  </a:rPr>
                  <a:t>，该数据按二叉排序树的性质应在左子树的最右下结点。如图中</a:t>
                </a:r>
                <a:r>
                  <a:rPr lang="en-US" altLang="zh-CN" sz="1800" dirty="0">
                    <a:latin typeface="Times New Roman" panose="02020603050405020304" pitchFamily="18" charset="0"/>
                    <a:cs typeface="Times New Roman" panose="02020603050405020304" pitchFamily="18" charset="0"/>
                  </a:rPr>
                  <a:t>(d)</a:t>
                </a:r>
                <a:r>
                  <a:rPr lang="zh-CN" altLang="zh-CN"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(e)</a:t>
                </a:r>
                <a:r>
                  <a:rPr lang="zh-CN" altLang="zh-CN" sz="1800" dirty="0">
                    <a:latin typeface="Times New Roman" panose="02020603050405020304" pitchFamily="18" charset="0"/>
                    <a:cs typeface="Times New Roman" panose="02020603050405020304" pitchFamily="18" charset="0"/>
                  </a:rPr>
                  <a:t>所示，其中</a:t>
                </a:r>
                <a:r>
                  <a:rPr lang="en-US" altLang="zh-CN" sz="1800" dirty="0">
                    <a:latin typeface="Times New Roman" panose="02020603050405020304" pitchFamily="18" charset="0"/>
                    <a:cs typeface="Times New Roman" panose="02020603050405020304" pitchFamily="18" charset="0"/>
                  </a:rPr>
                  <a:t>(e)</a:t>
                </a:r>
                <a:r>
                  <a:rPr lang="zh-CN" altLang="zh-CN" sz="1800" dirty="0">
                    <a:latin typeface="Times New Roman" panose="02020603050405020304" pitchFamily="18" charset="0"/>
                    <a:cs typeface="Times New Roman" panose="02020603050405020304" pitchFamily="18" charset="0"/>
                  </a:rPr>
                  <a:t>是</a:t>
                </a:r>
                <a14:m>
                  <m:oMath xmlns:m="http://schemas.openxmlformats.org/officeDocument/2006/math">
                    <m:r>
                      <a:rPr lang="en-US" altLang="zh-CN" sz="1800" i="1">
                        <a:latin typeface="Cambria Math" panose="02040503050406030204" pitchFamily="18" charset="0"/>
                      </a:rPr>
                      <m:t>𝑝</m:t>
                    </m:r>
                  </m:oMath>
                </a14:m>
                <a:r>
                  <a:rPr lang="zh-CN" altLang="zh-CN" sz="1800" dirty="0">
                    <a:latin typeface="Times New Roman" panose="02020603050405020304" pitchFamily="18" charset="0"/>
                    <a:cs typeface="Times New Roman" panose="02020603050405020304" pitchFamily="18" charset="0"/>
                  </a:rPr>
                  <a:t>为根结点的情形。</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5496" y="1064124"/>
                <a:ext cx="9001000" cy="1291602"/>
              </a:xfrm>
              <a:blipFill>
                <a:blip r:embed="rId2"/>
                <a:stretch>
                  <a:fillRect l="-678" r="-881" b="-4739"/>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661646" y="1995686"/>
            <a:ext cx="5748699" cy="2733050"/>
          </a:xfrm>
          <a:prstGeom prst="rect">
            <a:avLst/>
          </a:prstGeom>
        </p:spPr>
      </p:pic>
      <p:cxnSp>
        <p:nvCxnSpPr>
          <p:cNvPr id="6" name="直接箭头连接符 5"/>
          <p:cNvCxnSpPr/>
          <p:nvPr/>
        </p:nvCxnSpPr>
        <p:spPr>
          <a:xfrm flipH="1" flipV="1">
            <a:off x="2267744" y="2715766"/>
            <a:ext cx="576064" cy="1152128"/>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a:t>
            </a:r>
          </a:p>
        </p:txBody>
      </p:sp>
    </p:spTree>
    <p:extLst>
      <p:ext uri="{BB962C8B-B14F-4D97-AF65-F5344CB8AC3E}">
        <p14:creationId xmlns:p14="http://schemas.microsoft.com/office/powerpoint/2010/main" val="250092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1"/>
          </p:nvPr>
        </p:nvSpPr>
        <p:spPr>
          <a:xfrm>
            <a:off x="179548" y="987574"/>
            <a:ext cx="5616588" cy="3507876"/>
          </a:xfrm>
        </p:spPr>
        <p:txBody>
          <a:bodyPr/>
          <a:lstStyle/>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void </a:t>
            </a:r>
            <a:r>
              <a:rPr lang="en-US" altLang="zh-CN" sz="1800" dirty="0" err="1">
                <a:latin typeface="Times New Roman" panose="02020603050405020304" pitchFamily="18" charset="0"/>
                <a:cs typeface="Times New Roman" panose="02020603050405020304" pitchFamily="18" charset="0"/>
              </a:rPr>
              <a:t>BsTree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DeleteBst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BstNode</a:t>
            </a:r>
            <a:r>
              <a:rPr lang="en-US" altLang="zh-CN" sz="1800" dirty="0">
                <a:latin typeface="Times New Roman" panose="02020603050405020304" pitchFamily="18" charset="0"/>
                <a:cs typeface="Times New Roman" panose="02020603050405020304" pitchFamily="18" charset="0"/>
              </a:rPr>
              <a:t> *&amp;t, </a:t>
            </a:r>
            <a:r>
              <a:rPr lang="en-US" altLang="zh-CN" sz="1800" dirty="0" err="1">
                <a:latin typeface="Times New Roman" panose="02020603050405020304" pitchFamily="18" charset="0"/>
                <a:cs typeface="Times New Roman" panose="02020603050405020304" pitchFamily="18" charset="0"/>
              </a:rPr>
              <a:t>DElemType</a:t>
            </a:r>
            <a:r>
              <a:rPr lang="en-US" altLang="zh-CN" sz="1800" dirty="0">
                <a:latin typeface="Times New Roman" panose="02020603050405020304" pitchFamily="18" charset="0"/>
                <a:cs typeface="Times New Roman" panose="02020603050405020304" pitchFamily="18" charset="0"/>
              </a:rPr>
              <a:t> e){ </a:t>
            </a: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删除二叉排序树中的一个结点</a:t>
            </a: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if(!t) return;</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else{</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if(</a:t>
            </a:r>
            <a:r>
              <a:rPr lang="en-US" altLang="zh-CN" sz="1800" dirty="0" err="1">
                <a:latin typeface="Times New Roman" panose="02020603050405020304" pitchFamily="18" charset="0"/>
                <a:cs typeface="Times New Roman" panose="02020603050405020304" pitchFamily="18" charset="0"/>
              </a:rPr>
              <a:t>e.key</a:t>
            </a:r>
            <a:r>
              <a:rPr lang="en-US" altLang="zh-CN" sz="1800" dirty="0">
                <a:latin typeface="Times New Roman" panose="02020603050405020304" pitchFamily="18" charset="0"/>
                <a:cs typeface="Times New Roman" panose="02020603050405020304" pitchFamily="18" charset="0"/>
              </a:rPr>
              <a:t>==t-&gt;</a:t>
            </a:r>
            <a:r>
              <a:rPr lang="en-US" altLang="zh-CN" sz="1800" dirty="0" err="1">
                <a:latin typeface="Times New Roman" panose="02020603050405020304" pitchFamily="18" charset="0"/>
                <a:cs typeface="Times New Roman" panose="02020603050405020304" pitchFamily="18" charset="0"/>
              </a:rPr>
              <a:t>data.key</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Deletep</a:t>
            </a:r>
            <a:r>
              <a:rPr lang="en-US" altLang="zh-CN" sz="1800" dirty="0">
                <a:latin typeface="Times New Roman" panose="02020603050405020304" pitchFamily="18" charset="0"/>
                <a:cs typeface="Times New Roman" panose="02020603050405020304" pitchFamily="18" charset="0"/>
              </a:rPr>
              <a:t>(t);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else if(</a:t>
            </a:r>
            <a:r>
              <a:rPr lang="en-US" altLang="zh-CN" sz="1800" dirty="0" err="1">
                <a:latin typeface="Times New Roman" panose="02020603050405020304" pitchFamily="18" charset="0"/>
                <a:cs typeface="Times New Roman" panose="02020603050405020304" pitchFamily="18" charset="0"/>
              </a:rPr>
              <a:t>e.key</a:t>
            </a:r>
            <a:r>
              <a:rPr lang="en-US" altLang="zh-CN" sz="1800" dirty="0">
                <a:latin typeface="Times New Roman" panose="02020603050405020304" pitchFamily="18" charset="0"/>
                <a:cs typeface="Times New Roman" panose="02020603050405020304" pitchFamily="18" charset="0"/>
              </a:rPr>
              <a:t>&lt;t-&gt;</a:t>
            </a:r>
            <a:r>
              <a:rPr lang="en-US" altLang="zh-CN" sz="1800" dirty="0" err="1">
                <a:latin typeface="Times New Roman" panose="02020603050405020304" pitchFamily="18" charset="0"/>
                <a:cs typeface="Times New Roman" panose="02020603050405020304" pitchFamily="18" charset="0"/>
              </a:rPr>
              <a:t>data.key</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DeleteBst</a:t>
            </a:r>
            <a:r>
              <a:rPr lang="en-US" altLang="zh-CN" sz="1800" dirty="0">
                <a:latin typeface="Times New Roman" panose="02020603050405020304" pitchFamily="18" charset="0"/>
                <a:cs typeface="Times New Roman" panose="02020603050405020304" pitchFamily="18" charset="0"/>
              </a:rPr>
              <a:t>(t-&gt;</a:t>
            </a:r>
            <a:r>
              <a:rPr lang="en-US" altLang="zh-CN" sz="1800" dirty="0" err="1">
                <a:latin typeface="Times New Roman" panose="02020603050405020304" pitchFamily="18" charset="0"/>
                <a:cs typeface="Times New Roman" panose="02020603050405020304" pitchFamily="18" charset="0"/>
              </a:rPr>
              <a:t>lchild,e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else </a:t>
            </a:r>
            <a:r>
              <a:rPr lang="en-US" altLang="zh-CN" sz="1800" dirty="0" err="1">
                <a:latin typeface="Times New Roman" panose="02020603050405020304" pitchFamily="18" charset="0"/>
                <a:cs typeface="Times New Roman" panose="02020603050405020304" pitchFamily="18" charset="0"/>
              </a:rPr>
              <a:t>DeleteBst</a:t>
            </a:r>
            <a:r>
              <a:rPr lang="en-US" altLang="zh-CN" sz="1800" dirty="0">
                <a:latin typeface="Times New Roman" panose="02020603050405020304" pitchFamily="18" charset="0"/>
                <a:cs typeface="Times New Roman" panose="02020603050405020304" pitchFamily="18" charset="0"/>
              </a:rPr>
              <a:t>(t-&gt;</a:t>
            </a:r>
            <a:r>
              <a:rPr lang="en-US" altLang="zh-CN" sz="1800" dirty="0" err="1">
                <a:latin typeface="Times New Roman" panose="02020603050405020304" pitchFamily="18" charset="0"/>
                <a:cs typeface="Times New Roman" panose="02020603050405020304" pitchFamily="18" charset="0"/>
              </a:rPr>
              <a:t>rchild,e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   }	</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3635896" y="267494"/>
            <a:ext cx="5328556" cy="4670509"/>
          </a:xfrm>
          <a:prstGeom prst="rect">
            <a:avLst/>
          </a:prstGeom>
          <a:solidFill>
            <a:schemeClr val="accent2">
              <a:lumMod val="40000"/>
              <a:lumOff val="60000"/>
            </a:schemeClr>
          </a:solidFill>
        </p:spPr>
        <p:txBody>
          <a:bodyPr wrap="square" rtlCol="0">
            <a:spAutoFit/>
          </a:bodyPr>
          <a:lstStyle/>
          <a:p>
            <a:pPr>
              <a:lnSpc>
                <a:spcPts val="1700"/>
              </a:lnSpc>
            </a:pP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BsTree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Deletep</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BstNode</a:t>
            </a:r>
            <a:r>
              <a:rPr lang="en-US" altLang="zh-CN" dirty="0">
                <a:latin typeface="Times New Roman" panose="02020603050405020304" pitchFamily="18" charset="0"/>
                <a:cs typeface="Times New Roman" panose="02020603050405020304" pitchFamily="18" charset="0"/>
              </a:rPr>
              <a:t> *&amp;p){</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从二叉排序树中删除</a:t>
            </a:r>
            <a:r>
              <a:rPr lang="en-US" altLang="zh-CN" dirty="0">
                <a:latin typeface="Times New Roman" panose="02020603050405020304" pitchFamily="18" charset="0"/>
                <a:cs typeface="Times New Roman" panose="02020603050405020304" pitchFamily="18" charset="0"/>
              </a:rPr>
              <a:t>p</a:t>
            </a:r>
            <a:r>
              <a:rPr lang="zh-CN" altLang="zh-CN" dirty="0">
                <a:latin typeface="Times New Roman" panose="02020603050405020304" pitchFamily="18" charset="0"/>
                <a:cs typeface="Times New Roman" panose="02020603050405020304" pitchFamily="18" charset="0"/>
              </a:rPr>
              <a:t>，并重接</a:t>
            </a:r>
            <a:r>
              <a:rPr lang="zh-CN" altLang="en-US" dirty="0">
                <a:latin typeface="Times New Roman" panose="02020603050405020304" pitchFamily="18" charset="0"/>
                <a:cs typeface="Times New Roman" panose="02020603050405020304" pitchFamily="18" charset="0"/>
              </a:rPr>
              <a:t>其</a:t>
            </a:r>
            <a:r>
              <a:rPr lang="zh-CN" altLang="zh-CN" dirty="0">
                <a:latin typeface="Times New Roman" panose="02020603050405020304" pitchFamily="18" charset="0"/>
                <a:cs typeface="Times New Roman" panose="02020603050405020304" pitchFamily="18" charset="0"/>
              </a:rPr>
              <a:t>左子树或右子树</a:t>
            </a:r>
          </a:p>
          <a:p>
            <a:pPr>
              <a:lnSpc>
                <a:spcPts val="1700"/>
              </a:lnSpc>
            </a:pPr>
            <a:r>
              <a:rPr lang="en-US" altLang="zh-CN" dirty="0">
                <a:latin typeface="Times New Roman" panose="02020603050405020304" pitchFamily="18" charset="0"/>
                <a:cs typeface="Times New Roman" panose="02020603050405020304" pitchFamily="18" charset="0"/>
              </a:rPr>
              <a:t>     if(!p) return;</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BstNode</a:t>
            </a:r>
            <a:r>
              <a:rPr lang="en-US" altLang="zh-CN" dirty="0">
                <a:latin typeface="Times New Roman" panose="02020603050405020304" pitchFamily="18" charset="0"/>
                <a:cs typeface="Times New Roman" panose="02020603050405020304" pitchFamily="18" charset="0"/>
              </a:rPr>
              <a:t> *s,*q;</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if(p-&gt;</a:t>
            </a:r>
            <a:r>
              <a:rPr lang="en-US" altLang="zh-CN" dirty="0" err="1">
                <a:latin typeface="Times New Roman" panose="02020603050405020304" pitchFamily="18" charset="0"/>
                <a:cs typeface="Times New Roman" panose="02020603050405020304" pitchFamily="18" charset="0"/>
              </a:rPr>
              <a:t>rchild</a:t>
            </a:r>
            <a:r>
              <a:rPr lang="en-US" altLang="zh-CN" dirty="0">
                <a:latin typeface="Times New Roman" panose="02020603050405020304" pitchFamily="18" charset="0"/>
                <a:cs typeface="Times New Roman" panose="02020603050405020304" pitchFamily="18" charset="0"/>
              </a:rPr>
              <a:t>==NULL){</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q=p;  p=p-&gt;</a:t>
            </a:r>
            <a:r>
              <a:rPr lang="en-US" altLang="zh-CN" dirty="0" err="1">
                <a:latin typeface="Times New Roman" panose="02020603050405020304" pitchFamily="18" charset="0"/>
                <a:cs typeface="Times New Roman" panose="02020603050405020304" pitchFamily="18" charset="0"/>
              </a:rPr>
              <a:t>lchild</a:t>
            </a:r>
            <a:r>
              <a:rPr lang="en-US" altLang="zh-CN" dirty="0">
                <a:latin typeface="Times New Roman" panose="02020603050405020304" pitchFamily="18" charset="0"/>
                <a:cs typeface="Times New Roman" panose="02020603050405020304" pitchFamily="18" charset="0"/>
              </a:rPr>
              <a:t>;  delete q;</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else if(p-&gt;</a:t>
            </a:r>
            <a:r>
              <a:rPr lang="en-US" altLang="zh-CN" dirty="0" err="1">
                <a:latin typeface="Times New Roman" panose="02020603050405020304" pitchFamily="18" charset="0"/>
                <a:cs typeface="Times New Roman" panose="02020603050405020304" pitchFamily="18" charset="0"/>
              </a:rPr>
              <a:t>lchild</a:t>
            </a:r>
            <a:r>
              <a:rPr lang="en-US" altLang="zh-CN" dirty="0">
                <a:latin typeface="Times New Roman" panose="02020603050405020304" pitchFamily="18" charset="0"/>
                <a:cs typeface="Times New Roman" panose="02020603050405020304" pitchFamily="18" charset="0"/>
              </a:rPr>
              <a:t>==NULL){</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q=p;   p=p-&gt;</a:t>
            </a:r>
            <a:r>
              <a:rPr lang="en-US" altLang="zh-CN" dirty="0" err="1">
                <a:latin typeface="Times New Roman" panose="02020603050405020304" pitchFamily="18" charset="0"/>
                <a:cs typeface="Times New Roman" panose="02020603050405020304" pitchFamily="18" charset="0"/>
              </a:rPr>
              <a:t>rchild</a:t>
            </a:r>
            <a:r>
              <a:rPr lang="en-US" altLang="zh-CN" dirty="0">
                <a:latin typeface="Times New Roman" panose="02020603050405020304" pitchFamily="18" charset="0"/>
                <a:cs typeface="Times New Roman" panose="02020603050405020304" pitchFamily="18" charset="0"/>
              </a:rPr>
              <a:t>; delete q;</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else{</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q=p; s=p-&gt;</a:t>
            </a:r>
            <a:r>
              <a:rPr lang="en-US" altLang="zh-CN" dirty="0" err="1">
                <a:latin typeface="Times New Roman" panose="02020603050405020304" pitchFamily="18" charset="0"/>
                <a:cs typeface="Times New Roman" panose="02020603050405020304" pitchFamily="18" charset="0"/>
              </a:rPr>
              <a:t>lchild</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while(s-&gt;</a:t>
            </a:r>
            <a:r>
              <a:rPr lang="en-US" altLang="zh-CN" dirty="0" err="1">
                <a:latin typeface="Times New Roman" panose="02020603050405020304" pitchFamily="18" charset="0"/>
                <a:cs typeface="Times New Roman" panose="02020603050405020304" pitchFamily="18" charset="0"/>
              </a:rPr>
              <a:t>rchild</a:t>
            </a:r>
            <a:r>
              <a:rPr lang="en-US" altLang="zh-CN" dirty="0">
                <a:latin typeface="Times New Roman" panose="02020603050405020304" pitchFamily="18" charset="0"/>
                <a:cs typeface="Times New Roman" panose="02020603050405020304" pitchFamily="18" charset="0"/>
              </a:rPr>
              <a:t>!=NULL){</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q=s;  s=s-&gt;</a:t>
            </a:r>
            <a:r>
              <a:rPr lang="en-US" altLang="zh-CN" dirty="0" err="1">
                <a:latin typeface="Times New Roman" panose="02020603050405020304" pitchFamily="18" charset="0"/>
                <a:cs typeface="Times New Roman" panose="02020603050405020304" pitchFamily="18" charset="0"/>
              </a:rPr>
              <a:t>rchild</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p-&gt;data=s-&gt;data;</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if (q!=p) q-&gt;</a:t>
            </a:r>
            <a:r>
              <a:rPr lang="en-US" altLang="zh-CN" dirty="0" err="1">
                <a:latin typeface="Times New Roman" panose="02020603050405020304" pitchFamily="18" charset="0"/>
                <a:cs typeface="Times New Roman" panose="02020603050405020304" pitchFamily="18" charset="0"/>
              </a:rPr>
              <a:t>rchild</a:t>
            </a:r>
            <a:r>
              <a:rPr lang="en-US" altLang="zh-CN" dirty="0">
                <a:latin typeface="Times New Roman" panose="02020603050405020304" pitchFamily="18" charset="0"/>
                <a:cs typeface="Times New Roman" panose="02020603050405020304" pitchFamily="18" charset="0"/>
              </a:rPr>
              <a:t>=s-&gt;</a:t>
            </a:r>
            <a:r>
              <a:rPr lang="en-US" altLang="zh-CN" dirty="0" err="1">
                <a:latin typeface="Times New Roman" panose="02020603050405020304" pitchFamily="18" charset="0"/>
                <a:cs typeface="Times New Roman" panose="02020603050405020304" pitchFamily="18" charset="0"/>
              </a:rPr>
              <a:t>lchild</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else q-&gt;</a:t>
            </a:r>
            <a:r>
              <a:rPr lang="en-US" altLang="zh-CN" dirty="0" err="1">
                <a:latin typeface="Times New Roman" panose="02020603050405020304" pitchFamily="18" charset="0"/>
                <a:cs typeface="Times New Roman" panose="02020603050405020304" pitchFamily="18" charset="0"/>
              </a:rPr>
              <a:t>lchild</a:t>
            </a:r>
            <a:r>
              <a:rPr lang="en-US" altLang="zh-CN" dirty="0">
                <a:latin typeface="Times New Roman" panose="02020603050405020304" pitchFamily="18" charset="0"/>
                <a:cs typeface="Times New Roman" panose="02020603050405020304" pitchFamily="18" charset="0"/>
              </a:rPr>
              <a:t>=s-&gt;</a:t>
            </a:r>
            <a:r>
              <a:rPr lang="en-US" altLang="zh-CN" dirty="0" err="1">
                <a:latin typeface="Times New Roman" panose="02020603050405020304" pitchFamily="18" charset="0"/>
                <a:cs typeface="Times New Roman" panose="02020603050405020304" pitchFamily="18" charset="0"/>
              </a:rPr>
              <a:t>lchild</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delete s;</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1700"/>
              </a:lnSpc>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二叉排序树的删除算法</a:t>
            </a:r>
          </a:p>
        </p:txBody>
      </p:sp>
    </p:spTree>
    <p:extLst>
      <p:ext uri="{BB962C8B-B14F-4D97-AF65-F5344CB8AC3E}">
        <p14:creationId xmlns:p14="http://schemas.microsoft.com/office/powerpoint/2010/main" val="429222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ppt_x"/>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6806" y="526852"/>
            <a:ext cx="4896508" cy="4670509"/>
          </a:xfrm>
          <a:prstGeom prst="rect">
            <a:avLst/>
          </a:prstGeom>
          <a:solidFill>
            <a:schemeClr val="accent2">
              <a:lumMod val="40000"/>
              <a:lumOff val="60000"/>
            </a:schemeClr>
          </a:solidFill>
        </p:spPr>
        <p:txBody>
          <a:bodyPr wrap="square" rtlCol="0">
            <a:spAutoFit/>
          </a:bodyPr>
          <a:lstStyle/>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void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BsTree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Deletep</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*&amp;p){</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从二叉排序树中删除</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p</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，并重接它的左子树或右子树</a:t>
            </a: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if(!p) return;</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*s,*q;</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if(p-&gt;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 if(p-&gt;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q=p; s=p-&gt;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while(s-&gt;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q=s;  s=s-&gt;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p-&gt;data=s-&gt;data;</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 (q!=p)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delete s;</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 name="Group 15"/>
          <p:cNvGrpSpPr>
            <a:grpSpLocks/>
          </p:cNvGrpSpPr>
          <p:nvPr/>
        </p:nvGrpSpPr>
        <p:grpSpPr bwMode="auto">
          <a:xfrm>
            <a:off x="5181600" y="304800"/>
            <a:ext cx="2133600" cy="4038600"/>
            <a:chOff x="3264" y="192"/>
            <a:chExt cx="1344" cy="2544"/>
          </a:xfrm>
        </p:grpSpPr>
        <p:sp>
          <p:nvSpPr>
            <p:cNvPr id="6" name="Oval 3"/>
            <p:cNvSpPr>
              <a:spLocks noChangeArrowheads="1"/>
            </p:cNvSpPr>
            <p:nvPr/>
          </p:nvSpPr>
          <p:spPr bwMode="auto">
            <a:xfrm>
              <a:off x="3984" y="912"/>
              <a:ext cx="432"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7" name="Rectangle 4"/>
            <p:cNvSpPr>
              <a:spLocks noChangeArrowheads="1"/>
            </p:cNvSpPr>
            <p:nvPr/>
          </p:nvSpPr>
          <p:spPr bwMode="auto">
            <a:xfrm>
              <a:off x="3792" y="240"/>
              <a:ext cx="816" cy="28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zh-CN"/>
            </a:p>
          </p:txBody>
        </p:sp>
        <p:sp>
          <p:nvSpPr>
            <p:cNvPr id="8" name="Line 5"/>
            <p:cNvSpPr>
              <a:spLocks noChangeShapeType="1"/>
            </p:cNvSpPr>
            <p:nvPr/>
          </p:nvSpPr>
          <p:spPr bwMode="auto">
            <a:xfrm flipH="1">
              <a:off x="4224" y="432"/>
              <a:ext cx="0" cy="48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408" y="19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a:t>p</a:t>
              </a:r>
              <a:endParaRPr lang="zh-CN" altLang="en-US"/>
            </a:p>
          </p:txBody>
        </p:sp>
        <p:sp>
          <p:nvSpPr>
            <p:cNvPr id="10" name="Oval 7"/>
            <p:cNvSpPr>
              <a:spLocks noChangeArrowheads="1"/>
            </p:cNvSpPr>
            <p:nvPr/>
          </p:nvSpPr>
          <p:spPr bwMode="auto">
            <a:xfrm>
              <a:off x="3744" y="1440"/>
              <a:ext cx="384"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1" name="Oval 8"/>
            <p:cNvSpPr>
              <a:spLocks noChangeArrowheads="1"/>
            </p:cNvSpPr>
            <p:nvPr/>
          </p:nvSpPr>
          <p:spPr bwMode="auto">
            <a:xfrm>
              <a:off x="3264" y="1920"/>
              <a:ext cx="336" cy="81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2" name="Oval 9"/>
            <p:cNvSpPr>
              <a:spLocks noChangeArrowheads="1"/>
            </p:cNvSpPr>
            <p:nvPr/>
          </p:nvSpPr>
          <p:spPr bwMode="auto">
            <a:xfrm>
              <a:off x="4128" y="1968"/>
              <a:ext cx="288" cy="76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3" name="Line 10"/>
            <p:cNvSpPr>
              <a:spLocks noChangeShapeType="1"/>
            </p:cNvSpPr>
            <p:nvPr/>
          </p:nvSpPr>
          <p:spPr bwMode="auto">
            <a:xfrm flipH="1">
              <a:off x="3936" y="1200"/>
              <a:ext cx="144"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flipH="1">
              <a:off x="3504" y="1728"/>
              <a:ext cx="288"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a:off x="4080" y="1680"/>
              <a:ext cx="144"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 name="Group 16"/>
          <p:cNvGrpSpPr>
            <a:grpSpLocks/>
          </p:cNvGrpSpPr>
          <p:nvPr/>
        </p:nvGrpSpPr>
        <p:grpSpPr bwMode="auto">
          <a:xfrm>
            <a:off x="7010400" y="727075"/>
            <a:ext cx="1176338" cy="796925"/>
            <a:chOff x="4416" y="458"/>
            <a:chExt cx="741" cy="502"/>
          </a:xfrm>
        </p:grpSpPr>
        <p:sp>
          <p:nvSpPr>
            <p:cNvPr id="17" name="Line 13"/>
            <p:cNvSpPr>
              <a:spLocks noChangeShapeType="1"/>
            </p:cNvSpPr>
            <p:nvPr/>
          </p:nvSpPr>
          <p:spPr bwMode="auto">
            <a:xfrm flipH="1">
              <a:off x="4416" y="672"/>
              <a:ext cx="432"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4"/>
            <p:cNvSpPr txBox="1">
              <a:spLocks noChangeArrowheads="1"/>
            </p:cNvSpPr>
            <p:nvPr/>
          </p:nvSpPr>
          <p:spPr bwMode="auto">
            <a:xfrm>
              <a:off x="4934" y="45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dirty="0"/>
                <a:t>q</a:t>
              </a:r>
            </a:p>
          </p:txBody>
        </p:sp>
      </p:grpSp>
      <p:cxnSp>
        <p:nvCxnSpPr>
          <p:cNvPr id="20" name="直接箭头连接符 19"/>
          <p:cNvCxnSpPr>
            <a:endCxn id="10" idx="1"/>
          </p:cNvCxnSpPr>
          <p:nvPr/>
        </p:nvCxnSpPr>
        <p:spPr>
          <a:xfrm flipH="1">
            <a:off x="6032874" y="717474"/>
            <a:ext cx="291726" cy="1635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6324600" y="1447800"/>
            <a:ext cx="551656" cy="4572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477000" y="1447800"/>
            <a:ext cx="533400" cy="4572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二叉排序树的删除算法</a:t>
            </a:r>
          </a:p>
        </p:txBody>
      </p:sp>
    </p:spTree>
    <p:extLst>
      <p:ext uri="{BB962C8B-B14F-4D97-AF65-F5344CB8AC3E}">
        <p14:creationId xmlns:p14="http://schemas.microsoft.com/office/powerpoint/2010/main" val="95670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1000"/>
                                        <p:tgtEl>
                                          <p:spTgt spid="16"/>
                                        </p:tgtEl>
                                      </p:cBhvr>
                                    </p:animEffect>
                                    <p:anim calcmode="lin" valueType="num">
                                      <p:cBhvr>
                                        <p:cTn id="21" dur="1000" fill="hold"/>
                                        <p:tgtEl>
                                          <p:spTgt spid="16"/>
                                        </p:tgtEl>
                                        <p:attrNameLst>
                                          <p:attrName>ppt_x</p:attrName>
                                        </p:attrNameLst>
                                      </p:cBhvr>
                                      <p:tavLst>
                                        <p:tav tm="0">
                                          <p:val>
                                            <p:strVal val="#ppt_x"/>
                                          </p:val>
                                        </p:tav>
                                        <p:tav tm="100000">
                                          <p:val>
                                            <p:strVal val="#ppt_x"/>
                                          </p:val>
                                        </p:tav>
                                      </p:tavLst>
                                    </p:anim>
                                    <p:anim calcmode="lin" valueType="num">
                                      <p:cBhvr>
                                        <p:cTn id="2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1000"/>
                                        <p:tgtEl>
                                          <p:spTgt spid="24"/>
                                        </p:tgtEl>
                                      </p:cBhvr>
                                    </p:animEffect>
                                    <p:anim calcmode="lin" valueType="num">
                                      <p:cBhvr>
                                        <p:cTn id="39" dur="1000" fill="hold"/>
                                        <p:tgtEl>
                                          <p:spTgt spid="24"/>
                                        </p:tgtEl>
                                        <p:attrNameLst>
                                          <p:attrName>ppt_x</p:attrName>
                                        </p:attrNameLst>
                                      </p:cBhvr>
                                      <p:tavLst>
                                        <p:tav tm="0">
                                          <p:val>
                                            <p:strVal val="#ppt_x"/>
                                          </p:val>
                                        </p:tav>
                                        <p:tav tm="100000">
                                          <p:val>
                                            <p:strVal val="#ppt_x"/>
                                          </p:val>
                                        </p:tav>
                                      </p:tavLst>
                                    </p:anim>
                                    <p:anim calcmode="lin" valueType="num">
                                      <p:cBhvr>
                                        <p:cTn id="4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2692" y="533400"/>
            <a:ext cx="4896508" cy="4670509"/>
          </a:xfrm>
          <a:prstGeom prst="rect">
            <a:avLst/>
          </a:prstGeom>
          <a:solidFill>
            <a:schemeClr val="accent2">
              <a:lumMod val="40000"/>
              <a:lumOff val="60000"/>
            </a:schemeClr>
          </a:solidFill>
        </p:spPr>
        <p:txBody>
          <a:bodyPr wrap="square" rtlCol="0">
            <a:spAutoFit/>
          </a:bodyPr>
          <a:lstStyle/>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void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BsTree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Deletep</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*&amp;p){</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从二叉排序树中删除</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p</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，并重接它的左子树或右子树</a:t>
            </a: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if(!p) return;</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*s,*q;</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if(p-&gt;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else if(p-&gt;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q=p; s=p-&gt;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while(s-&gt;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q=s;  s=s-&gt;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p-&gt;data=s-&gt;data;</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 (q!=p)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delete s;</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Oval 3"/>
          <p:cNvSpPr>
            <a:spLocks noChangeArrowheads="1"/>
          </p:cNvSpPr>
          <p:nvPr/>
        </p:nvSpPr>
        <p:spPr bwMode="auto">
          <a:xfrm>
            <a:off x="6324600" y="1447800"/>
            <a:ext cx="6858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3" name="Rectangle 4"/>
          <p:cNvSpPr>
            <a:spLocks noChangeArrowheads="1"/>
          </p:cNvSpPr>
          <p:nvPr/>
        </p:nvSpPr>
        <p:spPr bwMode="auto">
          <a:xfrm>
            <a:off x="6019800" y="381000"/>
            <a:ext cx="1295400"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zh-CN"/>
          </a:p>
        </p:txBody>
      </p:sp>
      <p:sp>
        <p:nvSpPr>
          <p:cNvPr id="25" name="Line 5"/>
          <p:cNvSpPr>
            <a:spLocks noChangeShapeType="1"/>
          </p:cNvSpPr>
          <p:nvPr/>
        </p:nvSpPr>
        <p:spPr bwMode="auto">
          <a:xfrm flipH="1">
            <a:off x="6629400" y="685800"/>
            <a:ext cx="762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Rectangle 6"/>
          <p:cNvSpPr>
            <a:spLocks noChangeArrowheads="1"/>
          </p:cNvSpPr>
          <p:nvPr/>
        </p:nvSpPr>
        <p:spPr bwMode="auto">
          <a:xfrm>
            <a:off x="5410200" y="304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a:t>p</a:t>
            </a:r>
            <a:endParaRPr lang="zh-CN" altLang="en-US"/>
          </a:p>
        </p:txBody>
      </p:sp>
      <p:sp>
        <p:nvSpPr>
          <p:cNvPr id="27" name="Oval 7"/>
          <p:cNvSpPr>
            <a:spLocks noChangeArrowheads="1"/>
          </p:cNvSpPr>
          <p:nvPr/>
        </p:nvSpPr>
        <p:spPr bwMode="auto">
          <a:xfrm>
            <a:off x="7010400" y="2286000"/>
            <a:ext cx="6096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8" name="Oval 8"/>
          <p:cNvSpPr>
            <a:spLocks noChangeArrowheads="1"/>
          </p:cNvSpPr>
          <p:nvPr/>
        </p:nvSpPr>
        <p:spPr bwMode="auto">
          <a:xfrm>
            <a:off x="6400800" y="3048000"/>
            <a:ext cx="533400" cy="1295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29" name="Oval 9"/>
          <p:cNvSpPr>
            <a:spLocks noChangeArrowheads="1"/>
          </p:cNvSpPr>
          <p:nvPr/>
        </p:nvSpPr>
        <p:spPr bwMode="auto">
          <a:xfrm>
            <a:off x="7696200" y="3124200"/>
            <a:ext cx="457200" cy="1219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30" name="Line 10"/>
          <p:cNvSpPr>
            <a:spLocks noChangeShapeType="1"/>
          </p:cNvSpPr>
          <p:nvPr/>
        </p:nvSpPr>
        <p:spPr bwMode="auto">
          <a:xfrm>
            <a:off x="6934200" y="1905000"/>
            <a:ext cx="3048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11"/>
          <p:cNvSpPr>
            <a:spLocks noChangeShapeType="1"/>
          </p:cNvSpPr>
          <p:nvPr/>
        </p:nvSpPr>
        <p:spPr bwMode="auto">
          <a:xfrm flipH="1">
            <a:off x="6629400" y="2743200"/>
            <a:ext cx="4572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12"/>
          <p:cNvSpPr>
            <a:spLocks noChangeShapeType="1"/>
          </p:cNvSpPr>
          <p:nvPr/>
        </p:nvSpPr>
        <p:spPr bwMode="auto">
          <a:xfrm>
            <a:off x="7620000" y="2667000"/>
            <a:ext cx="228600" cy="457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 name="Group 13"/>
          <p:cNvGrpSpPr>
            <a:grpSpLocks/>
          </p:cNvGrpSpPr>
          <p:nvPr/>
        </p:nvGrpSpPr>
        <p:grpSpPr bwMode="auto">
          <a:xfrm>
            <a:off x="7010400" y="727075"/>
            <a:ext cx="1176338" cy="796925"/>
            <a:chOff x="4416" y="458"/>
            <a:chExt cx="741" cy="502"/>
          </a:xfrm>
        </p:grpSpPr>
        <p:sp>
          <p:nvSpPr>
            <p:cNvPr id="34" name="Line 14"/>
            <p:cNvSpPr>
              <a:spLocks noChangeShapeType="1"/>
            </p:cNvSpPr>
            <p:nvPr/>
          </p:nvSpPr>
          <p:spPr bwMode="auto">
            <a:xfrm flipH="1">
              <a:off x="4416" y="672"/>
              <a:ext cx="432"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15"/>
            <p:cNvSpPr txBox="1">
              <a:spLocks noChangeArrowheads="1"/>
            </p:cNvSpPr>
            <p:nvPr/>
          </p:nvSpPr>
          <p:spPr bwMode="auto">
            <a:xfrm>
              <a:off x="4934" y="45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a:t>q</a:t>
              </a:r>
            </a:p>
          </p:txBody>
        </p:sp>
      </p:grpSp>
      <p:cxnSp>
        <p:nvCxnSpPr>
          <p:cNvPr id="19" name="直接箭头连接符 18"/>
          <p:cNvCxnSpPr>
            <a:endCxn id="27" idx="0"/>
          </p:cNvCxnSpPr>
          <p:nvPr/>
        </p:nvCxnSpPr>
        <p:spPr>
          <a:xfrm>
            <a:off x="6804248" y="685800"/>
            <a:ext cx="510952" cy="1600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400800" y="1447800"/>
            <a:ext cx="403448" cy="4572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1" idx="1"/>
            <a:endCxn id="21" idx="5"/>
          </p:cNvCxnSpPr>
          <p:nvPr/>
        </p:nvCxnSpPr>
        <p:spPr>
          <a:xfrm>
            <a:off x="6425033" y="1514755"/>
            <a:ext cx="484934" cy="3232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二叉排序树的删除算法</a:t>
            </a:r>
          </a:p>
        </p:txBody>
      </p:sp>
    </p:spTree>
    <p:extLst>
      <p:ext uri="{BB962C8B-B14F-4D97-AF65-F5344CB8AC3E}">
        <p14:creationId xmlns:p14="http://schemas.microsoft.com/office/powerpoint/2010/main" val="44007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ppt_x"/>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additive="base">
                                        <p:cTn id="39" dur="500" fill="hold"/>
                                        <p:tgtEl>
                                          <p:spTgt spid="31"/>
                                        </p:tgtEl>
                                        <p:attrNameLst>
                                          <p:attrName>ppt_x</p:attrName>
                                        </p:attrNameLst>
                                      </p:cBhvr>
                                      <p:tavLst>
                                        <p:tav tm="0">
                                          <p:val>
                                            <p:strVal val="#ppt_x"/>
                                          </p:val>
                                        </p:tav>
                                        <p:tav tm="100000">
                                          <p:val>
                                            <p:strVal val="#ppt_x"/>
                                          </p:val>
                                        </p:tav>
                                      </p:tavLst>
                                    </p:anim>
                                    <p:anim calcmode="lin" valueType="num">
                                      <p:cBhvr additive="base">
                                        <p:cTn id="40" dur="500" fill="hold"/>
                                        <p:tgtEl>
                                          <p:spTgt spid="3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additive="base">
                                        <p:cTn id="49" dur="500" fill="hold"/>
                                        <p:tgtEl>
                                          <p:spTgt spid="33"/>
                                        </p:tgtEl>
                                        <p:attrNameLst>
                                          <p:attrName>ppt_x</p:attrName>
                                        </p:attrNameLst>
                                      </p:cBhvr>
                                      <p:tavLst>
                                        <p:tav tm="0">
                                          <p:val>
                                            <p:strVal val="#ppt_x"/>
                                          </p:val>
                                        </p:tav>
                                        <p:tav tm="100000">
                                          <p:val>
                                            <p:strVal val="#ppt_x"/>
                                          </p:val>
                                        </p:tav>
                                      </p:tavLst>
                                    </p:anim>
                                    <p:anim calcmode="lin" valueType="num">
                                      <p:cBhvr additive="base">
                                        <p:cTn id="5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9"/>
                                        </p:tgtEl>
                                        <p:attrNameLst>
                                          <p:attrName>style.visibility</p:attrName>
                                        </p:attrNameLst>
                                      </p:cBhvr>
                                      <p:to>
                                        <p:strVal val="visible"/>
                                      </p:to>
                                    </p:set>
                                    <p:anim calcmode="lin" valueType="num">
                                      <p:cBhvr additive="base">
                                        <p:cTn id="61" dur="500" fill="hold"/>
                                        <p:tgtEl>
                                          <p:spTgt spid="39"/>
                                        </p:tgtEl>
                                        <p:attrNameLst>
                                          <p:attrName>ppt_x</p:attrName>
                                        </p:attrNameLst>
                                      </p:cBhvr>
                                      <p:tavLst>
                                        <p:tav tm="0">
                                          <p:val>
                                            <p:strVal val="#ppt_x"/>
                                          </p:val>
                                        </p:tav>
                                        <p:tav tm="100000">
                                          <p:val>
                                            <p:strVal val="#ppt_x"/>
                                          </p:val>
                                        </p:tav>
                                      </p:tavLst>
                                    </p:anim>
                                    <p:anim calcmode="lin" valueType="num">
                                      <p:cBhvr additive="base">
                                        <p:cTn id="62" dur="500" fill="hold"/>
                                        <p:tgtEl>
                                          <p:spTgt spid="39"/>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5" grpId="0" animBg="1"/>
      <p:bldP spid="26" grpId="0"/>
      <p:bldP spid="27" grpId="0" animBg="1"/>
      <p:bldP spid="28" grpId="0" animBg="1"/>
      <p:bldP spid="29" grpId="0" animBg="1"/>
      <p:bldP spid="30" grpId="0" animBg="1"/>
      <p:bldP spid="31" grpId="0" animBg="1"/>
      <p:bldP spid="3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568" y="526852"/>
            <a:ext cx="4896508" cy="4670509"/>
          </a:xfrm>
          <a:prstGeom prst="rect">
            <a:avLst/>
          </a:prstGeom>
          <a:solidFill>
            <a:schemeClr val="accent2">
              <a:lumMod val="40000"/>
              <a:lumOff val="60000"/>
            </a:schemeClr>
          </a:solidFill>
        </p:spPr>
        <p:txBody>
          <a:bodyPr wrap="square" rtlCol="0">
            <a:spAutoFit/>
          </a:bodyPr>
          <a:lstStyle/>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void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BsTree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Deletep</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*&amp;p){</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从二叉排序树中删除</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p</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，并重接它的左子树或右子树</a:t>
            </a: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if(!p) return;</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*s,*q;</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if(p-&gt;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else if(p-&gt;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else{</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q=p; s=p-&gt;</a:t>
            </a:r>
            <a:r>
              <a:rPr lang="en-US" altLang="zh-CN" sz="16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while(s-&gt;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q=s;  s=s-&gt;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p-&gt;data=s-&gt;data;</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 (q!=p)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delete s;</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5796136" y="699542"/>
            <a:ext cx="1944216" cy="3533346"/>
          </a:xfrm>
          <a:prstGeom prst="rect">
            <a:avLst/>
          </a:prstGeom>
        </p:spPr>
      </p:pic>
      <p:cxnSp>
        <p:nvCxnSpPr>
          <p:cNvPr id="6" name="直接箭头连接符 5"/>
          <p:cNvCxnSpPr/>
          <p:nvPr/>
        </p:nvCxnSpPr>
        <p:spPr>
          <a:xfrm>
            <a:off x="6372164" y="1257674"/>
            <a:ext cx="14405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012160" y="1041650"/>
            <a:ext cx="3600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q</a:t>
            </a:r>
            <a:endParaRPr lang="zh-CN" altLang="en-US" dirty="0">
              <a:solidFill>
                <a:schemeClr val="tx1"/>
              </a:solidFill>
            </a:endParaRPr>
          </a:p>
        </p:txBody>
      </p:sp>
      <p:cxnSp>
        <p:nvCxnSpPr>
          <p:cNvPr id="62" name="直接箭头连接符 61"/>
          <p:cNvCxnSpPr/>
          <p:nvPr/>
        </p:nvCxnSpPr>
        <p:spPr>
          <a:xfrm>
            <a:off x="6048110" y="1829819"/>
            <a:ext cx="14405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5742121" y="1613795"/>
            <a:ext cx="3600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a:t>
            </a:r>
            <a:endParaRPr lang="zh-CN" altLang="en-US" dirty="0">
              <a:solidFill>
                <a:schemeClr val="tx1"/>
              </a:solidFill>
            </a:endParaRPr>
          </a:p>
        </p:txBody>
      </p:sp>
      <p:sp>
        <p:nvSpPr>
          <p:cNvPr id="67" name="矩形 66"/>
          <p:cNvSpPr/>
          <p:nvPr/>
        </p:nvSpPr>
        <p:spPr>
          <a:xfrm>
            <a:off x="6300228" y="935023"/>
            <a:ext cx="3600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p</a:t>
            </a:r>
            <a:endParaRPr lang="zh-CN" altLang="en-US" dirty="0">
              <a:solidFill>
                <a:schemeClr val="tx1"/>
              </a:solidFill>
            </a:endParaRPr>
          </a:p>
        </p:txBody>
      </p:sp>
      <p:cxnSp>
        <p:nvCxnSpPr>
          <p:cNvPr id="71" name="直接箭头连接符 70"/>
          <p:cNvCxnSpPr/>
          <p:nvPr/>
        </p:nvCxnSpPr>
        <p:spPr>
          <a:xfrm>
            <a:off x="6474405" y="1185666"/>
            <a:ext cx="14405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二叉排序树的删除算法</a:t>
            </a:r>
          </a:p>
        </p:txBody>
      </p:sp>
    </p:spTree>
    <p:extLst>
      <p:ext uri="{BB962C8B-B14F-4D97-AF65-F5344CB8AC3E}">
        <p14:creationId xmlns:p14="http://schemas.microsoft.com/office/powerpoint/2010/main" val="295463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989" y="547539"/>
            <a:ext cx="4896508" cy="4670509"/>
          </a:xfrm>
          <a:prstGeom prst="rect">
            <a:avLst/>
          </a:prstGeom>
          <a:solidFill>
            <a:schemeClr val="accent2">
              <a:lumMod val="40000"/>
              <a:lumOff val="60000"/>
            </a:schemeClr>
          </a:solidFill>
        </p:spPr>
        <p:txBody>
          <a:bodyPr wrap="square" rtlCol="0">
            <a:spAutoFit/>
          </a:bodyPr>
          <a:lstStyle/>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void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BsTree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Deletep</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*&amp;p){</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从二叉排序树中删除</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p</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，并重接它的左子树或右子树</a:t>
            </a: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if(!p) return;</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*s,*q;</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if(p-&gt;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else if(p-&gt;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else{</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q=p; s=p-&gt;</a:t>
            </a:r>
            <a:r>
              <a:rPr lang="en-US" altLang="zh-CN" sz="16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while(s-&gt;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q=s;  s=s-&gt;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p-&gt;data=s-&gt;data;</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if (q!=p) q-&gt;</a:t>
            </a:r>
            <a:r>
              <a:rPr lang="en-US" altLang="zh-CN" sz="16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else q-&gt;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delete s;</a:t>
            </a:r>
            <a:endPar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4427984" y="717474"/>
            <a:ext cx="1944216" cy="3533346"/>
          </a:xfrm>
          <a:prstGeom prst="rect">
            <a:avLst/>
          </a:prstGeom>
        </p:spPr>
      </p:pic>
      <p:cxnSp>
        <p:nvCxnSpPr>
          <p:cNvPr id="6" name="直接箭头连接符 5"/>
          <p:cNvCxnSpPr/>
          <p:nvPr/>
        </p:nvCxnSpPr>
        <p:spPr>
          <a:xfrm>
            <a:off x="5004012" y="1275606"/>
            <a:ext cx="14405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428020" y="1050758"/>
            <a:ext cx="720044" cy="296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q</a:t>
            </a:r>
            <a:endParaRPr lang="zh-CN" altLang="en-US" dirty="0">
              <a:solidFill>
                <a:schemeClr val="tx1"/>
              </a:solidFill>
            </a:endParaRPr>
          </a:p>
        </p:txBody>
      </p:sp>
      <p:cxnSp>
        <p:nvCxnSpPr>
          <p:cNvPr id="62" name="直接箭头连接符 61"/>
          <p:cNvCxnSpPr/>
          <p:nvPr/>
        </p:nvCxnSpPr>
        <p:spPr>
          <a:xfrm>
            <a:off x="4679958" y="1847751"/>
            <a:ext cx="14405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4373969" y="1631727"/>
            <a:ext cx="3600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a:t>
            </a:r>
            <a:endParaRPr lang="zh-CN" altLang="en-US" dirty="0">
              <a:solidFill>
                <a:schemeClr val="tx1"/>
              </a:solidFill>
            </a:endParaRPr>
          </a:p>
        </p:txBody>
      </p:sp>
      <p:cxnSp>
        <p:nvCxnSpPr>
          <p:cNvPr id="9" name="直接箭头连接符 8"/>
          <p:cNvCxnSpPr/>
          <p:nvPr/>
        </p:nvCxnSpPr>
        <p:spPr>
          <a:xfrm flipH="1">
            <a:off x="5724128" y="2643758"/>
            <a:ext cx="144016"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5840812" y="2499742"/>
            <a:ext cx="3600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q</a:t>
            </a:r>
            <a:endParaRPr lang="zh-CN" altLang="en-US" dirty="0">
              <a:solidFill>
                <a:schemeClr val="tx1"/>
              </a:solidFill>
            </a:endParaRPr>
          </a:p>
        </p:txBody>
      </p:sp>
      <p:cxnSp>
        <p:nvCxnSpPr>
          <p:cNvPr id="65" name="直接箭头连接符 64"/>
          <p:cNvCxnSpPr/>
          <p:nvPr/>
        </p:nvCxnSpPr>
        <p:spPr>
          <a:xfrm flipH="1">
            <a:off x="6200816" y="3143895"/>
            <a:ext cx="144016"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6272824" y="2855863"/>
            <a:ext cx="36000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a:t>
            </a:r>
            <a:endParaRPr lang="zh-CN" altLang="en-US" dirty="0">
              <a:solidFill>
                <a:schemeClr val="tx1"/>
              </a:solidFill>
            </a:endParaRPr>
          </a:p>
        </p:txBody>
      </p:sp>
      <p:cxnSp>
        <p:nvCxnSpPr>
          <p:cNvPr id="8" name="直接箭头连接符 7"/>
          <p:cNvCxnSpPr/>
          <p:nvPr/>
        </p:nvCxnSpPr>
        <p:spPr>
          <a:xfrm flipH="1" flipV="1">
            <a:off x="5292080" y="1631727"/>
            <a:ext cx="728734" cy="1732111"/>
          </a:xfrm>
          <a:prstGeom prst="straightConnector1">
            <a:avLst/>
          </a:prstGeom>
          <a:ln>
            <a:solidFill>
              <a:srgbClr val="0070C0"/>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733973" y="915566"/>
            <a:ext cx="720044"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p</a:t>
            </a:r>
            <a:endParaRPr lang="zh-CN" altLang="en-US" dirty="0">
              <a:solidFill>
                <a:schemeClr val="tx1"/>
              </a:solidFill>
            </a:endParaRPr>
          </a:p>
        </p:txBody>
      </p:sp>
      <p:cxnSp>
        <p:nvCxnSpPr>
          <p:cNvPr id="17" name="直接箭头连接符 16"/>
          <p:cNvCxnSpPr/>
          <p:nvPr/>
        </p:nvCxnSpPr>
        <p:spPr>
          <a:xfrm>
            <a:off x="5112360" y="1145603"/>
            <a:ext cx="14405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868144" y="3287911"/>
            <a:ext cx="332672" cy="29195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148064" y="1427840"/>
            <a:ext cx="332672" cy="29195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6804248" y="1193735"/>
            <a:ext cx="1668008" cy="2558955"/>
          </a:xfrm>
          <a:prstGeom prst="rect">
            <a:avLst/>
          </a:prstGeom>
        </p:spPr>
      </p:pic>
      <p:cxnSp>
        <p:nvCxnSpPr>
          <p:cNvPr id="14" name="直接箭头连接符 13"/>
          <p:cNvCxnSpPr/>
          <p:nvPr/>
        </p:nvCxnSpPr>
        <p:spPr>
          <a:xfrm>
            <a:off x="5580112" y="3143895"/>
            <a:ext cx="144016" cy="72399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5791079" y="3280530"/>
            <a:ext cx="440702" cy="28803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852332" y="3265310"/>
            <a:ext cx="328345" cy="29195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6610979" y="785070"/>
            <a:ext cx="243428" cy="198092"/>
          </a:xfrm>
          <a:prstGeom prst="ellipse">
            <a:avLst/>
          </a:prstGeom>
          <a:solidFill>
            <a:srgbClr val="FFFFFF"/>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817622" y="699450"/>
            <a:ext cx="1155989" cy="369332"/>
          </a:xfrm>
          <a:prstGeom prst="rect">
            <a:avLst/>
          </a:prstGeom>
          <a:noFill/>
        </p:spPr>
        <p:txBody>
          <a:bodyPr wrap="square" rtlCol="0">
            <a:spAutoFit/>
          </a:bodyPr>
          <a:lstStyle/>
          <a:p>
            <a:r>
              <a:rPr lang="en-US" altLang="zh-CN" dirty="0">
                <a:solidFill>
                  <a:srgbClr val="C00000"/>
                </a:solidFill>
              </a:rPr>
              <a:t>=s-&gt;data</a:t>
            </a:r>
            <a:endParaRPr lang="zh-CN" altLang="en-US" dirty="0">
              <a:solidFill>
                <a:srgbClr val="C00000"/>
              </a:solidFill>
            </a:endParaRPr>
          </a:p>
        </p:txBody>
      </p:sp>
      <p:sp>
        <p:nvSpPr>
          <p:cNvPr id="24" name="文本框 23"/>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二叉排序树的删除算法</a:t>
            </a:r>
          </a:p>
        </p:txBody>
      </p:sp>
    </p:spTree>
    <p:extLst>
      <p:ext uri="{BB962C8B-B14F-4D97-AF65-F5344CB8AC3E}">
        <p14:creationId xmlns:p14="http://schemas.microsoft.com/office/powerpoint/2010/main" val="46429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subTnLst>
                                    <p:set>
                                      <p:cBhvr override="childStyle">
                                        <p:cTn dur="1" fill="hold" display="0" masterRel="nextClick" afterEffect="1"/>
                                        <p:tgtEl>
                                          <p:spTgt spid="63"/>
                                        </p:tgtEl>
                                        <p:attrNameLst>
                                          <p:attrName>style.visibility</p:attrName>
                                        </p:attrNameLst>
                                      </p:cBhvr>
                                      <p:to>
                                        <p:strVal val="hidden"/>
                                      </p:to>
                                    </p:set>
                                  </p:sub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subTnLst>
                                    <p:set>
                                      <p:cBhvr override="childStyle">
                                        <p:cTn dur="1" fill="hold" display="0" masterRel="nextClick" afterEffect="1"/>
                                        <p:tgtEl>
                                          <p:spTgt spid="6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3" grpId="0"/>
      <p:bldP spid="64" grpId="0"/>
      <p:bldP spid="66" grpId="0"/>
      <p:bldP spid="11" grpId="0" animBg="1"/>
      <p:bldP spid="19" grpId="0" animBg="1"/>
      <p:bldP spid="5" grpId="0" animBg="1"/>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40" y="526852"/>
            <a:ext cx="4896508" cy="4670509"/>
          </a:xfrm>
          <a:prstGeom prst="rect">
            <a:avLst/>
          </a:prstGeom>
          <a:solidFill>
            <a:schemeClr val="accent2">
              <a:lumMod val="40000"/>
              <a:lumOff val="60000"/>
            </a:schemeClr>
          </a:solidFill>
        </p:spPr>
        <p:txBody>
          <a:bodyPr wrap="square" rtlCol="0">
            <a:spAutoFit/>
          </a:bodyPr>
          <a:lstStyle/>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void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BsTree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Deletep</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*&amp;p){</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从二叉排序树中删除</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p</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，并重接它的左子树或右子树</a:t>
            </a: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if(!p) return;</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latin typeface="Times New Roman" panose="02020603050405020304" pitchFamily="18" charset="0"/>
                <a:ea typeface="黑体" panose="02010609060101010101" pitchFamily="49" charset="-122"/>
                <a:cs typeface="Times New Roman" panose="02020603050405020304" pitchFamily="18" charset="0"/>
              </a:rPr>
              <a:t>BstNode</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*s,*q;</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if(p-&gt;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else if(p-&gt;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q=p;   p=p-&gt;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delete q;</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else{</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q=p; s=p-&gt;</a:t>
            </a:r>
            <a:r>
              <a:rPr lang="en-US" altLang="zh-CN" sz="16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while(s-&gt;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!=NULL){</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q=s;  s=s-&gt;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p-&gt;data=s-&gt;data;</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if (q!=p) q-&gt;</a:t>
            </a:r>
            <a:r>
              <a:rPr lang="en-US" altLang="zh-CN" sz="16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rchild</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rPr>
              <a:t>                  else q-&gt;</a:t>
            </a:r>
            <a:r>
              <a:rPr lang="en-US" altLang="zh-CN" sz="1600" dirty="0" err="1">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rPr>
              <a:t>=s-&gt;</a:t>
            </a:r>
            <a:r>
              <a:rPr lang="en-US" altLang="zh-CN" sz="1600" dirty="0" err="1">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rPr>
              <a:t>lchild</a:t>
            </a:r>
            <a:r>
              <a:rPr lang="en-US" altLang="zh-CN" sz="1600" dirty="0">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rPr>
              <a:t>                  delete s;</a:t>
            </a:r>
            <a:endParaRPr lang="zh-CN" altLang="zh-CN" sz="1600" dirty="0">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nSpc>
                <a:spcPts val="1700"/>
              </a:lnSpc>
            </a:pP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5436096" y="1707654"/>
            <a:ext cx="1584176" cy="1658937"/>
          </a:xfrm>
          <a:prstGeom prst="rect">
            <a:avLst/>
          </a:prstGeom>
        </p:spPr>
      </p:pic>
      <p:cxnSp>
        <p:nvCxnSpPr>
          <p:cNvPr id="8" name="直接箭头连接符 7"/>
          <p:cNvCxnSpPr/>
          <p:nvPr/>
        </p:nvCxnSpPr>
        <p:spPr>
          <a:xfrm>
            <a:off x="5940152" y="1707654"/>
            <a:ext cx="144016" cy="14401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5665440" y="1482338"/>
            <a:ext cx="288032" cy="369332"/>
          </a:xfrm>
          <a:prstGeom prst="rect">
            <a:avLst/>
          </a:prstGeom>
          <a:noFill/>
        </p:spPr>
        <p:txBody>
          <a:bodyPr wrap="square" rtlCol="0">
            <a:spAutoFit/>
          </a:bodyPr>
          <a:lstStyle/>
          <a:p>
            <a:r>
              <a:rPr lang="en-US" altLang="zh-CN" dirty="0"/>
              <a:t>q</a:t>
            </a:r>
            <a:endParaRPr lang="zh-CN" altLang="en-US" dirty="0"/>
          </a:p>
        </p:txBody>
      </p:sp>
      <p:cxnSp>
        <p:nvCxnSpPr>
          <p:cNvPr id="10" name="直接箭头连接符 9"/>
          <p:cNvCxnSpPr/>
          <p:nvPr/>
        </p:nvCxnSpPr>
        <p:spPr>
          <a:xfrm>
            <a:off x="5652120" y="2280448"/>
            <a:ext cx="144016" cy="14401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377408" y="2055132"/>
            <a:ext cx="288032" cy="369332"/>
          </a:xfrm>
          <a:prstGeom prst="rect">
            <a:avLst/>
          </a:prstGeom>
          <a:noFill/>
        </p:spPr>
        <p:txBody>
          <a:bodyPr wrap="square" rtlCol="0">
            <a:spAutoFit/>
          </a:bodyPr>
          <a:lstStyle/>
          <a:p>
            <a:r>
              <a:rPr lang="en-US" altLang="zh-CN" dirty="0"/>
              <a:t>s</a:t>
            </a:r>
            <a:endParaRPr lang="zh-CN" altLang="en-US" dirty="0"/>
          </a:p>
        </p:txBody>
      </p:sp>
      <p:sp>
        <p:nvSpPr>
          <p:cNvPr id="12" name="矩形 11"/>
          <p:cNvSpPr/>
          <p:nvPr/>
        </p:nvSpPr>
        <p:spPr>
          <a:xfrm>
            <a:off x="1043608" y="3867894"/>
            <a:ext cx="2520280" cy="432048"/>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5495324" y="2029326"/>
            <a:ext cx="576613" cy="978569"/>
          </a:xfrm>
          <a:custGeom>
            <a:avLst/>
            <a:gdLst>
              <a:gd name="connsiteX0" fmla="*/ 576613 w 576613"/>
              <a:gd name="connsiteY0" fmla="*/ 0 h 978569"/>
              <a:gd name="connsiteX1" fmla="*/ 31181 w 576613"/>
              <a:gd name="connsiteY1" fmla="*/ 465221 h 978569"/>
              <a:gd name="connsiteX2" fmla="*/ 63265 w 576613"/>
              <a:gd name="connsiteY2" fmla="*/ 978569 h 978569"/>
              <a:gd name="connsiteX3" fmla="*/ 63265 w 576613"/>
              <a:gd name="connsiteY3" fmla="*/ 978569 h 978569"/>
            </a:gdLst>
            <a:ahLst/>
            <a:cxnLst>
              <a:cxn ang="0">
                <a:pos x="connsiteX0" y="connsiteY0"/>
              </a:cxn>
              <a:cxn ang="0">
                <a:pos x="connsiteX1" y="connsiteY1"/>
              </a:cxn>
              <a:cxn ang="0">
                <a:pos x="connsiteX2" y="connsiteY2"/>
              </a:cxn>
              <a:cxn ang="0">
                <a:pos x="connsiteX3" y="connsiteY3"/>
              </a:cxn>
            </a:cxnLst>
            <a:rect l="l" t="t" r="r" b="b"/>
            <a:pathLst>
              <a:path w="576613" h="978569">
                <a:moveTo>
                  <a:pt x="576613" y="0"/>
                </a:moveTo>
                <a:cubicBezTo>
                  <a:pt x="346676" y="151063"/>
                  <a:pt x="116739" y="302126"/>
                  <a:pt x="31181" y="465221"/>
                </a:cubicBezTo>
                <a:cubicBezTo>
                  <a:pt x="-54377" y="628316"/>
                  <a:pt x="63265" y="978569"/>
                  <a:pt x="63265" y="978569"/>
                </a:cubicBezTo>
                <a:lnTo>
                  <a:pt x="63265" y="978569"/>
                </a:lnTo>
              </a:path>
            </a:pathLst>
          </a:custGeom>
          <a:noFill/>
          <a:ln>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flipH="1">
            <a:off x="5809456" y="2352456"/>
            <a:ext cx="346720" cy="264078"/>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894820" y="2352456"/>
            <a:ext cx="235805" cy="264078"/>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3"/>
          <a:stretch>
            <a:fillRect/>
          </a:stretch>
        </p:blipFill>
        <p:spPr>
          <a:xfrm>
            <a:off x="7155940" y="1935850"/>
            <a:ext cx="1819433" cy="1097289"/>
          </a:xfrm>
          <a:prstGeom prst="rect">
            <a:avLst/>
          </a:prstGeom>
        </p:spPr>
      </p:pic>
      <p:cxnSp>
        <p:nvCxnSpPr>
          <p:cNvPr id="22" name="直接箭头连接符 21"/>
          <p:cNvCxnSpPr/>
          <p:nvPr/>
        </p:nvCxnSpPr>
        <p:spPr>
          <a:xfrm flipV="1">
            <a:off x="5953472" y="2029326"/>
            <a:ext cx="346720" cy="58720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二叉排序树的删除算法</a:t>
            </a:r>
          </a:p>
        </p:txBody>
      </p:sp>
    </p:spTree>
    <p:extLst>
      <p:ext uri="{BB962C8B-B14F-4D97-AF65-F5344CB8AC3E}">
        <p14:creationId xmlns:p14="http://schemas.microsoft.com/office/powerpoint/2010/main" val="355258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6552728" cy="3507876"/>
          </a:xfrm>
        </p:spPr>
        <p:txBody>
          <a:bodyPr/>
          <a:lstStyle/>
          <a:p>
            <a:pPr algn="just">
              <a:lnSpc>
                <a:spcPct val="100000"/>
              </a:lnSpc>
              <a:spcBef>
                <a:spcPts val="0"/>
              </a:spcBef>
            </a:pPr>
            <a:r>
              <a:rPr lang="en-US" altLang="zh-CN" sz="1800" b="1" dirty="0">
                <a:solidFill>
                  <a:srgbClr val="FF0000"/>
                </a:solidFill>
                <a:latin typeface="Times New Roman" panose="02020603050405020304" pitchFamily="18" charset="0"/>
                <a:cs typeface="Times New Roman" panose="02020603050405020304" pitchFamily="18" charset="0"/>
              </a:rPr>
              <a:t>  </a:t>
            </a:r>
            <a:r>
              <a:rPr lang="zh-CN" altLang="zh-CN" sz="1800" b="1" dirty="0">
                <a:solidFill>
                  <a:srgbClr val="FF0000"/>
                </a:solidFill>
                <a:latin typeface="Times New Roman" panose="02020603050405020304" pitchFamily="18" charset="0"/>
                <a:cs typeface="Times New Roman" panose="02020603050405020304" pitchFamily="18" charset="0"/>
              </a:rPr>
              <a:t>平衡二叉树</a:t>
            </a:r>
            <a:r>
              <a:rPr lang="zh-CN" altLang="zh-CN" sz="1800" dirty="0">
                <a:latin typeface="Times New Roman" panose="02020603050405020304" pitchFamily="18" charset="0"/>
                <a:cs typeface="Times New Roman" panose="02020603050405020304" pitchFamily="18" charset="0"/>
              </a:rPr>
              <a:t>或者是一棵空的二叉排序树，或者是具有下列性质的二叉排序树：</a:t>
            </a:r>
          </a:p>
          <a:p>
            <a:pPr marL="0" indent="0" algn="just">
              <a:lnSpc>
                <a:spcPct val="1000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）它的左右子树均为平衡二叉树；</a:t>
            </a:r>
          </a:p>
          <a:p>
            <a:pPr marL="0" indent="0" algn="just">
              <a:lnSpc>
                <a:spcPct val="1000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）左子树和右子树的高度之差的绝对值不超过</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a:t>
            </a:r>
          </a:p>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若将二叉树上结点的平衡因子定义为该结点的左子树的高度与右子树的高度之差，则平衡二叉树上的所有结点的平衡因子只可能是</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 -1</a:t>
            </a:r>
            <a:r>
              <a:rPr lang="zh-CN"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lgn="just">
              <a:lnSpc>
                <a:spcPct val="1000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若平衡二叉树上有一个结点的平衡因子的绝对值大于</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，则该树就不是一棵平衡二叉树。</a:t>
            </a:r>
            <a:endParaRPr lang="en-US" altLang="zh-CN" sz="1800" dirty="0">
              <a:latin typeface="Times New Roman" panose="02020603050405020304" pitchFamily="18" charset="0"/>
              <a:cs typeface="Times New Roman" panose="02020603050405020304" pitchFamily="18" charset="0"/>
            </a:endParaRPr>
          </a:p>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图</a:t>
            </a:r>
            <a:r>
              <a:rPr lang="en-US" altLang="zh-CN" sz="1800" dirty="0">
                <a:latin typeface="Times New Roman" panose="02020603050405020304" pitchFamily="18" charset="0"/>
                <a:cs typeface="Times New Roman" panose="02020603050405020304" pitchFamily="18" charset="0"/>
              </a:rPr>
              <a:t>(a)</a:t>
            </a:r>
            <a:r>
              <a:rPr lang="zh-CN" altLang="zh-CN" sz="1800" dirty="0">
                <a:latin typeface="Times New Roman" panose="02020603050405020304" pitchFamily="18" charset="0"/>
                <a:cs typeface="Times New Roman" panose="02020603050405020304" pitchFamily="18" charset="0"/>
              </a:rPr>
              <a:t>是一棵平衡二叉树，图中所有结点的平衡因子的绝对值都小于等于</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图</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是一棵不平衡的二叉树，图中结点</a:t>
            </a:r>
            <a:r>
              <a:rPr lang="en-US" altLang="zh-CN" sz="1800" dirty="0">
                <a:latin typeface="Times New Roman" panose="02020603050405020304" pitchFamily="18" charset="0"/>
                <a:cs typeface="Times New Roman" panose="02020603050405020304" pitchFamily="18" charset="0"/>
              </a:rPr>
              <a:t>25</a:t>
            </a:r>
            <a:r>
              <a:rPr lang="zh-CN" altLang="zh-CN" sz="1800" dirty="0">
                <a:latin typeface="Times New Roman" panose="02020603050405020304" pitchFamily="18" charset="0"/>
                <a:cs typeface="Times New Roman" panose="02020603050405020304" pitchFamily="18" charset="0"/>
              </a:rPr>
              <a:t>的平衡因子为</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a:t>
            </a:r>
          </a:p>
          <a:p>
            <a:pPr>
              <a:lnSpc>
                <a:spcPts val="2600"/>
              </a:lnSpc>
              <a:spcBef>
                <a:spcPts val="0"/>
              </a:spcBef>
            </a:pPr>
            <a:endParaRPr lang="zh-CN" altLang="en-US" sz="1800" dirty="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7020272" y="471090"/>
            <a:ext cx="1604829" cy="1704960"/>
          </a:xfrm>
          <a:prstGeom prst="rect">
            <a:avLst/>
          </a:prstGeom>
        </p:spPr>
      </p:pic>
      <p:pic>
        <p:nvPicPr>
          <p:cNvPr id="9" name="图片 8"/>
          <p:cNvPicPr>
            <a:picLocks noChangeAspect="1"/>
          </p:cNvPicPr>
          <p:nvPr/>
        </p:nvPicPr>
        <p:blipFill>
          <a:blip r:embed="rId3"/>
          <a:stretch>
            <a:fillRect/>
          </a:stretch>
        </p:blipFill>
        <p:spPr>
          <a:xfrm>
            <a:off x="6650977" y="2283718"/>
            <a:ext cx="2207597" cy="2005212"/>
          </a:xfrm>
          <a:prstGeom prst="rect">
            <a:avLst/>
          </a:prstGeom>
        </p:spPr>
      </p:pic>
      <p:sp>
        <p:nvSpPr>
          <p:cNvPr id="6" name="文本框 5"/>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平衡二叉树 </a:t>
            </a:r>
          </a:p>
        </p:txBody>
      </p:sp>
    </p:spTree>
    <p:extLst>
      <p:ext uri="{BB962C8B-B14F-4D97-AF65-F5344CB8AC3E}">
        <p14:creationId xmlns:p14="http://schemas.microsoft.com/office/powerpoint/2010/main" val="2500005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fill="hold"/>
                                        <p:tgtEl>
                                          <p:spTgt spid="9"/>
                                        </p:tgtEl>
                                        <p:attrNameLst>
                                          <p:attrName>ppt_x</p:attrName>
                                        </p:attrNameLst>
                                      </p:cBhvr>
                                      <p:tavLst>
                                        <p:tav tm="0">
                                          <p:val>
                                            <p:strVal val="#ppt_x"/>
                                          </p:val>
                                        </p:tav>
                                        <p:tav tm="100000">
                                          <p:val>
                                            <p:strVal val="#ppt_x"/>
                                          </p:val>
                                        </p:tav>
                                      </p:tavLst>
                                    </p:anim>
                                    <p:anim calcmode="lin" valueType="num">
                                      <p:cBhvr additive="base">
                                        <p:cTn id="5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3">
                                            <p:txEl>
                                              <p:pRg st="6" end="6"/>
                                            </p:txEl>
                                          </p:spTgt>
                                        </p:tgtEl>
                                        <p:attrNameLst>
                                          <p:attrName>style.visibility</p:attrName>
                                        </p:attrNameLst>
                                      </p:cBhvr>
                                      <p:to>
                                        <p:strVal val="visible"/>
                                      </p:to>
                                    </p:set>
                                    <p:anim calcmode="lin" valueType="num">
                                      <p:cBhvr additive="base">
                                        <p:cTn id="6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6624736" cy="3507876"/>
          </a:xfrm>
        </p:spPr>
        <p:txBody>
          <a:bodyPr/>
          <a:lstStyle/>
          <a:p>
            <a:pPr marL="0" indent="0">
              <a:lnSpc>
                <a:spcPts val="2100"/>
              </a:lnSpc>
              <a:spcBef>
                <a:spcPts val="0"/>
              </a:spcBef>
              <a:buNone/>
            </a:pPr>
            <a:r>
              <a:rPr lang="zh-CN" altLang="en-US" sz="1800" dirty="0">
                <a:latin typeface="Times New Roman" panose="02020603050405020304" pitchFamily="18" charset="0"/>
                <a:cs typeface="Times New Roman" panose="02020603050405020304" pitchFamily="18" charset="0"/>
              </a:rPr>
              <a:t>若向平衡二叉树中插入一个新结点而引起不平衡</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则采用以下方法进行调整</a:t>
            </a:r>
            <a:r>
              <a:rPr lang="en-US" altLang="zh-CN" sz="1800" dirty="0">
                <a:latin typeface="Times New Roman" panose="02020603050405020304" pitchFamily="18" charset="0"/>
                <a:cs typeface="Times New Roman" panose="02020603050405020304" pitchFamily="18" charset="0"/>
              </a:rPr>
              <a:t>: </a:t>
            </a:r>
          </a:p>
          <a:p>
            <a:pPr marL="0" indent="0">
              <a:lnSpc>
                <a:spcPts val="2100"/>
              </a:lnSpc>
              <a:spcBef>
                <a:spcPts val="0"/>
              </a:spcBef>
              <a:buNone/>
            </a:pPr>
            <a:r>
              <a:rPr lang="en-US" altLang="zh-CN" sz="18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不涉及到不平衡点的双亲</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即以不平衡点为根的子树高度应保持不变</a:t>
            </a:r>
            <a:r>
              <a:rPr lang="en-US" altLang="zh-CN" sz="1800" dirty="0">
                <a:latin typeface="Times New Roman" panose="02020603050405020304" pitchFamily="18" charset="0"/>
                <a:cs typeface="Times New Roman" panose="02020603050405020304" pitchFamily="18" charset="0"/>
              </a:rPr>
              <a:t>; </a:t>
            </a:r>
          </a:p>
          <a:p>
            <a:pPr marL="0" indent="0">
              <a:lnSpc>
                <a:spcPts val="2100"/>
              </a:lnSpc>
              <a:spcBef>
                <a:spcPts val="0"/>
              </a:spcBef>
              <a:buNone/>
            </a:pP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新结点插入后</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向根结点回溯</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找到第一个原平衡因子不为 </a:t>
            </a:r>
            <a:r>
              <a:rPr lang="en-US" altLang="zh-CN" sz="1800" dirty="0">
                <a:latin typeface="Times New Roman" panose="02020603050405020304" pitchFamily="18" charset="0"/>
                <a:cs typeface="Times New Roman" panose="02020603050405020304" pitchFamily="18" charset="0"/>
              </a:rPr>
              <a:t>0 </a:t>
            </a:r>
            <a:r>
              <a:rPr lang="zh-CN" altLang="en-US" sz="1800" dirty="0">
                <a:latin typeface="Times New Roman" panose="02020603050405020304" pitchFamily="18" charset="0"/>
                <a:cs typeface="Times New Roman" panose="02020603050405020304" pitchFamily="18" charset="0"/>
              </a:rPr>
              <a:t>的结点</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如图</a:t>
            </a:r>
            <a:r>
              <a:rPr lang="en-US" altLang="zh-CN" sz="1800" dirty="0">
                <a:latin typeface="Times New Roman" panose="02020603050405020304" pitchFamily="18" charset="0"/>
                <a:cs typeface="Times New Roman" panose="02020603050405020304" pitchFamily="18" charset="0"/>
              </a:rPr>
              <a:t>(b)</a:t>
            </a:r>
            <a:r>
              <a:rPr lang="zh-CN" altLang="en-US" sz="1800" dirty="0">
                <a:latin typeface="Times New Roman" panose="02020603050405020304" pitchFamily="18" charset="0"/>
                <a:cs typeface="Times New Roman" panose="02020603050405020304" pitchFamily="18" charset="0"/>
              </a:rPr>
              <a:t>中的结点 </a:t>
            </a:r>
            <a:r>
              <a:rPr lang="en-US" altLang="zh-CN" sz="1800" dirty="0">
                <a:latin typeface="Times New Roman" panose="02020603050405020304" pitchFamily="18" charset="0"/>
                <a:cs typeface="Times New Roman" panose="02020603050405020304" pitchFamily="18" charset="0"/>
              </a:rPr>
              <a:t>25, </a:t>
            </a:r>
            <a:r>
              <a:rPr lang="zh-CN" altLang="en-US" sz="1800" dirty="0">
                <a:latin typeface="Times New Roman" panose="02020603050405020304" pitchFamily="18" charset="0"/>
                <a:cs typeface="Times New Roman" panose="02020603050405020304" pitchFamily="18" charset="0"/>
              </a:rPr>
              <a:t>新插入的结点和第一个原平衡因子不为</a:t>
            </a:r>
            <a:r>
              <a:rPr lang="en-US" altLang="zh-CN" sz="18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的结点之间的结点原平衡因子皆为</a:t>
            </a:r>
            <a:r>
              <a:rPr lang="en-US" altLang="zh-CN" sz="1800" dirty="0">
                <a:latin typeface="Times New Roman" panose="02020603050405020304" pitchFamily="18" charset="0"/>
                <a:cs typeface="Times New Roman" panose="02020603050405020304" pitchFamily="18" charset="0"/>
              </a:rPr>
              <a:t>0;</a:t>
            </a:r>
          </a:p>
          <a:p>
            <a:pPr marL="0" indent="0">
              <a:lnSpc>
                <a:spcPts val="2100"/>
              </a:lnSpc>
              <a:spcBef>
                <a:spcPts val="0"/>
              </a:spcBef>
              <a:buNone/>
            </a:pPr>
            <a:r>
              <a:rPr lang="en-US" altLang="zh-CN" sz="1800" dirty="0">
                <a:latin typeface="Times New Roman" panose="02020603050405020304" pitchFamily="18" charset="0"/>
                <a:cs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在调整中</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仅涉及前面提到的最小子树</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如图</a:t>
            </a:r>
            <a:r>
              <a:rPr lang="en-US" altLang="zh-CN" sz="1800" dirty="0">
                <a:latin typeface="Times New Roman" panose="02020603050405020304" pitchFamily="18" charset="0"/>
                <a:cs typeface="Times New Roman" panose="02020603050405020304" pitchFamily="18" charset="0"/>
              </a:rPr>
              <a:t>(b)</a:t>
            </a:r>
            <a:r>
              <a:rPr lang="zh-CN" altLang="en-US" sz="1800" dirty="0">
                <a:latin typeface="Times New Roman" panose="02020603050405020304" pitchFamily="18" charset="0"/>
                <a:cs typeface="Times New Roman" panose="02020603050405020304" pitchFamily="18" charset="0"/>
              </a:rPr>
              <a:t>中以</a:t>
            </a:r>
            <a:r>
              <a:rPr lang="en-US" altLang="zh-CN" sz="1800" dirty="0">
                <a:latin typeface="Times New Roman" panose="02020603050405020304" pitchFamily="18" charset="0"/>
                <a:cs typeface="Times New Roman" panose="02020603050405020304" pitchFamily="18" charset="0"/>
              </a:rPr>
              <a:t>25</a:t>
            </a:r>
            <a:r>
              <a:rPr lang="zh-CN" altLang="en-US" sz="1800" dirty="0">
                <a:latin typeface="Times New Roman" panose="02020603050405020304" pitchFamily="18" charset="0"/>
                <a:cs typeface="Times New Roman" panose="02020603050405020304" pitchFamily="18" charset="0"/>
              </a:rPr>
              <a:t>为根结点的子树</a:t>
            </a:r>
            <a:r>
              <a:rPr lang="en-US" altLang="zh-CN" sz="1800" dirty="0">
                <a:latin typeface="Times New Roman" panose="02020603050405020304" pitchFamily="18" charset="0"/>
                <a:cs typeface="Times New Roman" panose="02020603050405020304" pitchFamily="18" charset="0"/>
              </a:rPr>
              <a:t>; </a:t>
            </a:r>
          </a:p>
          <a:p>
            <a:pPr marL="0" indent="0">
              <a:lnSpc>
                <a:spcPts val="2100"/>
              </a:lnSpc>
              <a:spcBef>
                <a:spcPts val="0"/>
              </a:spcBef>
              <a:buNone/>
            </a:pPr>
            <a:r>
              <a:rPr lang="en-US" altLang="zh-CN" sz="18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调整后保持二叉排序树的性质不变。</a:t>
            </a:r>
            <a:endParaRPr lang="en-US" altLang="zh-CN" sz="1800" dirty="0">
              <a:latin typeface="Times New Roman" panose="02020603050405020304" pitchFamily="18" charset="0"/>
              <a:cs typeface="Times New Roman" panose="02020603050405020304" pitchFamily="18" charset="0"/>
            </a:endParaRPr>
          </a:p>
          <a:p>
            <a:pPr marL="0" indent="0">
              <a:lnSpc>
                <a:spcPts val="21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zh-CN" altLang="en-US" sz="1800" dirty="0">
                <a:latin typeface="Times New Roman" panose="02020603050405020304" pitchFamily="18" charset="0"/>
                <a:cs typeface="Times New Roman" panose="02020603050405020304" pitchFamily="18" charset="0"/>
              </a:rPr>
              <a:t>设 </a:t>
            </a:r>
            <a:r>
              <a:rPr lang="en-US" altLang="zh-CN" sz="1800" dirty="0">
                <a:latin typeface="Times New Roman" panose="02020603050405020304" pitchFamily="18" charset="0"/>
                <a:cs typeface="Times New Roman" panose="02020603050405020304" pitchFamily="18" charset="0"/>
              </a:rPr>
              <a:t>A </a:t>
            </a:r>
            <a:r>
              <a:rPr lang="zh-CN" altLang="en-US" sz="1800" dirty="0">
                <a:latin typeface="Times New Roman" panose="02020603050405020304" pitchFamily="18" charset="0"/>
                <a:cs typeface="Times New Roman" panose="02020603050405020304" pitchFamily="18" charset="0"/>
              </a:rPr>
              <a:t>为最小子树的根结点</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则子树的调整操作分为 </a:t>
            </a:r>
            <a:r>
              <a:rPr lang="en-US" altLang="zh-CN" sz="1800" dirty="0">
                <a:latin typeface="Times New Roman" panose="02020603050405020304" pitchFamily="18" charset="0"/>
                <a:cs typeface="Times New Roman" panose="02020603050405020304" pitchFamily="18" charset="0"/>
              </a:rPr>
              <a:t>4 </a:t>
            </a:r>
            <a:r>
              <a:rPr lang="zh-CN" altLang="en-US" sz="1800" dirty="0">
                <a:latin typeface="Times New Roman" panose="02020603050405020304" pitchFamily="18" charset="0"/>
                <a:cs typeface="Times New Roman" panose="02020603050405020304" pitchFamily="18" charset="0"/>
              </a:rPr>
              <a:t>种情况</a:t>
            </a:r>
          </a:p>
        </p:txBody>
      </p:sp>
      <p:pic>
        <p:nvPicPr>
          <p:cNvPr id="6" name="图片 5"/>
          <p:cNvPicPr>
            <a:picLocks noChangeAspect="1"/>
          </p:cNvPicPr>
          <p:nvPr/>
        </p:nvPicPr>
        <p:blipFill>
          <a:blip r:embed="rId2"/>
          <a:stretch>
            <a:fillRect/>
          </a:stretch>
        </p:blipFill>
        <p:spPr>
          <a:xfrm>
            <a:off x="6902129" y="544355"/>
            <a:ext cx="1604829" cy="1704960"/>
          </a:xfrm>
          <a:prstGeom prst="rect">
            <a:avLst/>
          </a:prstGeom>
        </p:spPr>
      </p:pic>
      <p:pic>
        <p:nvPicPr>
          <p:cNvPr id="8" name="图片 7"/>
          <p:cNvPicPr>
            <a:picLocks noChangeAspect="1"/>
          </p:cNvPicPr>
          <p:nvPr/>
        </p:nvPicPr>
        <p:blipFill>
          <a:blip r:embed="rId3"/>
          <a:stretch>
            <a:fillRect/>
          </a:stretch>
        </p:blipFill>
        <p:spPr>
          <a:xfrm>
            <a:off x="6756912" y="2499742"/>
            <a:ext cx="1899386" cy="1725257"/>
          </a:xfrm>
          <a:prstGeom prst="rect">
            <a:avLst/>
          </a:prstGeom>
        </p:spPr>
      </p:pic>
      <p:sp>
        <p:nvSpPr>
          <p:cNvPr id="7" name="文本框 6"/>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平衡二叉树调整方法 </a:t>
            </a:r>
          </a:p>
        </p:txBody>
      </p:sp>
    </p:spTree>
    <p:extLst>
      <p:ext uri="{BB962C8B-B14F-4D97-AF65-F5344CB8AC3E}">
        <p14:creationId xmlns:p14="http://schemas.microsoft.com/office/powerpoint/2010/main" val="412599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additive="base">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179512" y="915566"/>
                <a:ext cx="8856983" cy="3507876"/>
              </a:xfrm>
            </p:spPr>
            <p:txBody>
              <a:bodyPr/>
              <a:lstStyle/>
              <a:p>
                <a:pPr marL="0" indent="0">
                  <a:lnSpc>
                    <a:spcPts val="2500"/>
                  </a:lnSpc>
                  <a:spcBef>
                    <a:spcPts val="0"/>
                  </a:spcBef>
                  <a:buNone/>
                </a:pPr>
                <a:r>
                  <a:rPr lang="en-US" altLang="zh-CN" sz="1800" dirty="0">
                    <a:solidFill>
                      <a:srgbClr val="FF0000"/>
                    </a:solidFill>
                    <a:latin typeface="Times New Roman" panose="02020603050405020304" pitchFamily="18" charset="0"/>
                    <a:cs typeface="Times New Roman" panose="02020603050405020304" pitchFamily="18" charset="0"/>
                  </a:rPr>
                  <a:t>RR</a:t>
                </a:r>
                <a:r>
                  <a:rPr lang="zh-CN" altLang="zh-CN" sz="1800" dirty="0">
                    <a:solidFill>
                      <a:srgbClr val="FF0000"/>
                    </a:solidFill>
                    <a:latin typeface="Times New Roman" panose="02020603050405020304" pitchFamily="18" charset="0"/>
                    <a:cs typeface="Times New Roman" panose="02020603050405020304" pitchFamily="18" charset="0"/>
                  </a:rPr>
                  <a:t>型调整</a:t>
                </a:r>
                <a:r>
                  <a:rPr lang="zh-CN" altLang="zh-CN" sz="1800" dirty="0">
                    <a:latin typeface="Times New Roman" panose="02020603050405020304" pitchFamily="18" charset="0"/>
                    <a:cs typeface="Times New Roman" panose="02020603050405020304" pitchFamily="18" charset="0"/>
                  </a:rPr>
                  <a:t>是指在</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结点的右孩子（设为</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结点）的右子树上插入一个结点，使得</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结点的平衡因子由</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变为</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引起不平衡而产生的调整。图中，带阴影区域表示插入结点，</a:t>
                </a:r>
                <a14:m>
                  <m:oMath xmlns:m="http://schemas.openxmlformats.org/officeDocument/2006/math">
                    <m:r>
                      <m:rPr>
                        <m:sty m:val="p"/>
                      </m:rPr>
                      <a:rPr lang="en-US" altLang="zh-CN" sz="1800">
                        <a:latin typeface="Cambria Math" panose="02040503050406030204" pitchFamily="18" charset="0"/>
                      </a:rPr>
                      <m:t>h</m:t>
                    </m:r>
                  </m:oMath>
                </a14:m>
                <a:r>
                  <a:rPr lang="zh-CN" altLang="zh-CN" sz="1800" dirty="0">
                    <a:latin typeface="Times New Roman" panose="02020603050405020304" pitchFamily="18" charset="0"/>
                    <a:cs typeface="Times New Roman" panose="02020603050405020304" pitchFamily="18" charset="0"/>
                  </a:rPr>
                  <a:t>表示子树的树高。调整方法为单向左旋转平衡，具体方法如下：</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）把结点</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变为调整后的最小子树的根结点；</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）把结点</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的左孩子；</a:t>
                </a:r>
              </a:p>
              <a:p>
                <a:pPr marL="0" indent="0">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）把</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𝐵</m:t>
                        </m:r>
                      </m:e>
                      <m:sub>
                        <m:r>
                          <a:rPr lang="en-US" altLang="zh-CN" sz="1800" i="1">
                            <a:latin typeface="Cambria Math" panose="02040503050406030204" pitchFamily="18" charset="0"/>
                          </a:rPr>
                          <m:t>𝐿</m:t>
                        </m:r>
                      </m:sub>
                    </m:sSub>
                  </m:oMath>
                </a14:m>
                <a:r>
                  <a:rPr lang="zh-CN" altLang="zh-CN" sz="18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的右子树。</a:t>
                </a:r>
              </a:p>
              <a:p>
                <a:pPr marL="0" indent="0">
                  <a:buNone/>
                </a:pPr>
                <a:endParaRPr lang="zh-CN" altLang="en-US" sz="1800" dirty="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179512" y="915566"/>
                <a:ext cx="8856983" cy="3507876"/>
              </a:xfrm>
              <a:blipFill>
                <a:blip r:embed="rId3"/>
                <a:stretch>
                  <a:fillRect l="-826" t="-1215"/>
                </a:stretch>
              </a:blipFill>
            </p:spPr>
            <p:txBody>
              <a:bodyPr/>
              <a:lstStyle/>
              <a:p>
                <a:r>
                  <a:rPr lang="zh-CN" altLang="en-US">
                    <a:noFill/>
                  </a:rPr>
                  <a:t> </a:t>
                </a:r>
              </a:p>
            </p:txBody>
          </p:sp>
        </mc:Fallback>
      </mc:AlternateContent>
      <p:pic>
        <p:nvPicPr>
          <p:cNvPr id="11" name="图片 10"/>
          <p:cNvPicPr>
            <a:picLocks noChangeAspect="1"/>
          </p:cNvPicPr>
          <p:nvPr/>
        </p:nvPicPr>
        <p:blipFill>
          <a:blip r:embed="rId4"/>
          <a:stretch>
            <a:fillRect/>
          </a:stretch>
        </p:blipFill>
        <p:spPr>
          <a:xfrm>
            <a:off x="1331640" y="2981484"/>
            <a:ext cx="5688632" cy="1683139"/>
          </a:xfrm>
          <a:prstGeom prst="roundRect">
            <a:avLst>
              <a:gd name="adj" fmla="val 8594"/>
            </a:avLst>
          </a:prstGeom>
          <a:solidFill>
            <a:srgbClr val="FFFFFF">
              <a:shade val="85000"/>
            </a:srgbClr>
          </a:solidFill>
          <a:ln>
            <a:noFill/>
          </a:ln>
          <a:effectLst/>
        </p:spPr>
      </p:pic>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RR</a:t>
            </a:r>
            <a:r>
              <a:rPr lang="zh-CN" altLang="en-US" sz="2000" dirty="0"/>
              <a:t>型调整  </a:t>
            </a:r>
          </a:p>
        </p:txBody>
      </p:sp>
    </p:spTree>
    <p:extLst>
      <p:ext uri="{BB962C8B-B14F-4D97-AF65-F5344CB8AC3E}">
        <p14:creationId xmlns:p14="http://schemas.microsoft.com/office/powerpoint/2010/main" val="174952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120352" y="915566"/>
                <a:ext cx="9001000" cy="2088232"/>
              </a:xfrm>
            </p:spPr>
            <p:txBody>
              <a:bodyPr/>
              <a:lstStyle/>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a:solidFill>
                      <a:srgbClr val="FF0000"/>
                    </a:solidFill>
                    <a:latin typeface="Times New Roman" panose="02020603050405020304" pitchFamily="18" charset="0"/>
                    <a:cs typeface="Times New Roman" panose="02020603050405020304" pitchFamily="18" charset="0"/>
                  </a:rPr>
                  <a:t>LL</a:t>
                </a:r>
                <a:r>
                  <a:rPr lang="zh-CN" altLang="zh-CN" sz="1800" dirty="0">
                    <a:solidFill>
                      <a:srgbClr val="FF0000"/>
                    </a:solidFill>
                    <a:latin typeface="Times New Roman" panose="02020603050405020304" pitchFamily="18" charset="0"/>
                    <a:cs typeface="Times New Roman" panose="02020603050405020304" pitchFamily="18" charset="0"/>
                  </a:rPr>
                  <a:t>型调整</a:t>
                </a:r>
                <a:r>
                  <a:rPr lang="zh-CN" altLang="zh-CN" sz="1800" dirty="0">
                    <a:latin typeface="Times New Roman" panose="02020603050405020304" pitchFamily="18" charset="0"/>
                    <a:cs typeface="Times New Roman" panose="02020603050405020304" pitchFamily="18" charset="0"/>
                  </a:rPr>
                  <a:t>是指在</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结点的左孩子（设为</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结点）的左子树上插入一个结点，使得</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结点的平衡因子由</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变为</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引起不平衡而产生的调整。调整方法为单向右旋转平衡，具体方法如下：</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）把结点</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变为调整后的最小子树的根结点；</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）把结点</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的右孩子；</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r>
                      <a:rPr lang="zh-CN" altLang="zh-CN" sz="1800">
                        <a:latin typeface="Cambria Math" panose="02040503050406030204" pitchFamily="18" charset="0"/>
                      </a:rPr>
                      <m:t>把</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𝐵</m:t>
                        </m:r>
                      </m:e>
                      <m:sub>
                        <m:r>
                          <a:rPr lang="en-US" altLang="zh-CN" sz="1800" i="1">
                            <a:latin typeface="Cambria Math" panose="02040503050406030204" pitchFamily="18" charset="0"/>
                          </a:rPr>
                          <m:t>𝑅</m:t>
                        </m:r>
                      </m:sub>
                    </m:sSub>
                  </m:oMath>
                </a14:m>
                <a:r>
                  <a:rPr lang="zh-CN" altLang="zh-CN" sz="18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的左子树。</a:t>
                </a:r>
              </a:p>
              <a:p>
                <a:pPr marL="0" indent="0">
                  <a:buNone/>
                </a:pPr>
                <a:endParaRPr lang="zh-CN" altLang="en-US" dirty="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120352" y="915566"/>
                <a:ext cx="9001000" cy="2088232"/>
              </a:xfrm>
              <a:blipFill>
                <a:blip r:embed="rId2"/>
                <a:stretch>
                  <a:fillRect l="-881" t="-2332"/>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259632" y="2931790"/>
            <a:ext cx="5956970" cy="1872208"/>
          </a:xfrm>
          <a:prstGeom prst="roundRect">
            <a:avLst>
              <a:gd name="adj" fmla="val 8594"/>
            </a:avLst>
          </a:prstGeom>
          <a:solidFill>
            <a:srgbClr val="FFFFFF">
              <a:shade val="85000"/>
            </a:srgbClr>
          </a:solidFill>
          <a:ln>
            <a:noFill/>
          </a:ln>
          <a:effectLst/>
        </p:spPr>
      </p:pic>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LL</a:t>
            </a:r>
            <a:r>
              <a:rPr lang="zh-CN" altLang="en-US" sz="2000" dirty="0"/>
              <a:t>型调整  </a:t>
            </a:r>
          </a:p>
        </p:txBody>
      </p:sp>
    </p:spTree>
    <p:extLst>
      <p:ext uri="{BB962C8B-B14F-4D97-AF65-F5344CB8AC3E}">
        <p14:creationId xmlns:p14="http://schemas.microsoft.com/office/powerpoint/2010/main" val="204839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107504" y="915566"/>
                <a:ext cx="8928992" cy="2299714"/>
              </a:xfrm>
            </p:spPr>
            <p:txBody>
              <a:bodyPr/>
              <a:lstStyle/>
              <a:p>
                <a:pPr marL="0" indent="0">
                  <a:lnSpc>
                    <a:spcPts val="2400"/>
                  </a:lnSpc>
                  <a:spcBef>
                    <a:spcPts val="0"/>
                  </a:spcBef>
                  <a:buNone/>
                </a:pPr>
                <a14:m>
                  <m:oMath xmlns:m="http://schemas.openxmlformats.org/officeDocument/2006/math">
                    <m:r>
                      <m:rPr>
                        <m:sty m:val="p"/>
                      </m:rPr>
                      <a:rPr lang="en-US" altLang="zh-CN" sz="1800" smtClean="0">
                        <a:solidFill>
                          <a:srgbClr val="FF0000"/>
                        </a:solidFill>
                        <a:latin typeface="Cambria Math" panose="02040503050406030204" pitchFamily="18" charset="0"/>
                      </a:rPr>
                      <m:t>RL</m:t>
                    </m:r>
                  </m:oMath>
                </a14:m>
                <a:r>
                  <a:rPr lang="zh-CN" altLang="zh-CN" sz="1800" dirty="0">
                    <a:solidFill>
                      <a:srgbClr val="FF0000"/>
                    </a:solidFill>
                    <a:latin typeface="Times New Roman" panose="02020603050405020304" pitchFamily="18" charset="0"/>
                    <a:cs typeface="Times New Roman" panose="02020603050405020304" pitchFamily="18" charset="0"/>
                  </a:rPr>
                  <a:t>型调整</a:t>
                </a:r>
                <a:r>
                  <a:rPr lang="zh-CN" altLang="zh-CN" sz="1800" dirty="0">
                    <a:latin typeface="Times New Roman" panose="02020603050405020304" pitchFamily="18" charset="0"/>
                    <a:cs typeface="Times New Roman" panose="02020603050405020304" pitchFamily="18" charset="0"/>
                  </a:rPr>
                  <a:t>是指在</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结点的右孩子（设为</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结点）的左子树上插入一个结点，使得</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结点的平衡因子由</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变为</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引起不平衡而产生的调整。调整方法为先右旋转后向左旋转平衡，具体方法如下：</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）把</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结点的左孩子（</a:t>
                </a:r>
                <a:r>
                  <a:rPr lang="zh-CN" altLang="zh-CN" sz="1800" dirty="0">
                    <a:solidFill>
                      <a:srgbClr val="FF0000"/>
                    </a:solidFill>
                    <a:latin typeface="Times New Roman" panose="02020603050405020304" pitchFamily="18" charset="0"/>
                    <a:cs typeface="Times New Roman" panose="02020603050405020304" pitchFamily="18" charset="0"/>
                  </a:rPr>
                  <a:t>设为</a:t>
                </a:r>
                <a14:m>
                  <m:oMath xmlns:m="http://schemas.openxmlformats.org/officeDocument/2006/math">
                    <m:r>
                      <m:rPr>
                        <m:sty m:val="p"/>
                      </m:rPr>
                      <a:rPr lang="en-US" altLang="zh-CN" sz="1800">
                        <a:solidFill>
                          <a:srgbClr val="FF0000"/>
                        </a:solidFill>
                        <a:latin typeface="Cambria Math" panose="02040503050406030204" pitchFamily="18" charset="0"/>
                      </a:rPr>
                      <m:t>C</m:t>
                    </m:r>
                  </m:oMath>
                </a14:m>
                <a:r>
                  <a:rPr lang="zh-CN" altLang="zh-CN" sz="1800" dirty="0">
                    <a:solidFill>
                      <a:srgbClr val="FF0000"/>
                    </a:solidFill>
                    <a:latin typeface="Times New Roman" panose="02020603050405020304" pitchFamily="18" charset="0"/>
                    <a:cs typeface="Times New Roman" panose="02020603050405020304" pitchFamily="18" charset="0"/>
                  </a:rPr>
                  <a:t>结点</a:t>
                </a:r>
                <a:r>
                  <a:rPr lang="zh-CN" altLang="zh-CN" sz="1800" dirty="0">
                    <a:latin typeface="Times New Roman" panose="02020603050405020304" pitchFamily="18" charset="0"/>
                    <a:cs typeface="Times New Roman" panose="02020603050405020304" pitchFamily="18" charset="0"/>
                  </a:rPr>
                  <a:t>）变为调整后的最小子树的根结点；</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）把结点</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800">
                        <a:latin typeface="Cambria Math" panose="02040503050406030204" pitchFamily="18" charset="0"/>
                      </a:rPr>
                      <m:t>C</m:t>
                    </m:r>
                  </m:oMath>
                </a14:m>
                <a:r>
                  <a:rPr lang="zh-CN" altLang="zh-CN" sz="1800" dirty="0">
                    <a:latin typeface="Times New Roman" panose="02020603050405020304" pitchFamily="18" charset="0"/>
                    <a:cs typeface="Times New Roman" panose="02020603050405020304" pitchFamily="18" charset="0"/>
                  </a:rPr>
                  <a:t>的左孩子，结点</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800">
                        <a:latin typeface="Cambria Math" panose="02040503050406030204" pitchFamily="18" charset="0"/>
                      </a:rPr>
                      <m:t>C</m:t>
                    </m:r>
                  </m:oMath>
                </a14:m>
                <a:r>
                  <a:rPr lang="zh-CN" altLang="zh-CN" sz="1800" dirty="0">
                    <a:latin typeface="Times New Roman" panose="02020603050405020304" pitchFamily="18" charset="0"/>
                    <a:cs typeface="Times New Roman" panose="02020603050405020304" pitchFamily="18" charset="0"/>
                  </a:rPr>
                  <a:t>的右孩子；</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）把结点</a:t>
                </a:r>
                <a:r>
                  <a:rPr lang="en-US" altLang="zh-CN" sz="1800" dirty="0">
                    <a:latin typeface="Times New Roman" panose="02020603050405020304" pitchFamily="18" charset="0"/>
                    <a:cs typeface="Times New Roman" panose="02020603050405020304" pitchFamily="18" charset="0"/>
                  </a:rPr>
                  <a:t>C</a:t>
                </a:r>
                <a:r>
                  <a:rPr lang="zh-CN" altLang="zh-CN" sz="1800" dirty="0">
                    <a:latin typeface="Times New Roman" panose="02020603050405020304" pitchFamily="18" charset="0"/>
                    <a:cs typeface="Times New Roman" panose="02020603050405020304" pitchFamily="18" charset="0"/>
                  </a:rPr>
                  <a:t>的右子树变为结点</a:t>
                </a:r>
                <a14:m>
                  <m:oMath xmlns:m="http://schemas.openxmlformats.org/officeDocument/2006/math">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的左子树；</a:t>
                </a:r>
              </a:p>
              <a:p>
                <a:pPr marL="0" indent="0">
                  <a:lnSpc>
                    <a:spcPts val="24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）把结点</a:t>
                </a:r>
                <a:r>
                  <a:rPr lang="en-US" altLang="zh-CN" sz="1800" dirty="0">
                    <a:latin typeface="Times New Roman" panose="02020603050405020304" pitchFamily="18" charset="0"/>
                    <a:cs typeface="Times New Roman" panose="02020603050405020304" pitchFamily="18" charset="0"/>
                  </a:rPr>
                  <a:t>C</a:t>
                </a:r>
                <a:r>
                  <a:rPr lang="zh-CN" altLang="zh-CN" sz="1800" dirty="0">
                    <a:latin typeface="Times New Roman" panose="02020603050405020304" pitchFamily="18" charset="0"/>
                    <a:cs typeface="Times New Roman" panose="02020603050405020304" pitchFamily="18" charset="0"/>
                  </a:rPr>
                  <a:t>的左子树变为结点</a:t>
                </a:r>
                <a14:m>
                  <m:oMath xmlns:m="http://schemas.openxmlformats.org/officeDocument/2006/math">
                    <m:r>
                      <m:rPr>
                        <m:sty m:val="p"/>
                      </m:rPr>
                      <a:rPr lang="en-US" altLang="zh-CN" sz="1800">
                        <a:latin typeface="Cambria Math" panose="02040503050406030204" pitchFamily="18" charset="0"/>
                      </a:rPr>
                      <m:t>A</m:t>
                    </m:r>
                  </m:oMath>
                </a14:m>
                <a:r>
                  <a:rPr lang="zh-CN" altLang="zh-CN" sz="1800" dirty="0">
                    <a:latin typeface="Times New Roman" panose="02020603050405020304" pitchFamily="18" charset="0"/>
                    <a:cs typeface="Times New Roman" panose="02020603050405020304" pitchFamily="18" charset="0"/>
                  </a:rPr>
                  <a:t>的右子树。</a:t>
                </a:r>
                <a:endParaRPr lang="zh-CN" altLang="en-US" sz="1800" dirty="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928992" cy="2299714"/>
              </a:xfrm>
              <a:blipFill>
                <a:blip r:embed="rId2"/>
                <a:stretch>
                  <a:fillRect l="-888" t="-2122"/>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475656" y="3075806"/>
            <a:ext cx="5688632" cy="1934922"/>
          </a:xfrm>
          <a:prstGeom prst="roundRect">
            <a:avLst>
              <a:gd name="adj" fmla="val 8594"/>
            </a:avLst>
          </a:prstGeom>
          <a:solidFill>
            <a:srgbClr val="FFFFFF">
              <a:shade val="85000"/>
            </a:srgbClr>
          </a:solidFill>
          <a:ln>
            <a:noFill/>
          </a:ln>
          <a:effectLst/>
        </p:spPr>
      </p:pic>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RL</a:t>
            </a:r>
            <a:r>
              <a:rPr lang="zh-CN" altLang="en-US" sz="2000" dirty="0"/>
              <a:t>型调整  </a:t>
            </a:r>
          </a:p>
        </p:txBody>
      </p:sp>
    </p:spTree>
    <p:extLst>
      <p:ext uri="{BB962C8B-B14F-4D97-AF65-F5344CB8AC3E}">
        <p14:creationId xmlns:p14="http://schemas.microsoft.com/office/powerpoint/2010/main" val="400730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sz="quarter" idx="11"/>
              </p:nvPr>
            </p:nvSpPr>
            <p:spPr>
              <a:xfrm>
                <a:off x="107504" y="600094"/>
                <a:ext cx="8928992" cy="2376264"/>
              </a:xfrm>
            </p:spPr>
            <p:txBody>
              <a:bodyPr/>
              <a:lstStyle/>
              <a:p>
                <a:pPr marL="0" indent="0">
                  <a:lnSpc>
                    <a:spcPts val="2400"/>
                  </a:lnSpc>
                  <a:spcBef>
                    <a:spcPts val="0"/>
                  </a:spcBef>
                  <a:buNone/>
                </a:pPr>
                <a14:m>
                  <m:oMath xmlns:m="http://schemas.openxmlformats.org/officeDocument/2006/math">
                    <m:r>
                      <m:rPr>
                        <m:sty m:val="p"/>
                      </m:rPr>
                      <a:rPr lang="en-US" altLang="zh-CN" sz="1600" smtClean="0">
                        <a:solidFill>
                          <a:srgbClr val="FF0000"/>
                        </a:solidFill>
                        <a:latin typeface="Cambria Math" panose="02040503050406030204" pitchFamily="18" charset="0"/>
                      </a:rPr>
                      <m:t>LR</m:t>
                    </m:r>
                  </m:oMath>
                </a14:m>
                <a:r>
                  <a:rPr lang="zh-CN" altLang="zh-CN" sz="1600" dirty="0">
                    <a:solidFill>
                      <a:srgbClr val="FF0000"/>
                    </a:solidFill>
                    <a:latin typeface="Times New Roman" panose="02020603050405020304" pitchFamily="18" charset="0"/>
                    <a:cs typeface="Times New Roman" panose="02020603050405020304" pitchFamily="18" charset="0"/>
                  </a:rPr>
                  <a:t>型调整</a:t>
                </a:r>
                <a:r>
                  <a:rPr lang="zh-CN" altLang="zh-CN" sz="1600" dirty="0">
                    <a:latin typeface="Times New Roman" panose="02020603050405020304" pitchFamily="18" charset="0"/>
                    <a:cs typeface="Times New Roman" panose="02020603050405020304" pitchFamily="18" charset="0"/>
                  </a:rPr>
                  <a:t>是指在</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结点的左孩子（设为</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结点）的右子树上插入一个结点，使得</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结点的平衡因子由</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变为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引起不平衡而产生的调整。调整方法为先左旋转后向右旋转平衡，具体方法如下：</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）把</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结点的右孩子（设为</a:t>
                </a:r>
                <a14:m>
                  <m:oMath xmlns:m="http://schemas.openxmlformats.org/officeDocument/2006/math">
                    <m:r>
                      <m:rPr>
                        <m:sty m:val="p"/>
                      </m:rPr>
                      <a:rPr lang="en-US" altLang="zh-CN" sz="1600">
                        <a:latin typeface="Cambria Math" panose="02040503050406030204" pitchFamily="18" charset="0"/>
                      </a:rPr>
                      <m:t>C</m:t>
                    </m:r>
                  </m:oMath>
                </a14:m>
                <a:r>
                  <a:rPr lang="zh-CN" altLang="zh-CN" sz="1600" dirty="0">
                    <a:latin typeface="Times New Roman" panose="02020603050405020304" pitchFamily="18" charset="0"/>
                    <a:cs typeface="Times New Roman" panose="02020603050405020304" pitchFamily="18" charset="0"/>
                  </a:rPr>
                  <a:t>结点）变为调整后的最小子树的根结点；</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）把结点</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600">
                        <a:latin typeface="Cambria Math" panose="02040503050406030204" pitchFamily="18" charset="0"/>
                      </a:rPr>
                      <m:t>C</m:t>
                    </m:r>
                  </m:oMath>
                </a14:m>
                <a:r>
                  <a:rPr lang="zh-CN" altLang="zh-CN" sz="1600" dirty="0">
                    <a:latin typeface="Times New Roman" panose="02020603050405020304" pitchFamily="18" charset="0"/>
                    <a:cs typeface="Times New Roman" panose="02020603050405020304" pitchFamily="18" charset="0"/>
                  </a:rPr>
                  <a:t>的右孩子，结点</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变为结点</a:t>
                </a:r>
                <a14:m>
                  <m:oMath xmlns:m="http://schemas.openxmlformats.org/officeDocument/2006/math">
                    <m:r>
                      <m:rPr>
                        <m:sty m:val="p"/>
                      </m:rPr>
                      <a:rPr lang="en-US" altLang="zh-CN" sz="1600">
                        <a:latin typeface="Cambria Math" panose="02040503050406030204" pitchFamily="18" charset="0"/>
                      </a:rPr>
                      <m:t>C</m:t>
                    </m:r>
                  </m:oMath>
                </a14:m>
                <a:r>
                  <a:rPr lang="zh-CN" altLang="zh-CN" sz="1600" dirty="0">
                    <a:latin typeface="Times New Roman" panose="02020603050405020304" pitchFamily="18" charset="0"/>
                    <a:cs typeface="Times New Roman" panose="02020603050405020304" pitchFamily="18" charset="0"/>
                  </a:rPr>
                  <a:t>的左孩子；</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）把结点</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的右子树变为结点</a:t>
                </a:r>
                <a14:m>
                  <m:oMath xmlns:m="http://schemas.openxmlformats.org/officeDocument/2006/math">
                    <m:r>
                      <m:rPr>
                        <m:sty m:val="p"/>
                      </m:rPr>
                      <a:rPr lang="en-US" altLang="zh-CN" sz="1600">
                        <a:latin typeface="Cambria Math" panose="02040503050406030204" pitchFamily="18" charset="0"/>
                      </a:rPr>
                      <m:t>A</m:t>
                    </m:r>
                  </m:oMath>
                </a14:m>
                <a:r>
                  <a:rPr lang="zh-CN" altLang="zh-CN" sz="1600" dirty="0">
                    <a:latin typeface="Times New Roman" panose="02020603050405020304" pitchFamily="18" charset="0"/>
                    <a:cs typeface="Times New Roman" panose="02020603050405020304" pitchFamily="18" charset="0"/>
                  </a:rPr>
                  <a:t>的左子树；</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）把结点</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的左子树变为结点</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cs typeface="Times New Roman" panose="02020603050405020304" pitchFamily="18" charset="0"/>
                  </a:rPr>
                  <a:t>的右子树。</a:t>
                </a:r>
              </a:p>
              <a:p>
                <a:pPr marL="0" indent="0">
                  <a:lnSpc>
                    <a:spcPts val="24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sz="quarter" idx="11"/>
              </p:nvPr>
            </p:nvSpPr>
            <p:spPr>
              <a:xfrm>
                <a:off x="107504" y="600094"/>
                <a:ext cx="8928992" cy="2376264"/>
              </a:xfrm>
              <a:blipFill>
                <a:blip r:embed="rId2"/>
                <a:stretch>
                  <a:fillRect l="-683" r="-68"/>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691680" y="3003798"/>
            <a:ext cx="5881301" cy="1944216"/>
          </a:xfrm>
          <a:prstGeom prst="roundRect">
            <a:avLst>
              <a:gd name="adj" fmla="val 8594"/>
            </a:avLst>
          </a:prstGeom>
          <a:solidFill>
            <a:srgbClr val="FFFFFF">
              <a:shade val="85000"/>
            </a:srgbClr>
          </a:solidFill>
          <a:ln>
            <a:noFill/>
          </a:ln>
          <a:effectLst/>
        </p:spPr>
      </p:pic>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LR</a:t>
            </a:r>
            <a:r>
              <a:rPr lang="zh-CN" altLang="en-US" sz="2000" dirty="0"/>
              <a:t>型调整  </a:t>
            </a:r>
          </a:p>
        </p:txBody>
      </p:sp>
    </p:spTree>
    <p:extLst>
      <p:ext uri="{BB962C8B-B14F-4D97-AF65-F5344CB8AC3E}">
        <p14:creationId xmlns:p14="http://schemas.microsoft.com/office/powerpoint/2010/main" val="115604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15566"/>
            <a:ext cx="4565830" cy="3507876"/>
          </a:xfrm>
        </p:spPr>
        <p:txBody>
          <a:bodyPr/>
          <a:lstStyle/>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#define LH  1</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#define EH  0</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#define RH  -1</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typedef</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struct</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KeyType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key;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KeyType</a:t>
            </a:r>
            <a:r>
              <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rPr>
              <a:t>为关键字数据类型</a:t>
            </a: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InfoType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otherinfo</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r>
              <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rPr>
              <a:t>其他域</a:t>
            </a: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AElemType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typedef</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struct</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AElemType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data;</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int bf;           //</a:t>
            </a:r>
            <a:r>
              <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rPr>
              <a:t>结点的平衡因子</a:t>
            </a: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lchild</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rchild</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sz="1800"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sz="1800"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1800" dirty="0">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4" name="文本框 3"/>
          <p:cNvSpPr txBox="1"/>
          <p:nvPr/>
        </p:nvSpPr>
        <p:spPr>
          <a:xfrm>
            <a:off x="3795373" y="680969"/>
            <a:ext cx="5328592" cy="4401205"/>
          </a:xfrm>
          <a:prstGeom prst="rect">
            <a:avLst/>
          </a:prstGeom>
          <a:solidFill>
            <a:schemeClr val="accent2"/>
          </a:solidFill>
        </p:spPr>
        <p:txBody>
          <a:bodyPr wrap="square" rtlCol="0">
            <a:spAutoFit/>
          </a:bodyPr>
          <a:lstStyle/>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class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AVLTree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dirty="0">
              <a:latin typeface="Times New Roman" panose="02020603050405020304" pitchFamily="18" charset="0"/>
              <a:ea typeface="Arial Unicode MS" panose="020B0604020202020204" pitchFamily="34" charset="-122"/>
              <a:cs typeface="Times New Roman" panose="02020603050405020304" pitchFamily="18" charset="0"/>
            </a:endParaRP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private:</a:t>
            </a:r>
            <a:endParaRPr lang="zh-CN" altLang="zh-CN" dirty="0">
              <a:latin typeface="Times New Roman" panose="02020603050405020304" pitchFamily="18" charset="0"/>
              <a:ea typeface="Arial Unicode MS" panose="020B0604020202020204" pitchFamily="34" charset="-122"/>
              <a:cs typeface="Times New Roman" panose="02020603050405020304" pitchFamily="18" charset="0"/>
            </a:endParaRP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bt</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dirty="0">
              <a:latin typeface="Times New Roman" panose="02020603050405020304" pitchFamily="18" charset="0"/>
              <a:ea typeface="Arial Unicode MS" panose="020B0604020202020204" pitchFamily="34" charset="-122"/>
              <a:cs typeface="Times New Roman" panose="02020603050405020304" pitchFamily="18" charset="0"/>
            </a:endParaRP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int</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Insert(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*&amp;</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t,AElemType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e,int</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taller);      </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递归插入元素</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e</a:t>
            </a:r>
            <a:endParaRPr lang="zh-CN" altLang="zh-CN" dirty="0">
              <a:latin typeface="Times New Roman" panose="02020603050405020304" pitchFamily="18" charset="0"/>
              <a:ea typeface="Arial Unicode MS" panose="020B0604020202020204" pitchFamily="34" charset="-122"/>
              <a:cs typeface="Times New Roman" panose="02020603050405020304" pitchFamily="18" charset="0"/>
            </a:endParaRP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public:</a:t>
            </a:r>
            <a:endParaRPr lang="zh-CN" altLang="zh-CN" dirty="0">
              <a:latin typeface="Times New Roman" panose="02020603050405020304" pitchFamily="18" charset="0"/>
              <a:ea typeface="Arial Unicode MS" panose="020B0604020202020204" pitchFamily="34" charset="-122"/>
              <a:cs typeface="Times New Roman" panose="02020603050405020304" pitchFamily="18" charset="0"/>
            </a:endParaRP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AVLTree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bt</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=NULL;}   //</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构造函数，初始化空树</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void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L_Rotate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*&amp;p);     //RR</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型操作</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void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R_Rotate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*&amp;p);       //LL</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型操作</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void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LeftBalance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*&amp;t);     //LR</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型操作</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void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RightBalance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AVLNode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*&amp;t);    //RL</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型操作</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void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InsertAVL</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AElemType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e);    //</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插入元素</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e</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t</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传给私有成员</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void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CreateAVLTree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AElemType</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d[ ],</a:t>
            </a:r>
            <a:r>
              <a:rPr lang="en-US" altLang="zh-CN" dirty="0" err="1">
                <a:latin typeface="Times New Roman" panose="02020603050405020304" pitchFamily="18" charset="0"/>
                <a:ea typeface="Arial Unicode MS" panose="020B0604020202020204" pitchFamily="34" charset="-122"/>
                <a:cs typeface="Times New Roman" panose="02020603050405020304" pitchFamily="18" charset="0"/>
              </a:rPr>
              <a:t>int</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n);</a:t>
            </a:r>
          </a:p>
          <a:p>
            <a:pPr>
              <a:lnSpc>
                <a:spcPts val="2100"/>
              </a:lnSpc>
              <a:spcBef>
                <a:spcPts val="0"/>
              </a:spcBef>
            </a:pP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       //</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生成二叉排序树，</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n</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个数据在数组</a:t>
            </a:r>
            <a:r>
              <a:rPr lang="en-US" altLang="zh-CN" dirty="0">
                <a:latin typeface="Times New Roman" panose="02020603050405020304" pitchFamily="18" charset="0"/>
                <a:ea typeface="Arial Unicode MS" panose="020B0604020202020204" pitchFamily="34" charset="-122"/>
                <a:cs typeface="Times New Roman" panose="02020603050405020304" pitchFamily="18" charset="0"/>
              </a:rPr>
              <a:t>d</a:t>
            </a:r>
            <a:r>
              <a:rPr lang="zh-CN" altLang="zh-CN" dirty="0">
                <a:latin typeface="Times New Roman" panose="02020603050405020304" pitchFamily="18" charset="0"/>
                <a:ea typeface="Arial Unicode MS" panose="020B0604020202020204" pitchFamily="34" charset="-122"/>
                <a:cs typeface="Times New Roman" panose="02020603050405020304" pitchFamily="18" charset="0"/>
              </a:rPr>
              <a:t>中</a:t>
            </a:r>
          </a:p>
          <a:p>
            <a:pPr>
              <a:lnSpc>
                <a:spcPts val="2100"/>
              </a:lnSpc>
              <a:spcBef>
                <a:spcPts val="0"/>
              </a:spcBef>
            </a:pPr>
            <a:r>
              <a:rPr lang="en-US" altLang="zh-CN" sz="2400" dirty="0">
                <a:latin typeface="Times New Roman" panose="02020603050405020304" pitchFamily="18" charset="0"/>
                <a:ea typeface="Arial Unicode MS" panose="020B0604020202020204" pitchFamily="34" charset="-122"/>
                <a:cs typeface="Times New Roman" panose="02020603050405020304" pitchFamily="18" charset="0"/>
              </a:rPr>
              <a:t>};</a:t>
            </a:r>
            <a:endParaRPr lang="zh-CN" altLang="zh-CN" sz="2400" dirty="0">
              <a:latin typeface="Times New Roman" panose="02020603050405020304" pitchFamily="18" charset="0"/>
              <a:ea typeface="Arial Unicode MS" panose="020B0604020202020204" pitchFamily="34" charset="-122"/>
              <a:cs typeface="Times New Roman" panose="02020603050405020304" pitchFamily="18" charset="0"/>
            </a:endParaRPr>
          </a:p>
        </p:txBody>
      </p:sp>
      <p:sp>
        <p:nvSpPr>
          <p:cNvPr id="5" name="文本框 4"/>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平衡二叉树的类定义</a:t>
            </a:r>
          </a:p>
        </p:txBody>
      </p:sp>
    </p:spTree>
    <p:extLst>
      <p:ext uri="{BB962C8B-B14F-4D97-AF65-F5344CB8AC3E}">
        <p14:creationId xmlns:p14="http://schemas.microsoft.com/office/powerpoint/2010/main" val="320245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928992" cy="3507876"/>
              </a:xfrm>
            </p:spPr>
            <p:txBody>
              <a:bodyPr/>
              <a:lstStyle/>
              <a:p>
                <a:pPr algn="just">
                  <a:lnSpc>
                    <a:spcPts val="2500"/>
                  </a:lnSpc>
                  <a:spcBef>
                    <a:spcPts val="0"/>
                  </a:spcBef>
                </a:pPr>
                <a:r>
                  <a:rPr lang="zh-CN" altLang="en-US" sz="1800" dirty="0">
                    <a:latin typeface="Times New Roman" panose="02020603050405020304" pitchFamily="18" charset="0"/>
                    <a:cs typeface="Times New Roman" panose="02020603050405020304" pitchFamily="18" charset="0"/>
                  </a:rPr>
                  <a:t>由于平衡二叉树关键字的查找过程与二叉排序树关键字的查找过程相同</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因此</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在平衡二叉树的查找过程中关键字的比较次数不超过平衡二叉树的深度。 下面分析含有</a:t>
                </a:r>
                <a:r>
                  <a:rPr lang="en-US" altLang="zh-CN" sz="1800" dirty="0">
                    <a:latin typeface="Times New Roman" panose="02020603050405020304" pitchFamily="18" charset="0"/>
                    <a:cs typeface="Times New Roman" panose="02020603050405020304" pitchFamily="18" charset="0"/>
                  </a:rPr>
                  <a:t>n</a:t>
                </a:r>
                <a:r>
                  <a:rPr lang="zh-CN" altLang="en-US" sz="1800" dirty="0">
                    <a:latin typeface="Times New Roman" panose="02020603050405020304" pitchFamily="18" charset="0"/>
                    <a:cs typeface="Times New Roman" panose="02020603050405020304" pitchFamily="18" charset="0"/>
                  </a:rPr>
                  <a:t>个结点的平衡二叉树的最大深度</a:t>
                </a:r>
                <a:r>
                  <a:rPr lang="en-US" altLang="zh-CN" sz="1800" dirty="0">
                    <a:latin typeface="Times New Roman" panose="02020603050405020304" pitchFamily="18" charset="0"/>
                    <a:cs typeface="Times New Roman" panose="02020603050405020304" pitchFamily="18" charset="0"/>
                  </a:rPr>
                  <a:t>h</a:t>
                </a:r>
                <a:r>
                  <a:rPr lang="zh-CN" altLang="en-US" sz="1800" dirty="0">
                    <a:latin typeface="Times New Roman" panose="02020603050405020304" pitchFamily="18" charset="0"/>
                    <a:cs typeface="Times New Roman" panose="02020603050405020304" pitchFamily="18" charset="0"/>
                  </a:rPr>
                  <a:t>和深度为</a:t>
                </a:r>
                <a:r>
                  <a:rPr lang="en-US" altLang="zh-CN" sz="1800" dirty="0">
                    <a:latin typeface="Times New Roman" panose="02020603050405020304" pitchFamily="18" charset="0"/>
                    <a:cs typeface="Times New Roman" panose="02020603050405020304" pitchFamily="18" charset="0"/>
                  </a:rPr>
                  <a:t>h</a:t>
                </a:r>
                <a:r>
                  <a:rPr lang="zh-CN" altLang="en-US" sz="1800" dirty="0">
                    <a:latin typeface="Times New Roman" panose="02020603050405020304" pitchFamily="18" charset="0"/>
                    <a:cs typeface="Times New Roman" panose="02020603050405020304" pitchFamily="18" charset="0"/>
                  </a:rPr>
                  <a:t>的平衡二叉树的最少结点数。 </a:t>
                </a:r>
                <a:endParaRPr lang="en-US" altLang="zh-CN" sz="1800" dirty="0">
                  <a:latin typeface="Times New Roman" panose="02020603050405020304" pitchFamily="18" charset="0"/>
                  <a:cs typeface="Times New Roman" panose="02020603050405020304" pitchFamily="18" charset="0"/>
                </a:endParaRPr>
              </a:p>
              <a:p>
                <a:pPr>
                  <a:spcBef>
                    <a:spcPts val="0"/>
                  </a:spcBef>
                </a:pPr>
                <a:r>
                  <a:rPr lang="zh-CN" altLang="en-US" sz="1800" dirty="0">
                    <a:latin typeface="Times New Roman" panose="02020603050405020304" pitchFamily="18" charset="0"/>
                    <a:cs typeface="Times New Roman" panose="02020603050405020304" pitchFamily="18" charset="0"/>
                  </a:rPr>
                  <a:t>设 </a:t>
                </a:r>
                <a:r>
                  <a:rPr lang="en-US" altLang="zh-CN" sz="1800" dirty="0">
                    <a:latin typeface="Times New Roman" panose="02020603050405020304" pitchFamily="18" charset="0"/>
                    <a:cs typeface="Times New Roman" panose="02020603050405020304" pitchFamily="18" charset="0"/>
                  </a:rPr>
                  <a:t>N(h)</a:t>
                </a:r>
                <a:r>
                  <a:rPr lang="zh-CN" altLang="en-US" sz="1800" dirty="0">
                    <a:latin typeface="Times New Roman" panose="02020603050405020304" pitchFamily="18" charset="0"/>
                    <a:cs typeface="Times New Roman" panose="02020603050405020304" pitchFamily="18" charset="0"/>
                  </a:rPr>
                  <a:t>表示深度为 </a:t>
                </a:r>
                <a:r>
                  <a:rPr lang="en-US" altLang="zh-CN" sz="1800" dirty="0">
                    <a:latin typeface="Times New Roman" panose="02020603050405020304" pitchFamily="18" charset="0"/>
                    <a:cs typeface="Times New Roman" panose="02020603050405020304" pitchFamily="18" charset="0"/>
                  </a:rPr>
                  <a:t>h </a:t>
                </a:r>
                <a:r>
                  <a:rPr lang="zh-CN" altLang="en-US" sz="1800" dirty="0">
                    <a:latin typeface="Times New Roman" panose="02020603050405020304" pitchFamily="18" charset="0"/>
                    <a:cs typeface="Times New Roman" panose="02020603050405020304" pitchFamily="18" charset="0"/>
                  </a:rPr>
                  <a:t>的平衡二叉树中含有的最少结点数</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由平衡二叉树的定义知</a:t>
                </a:r>
                <a:r>
                  <a:rPr lang="en-US" altLang="zh-CN" sz="1800" dirty="0">
                    <a:latin typeface="Times New Roman" panose="02020603050405020304" pitchFamily="18" charset="0"/>
                    <a:cs typeface="Times New Roman" panose="02020603050405020304" pitchFamily="18" charset="0"/>
                  </a:rPr>
                  <a:t>: </a:t>
                </a:r>
              </a:p>
              <a:p>
                <a:pPr marL="0" indent="0">
                  <a:buNone/>
                </a:pPr>
                <a14:m>
                  <m:oMathPara xmlns:m="http://schemas.openxmlformats.org/officeDocument/2006/math">
                    <m:oMathParaPr>
                      <m:jc m:val="centerGroup"/>
                    </m:oMathParaPr>
                    <m:oMath xmlns:m="http://schemas.openxmlformats.org/officeDocument/2006/math">
                      <m:r>
                        <a:rPr lang="zh-CN" altLang="zh-CN" sz="1800" i="1">
                          <a:latin typeface="Cambria Math" panose="02040503050406030204" pitchFamily="18" charset="0"/>
                        </a:rPr>
                        <m:t> </m:t>
                      </m:r>
                      <m:r>
                        <m:rPr>
                          <m:sty m:val="p"/>
                        </m:rPr>
                        <a:rPr lang="en-US" altLang="zh-CN" sz="1800">
                          <a:latin typeface="Cambria Math" panose="02040503050406030204" pitchFamily="18" charset="0"/>
                        </a:rPr>
                        <m:t>N</m:t>
                      </m:r>
                      <m:d>
                        <m:dPr>
                          <m:ctrlPr>
                            <a:rPr lang="zh-CN" altLang="zh-CN" sz="1800" i="1">
                              <a:latin typeface="Cambria Math" panose="02040503050406030204" pitchFamily="18" charset="0"/>
                            </a:rPr>
                          </m:ctrlPr>
                        </m:dPr>
                        <m:e>
                          <m:r>
                            <a:rPr lang="en-US" altLang="zh-CN" sz="1800">
                              <a:latin typeface="Cambria Math" panose="02040503050406030204" pitchFamily="18" charset="0"/>
                            </a:rPr>
                            <m:t>0</m:t>
                          </m:r>
                        </m:e>
                      </m:d>
                      <m:r>
                        <a:rPr lang="en-US" altLang="zh-CN" sz="1800">
                          <a:latin typeface="Cambria Math" panose="02040503050406030204" pitchFamily="18" charset="0"/>
                        </a:rPr>
                        <m:t>=0</m:t>
                      </m:r>
                    </m:oMath>
                  </m:oMathPara>
                </a14:m>
                <a:endParaRPr lang="zh-CN" altLang="zh-CN" sz="18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N</m:t>
                      </m:r>
                      <m:d>
                        <m:dPr>
                          <m:ctrlPr>
                            <a:rPr lang="zh-CN" altLang="zh-CN" sz="1800" i="1">
                              <a:latin typeface="Cambria Math" panose="02040503050406030204" pitchFamily="18" charset="0"/>
                            </a:rPr>
                          </m:ctrlPr>
                        </m:dPr>
                        <m:e>
                          <m:r>
                            <a:rPr lang="en-US" altLang="zh-CN" sz="1800">
                              <a:latin typeface="Cambria Math" panose="02040503050406030204" pitchFamily="18" charset="0"/>
                            </a:rPr>
                            <m:t>1</m:t>
                          </m:r>
                        </m:e>
                      </m:d>
                      <m:r>
                        <a:rPr lang="en-US" altLang="zh-CN" sz="1800">
                          <a:latin typeface="Cambria Math" panose="02040503050406030204" pitchFamily="18" charset="0"/>
                        </a:rPr>
                        <m:t>=1</m:t>
                      </m:r>
                    </m:oMath>
                  </m:oMathPara>
                </a14:m>
                <a:endParaRPr lang="zh-CN" altLang="zh-CN" sz="18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N</m:t>
                      </m:r>
                      <m:d>
                        <m:dPr>
                          <m:ctrlPr>
                            <a:rPr lang="zh-CN" altLang="zh-CN" sz="1800" i="1">
                              <a:latin typeface="Cambria Math" panose="02040503050406030204" pitchFamily="18" charset="0"/>
                            </a:rPr>
                          </m:ctrlPr>
                        </m:dPr>
                        <m:e>
                          <m:r>
                            <a:rPr lang="en-US" altLang="zh-CN" sz="1800">
                              <a:latin typeface="Cambria Math" panose="02040503050406030204" pitchFamily="18" charset="0"/>
                            </a:rPr>
                            <m:t>2</m:t>
                          </m:r>
                        </m:e>
                      </m:d>
                      <m:r>
                        <a:rPr lang="en-US" altLang="zh-CN" sz="1800">
                          <a:latin typeface="Cambria Math" panose="02040503050406030204" pitchFamily="18" charset="0"/>
                        </a:rPr>
                        <m:t>=2</m:t>
                      </m:r>
                    </m:oMath>
                  </m:oMathPara>
                </a14:m>
                <a:endParaRPr lang="zh-CN" altLang="zh-CN" sz="18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                                              </m:t>
                      </m:r>
                      <m:r>
                        <m:rPr>
                          <m:sty m:val="p"/>
                        </m:rPr>
                        <a:rPr lang="en-US" altLang="zh-CN" sz="1800">
                          <a:latin typeface="Cambria Math" panose="02040503050406030204" pitchFamily="18" charset="0"/>
                        </a:rPr>
                        <m:t>N</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h</m:t>
                          </m:r>
                        </m:e>
                      </m:d>
                      <m:r>
                        <a:rPr lang="en-US" altLang="zh-CN" sz="1800">
                          <a:latin typeface="Cambria Math" panose="02040503050406030204" pitchFamily="18" charset="0"/>
                        </a:rPr>
                        <m:t>=</m:t>
                      </m:r>
                      <m:r>
                        <m:rPr>
                          <m:sty m:val="p"/>
                        </m:rPr>
                        <a:rPr lang="en-US" altLang="zh-CN" sz="1800">
                          <a:latin typeface="Cambria Math" panose="02040503050406030204" pitchFamily="18" charset="0"/>
                        </a:rPr>
                        <m:t>N</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h</m:t>
                          </m:r>
                          <m:r>
                            <a:rPr lang="en-US" altLang="zh-CN" sz="1800" i="1">
                              <a:latin typeface="Cambria Math" panose="02040503050406030204" pitchFamily="18" charset="0"/>
                            </a:rPr>
                            <m:t>−</m:t>
                          </m:r>
                          <m:r>
                            <a:rPr lang="en-US" altLang="zh-CN" sz="1800">
                              <a:latin typeface="Cambria Math" panose="02040503050406030204" pitchFamily="18" charset="0"/>
                            </a:rPr>
                            <m:t>1</m:t>
                          </m:r>
                        </m:e>
                      </m:d>
                      <m:r>
                        <a:rPr lang="en-US" altLang="zh-CN" sz="1800">
                          <a:latin typeface="Cambria Math" panose="02040503050406030204" pitchFamily="18" charset="0"/>
                        </a:rPr>
                        <m:t>+</m:t>
                      </m:r>
                      <m:r>
                        <m:rPr>
                          <m:sty m:val="p"/>
                        </m:rPr>
                        <a:rPr lang="en-US" altLang="zh-CN" sz="1800">
                          <a:latin typeface="Cambria Math" panose="02040503050406030204" pitchFamily="18" charset="0"/>
                        </a:rPr>
                        <m:t>N</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h</m:t>
                          </m:r>
                          <m:r>
                            <a:rPr lang="en-US" altLang="zh-CN" sz="1800" i="1">
                              <a:latin typeface="Cambria Math" panose="02040503050406030204" pitchFamily="18" charset="0"/>
                            </a:rPr>
                            <m:t>−</m:t>
                          </m:r>
                          <m:r>
                            <a:rPr lang="en-US" altLang="zh-CN" sz="1800">
                              <a:latin typeface="Cambria Math" panose="02040503050406030204" pitchFamily="18" charset="0"/>
                            </a:rPr>
                            <m:t>2</m:t>
                          </m:r>
                        </m:e>
                      </m:d>
                      <m:r>
                        <a:rPr lang="en-US" altLang="zh-CN" sz="1800">
                          <a:latin typeface="Cambria Math" panose="02040503050406030204" pitchFamily="18" charset="0"/>
                        </a:rPr>
                        <m:t>+1</m:t>
                      </m:r>
                    </m:oMath>
                  </m:oMathPara>
                </a14:m>
                <a:endParaRPr lang="zh-CN" altLang="zh-CN" sz="1800" dirty="0">
                  <a:latin typeface="Times New Roman" panose="02020603050405020304" pitchFamily="18" charset="0"/>
                  <a:cs typeface="Times New Roman" panose="02020603050405020304" pitchFamily="18" charset="0"/>
                </a:endParaRPr>
              </a:p>
              <a:p>
                <a:pPr algn="just">
                  <a:lnSpc>
                    <a:spcPts val="25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928992" cy="3507876"/>
              </a:xfrm>
              <a:blipFill>
                <a:blip r:embed="rId2"/>
                <a:stretch>
                  <a:fillRect l="-751" t="-1391" r="-8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79512" y="4227934"/>
                <a:ext cx="7920880" cy="369332"/>
              </a:xfrm>
              <a:prstGeom prst="rect">
                <a:avLst/>
              </a:prstGeom>
              <a:noFill/>
            </p:spPr>
            <p:txBody>
              <a:bodyPr wrap="square" rtlCol="0">
                <a:spAutoFit/>
              </a:bodyPr>
              <a:lstStyle/>
              <a:p>
                <a:r>
                  <a:rPr lang="en-US" altLang="zh-CN" dirty="0">
                    <a:latin typeface="隶书" panose="02010509060101010101" pitchFamily="49" charset="-122"/>
                    <a:ea typeface="隶书" panose="02010509060101010101" pitchFamily="49" charset="-122"/>
                  </a:rPr>
                  <a:t>  </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深度为</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到</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的最少结点数分别为</a:t>
                </a:r>
                <a14:m>
                  <m:oMath xmlns:m="http://schemas.openxmlformats.org/officeDocument/2006/math">
                    <m:r>
                      <a:rPr lang="en-US" altLang="zh-CN">
                        <a:solidFill>
                          <a:srgbClr val="FF0000"/>
                        </a:solidFill>
                        <a:latin typeface="Cambria Math" panose="02040503050406030204" pitchFamily="18" charset="0"/>
                      </a:rPr>
                      <m:t>1,2,4,7,12,20,33,54</m:t>
                    </m:r>
                  </m:oMath>
                </a14:m>
                <a:r>
                  <a:rPr lang="zh-CN" altLang="en-US" dirty="0">
                    <a:latin typeface="隶书" panose="02010509060101010101" pitchFamily="49" charset="-122"/>
                    <a:ea typeface="隶书" panose="02010509060101010101" pitchFamily="49" charset="-122"/>
                  </a:rPr>
                  <a:t>。</a:t>
                </a:r>
              </a:p>
            </p:txBody>
          </p:sp>
        </mc:Choice>
        <mc:Fallback xmlns="">
          <p:sp>
            <p:nvSpPr>
              <p:cNvPr id="4" name="文本框 3"/>
              <p:cNvSpPr txBox="1">
                <a:spLocks noRot="1" noChangeAspect="1" noMove="1" noResize="1" noEditPoints="1" noAdjustHandles="1" noChangeArrowheads="1" noChangeShapeType="1" noTextEdit="1"/>
              </p:cNvSpPr>
              <p:nvPr/>
            </p:nvSpPr>
            <p:spPr>
              <a:xfrm>
                <a:off x="179512" y="4227934"/>
                <a:ext cx="7920880" cy="369332"/>
              </a:xfrm>
              <a:prstGeom prst="rect">
                <a:avLst/>
              </a:prstGeom>
              <a:blipFill>
                <a:blip r:embed="rId3"/>
                <a:stretch>
                  <a:fillRect t="-13333" b="-28333"/>
                </a:stretch>
              </a:blipFill>
            </p:spPr>
            <p:txBody>
              <a:bodyPr/>
              <a:lstStyle/>
              <a:p>
                <a:r>
                  <a:rPr lang="zh-CN" altLang="en-US">
                    <a:noFill/>
                  </a:rPr>
                  <a:t> </a:t>
                </a:r>
              </a:p>
            </p:txBody>
          </p:sp>
        </mc:Fallback>
      </mc:AlternateContent>
      <p:sp>
        <p:nvSpPr>
          <p:cNvPr id="5" name="文本框 4"/>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平衡二叉树的查找分析</a:t>
            </a:r>
          </a:p>
        </p:txBody>
      </p:sp>
    </p:spTree>
    <p:extLst>
      <p:ext uri="{BB962C8B-B14F-4D97-AF65-F5344CB8AC3E}">
        <p14:creationId xmlns:p14="http://schemas.microsoft.com/office/powerpoint/2010/main" val="178233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93204" y="915566"/>
                <a:ext cx="8799276" cy="3507876"/>
              </a:xfrm>
            </p:spPr>
            <p:txBody>
              <a:bodyPr/>
              <a:lstStyle/>
              <a:p>
                <a:pPr marL="0" indent="0">
                  <a:lnSpc>
                    <a:spcPts val="2300"/>
                  </a:lnSpc>
                  <a:spcBef>
                    <a:spcPts val="0"/>
                  </a:spcBef>
                  <a:buNone/>
                </a:pPr>
                <a14:m>
                  <m:oMath xmlns:m="http://schemas.openxmlformats.org/officeDocument/2006/math">
                    <m:r>
                      <m:rPr>
                        <m:sty m:val="p"/>
                      </m:rPr>
                      <a:rPr lang="en-US" altLang="zh-CN" sz="1800" smtClean="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阶</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树满足或为空树，或为满足下列性质的</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叉树：</a:t>
                </a: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）树中每个结点最多有</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棵子树；</a:t>
                </a: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）若根结点不是终端结点（或称叶子结点）时，则其至少有两棵子树；</a:t>
                </a: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）除根外，所有非终端结点至少有</a:t>
                </a:r>
                <a14:m>
                  <m:oMath xmlns:m="http://schemas.openxmlformats.org/officeDocument/2006/math">
                    <m:d>
                      <m:dPr>
                        <m:begChr m:val="⌈"/>
                        <m:endChr m:val="⌉"/>
                        <m:ctrlPr>
                          <a:rPr lang="zh-CN" altLang="zh-CN" sz="1800" i="1">
                            <a:latin typeface="Cambria Math" panose="02040503050406030204" pitchFamily="18" charset="0"/>
                          </a:rPr>
                        </m:ctrlPr>
                      </m:dPr>
                      <m:e>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𝑚</m:t>
                            </m:r>
                          </m:num>
                          <m:den>
                            <m:r>
                              <a:rPr lang="en-US" altLang="zh-CN" sz="1800" b="0" i="1" smtClean="0">
                                <a:latin typeface="Cambria Math" panose="02040503050406030204" pitchFamily="18" charset="0"/>
                              </a:rPr>
                              <m:t>2</m:t>
                            </m:r>
                          </m:den>
                        </m:f>
                      </m:e>
                    </m:d>
                  </m:oMath>
                </a14:m>
                <a:r>
                  <a:rPr lang="zh-CN" altLang="zh-CN" sz="1800" dirty="0">
                    <a:latin typeface="Times New Roman" panose="02020603050405020304" pitchFamily="18" charset="0"/>
                    <a:cs typeface="Times New Roman" panose="02020603050405020304" pitchFamily="18" charset="0"/>
                  </a:rPr>
                  <a:t>棵子树；</a:t>
                </a: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）所有的叶子结点都在同一层上，且不带信息（可认为外部结点或失败结点，实际上这些结点不存在，指向这些结点的指针为空）</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5</a:t>
                </a:r>
                <a:r>
                  <a:rPr lang="zh-CN" altLang="zh-CN" sz="1800" dirty="0">
                    <a:latin typeface="Times New Roman" panose="02020603050405020304" pitchFamily="18" charset="0"/>
                    <a:cs typeface="Times New Roman" panose="02020603050405020304" pitchFamily="18" charset="0"/>
                  </a:rPr>
                  <a:t>）每个非终端结点中包含下列数据信息：</a:t>
                </a:r>
              </a:p>
              <a:p>
                <a:pPr marL="0" indent="0">
                  <a:lnSpc>
                    <a:spcPts val="2300"/>
                  </a:lnSpc>
                  <a:spcBef>
                    <a:spcPts val="0"/>
                  </a:spcBef>
                  <a:buNone/>
                </a:pPr>
                <a14:m>
                  <m:oMathPara xmlns:m="http://schemas.openxmlformats.org/officeDocument/2006/math">
                    <m:oMathParaPr>
                      <m:jc m:val="centerGroup"/>
                    </m:oMathParaPr>
                    <m:oMath xmlns:m="http://schemas.openxmlformats.org/officeDocument/2006/math">
                      <m:r>
                        <a:rPr lang="zh-CN" altLang="zh-CN" sz="1800">
                          <a:latin typeface="Cambria Math" panose="02040503050406030204" pitchFamily="18" charset="0"/>
                        </a:rPr>
                        <m:t>（</m:t>
                      </m:r>
                      <m:r>
                        <a:rPr lang="en-US" altLang="zh-CN" sz="1800" i="1">
                          <a:latin typeface="Cambria Math" panose="02040503050406030204" pitchFamily="18" charset="0"/>
                        </a:rPr>
                        <m:t>𝑛</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𝑛</m:t>
                              </m:r>
                            </m:sub>
                          </m:sSub>
                          <m:r>
                            <a:rPr lang="en-US" altLang="zh-CN" sz="1800" i="1">
                              <a:latin typeface="Cambria Math" panose="02040503050406030204" pitchFamily="18" charset="0"/>
                            </a:rPr>
                            <m:t>,</m:t>
                          </m:r>
                          <m:r>
                            <a:rPr lang="en-US" altLang="zh-CN" sz="1800" i="1">
                              <a:latin typeface="Cambria Math" panose="02040503050406030204" pitchFamily="18" charset="0"/>
                            </a:rPr>
                            <m:t>𝐴</m:t>
                          </m:r>
                        </m:e>
                        <m:sub>
                          <m:r>
                            <a:rPr lang="en-US" altLang="zh-CN" sz="1800" i="1">
                              <a:latin typeface="Cambria Math" panose="02040503050406030204" pitchFamily="18" charset="0"/>
                            </a:rPr>
                            <m:t>𝑛</m:t>
                          </m:r>
                        </m:sub>
                      </m:sSub>
                      <m:r>
                        <a:rPr lang="zh-CN" altLang="zh-CN" sz="1800">
                          <a:latin typeface="Cambria Math" panose="02040503050406030204" pitchFamily="18" charset="0"/>
                        </a:rPr>
                        <m:t>）</m:t>
                      </m:r>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zh-CN" altLang="zh-CN" sz="1800" dirty="0">
                    <a:latin typeface="Times New Roman" panose="02020603050405020304" pitchFamily="18" charset="0"/>
                    <a:cs typeface="Times New Roman" panose="02020603050405020304" pitchFamily="18" charset="0"/>
                  </a:rPr>
                  <a:t>其中， </a:t>
                </a:r>
                <a14:m>
                  <m:oMath xmlns:m="http://schemas.openxmlformats.org/officeDocument/2006/math">
                    <m:r>
                      <a:rPr lang="en-US" altLang="zh-CN" sz="1800" i="1">
                        <a:latin typeface="Cambria Math" panose="02040503050406030204" pitchFamily="18" charset="0"/>
                      </a:rPr>
                      <m:t>𝑛</m:t>
                    </m:r>
                    <m:r>
                      <a:rPr lang="en-US" altLang="zh-CN" sz="1800" i="1">
                        <a:latin typeface="Cambria Math" panose="02040503050406030204" pitchFamily="18" charset="0"/>
                      </a:rPr>
                      <m:t>(</m:t>
                    </m:r>
                    <m:d>
                      <m:dPr>
                        <m:begChr m:val="⌈"/>
                        <m:endChr m:val="⌉"/>
                        <m:ctrlPr>
                          <a:rPr lang="zh-CN" altLang="zh-CN" sz="1800" i="1">
                            <a:latin typeface="Cambria Math" panose="02040503050406030204" pitchFamily="18" charset="0"/>
                          </a:rPr>
                        </m:ctrlPr>
                      </m:dPr>
                      <m:e>
                        <m:f>
                          <m:fPr>
                            <m:ctrlPr>
                              <a:rPr lang="en-US" altLang="zh-CN" sz="1800" i="1">
                                <a:latin typeface="Cambria Math" panose="02040503050406030204" pitchFamily="18" charset="0"/>
                              </a:rPr>
                            </m:ctrlPr>
                          </m:fPr>
                          <m:num>
                            <m:r>
                              <a:rPr lang="en-US" altLang="zh-CN" sz="1800" i="1">
                                <a:latin typeface="Cambria Math" panose="02040503050406030204" pitchFamily="18" charset="0"/>
                              </a:rPr>
                              <m:t>𝑚</m:t>
                            </m:r>
                          </m:num>
                          <m:den>
                            <m:r>
                              <a:rPr lang="en-US" altLang="zh-CN" sz="1800" i="1">
                                <a:latin typeface="Cambria Math" panose="02040503050406030204" pitchFamily="18" charset="0"/>
                              </a:rPr>
                              <m:t>2</m:t>
                            </m:r>
                          </m:den>
                        </m:f>
                      </m:e>
                    </m:d>
                    <m:r>
                      <a:rPr lang="en-US" altLang="zh-CN" sz="1800" i="1">
                        <a:latin typeface="Cambria Math" panose="02040503050406030204" pitchFamily="18" charset="0"/>
                      </a:rPr>
                      <m:t>–1≤</m:t>
                    </m:r>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𝑚</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为该结点的关键字的个数；</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800" i="1">
                        <a:latin typeface="Cambria Math" panose="02040503050406030204" pitchFamily="18" charset="0"/>
                      </a:rPr>
                      <m:t>𝑖</m:t>
                    </m:r>
                    <m:r>
                      <a:rPr lang="en-US" altLang="zh-CN" sz="1800" i="1">
                        <a:latin typeface="Cambria Math" panose="02040503050406030204" pitchFamily="18" charset="0"/>
                      </a:rPr>
                      <m:t>=1,2,⋯,</m:t>
                    </m:r>
                    <m:r>
                      <a:rPr lang="en-US" altLang="zh-CN" sz="1800" i="1">
                        <a:latin typeface="Cambria Math" panose="02040503050406030204" pitchFamily="18" charset="0"/>
                      </a:rPr>
                      <m:t>𝑛</m:t>
                    </m:r>
                    <m:r>
                      <a:rPr lang="zh-CN"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为关键字，且满足</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&lt;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=1,2,⋯,</m:t>
                    </m:r>
                    <m:r>
                      <a:rPr lang="en-US" altLang="zh-CN" sz="1800" i="1">
                        <a:latin typeface="Cambria Math" panose="02040503050406030204" pitchFamily="18" charset="0"/>
                      </a:rPr>
                      <m:t>𝑛</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=0,1,2,⋯,</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为该结点孩子结点指针，且</a:t>
                </a:r>
                <a14:m>
                  <m:oMath xmlns:m="http://schemas.openxmlformats.org/officeDocument/2006/math">
                    <m:sSub>
                      <m:sSubPr>
                        <m:ctrlPr>
                          <a:rPr lang="zh-CN" altLang="zh-CN" sz="1800" i="1">
                            <a:latin typeface="Cambria Math" panose="02040503050406030204" pitchFamily="18" charset="0"/>
                            <a:ea typeface="隶书" panose="02010509060101010101" pitchFamily="49" charset="-122"/>
                          </a:rPr>
                        </m:ctrlPr>
                      </m:sSubPr>
                      <m:e>
                        <m:r>
                          <a:rPr lang="en-US" altLang="zh-CN" sz="1800">
                            <a:latin typeface="Cambria Math" panose="02040503050406030204" pitchFamily="18" charset="0"/>
                            <a:ea typeface="隶书" panose="02010509060101010101" pitchFamily="49" charset="-122"/>
                          </a:rPr>
                          <m:t>𝐴</m:t>
                        </m:r>
                      </m:e>
                      <m:sub>
                        <m:r>
                          <a:rPr lang="en-US" altLang="zh-CN" sz="1800">
                            <a:latin typeface="Cambria Math" panose="02040503050406030204" pitchFamily="18" charset="0"/>
                            <a:ea typeface="隶书" panose="02010509060101010101" pitchFamily="49" charset="-122"/>
                          </a:rPr>
                          <m:t>0</m:t>
                        </m:r>
                      </m:sub>
                    </m:sSub>
                    <m:sSub>
                      <m:sSubPr>
                        <m:ctrlPr>
                          <a:rPr lang="zh-CN" altLang="zh-CN" sz="1800" i="1">
                            <a:latin typeface="Cambria Math" panose="02040503050406030204" pitchFamily="18" charset="0"/>
                            <a:ea typeface="隶书" panose="02010509060101010101" pitchFamily="49" charset="-122"/>
                          </a:rPr>
                        </m:ctrlPr>
                      </m:sSubPr>
                      <m:e>
                        <m:r>
                          <m:rPr>
                            <m:nor/>
                          </m:rPr>
                          <a:rPr lang="zh-CN" altLang="en-US" sz="1800" dirty="0">
                            <a:latin typeface="Times New Roman" panose="02020603050405020304" pitchFamily="18" charset="0"/>
                            <a:cs typeface="Times New Roman" panose="02020603050405020304" pitchFamily="18" charset="0"/>
                          </a:rPr>
                          <m:t>所指子树中的结点的关键字均小于</m:t>
                        </m:r>
                        <m:r>
                          <a:rPr lang="en-US" altLang="zh-CN" sz="1800">
                            <a:latin typeface="Cambria Math" panose="02040503050406030204" pitchFamily="18" charset="0"/>
                            <a:ea typeface="隶书" panose="02010509060101010101" pitchFamily="49" charset="-122"/>
                          </a:rPr>
                          <m:t>𝐾</m:t>
                        </m:r>
                      </m:e>
                      <m:sub>
                        <m:r>
                          <a:rPr lang="en-US" altLang="zh-CN" sz="1800">
                            <a:latin typeface="Cambria Math" panose="02040503050406030204" pitchFamily="18" charset="0"/>
                            <a:ea typeface="隶书" panose="02010509060101010101" pitchFamily="49" charset="-122"/>
                          </a:rPr>
                          <m:t>1</m:t>
                        </m:r>
                      </m:sub>
                    </m:sSub>
                    <m:sSub>
                      <m:sSubPr>
                        <m:ctrlPr>
                          <a:rPr lang="zh-CN" altLang="zh-CN" sz="1800" i="1">
                            <a:latin typeface="Cambria Math" panose="02040503050406030204" pitchFamily="18" charset="0"/>
                            <a:ea typeface="隶书" panose="02010509060101010101" pitchFamily="49" charset="-122"/>
                          </a:rPr>
                        </m:ctrlPr>
                      </m:sSubPr>
                      <m:e>
                        <m:r>
                          <a:rPr lang="zh-CN" altLang="zh-CN" sz="1800">
                            <a:latin typeface="Cambria Math" panose="02040503050406030204" pitchFamily="18" charset="0"/>
                            <a:ea typeface="隶书" panose="02010509060101010101" pitchFamily="49" charset="-122"/>
                          </a:rPr>
                          <m:t>，</m:t>
                        </m:r>
                        <m:r>
                          <a:rPr lang="en-US" altLang="zh-CN" sz="1800">
                            <a:latin typeface="Cambria Math" panose="02040503050406030204" pitchFamily="18" charset="0"/>
                            <a:ea typeface="隶书" panose="02010509060101010101" pitchFamily="49" charset="-122"/>
                          </a:rPr>
                          <m:t>𝐴</m:t>
                        </m:r>
                      </m:e>
                      <m:sub>
                        <m:r>
                          <a:rPr lang="en-US" altLang="zh-CN" sz="1800">
                            <a:latin typeface="Cambria Math" panose="02040503050406030204" pitchFamily="18" charset="0"/>
                            <a:ea typeface="隶书" panose="02010509060101010101" pitchFamily="49" charset="-122"/>
                          </a:rPr>
                          <m:t>𝑖</m:t>
                        </m:r>
                      </m:sub>
                    </m:sSub>
                    <m:r>
                      <a:rPr lang="en-US" altLang="zh-CN" sz="1800">
                        <a:latin typeface="Cambria Math" panose="02040503050406030204" pitchFamily="18" charset="0"/>
                        <a:ea typeface="隶书" panose="02010509060101010101" pitchFamily="49" charset="-122"/>
                      </a:rPr>
                      <m:t>(</m:t>
                    </m:r>
                    <m:r>
                      <a:rPr lang="en-US" altLang="zh-CN" sz="1800">
                        <a:latin typeface="Cambria Math" panose="02040503050406030204" pitchFamily="18" charset="0"/>
                        <a:ea typeface="隶书" panose="02010509060101010101" pitchFamily="49" charset="-122"/>
                      </a:rPr>
                      <m:t>𝑖</m:t>
                    </m:r>
                    <m:r>
                      <a:rPr lang="en-US" altLang="zh-CN" sz="1800">
                        <a:latin typeface="Cambria Math" panose="02040503050406030204" pitchFamily="18" charset="0"/>
                        <a:ea typeface="隶书" panose="02010509060101010101" pitchFamily="49" charset="-122"/>
                      </a:rPr>
                      <m:t>=1,2,⋯,</m:t>
                    </m:r>
                    <m:r>
                      <a:rPr lang="en-US" altLang="zh-CN" sz="1800">
                        <a:latin typeface="Cambria Math" panose="02040503050406030204" pitchFamily="18" charset="0"/>
                        <a:ea typeface="隶书" panose="02010509060101010101" pitchFamily="49" charset="-122"/>
                      </a:rPr>
                      <m:t>𝑛</m:t>
                    </m:r>
                    <m:r>
                      <a:rPr lang="en-US" altLang="zh-CN" sz="1800">
                        <a:latin typeface="Cambria Math" panose="02040503050406030204" pitchFamily="18" charset="0"/>
                        <a:ea typeface="隶书" panose="02010509060101010101" pitchFamily="49" charset="-122"/>
                      </a:rPr>
                      <m:t>−1)</m:t>
                    </m:r>
                  </m:oMath>
                </a14:m>
                <a:r>
                  <a:rPr lang="zh-CN" altLang="zh-CN" sz="1800" dirty="0">
                    <a:latin typeface="Times New Roman" panose="02020603050405020304" pitchFamily="18" charset="0"/>
                    <a:cs typeface="Times New Roman" panose="02020603050405020304" pitchFamily="18" charset="0"/>
                  </a:rPr>
                  <a:t>所指子树中的结点的关键字均大于</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且均小于</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oMath>
                </a14:m>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𝑛</m:t>
                        </m:r>
                      </m:sub>
                    </m:sSub>
                  </m:oMath>
                </a14:m>
                <a:r>
                  <a:rPr lang="zh-CN" altLang="zh-CN" sz="1800" dirty="0">
                    <a:latin typeface="Times New Roman" panose="02020603050405020304" pitchFamily="18" charset="0"/>
                    <a:cs typeface="Times New Roman" panose="02020603050405020304" pitchFamily="18" charset="0"/>
                  </a:rPr>
                  <a:t>所指子树中结点的关键字均大于</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𝑛</m:t>
                        </m:r>
                      </m:sub>
                    </m:sSub>
                  </m:oMath>
                </a14:m>
                <a:r>
                  <a:rPr lang="zh-CN" altLang="zh-CN" sz="1800" dirty="0">
                    <a:latin typeface="Times New Roman" panose="02020603050405020304" pitchFamily="18" charset="0"/>
                    <a:cs typeface="Times New Roman" panose="02020603050405020304" pitchFamily="18" charset="0"/>
                  </a:rPr>
                  <a:t>。</a:t>
                </a:r>
              </a:p>
              <a:p>
                <a:pPr marL="0" indent="0">
                  <a:lnSpc>
                    <a:spcPts val="23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93204" y="915566"/>
                <a:ext cx="8799276" cy="3507876"/>
              </a:xfrm>
              <a:blipFill>
                <a:blip r:embed="rId2"/>
                <a:stretch>
                  <a:fillRect l="-831" t="-1736" r="-3393" b="-3819"/>
                </a:stretch>
              </a:blipFill>
            </p:spPr>
            <p:txBody>
              <a:bodyPr/>
              <a:lstStyle/>
              <a:p>
                <a:r>
                  <a:rPr lang="zh-CN" altLang="en-US">
                    <a:noFill/>
                  </a:rPr>
                  <a:t> </a:t>
                </a:r>
              </a:p>
            </p:txBody>
          </p:sp>
        </mc:Fallback>
      </mc:AlternateContent>
      <p:sp>
        <p:nvSpPr>
          <p:cNvPr id="4" name="文本框 3"/>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a:t>
            </a:r>
          </a:p>
        </p:txBody>
      </p:sp>
    </p:spTree>
    <p:extLst>
      <p:ext uri="{BB962C8B-B14F-4D97-AF65-F5344CB8AC3E}">
        <p14:creationId xmlns:p14="http://schemas.microsoft.com/office/powerpoint/2010/main" val="190007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403648" y="1491630"/>
            <a:ext cx="5328592" cy="2049490"/>
          </a:xfrm>
          <a:prstGeom prst="rect">
            <a:avLst/>
          </a:prstGeom>
        </p:spPr>
      </p:pic>
      <p:sp>
        <p:nvSpPr>
          <p:cNvPr id="5" name="文本框 4"/>
          <p:cNvSpPr txBox="1"/>
          <p:nvPr/>
        </p:nvSpPr>
        <p:spPr>
          <a:xfrm>
            <a:off x="395536" y="987574"/>
            <a:ext cx="8208912" cy="923330"/>
          </a:xfrm>
          <a:prstGeom prst="rect">
            <a:avLst/>
          </a:prstGeom>
          <a:noFill/>
        </p:spPr>
        <p:txBody>
          <a:bodyPr wrap="square" rtlCol="0">
            <a:spAutoFit/>
          </a:bodyPr>
          <a:lstStyle/>
          <a:p>
            <a:pPr>
              <a:spcBef>
                <a:spcPct val="50000"/>
              </a:spcBef>
            </a:pPr>
            <a:r>
              <a:rPr lang="zh-CN" altLang="zh-CN" dirty="0">
                <a:latin typeface="Times New Roman" panose="02020603050405020304" pitchFamily="18" charset="0"/>
                <a:ea typeface="黑体" panose="02010609060101010101" pitchFamily="49" charset="-122"/>
                <a:cs typeface="Times New Roman" panose="02020603050405020304" pitchFamily="18" charset="0"/>
              </a:rPr>
              <a:t>图所示为一棵</a:t>
            </a:r>
            <a:r>
              <a:rPr lang="en-US" altLang="zh-CN" dirty="0">
                <a:latin typeface="Times New Roman" panose="02020603050405020304" pitchFamily="18" charset="0"/>
                <a:ea typeface="黑体" panose="02010609060101010101" pitchFamily="49" charset="-122"/>
                <a:cs typeface="Times New Roman" panose="02020603050405020304" pitchFamily="18" charset="0"/>
              </a:rPr>
              <a:t>3</a:t>
            </a:r>
            <a:r>
              <a:rPr lang="zh-CN" altLang="zh-CN" dirty="0">
                <a:latin typeface="Times New Roman" panose="02020603050405020304" pitchFamily="18" charset="0"/>
                <a:ea typeface="黑体" panose="02010609060101010101" pitchFamily="49" charset="-122"/>
                <a:cs typeface="Times New Roman" panose="02020603050405020304" pitchFamily="18" charset="0"/>
              </a:rPr>
              <a:t>阶</a:t>
            </a:r>
            <a:r>
              <a:rPr lang="en-US" altLang="zh-CN" dirty="0">
                <a:latin typeface="Times New Roman" panose="02020603050405020304" pitchFamily="18" charset="0"/>
                <a:ea typeface="黑体" panose="02010609060101010101" pitchFamily="49" charset="-122"/>
                <a:cs typeface="Times New Roman" panose="02020603050405020304" pitchFamily="18" charset="0"/>
              </a:rPr>
              <a:t>B-</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树，其深度为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，其中</a:t>
            </a:r>
            <a:r>
              <a:rPr lang="zh-CN" altLang="en-US" dirty="0">
                <a:solidFill>
                  <a:srgbClr val="3333FF"/>
                </a:solidFill>
                <a:latin typeface="Times New Roman" panose="02020603050405020304" pitchFamily="18" charset="0"/>
                <a:ea typeface="黑体" panose="02010609060101010101" pitchFamily="49" charset="-122"/>
                <a:cs typeface="Times New Roman" panose="02020603050405020304" pitchFamily="18" charset="0"/>
              </a:rPr>
              <a:t>蓝色</a:t>
            </a:r>
            <a:r>
              <a:rPr lang="zh-CN" altLang="en-US" dirty="0">
                <a:solidFill>
                  <a:srgbClr val="FF33CC"/>
                </a:solidFill>
                <a:latin typeface="Times New Roman" panose="02020603050405020304" pitchFamily="18" charset="0"/>
                <a:ea typeface="黑体" panose="02010609060101010101" pitchFamily="49" charset="-122"/>
                <a:cs typeface="Times New Roman" panose="02020603050405020304" pitchFamily="18" charset="0"/>
              </a:rPr>
              <a:t>代表结点中关键字个数，</a:t>
            </a:r>
            <a:r>
              <a:rPr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黑色</a:t>
            </a:r>
            <a:r>
              <a:rPr lang="zh-CN" altLang="en-US" dirty="0">
                <a:solidFill>
                  <a:srgbClr val="FF33CC"/>
                </a:solidFill>
                <a:latin typeface="Times New Roman" panose="02020603050405020304" pitchFamily="18" charset="0"/>
                <a:ea typeface="黑体" panose="02010609060101010101" pitchFamily="49" charset="-122"/>
                <a:cs typeface="Times New Roman" panose="02020603050405020304" pitchFamily="18" charset="0"/>
              </a:rPr>
              <a:t>代表结点中关键字。</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树示例</a:t>
            </a:r>
          </a:p>
        </p:txBody>
      </p:sp>
    </p:spTree>
    <p:extLst>
      <p:ext uri="{BB962C8B-B14F-4D97-AF65-F5344CB8AC3E}">
        <p14:creationId xmlns:p14="http://schemas.microsoft.com/office/powerpoint/2010/main" val="4035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856984" cy="2155698"/>
          </a:xfrm>
        </p:spPr>
        <p:txBody>
          <a:bodyPr/>
          <a:lstStyle/>
          <a:p>
            <a:pPr>
              <a:lnSpc>
                <a:spcPts val="2600"/>
              </a:lnSpc>
              <a:spcBef>
                <a:spcPts val="0"/>
              </a:spcBef>
            </a:pPr>
            <a:r>
              <a:rPr lang="en-US" altLang="zh-CN" sz="1800" dirty="0">
                <a:latin typeface="Times New Roman" panose="02020603050405020304" pitchFamily="18" charset="0"/>
                <a:cs typeface="Times New Roman" panose="02020603050405020304" pitchFamily="18" charset="0"/>
              </a:rPr>
              <a:t>B-</a:t>
            </a:r>
            <a:r>
              <a:rPr lang="zh-CN" altLang="en-US" sz="1800" dirty="0">
                <a:latin typeface="Times New Roman" panose="02020603050405020304" pitchFamily="18" charset="0"/>
                <a:cs typeface="Times New Roman" panose="02020603050405020304" pitchFamily="18" charset="0"/>
              </a:rPr>
              <a:t>树的查找过程是一个顺着指针查找结点和在结点关键字查找交叉进行的过程。 </a:t>
            </a:r>
            <a:endParaRPr lang="en-US" altLang="zh-CN" sz="1800" dirty="0">
              <a:latin typeface="Times New Roman" panose="02020603050405020304" pitchFamily="18" charset="0"/>
              <a:cs typeface="Times New Roman" panose="02020603050405020304" pitchFamily="18" charset="0"/>
            </a:endParaRPr>
          </a:p>
          <a:p>
            <a:pPr>
              <a:lnSpc>
                <a:spcPts val="2600"/>
              </a:lnSpc>
              <a:spcBef>
                <a:spcPts val="0"/>
              </a:spcBef>
            </a:pPr>
            <a:r>
              <a:rPr lang="zh-CN" altLang="en-US" sz="1800" dirty="0">
                <a:latin typeface="Times New Roman" panose="02020603050405020304" pitchFamily="18" charset="0"/>
                <a:cs typeface="Times New Roman" panose="02020603050405020304" pitchFamily="18" charset="0"/>
              </a:rPr>
              <a:t>其查找关键字 </a:t>
            </a:r>
            <a:r>
              <a:rPr lang="en-US" altLang="zh-CN" sz="1800" dirty="0">
                <a:latin typeface="Times New Roman" panose="02020603050405020304" pitchFamily="18" charset="0"/>
                <a:cs typeface="Times New Roman" panose="02020603050405020304" pitchFamily="18" charset="0"/>
              </a:rPr>
              <a:t>key </a:t>
            </a:r>
            <a:r>
              <a:rPr lang="zh-CN" altLang="en-US" sz="1800" dirty="0">
                <a:latin typeface="Times New Roman" panose="02020603050405020304" pitchFamily="18" charset="0"/>
                <a:cs typeface="Times New Roman" panose="02020603050405020304" pitchFamily="18" charset="0"/>
              </a:rPr>
              <a:t>的方法为</a:t>
            </a:r>
            <a:r>
              <a:rPr lang="en-US" altLang="zh-CN" sz="1800" dirty="0">
                <a:latin typeface="Times New Roman" panose="02020603050405020304" pitchFamily="18" charset="0"/>
                <a:cs typeface="Times New Roman" panose="02020603050405020304" pitchFamily="18" charset="0"/>
              </a:rPr>
              <a:t>: </a:t>
            </a:r>
          </a:p>
          <a:p>
            <a:pPr marL="0" indent="0">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key=key[</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，则查找成功；</a:t>
            </a:r>
          </a:p>
          <a:p>
            <a:pPr marL="0" indent="0">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key&lt;key[1]</a:t>
            </a:r>
            <a:r>
              <a:rPr lang="zh-CN" altLang="zh-CN" sz="1800" dirty="0">
                <a:latin typeface="Times New Roman" panose="02020603050405020304" pitchFamily="18" charset="0"/>
                <a:cs typeface="Times New Roman" panose="02020603050405020304" pitchFamily="18" charset="0"/>
              </a:rPr>
              <a:t>，则沿着指针</a:t>
            </a:r>
            <a:r>
              <a:rPr lang="en-US" altLang="zh-CN" sz="1800" dirty="0" err="1">
                <a:latin typeface="Times New Roman" panose="02020603050405020304" pitchFamily="18" charset="0"/>
                <a:cs typeface="Times New Roman" panose="02020603050405020304" pitchFamily="18" charset="0"/>
              </a:rPr>
              <a:t>ptr</a:t>
            </a:r>
            <a:r>
              <a:rPr lang="en-US" altLang="zh-CN" sz="1800" dirty="0">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所指的子树继续查找；</a:t>
            </a:r>
          </a:p>
          <a:p>
            <a:pPr marL="0" indent="0">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]&lt;key&lt;key[i+1]</a:t>
            </a:r>
            <a:r>
              <a:rPr lang="zh-CN" altLang="zh-CN" sz="1800" dirty="0">
                <a:latin typeface="Times New Roman" panose="02020603050405020304" pitchFamily="18" charset="0"/>
                <a:cs typeface="Times New Roman" panose="02020603050405020304" pitchFamily="18" charset="0"/>
              </a:rPr>
              <a:t>，则沿着指针</a:t>
            </a:r>
            <a:r>
              <a:rPr lang="en-US" altLang="zh-CN" sz="1800" dirty="0" err="1">
                <a:latin typeface="Times New Roman" panose="02020603050405020304" pitchFamily="18" charset="0"/>
                <a:cs typeface="Times New Roman" panose="02020603050405020304" pitchFamily="18" charset="0"/>
              </a:rPr>
              <a:t>ptr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所指的子树继续查找；</a:t>
            </a:r>
          </a:p>
          <a:p>
            <a:pPr marL="0" indent="0">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）若</a:t>
            </a:r>
            <a:r>
              <a:rPr lang="en-US" altLang="zh-CN" sz="1800" dirty="0">
                <a:latin typeface="Times New Roman" panose="02020603050405020304" pitchFamily="18" charset="0"/>
                <a:cs typeface="Times New Roman" panose="02020603050405020304" pitchFamily="18" charset="0"/>
              </a:rPr>
              <a:t>key&gt;key[n]</a:t>
            </a:r>
            <a:r>
              <a:rPr lang="zh-CN" altLang="zh-CN" sz="1800" dirty="0">
                <a:latin typeface="Times New Roman" panose="02020603050405020304" pitchFamily="18" charset="0"/>
                <a:cs typeface="Times New Roman" panose="02020603050405020304" pitchFamily="18" charset="0"/>
              </a:rPr>
              <a:t>，则沿着指针</a:t>
            </a:r>
            <a:r>
              <a:rPr lang="en-US" altLang="zh-CN" sz="1800" dirty="0" err="1">
                <a:latin typeface="Times New Roman" panose="02020603050405020304" pitchFamily="18" charset="0"/>
                <a:cs typeface="Times New Roman" panose="02020603050405020304" pitchFamily="18" charset="0"/>
              </a:rPr>
              <a:t>ptr</a:t>
            </a:r>
            <a:r>
              <a:rPr lang="en-US" altLang="zh-CN" sz="1800" dirty="0">
                <a:latin typeface="Times New Roman" panose="02020603050405020304" pitchFamily="18" charset="0"/>
                <a:cs typeface="Times New Roman" panose="02020603050405020304" pitchFamily="18" charset="0"/>
              </a:rPr>
              <a:t>[n] </a:t>
            </a:r>
            <a:r>
              <a:rPr lang="zh-CN" altLang="zh-CN" sz="1800" dirty="0">
                <a:latin typeface="Times New Roman" panose="02020603050405020304" pitchFamily="18" charset="0"/>
                <a:cs typeface="Times New Roman" panose="02020603050405020304" pitchFamily="18" charset="0"/>
              </a:rPr>
              <a:t>所指的子树继续查找。</a:t>
            </a:r>
          </a:p>
        </p:txBody>
      </p:sp>
      <p:sp>
        <p:nvSpPr>
          <p:cNvPr id="4" name="文本框 3"/>
          <p:cNvSpPr txBox="1"/>
          <p:nvPr/>
        </p:nvSpPr>
        <p:spPr>
          <a:xfrm>
            <a:off x="611380" y="115457"/>
            <a:ext cx="14403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树的查找</a:t>
            </a:r>
          </a:p>
        </p:txBody>
      </p:sp>
    </p:spTree>
    <p:extLst>
      <p:ext uri="{BB962C8B-B14F-4D97-AF65-F5344CB8AC3E}">
        <p14:creationId xmlns:p14="http://schemas.microsoft.com/office/powerpoint/2010/main" val="434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817812"/>
                <a:ext cx="8928992" cy="3507876"/>
              </a:xfrm>
            </p:spPr>
            <p:txBody>
              <a:bodyPr/>
              <a:lstStyle/>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在</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树上查找时，其查找时间主要耗费在搜索结点上，即主要取决于</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树的深度。先讨论深度为</a:t>
                </a:r>
                <a14:m>
                  <m:oMath xmlns:m="http://schemas.openxmlformats.org/officeDocument/2006/math">
                    <m:r>
                      <m:rPr>
                        <m:sty m:val="p"/>
                      </m:rPr>
                      <a:rPr lang="en-US" altLang="zh-CN" sz="1800">
                        <a:latin typeface="Cambria Math" panose="02040503050406030204" pitchFamily="18" charset="0"/>
                      </a:rPr>
                      <m:t>h</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（最后一层为叶子结点）的</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阶</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树所具有的最少结点数。</a:t>
                </a:r>
              </a:p>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根据</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树的定义可知：第</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层上的最少结点数为</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个；第</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层的的最少结点数为</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个；第</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层上的最少结点数为</a:t>
                </a:r>
                <a:r>
                  <a:rPr lang="en-US" altLang="zh-CN" sz="1800" dirty="0">
                    <a:latin typeface="Times New Roman" panose="02020603050405020304" pitchFamily="18" charset="0"/>
                    <a:cs typeface="Times New Roman" panose="02020603050405020304" pitchFamily="18" charset="0"/>
                  </a:rPr>
                  <a:t>2</a:t>
                </a:r>
                <a14:m>
                  <m:oMath xmlns:m="http://schemas.openxmlformats.org/officeDocument/2006/math">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𝑚</m:t>
                        </m:r>
                        <m:r>
                          <a:rPr lang="en-US" altLang="zh-CN" sz="1800" i="1">
                            <a:latin typeface="Cambria Math" panose="02040503050406030204" pitchFamily="18" charset="0"/>
                          </a:rPr>
                          <m:t>/2</m:t>
                        </m:r>
                      </m:e>
                    </m:d>
                  </m:oMath>
                </a14:m>
                <a:r>
                  <a:rPr lang="zh-CN" altLang="zh-CN" sz="1800" dirty="0">
                    <a:latin typeface="Times New Roman" panose="02020603050405020304" pitchFamily="18" charset="0"/>
                    <a:cs typeface="Times New Roman" panose="02020603050405020304" pitchFamily="18" charset="0"/>
                  </a:rPr>
                  <a:t>个</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第</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层上的最少结点数为</a:t>
                </a:r>
                <a:r>
                  <a:rPr lang="en-US" altLang="zh-CN" sz="1800" dirty="0">
                    <a:latin typeface="Times New Roman" panose="02020603050405020304" pitchFamily="18" charset="0"/>
                    <a:cs typeface="Times New Roman" panose="02020603050405020304" pitchFamily="18" charset="0"/>
                  </a:rPr>
                  <a:t>2</a:t>
                </a:r>
                <a14:m>
                  <m:oMath xmlns:m="http://schemas.openxmlformats.org/officeDocument/2006/math">
                    <m:sSup>
                      <m:sSupPr>
                        <m:ctrlPr>
                          <a:rPr lang="zh-CN" altLang="zh-CN" sz="1800" i="1">
                            <a:latin typeface="Cambria Math" panose="02040503050406030204" pitchFamily="18" charset="0"/>
                          </a:rPr>
                        </m:ctrlPr>
                      </m:sSupPr>
                      <m:e>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𝑚</m:t>
                            </m:r>
                            <m:r>
                              <a:rPr lang="en-US" altLang="zh-CN" sz="1800" i="1">
                                <a:latin typeface="Cambria Math" panose="02040503050406030204" pitchFamily="18" charset="0"/>
                              </a:rPr>
                              <m:t>/2</m:t>
                            </m:r>
                          </m:e>
                        </m:d>
                      </m:e>
                      <m:sup>
                        <m:r>
                          <a:rPr lang="en-US" altLang="zh-CN" sz="1800" i="1">
                            <a:latin typeface="Cambria Math" panose="02040503050406030204" pitchFamily="18" charset="0"/>
                          </a:rPr>
                          <m:t>2</m:t>
                        </m:r>
                      </m:sup>
                    </m:sSup>
                  </m:oMath>
                </a14:m>
                <a:r>
                  <a:rPr lang="zh-CN" altLang="zh-CN" sz="1800" dirty="0">
                    <a:latin typeface="Times New Roman" panose="02020603050405020304" pitchFamily="18" charset="0"/>
                    <a:cs typeface="Times New Roman" panose="02020603050405020304" pitchFamily="18" charset="0"/>
                  </a:rPr>
                  <a:t>个；</a:t>
                </a:r>
                <a14:m>
                  <m:oMath xmlns:m="http://schemas.openxmlformats.org/officeDocument/2006/math">
                    <m:r>
                      <a:rPr lang="en-US" altLang="zh-CN" sz="1800">
                        <a:latin typeface="Cambria Math" panose="02040503050406030204" pitchFamily="18" charset="0"/>
                      </a:rPr>
                      <m:t> ⋯</m:t>
                    </m:r>
                  </m:oMath>
                </a14:m>
                <a:r>
                  <a:rPr lang="zh-CN" altLang="zh-CN" sz="1800" dirty="0">
                    <a:latin typeface="Times New Roman" panose="02020603050405020304" pitchFamily="18" charset="0"/>
                    <a:cs typeface="Times New Roman" panose="02020603050405020304" pitchFamily="18" charset="0"/>
                  </a:rPr>
                  <a:t>第</a:t>
                </a:r>
                <a14:m>
                  <m:oMath xmlns:m="http://schemas.openxmlformats.org/officeDocument/2006/math">
                    <m:r>
                      <m:rPr>
                        <m:sty m:val="p"/>
                      </m:rPr>
                      <a:rPr lang="en-US" altLang="zh-CN" sz="1800">
                        <a:latin typeface="Cambria Math" panose="02040503050406030204" pitchFamily="18" charset="0"/>
                      </a:rPr>
                      <m:t>h</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层上最少结点数为</a:t>
                </a:r>
                <a:r>
                  <a:rPr lang="en-US" altLang="zh-CN" sz="1800" dirty="0">
                    <a:latin typeface="Times New Roman" panose="02020603050405020304" pitchFamily="18" charset="0"/>
                    <a:cs typeface="Times New Roman" panose="02020603050405020304" pitchFamily="18" charset="0"/>
                  </a:rPr>
                  <a:t>2</a:t>
                </a:r>
                <a14:m>
                  <m:oMath xmlns:m="http://schemas.openxmlformats.org/officeDocument/2006/math">
                    <m:sSup>
                      <m:sSupPr>
                        <m:ctrlPr>
                          <a:rPr lang="zh-CN" altLang="zh-CN" sz="1800" i="1">
                            <a:latin typeface="Cambria Math" panose="02040503050406030204" pitchFamily="18" charset="0"/>
                          </a:rPr>
                        </m:ctrlPr>
                      </m:sSupPr>
                      <m:e>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𝑚</m:t>
                            </m:r>
                            <m:r>
                              <a:rPr lang="en-US" altLang="zh-CN" sz="1800" i="1">
                                <a:latin typeface="Cambria Math" panose="02040503050406030204" pitchFamily="18" charset="0"/>
                              </a:rPr>
                              <m:t>/2</m:t>
                            </m:r>
                          </m:e>
                        </m:d>
                      </m:e>
                      <m:sup>
                        <m:r>
                          <a:rPr lang="en-US" altLang="zh-CN" sz="1800" i="1">
                            <a:latin typeface="Cambria Math" panose="02040503050406030204" pitchFamily="18" charset="0"/>
                          </a:rPr>
                          <m:t>h</m:t>
                        </m:r>
                        <m:r>
                          <a:rPr lang="en-US" altLang="zh-CN" sz="1800" i="1">
                            <a:latin typeface="Cambria Math" panose="02040503050406030204" pitchFamily="18" charset="0"/>
                          </a:rPr>
                          <m:t>−1</m:t>
                        </m:r>
                      </m:sup>
                    </m:sSup>
                  </m:oMath>
                </a14:m>
                <a:r>
                  <a:rPr lang="zh-CN" altLang="zh-CN" sz="1800" dirty="0">
                    <a:latin typeface="Times New Roman" panose="02020603050405020304" pitchFamily="18" charset="0"/>
                    <a:cs typeface="Times New Roman" panose="02020603050405020304" pitchFamily="18" charset="0"/>
                  </a:rPr>
                  <a:t>个</a:t>
                </a:r>
              </a:p>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由于</a:t>
                </a:r>
                <a14:m>
                  <m:oMath xmlns:m="http://schemas.openxmlformats.org/officeDocument/2006/math">
                    <m:r>
                      <m:rPr>
                        <m:sty m:val="p"/>
                      </m:rPr>
                      <a:rPr lang="en-US" altLang="zh-CN" sz="1800">
                        <a:latin typeface="Cambria Math" panose="02040503050406030204" pitchFamily="18" charset="0"/>
                      </a:rPr>
                      <m:t>h</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层的结点为叶子结点，所以若</a:t>
                </a:r>
                <a14:m>
                  <m:oMath xmlns:m="http://schemas.openxmlformats.org/officeDocument/2006/math">
                    <m:r>
                      <a:rPr lang="en-US" altLang="zh-CN" sz="1800" i="1">
                        <a:latin typeface="Cambria Math" panose="02040503050406030204" pitchFamily="18" charset="0"/>
                      </a:rPr>
                      <m:t>𝑚</m:t>
                    </m:r>
                  </m:oMath>
                </a14:m>
                <a:r>
                  <a:rPr lang="zh-CN" altLang="zh-CN" sz="1800" dirty="0">
                    <a:latin typeface="Times New Roman" panose="02020603050405020304" pitchFamily="18" charset="0"/>
                    <a:cs typeface="Times New Roman" panose="02020603050405020304" pitchFamily="18" charset="0"/>
                  </a:rPr>
                  <a:t>阶</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树中具有</a:t>
                </a:r>
                <a14:m>
                  <m:oMath xmlns:m="http://schemas.openxmlformats.org/officeDocument/2006/math">
                    <m:r>
                      <a:rPr lang="en-US" altLang="zh-CN" sz="1800" i="1">
                        <a:latin typeface="Cambria Math" panose="02040503050406030204" pitchFamily="18" charset="0"/>
                      </a:rPr>
                      <m:t>𝑛</m:t>
                    </m:r>
                  </m:oMath>
                </a14:m>
                <a:r>
                  <a:rPr lang="zh-CN" altLang="zh-CN" sz="1800" dirty="0">
                    <a:latin typeface="Times New Roman" panose="02020603050405020304" pitchFamily="18" charset="0"/>
                    <a:cs typeface="Times New Roman" panose="02020603050405020304" pitchFamily="18" charset="0"/>
                  </a:rPr>
                  <a:t>个关键字，则叶子结点即查找不成功的结点数为</a:t>
                </a:r>
                <a14:m>
                  <m:oMath xmlns:m="http://schemas.openxmlformats.org/officeDocument/2006/math">
                    <m:r>
                      <a:rPr lang="en-US" altLang="zh-CN" sz="1800" i="1">
                        <a:latin typeface="Cambria Math" panose="02040503050406030204" pitchFamily="18" charset="0"/>
                      </a:rPr>
                      <m:t>𝑛</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，于是有：</a:t>
                </a: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𝑛</m:t>
                      </m:r>
                      <m:r>
                        <a:rPr lang="en-US" altLang="zh-CN" sz="1800">
                          <a:latin typeface="Cambria Math" panose="02040503050406030204" pitchFamily="18" charset="0"/>
                        </a:rPr>
                        <m:t>+1≥2</m:t>
                      </m:r>
                      <m:sSup>
                        <m:sSupPr>
                          <m:ctrlPr>
                            <a:rPr lang="zh-CN" altLang="zh-CN" sz="1800" i="1">
                              <a:latin typeface="Cambria Math" panose="02040503050406030204" pitchFamily="18" charset="0"/>
                            </a:rPr>
                          </m:ctrlPr>
                        </m:sSupPr>
                        <m:e>
                          <m:d>
                            <m:dPr>
                              <m:begChr m:val="⌈"/>
                              <m:endChr m:val="⌉"/>
                              <m:ctrlPr>
                                <a:rPr lang="zh-CN" altLang="zh-CN" sz="1800" i="1">
                                  <a:latin typeface="Cambria Math" panose="02040503050406030204" pitchFamily="18" charset="0"/>
                                </a:rPr>
                              </m:ctrlPr>
                            </m:dPr>
                            <m:e>
                              <m:r>
                                <a:rPr lang="en-US" altLang="zh-CN" sz="1800" i="1">
                                  <a:latin typeface="Cambria Math" panose="02040503050406030204" pitchFamily="18" charset="0"/>
                                </a:rPr>
                                <m:t>𝑚</m:t>
                              </m:r>
                              <m:r>
                                <a:rPr lang="en-US" altLang="zh-CN" sz="1800" i="1">
                                  <a:latin typeface="Cambria Math" panose="02040503050406030204" pitchFamily="18" charset="0"/>
                                </a:rPr>
                                <m:t>/2</m:t>
                              </m:r>
                            </m:e>
                          </m:d>
                        </m:e>
                        <m:sup>
                          <m:r>
                            <a:rPr lang="en-US" altLang="zh-CN" sz="1800" i="1">
                              <a:latin typeface="Cambria Math" panose="02040503050406030204" pitchFamily="18" charset="0"/>
                            </a:rPr>
                            <m:t>h</m:t>
                          </m:r>
                          <m:r>
                            <a:rPr lang="en-US" altLang="zh-CN" sz="1800" i="1">
                              <a:latin typeface="Cambria Math" panose="02040503050406030204" pitchFamily="18" charset="0"/>
                            </a:rPr>
                            <m:t>−1</m:t>
                          </m:r>
                        </m:sup>
                      </m:sSup>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zh-CN" altLang="zh-CN" sz="1800" dirty="0">
                    <a:latin typeface="Times New Roman" panose="02020603050405020304" pitchFamily="18" charset="0"/>
                    <a:cs typeface="Times New Roman" panose="02020603050405020304" pitchFamily="18" charset="0"/>
                  </a:rPr>
                  <a:t>即</a:t>
                </a:r>
                <a14:m>
                  <m:oMath xmlns:m="http://schemas.openxmlformats.org/officeDocument/2006/math">
                    <m:r>
                      <a:rPr lang="en-US" altLang="zh-CN" sz="1800" b="0" i="0" smtClean="0">
                        <a:latin typeface="Cambria Math" panose="02040503050406030204" pitchFamily="18" charset="0"/>
                      </a:rPr>
                      <m:t>          </m:t>
                    </m:r>
                    <m:r>
                      <a:rPr lang="en-US" altLang="zh-CN" sz="1800" i="1">
                        <a:latin typeface="Cambria Math" panose="02040503050406030204" pitchFamily="18" charset="0"/>
                      </a:rPr>
                      <m:t>h</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d>
                          <m:dPr>
                            <m:begChr m:val="⌈"/>
                            <m:endChr m:val="⌉"/>
                            <m:ctrlPr>
                              <a:rPr lang="zh-CN" altLang="zh-CN" sz="1800" i="1">
                                <a:latin typeface="Cambria Math" panose="02040503050406030204" pitchFamily="18" charset="0"/>
                              </a:rPr>
                            </m:ctrlPr>
                          </m:dPr>
                          <m:e>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𝑚</m:t>
                                </m:r>
                              </m:num>
                              <m:den>
                                <m:r>
                                  <a:rPr lang="en-US" altLang="zh-CN" sz="1800" i="1">
                                    <a:latin typeface="Cambria Math" panose="02040503050406030204" pitchFamily="18" charset="0"/>
                                  </a:rPr>
                                  <m:t>2</m:t>
                                </m:r>
                              </m:den>
                            </m:f>
                          </m:e>
                        </m:d>
                      </m:sub>
                    </m:sSub>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+1)/2+1</m:t>
                    </m:r>
                  </m:oMath>
                </a14:m>
                <a:endParaRPr lang="zh-CN" altLang="zh-CN" sz="1800" dirty="0">
                  <a:latin typeface="Times New Roman" panose="02020603050405020304" pitchFamily="18" charset="0"/>
                  <a:cs typeface="Times New Roman" panose="02020603050405020304" pitchFamily="18" charset="0"/>
                </a:endParaRPr>
              </a:p>
              <a:p>
                <a:pPr algn="just">
                  <a:lnSpc>
                    <a:spcPct val="100000"/>
                  </a:lnSpc>
                  <a:spcBef>
                    <a:spcPts val="0"/>
                  </a:spcBef>
                </a:pPr>
                <a:r>
                  <a:rPr lang="zh-CN" altLang="zh-CN" sz="1800" dirty="0">
                    <a:latin typeface="Times New Roman" panose="02020603050405020304" pitchFamily="18" charset="0"/>
                    <a:cs typeface="Times New Roman" panose="02020603050405020304" pitchFamily="18" charset="0"/>
                  </a:rPr>
                  <a:t>因此，在具有</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个关键字的</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阶</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树上进行查找，需要访问的结点的个数不超过</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d>
                          <m:dPr>
                            <m:begChr m:val="⌈"/>
                            <m:endChr m:val="⌉"/>
                            <m:ctrlPr>
                              <a:rPr lang="zh-CN" altLang="zh-CN" sz="1800" i="1">
                                <a:latin typeface="Cambria Math" panose="02040503050406030204" pitchFamily="18" charset="0"/>
                              </a:rPr>
                            </m:ctrlPr>
                          </m:dPr>
                          <m:e>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𝑚</m:t>
                                </m:r>
                              </m:num>
                              <m:den>
                                <m:r>
                                  <a:rPr lang="en-US" altLang="zh-CN" sz="1800" i="1">
                                    <a:latin typeface="Cambria Math" panose="02040503050406030204" pitchFamily="18" charset="0"/>
                                  </a:rPr>
                                  <m:t>2</m:t>
                                </m:r>
                              </m:den>
                            </m:f>
                          </m:e>
                        </m:d>
                      </m:sub>
                    </m:sSub>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+1)/2+1</m:t>
                    </m:r>
                  </m:oMath>
                </a14:m>
                <a:r>
                  <a:rPr lang="zh-CN" altLang="zh-CN" sz="1800" dirty="0">
                    <a:latin typeface="Times New Roman" panose="02020603050405020304" pitchFamily="18" charset="0"/>
                    <a:cs typeface="Times New Roman" panose="02020603050405020304" pitchFamily="18" charset="0"/>
                  </a:rPr>
                  <a:t>，即具有</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个关键字的</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阶</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树上进行查找的时间复杂度为</a:t>
                </a:r>
                <a:endParaRPr lang="en-US" altLang="zh-CN" sz="1800" dirty="0">
                  <a:latin typeface="Times New Roman" panose="02020603050405020304" pitchFamily="18" charset="0"/>
                  <a:cs typeface="Times New Roman" panose="02020603050405020304" pitchFamily="18" charset="0"/>
                </a:endParaRPr>
              </a:p>
              <a:p>
                <a:pPr algn="just">
                  <a:lnSpc>
                    <a:spcPct val="100000"/>
                  </a:lnSpc>
                  <a:spcBef>
                    <a:spcPts val="0"/>
                  </a:spcBef>
                </a:pPr>
                <a:endParaRPr lang="en-US" altLang="zh-CN" sz="1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O</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d>
                            <m:dPr>
                              <m:begChr m:val="⌈"/>
                              <m:endChr m:val="⌉"/>
                              <m:ctrlPr>
                                <a:rPr lang="zh-CN" altLang="zh-CN" sz="1800" i="1">
                                  <a:latin typeface="Cambria Math" panose="02040503050406030204" pitchFamily="18" charset="0"/>
                                </a:rPr>
                              </m:ctrlPr>
                            </m:dPr>
                            <m:e>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𝑚</m:t>
                                  </m:r>
                                </m:num>
                                <m:den>
                                  <m:r>
                                    <a:rPr lang="en-US" altLang="zh-CN" sz="1800" i="1">
                                      <a:latin typeface="Cambria Math" panose="02040503050406030204" pitchFamily="18" charset="0"/>
                                    </a:rPr>
                                    <m:t>2</m:t>
                                  </m:r>
                                </m:den>
                              </m:f>
                            </m:e>
                          </m:d>
                        </m:sub>
                      </m:sSub>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+1)/2+1</m:t>
                      </m:r>
                      <m:r>
                        <a:rPr lang="en-US" altLang="zh-CN" sz="1800">
                          <a:latin typeface="Cambria Math" panose="02040503050406030204" pitchFamily="18" charset="0"/>
                        </a:rPr>
                        <m:t>)</m:t>
                      </m:r>
                      <m:r>
                        <m:rPr>
                          <m:nor/>
                        </m:rPr>
                        <a:rPr lang="zh-CN" altLang="en-US" sz="1800">
                          <a:latin typeface="Times New Roman" panose="02020603050405020304" pitchFamily="18" charset="0"/>
                          <a:cs typeface="Times New Roman" panose="02020603050405020304" pitchFamily="18" charset="0"/>
                        </a:rPr>
                        <m:t>。</m:t>
                      </m:r>
                    </m:oMath>
                  </m:oMathPara>
                </a14:m>
                <a:endParaRPr lang="zh-CN" altLang="zh-CN"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817812"/>
                <a:ext cx="8928992" cy="3507876"/>
              </a:xfrm>
              <a:blipFill>
                <a:blip r:embed="rId2"/>
                <a:stretch>
                  <a:fillRect l="-888" t="-1563" r="-820" b="-15625"/>
                </a:stretch>
              </a:blipFill>
            </p:spPr>
            <p:txBody>
              <a:bodyPr/>
              <a:lstStyle/>
              <a:p>
                <a:r>
                  <a:rPr lang="zh-CN" altLang="en-US">
                    <a:noFill/>
                  </a:rPr>
                  <a:t> </a:t>
                </a:r>
              </a:p>
            </p:txBody>
          </p:sp>
        </mc:Fallback>
      </mc:AlternateContent>
      <p:sp>
        <p:nvSpPr>
          <p:cNvPr id="4" name="文本框 3"/>
          <p:cNvSpPr txBox="1"/>
          <p:nvPr/>
        </p:nvSpPr>
        <p:spPr>
          <a:xfrm>
            <a:off x="611380" y="115457"/>
            <a:ext cx="194439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树的查找分析</a:t>
            </a:r>
          </a:p>
        </p:txBody>
      </p:sp>
    </p:spTree>
    <p:extLst>
      <p:ext uri="{BB962C8B-B14F-4D97-AF65-F5344CB8AC3E}">
        <p14:creationId xmlns:p14="http://schemas.microsoft.com/office/powerpoint/2010/main" val="226808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43508" y="915566"/>
                <a:ext cx="8856984" cy="3507876"/>
              </a:xfrm>
            </p:spPr>
            <p:txBody>
              <a:bodyPr/>
              <a:lstStyle/>
              <a:p>
                <a:pPr>
                  <a:spcBef>
                    <a:spcPts val="0"/>
                  </a:spcBef>
                </a:pP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树的生成是从空树出发，依次插入关键字而得，具体过程如下：</a:t>
                </a:r>
              </a:p>
              <a:p>
                <a:pPr>
                  <a:spcBef>
                    <a:spcPts val="0"/>
                  </a:spcBef>
                </a:pP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代表</a:t>
                </a:r>
                <a:r>
                  <a:rPr lang="en-US" altLang="zh-CN" sz="1800" dirty="0">
                    <a:latin typeface="Times New Roman" panose="02020603050405020304" pitchFamily="18" charset="0"/>
                    <a:cs typeface="Times New Roman" panose="02020603050405020304" pitchFamily="18" charset="0"/>
                  </a:rPr>
                  <a:t>B-</a:t>
                </a:r>
                <a:r>
                  <a:rPr lang="zh-CN" altLang="zh-CN" sz="1800" dirty="0">
                    <a:latin typeface="Times New Roman" panose="02020603050405020304" pitchFamily="18" charset="0"/>
                    <a:cs typeface="Times New Roman" panose="02020603050405020304" pitchFamily="18" charset="0"/>
                  </a:rPr>
                  <a:t>树的阶，插入总发生在最低层。</a:t>
                </a:r>
              </a:p>
              <a:p>
                <a:pPr>
                  <a:spcBef>
                    <a:spcPts val="0"/>
                  </a:spcBef>
                </a:pPr>
                <a:r>
                  <a:rPr lang="zh-CN" altLang="zh-CN" sz="1800" dirty="0">
                    <a:solidFill>
                      <a:srgbClr val="FF0000"/>
                    </a:solidFill>
                    <a:latin typeface="Times New Roman" panose="02020603050405020304" pitchFamily="18" charset="0"/>
                    <a:cs typeface="Times New Roman" panose="02020603050405020304" pitchFamily="18" charset="0"/>
                  </a:rPr>
                  <a:t>（</a:t>
                </a:r>
                <a:r>
                  <a:rPr lang="en-US" altLang="zh-CN" sz="1800" dirty="0">
                    <a:solidFill>
                      <a:srgbClr val="FF0000"/>
                    </a:solidFill>
                    <a:latin typeface="Times New Roman" panose="02020603050405020304" pitchFamily="18" charset="0"/>
                    <a:cs typeface="Times New Roman" panose="02020603050405020304" pitchFamily="18" charset="0"/>
                  </a:rPr>
                  <a:t>1</a:t>
                </a:r>
                <a:r>
                  <a:rPr lang="zh-CN" altLang="zh-CN" sz="1800" dirty="0">
                    <a:solidFill>
                      <a:srgbClr val="FF0000"/>
                    </a:solidFill>
                    <a:latin typeface="Times New Roman" panose="02020603050405020304" pitchFamily="18" charset="0"/>
                    <a:cs typeface="Times New Roman" panose="02020603050405020304" pitchFamily="18" charset="0"/>
                  </a:rPr>
                  <a:t>）若插入后关键字个数小于等于</a:t>
                </a:r>
                <a14:m>
                  <m:oMath xmlns:m="http://schemas.openxmlformats.org/officeDocument/2006/math">
                    <m:r>
                      <m:rPr>
                        <m:sty m:val="p"/>
                      </m:rPr>
                      <a:rPr lang="en-US" altLang="zh-CN" sz="1800">
                        <a:solidFill>
                          <a:srgbClr val="FF0000"/>
                        </a:solidFill>
                        <a:latin typeface="Cambria Math" panose="02040503050406030204" pitchFamily="18" charset="0"/>
                      </a:rPr>
                      <m:t>m</m:t>
                    </m:r>
                    <m:r>
                      <a:rPr lang="en-US" altLang="zh-CN" sz="1800" i="1">
                        <a:solidFill>
                          <a:srgbClr val="FF0000"/>
                        </a:solidFill>
                        <a:latin typeface="Cambria Math" panose="02040503050406030204" pitchFamily="18" charset="0"/>
                      </a:rPr>
                      <m:t>−1</m:t>
                    </m:r>
                  </m:oMath>
                </a14:m>
                <a:r>
                  <a:rPr lang="zh-CN" altLang="zh-CN" sz="1800" dirty="0">
                    <a:solidFill>
                      <a:srgbClr val="FF0000"/>
                    </a:solidFill>
                    <a:latin typeface="Times New Roman" panose="02020603050405020304" pitchFamily="18" charset="0"/>
                    <a:cs typeface="Times New Roman" panose="02020603050405020304" pitchFamily="18" charset="0"/>
                  </a:rPr>
                  <a:t>，则插入完成；</a:t>
                </a:r>
              </a:p>
              <a:p>
                <a:pPr>
                  <a:spcBef>
                    <a:spcPts val="0"/>
                  </a:spcBef>
                </a:pP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2</a:t>
                </a:r>
                <a:r>
                  <a:rPr lang="zh-CN" altLang="zh-CN" sz="1800" dirty="0">
                    <a:solidFill>
                      <a:srgbClr val="7030A0"/>
                    </a:solidFill>
                    <a:latin typeface="Times New Roman" panose="02020603050405020304" pitchFamily="18" charset="0"/>
                    <a:cs typeface="Times New Roman" panose="02020603050405020304" pitchFamily="18" charset="0"/>
                  </a:rPr>
                  <a:t>）插入后关键字个数等于</a:t>
                </a:r>
                <a14:m>
                  <m:oMath xmlns:m="http://schemas.openxmlformats.org/officeDocument/2006/math">
                    <m:r>
                      <m:rPr>
                        <m:sty m:val="p"/>
                      </m:rPr>
                      <a:rPr lang="en-US" altLang="zh-CN" sz="1800">
                        <a:solidFill>
                          <a:srgbClr val="7030A0"/>
                        </a:solidFill>
                        <a:latin typeface="Cambria Math" panose="02040503050406030204" pitchFamily="18" charset="0"/>
                      </a:rPr>
                      <m:t>m</m:t>
                    </m:r>
                  </m:oMath>
                </a14:m>
                <a:r>
                  <a:rPr lang="zh-CN" altLang="zh-CN" sz="1800" dirty="0">
                    <a:solidFill>
                      <a:srgbClr val="7030A0"/>
                    </a:solidFill>
                    <a:latin typeface="Times New Roman" panose="02020603050405020304" pitchFamily="18" charset="0"/>
                    <a:cs typeface="Times New Roman" panose="02020603050405020304" pitchFamily="18" charset="0"/>
                  </a:rPr>
                  <a:t>，结点分裂，以中点关键字（即</a:t>
                </a:r>
                <a14:m>
                  <m:oMath xmlns:m="http://schemas.openxmlformats.org/officeDocument/2006/math">
                    <m:d>
                      <m:dPr>
                        <m:begChr m:val="⌈"/>
                        <m:endChr m:val="⌉"/>
                        <m:ctrlPr>
                          <a:rPr lang="zh-CN" altLang="zh-CN" sz="1800" i="1">
                            <a:solidFill>
                              <a:srgbClr val="7030A0"/>
                            </a:solidFill>
                            <a:latin typeface="Cambria Math" panose="02040503050406030204" pitchFamily="18" charset="0"/>
                          </a:rPr>
                        </m:ctrlPr>
                      </m:dPr>
                      <m:e>
                        <m:f>
                          <m:fPr>
                            <m:ctrlPr>
                              <a:rPr lang="zh-CN" altLang="zh-CN" sz="1800" i="1">
                                <a:solidFill>
                                  <a:srgbClr val="7030A0"/>
                                </a:solidFill>
                                <a:latin typeface="Cambria Math" panose="02040503050406030204" pitchFamily="18" charset="0"/>
                              </a:rPr>
                            </m:ctrlPr>
                          </m:fPr>
                          <m:num>
                            <m:r>
                              <a:rPr lang="en-US" altLang="zh-CN" sz="1800" i="1">
                                <a:solidFill>
                                  <a:srgbClr val="7030A0"/>
                                </a:solidFill>
                                <a:latin typeface="Cambria Math" panose="02040503050406030204" pitchFamily="18" charset="0"/>
                              </a:rPr>
                              <m:t>𝑚</m:t>
                            </m:r>
                          </m:num>
                          <m:den>
                            <m:r>
                              <a:rPr lang="en-US" altLang="zh-CN" sz="1800" i="1">
                                <a:solidFill>
                                  <a:srgbClr val="7030A0"/>
                                </a:solidFill>
                                <a:latin typeface="Cambria Math" panose="02040503050406030204" pitchFamily="18" charset="0"/>
                              </a:rPr>
                              <m:t>2</m:t>
                            </m:r>
                          </m:den>
                        </m:f>
                      </m:e>
                    </m:d>
                    <m:r>
                      <a:rPr lang="zh-CN" altLang="zh-CN" sz="1800">
                        <a:solidFill>
                          <a:srgbClr val="7030A0"/>
                        </a:solidFill>
                        <a:latin typeface="Cambria Math" panose="02040503050406030204" pitchFamily="18" charset="0"/>
                      </a:rPr>
                      <m:t>处）</m:t>
                    </m:r>
                  </m:oMath>
                </a14:m>
                <a:r>
                  <a:rPr lang="zh-CN" altLang="zh-CN" sz="1800" dirty="0">
                    <a:solidFill>
                      <a:srgbClr val="7030A0"/>
                    </a:solidFill>
                    <a:latin typeface="Times New Roman" panose="02020603050405020304" pitchFamily="18" charset="0"/>
                    <a:cs typeface="Times New Roman" panose="02020603050405020304" pitchFamily="18" charset="0"/>
                  </a:rPr>
                  <a:t>为界一分为二，左部分所含关键字（共</a:t>
                </a:r>
                <a14:m>
                  <m:oMath xmlns:m="http://schemas.openxmlformats.org/officeDocument/2006/math">
                    <m:d>
                      <m:dPr>
                        <m:begChr m:val="⌈"/>
                        <m:endChr m:val="⌉"/>
                        <m:ctrlPr>
                          <a:rPr lang="zh-CN" altLang="zh-CN" sz="1800" i="1">
                            <a:solidFill>
                              <a:srgbClr val="7030A0"/>
                            </a:solidFill>
                            <a:latin typeface="Cambria Math" panose="02040503050406030204" pitchFamily="18" charset="0"/>
                          </a:rPr>
                        </m:ctrlPr>
                      </m:dPr>
                      <m:e>
                        <m:f>
                          <m:fPr>
                            <m:ctrlPr>
                              <a:rPr lang="zh-CN" altLang="zh-CN" sz="1800" i="1">
                                <a:solidFill>
                                  <a:srgbClr val="7030A0"/>
                                </a:solidFill>
                                <a:latin typeface="Cambria Math" panose="02040503050406030204" pitchFamily="18" charset="0"/>
                              </a:rPr>
                            </m:ctrlPr>
                          </m:fPr>
                          <m:num>
                            <m:r>
                              <a:rPr lang="en-US" altLang="zh-CN" sz="1800" i="1">
                                <a:solidFill>
                                  <a:srgbClr val="7030A0"/>
                                </a:solidFill>
                                <a:latin typeface="Cambria Math" panose="02040503050406030204" pitchFamily="18" charset="0"/>
                              </a:rPr>
                              <m:t>𝑚</m:t>
                            </m:r>
                          </m:num>
                          <m:den>
                            <m:r>
                              <a:rPr lang="en-US" altLang="zh-CN" sz="1800" i="1">
                                <a:solidFill>
                                  <a:srgbClr val="7030A0"/>
                                </a:solidFill>
                                <a:latin typeface="Cambria Math" panose="02040503050406030204" pitchFamily="18" charset="0"/>
                              </a:rPr>
                              <m:t>2</m:t>
                            </m:r>
                          </m:den>
                        </m:f>
                      </m:e>
                    </m:d>
                    <m:r>
                      <a:rPr lang="en-US" altLang="zh-CN" sz="1800" i="1">
                        <a:solidFill>
                          <a:srgbClr val="7030A0"/>
                        </a:solidFill>
                        <a:latin typeface="Cambria Math" panose="02040503050406030204" pitchFamily="18" charset="0"/>
                      </a:rPr>
                      <m:t>−1</m:t>
                    </m:r>
                  </m:oMath>
                </a14:m>
                <a:r>
                  <a:rPr lang="zh-CN" altLang="zh-CN" sz="1800" dirty="0">
                    <a:solidFill>
                      <a:srgbClr val="7030A0"/>
                    </a:solidFill>
                    <a:latin typeface="Times New Roman" panose="02020603050405020304" pitchFamily="18" charset="0"/>
                    <a:cs typeface="Times New Roman" panose="02020603050405020304" pitchFamily="18" charset="0"/>
                  </a:rPr>
                  <a:t>个）放在原结点中，右部分所含关键字（共</a:t>
                </a:r>
                <a14:m>
                  <m:oMath xmlns:m="http://schemas.openxmlformats.org/officeDocument/2006/math">
                    <m:r>
                      <a:rPr lang="en-US" altLang="zh-CN" sz="1800" i="1">
                        <a:solidFill>
                          <a:srgbClr val="7030A0"/>
                        </a:solidFill>
                        <a:latin typeface="Cambria Math" panose="02040503050406030204" pitchFamily="18" charset="0"/>
                      </a:rPr>
                      <m:t>𝑚</m:t>
                    </m:r>
                    <m:r>
                      <a:rPr lang="en-US" altLang="zh-CN" sz="1800" i="1">
                        <a:solidFill>
                          <a:srgbClr val="7030A0"/>
                        </a:solidFill>
                        <a:latin typeface="Cambria Math" panose="02040503050406030204" pitchFamily="18" charset="0"/>
                      </a:rPr>
                      <m:t>−</m:t>
                    </m:r>
                    <m:d>
                      <m:dPr>
                        <m:begChr m:val="⌈"/>
                        <m:endChr m:val="⌉"/>
                        <m:ctrlPr>
                          <a:rPr lang="zh-CN" altLang="zh-CN" sz="1800" i="1">
                            <a:solidFill>
                              <a:srgbClr val="7030A0"/>
                            </a:solidFill>
                            <a:latin typeface="Cambria Math" panose="02040503050406030204" pitchFamily="18" charset="0"/>
                          </a:rPr>
                        </m:ctrlPr>
                      </m:dPr>
                      <m:e>
                        <m:f>
                          <m:fPr>
                            <m:ctrlPr>
                              <a:rPr lang="zh-CN" altLang="zh-CN" sz="1800" i="1">
                                <a:solidFill>
                                  <a:srgbClr val="7030A0"/>
                                </a:solidFill>
                                <a:latin typeface="Cambria Math" panose="02040503050406030204" pitchFamily="18" charset="0"/>
                              </a:rPr>
                            </m:ctrlPr>
                          </m:fPr>
                          <m:num>
                            <m:r>
                              <a:rPr lang="en-US" altLang="zh-CN" sz="1800" i="1">
                                <a:solidFill>
                                  <a:srgbClr val="7030A0"/>
                                </a:solidFill>
                                <a:latin typeface="Cambria Math" panose="02040503050406030204" pitchFamily="18" charset="0"/>
                              </a:rPr>
                              <m:t>𝑚</m:t>
                            </m:r>
                          </m:num>
                          <m:den>
                            <m:r>
                              <a:rPr lang="en-US" altLang="zh-CN" sz="1800" i="1">
                                <a:solidFill>
                                  <a:srgbClr val="7030A0"/>
                                </a:solidFill>
                                <a:latin typeface="Cambria Math" panose="02040503050406030204" pitchFamily="18" charset="0"/>
                              </a:rPr>
                              <m:t>2</m:t>
                            </m:r>
                          </m:den>
                        </m:f>
                      </m:e>
                    </m:d>
                  </m:oMath>
                </a14:m>
                <a:r>
                  <a:rPr lang="zh-CN" altLang="zh-CN" sz="1800" dirty="0">
                    <a:solidFill>
                      <a:srgbClr val="7030A0"/>
                    </a:solidFill>
                    <a:latin typeface="Times New Roman" panose="02020603050405020304" pitchFamily="18" charset="0"/>
                    <a:cs typeface="Times New Roman" panose="02020603050405020304" pitchFamily="18" charset="0"/>
                  </a:rPr>
                  <a:t>个）放在新结点中，中点关键字和新结点的存储位置放到双亲结点中。</a:t>
                </a:r>
                <a:endParaRPr lang="en-US" altLang="zh-CN" sz="1800" dirty="0">
                  <a:solidFill>
                    <a:srgbClr val="7030A0"/>
                  </a:solidFill>
                  <a:latin typeface="Times New Roman" panose="02020603050405020304" pitchFamily="18" charset="0"/>
                  <a:cs typeface="Times New Roman" panose="02020603050405020304" pitchFamily="18" charset="0"/>
                </a:endParaRPr>
              </a:p>
              <a:p>
                <a:pPr>
                  <a:spcBef>
                    <a:spcPts val="0"/>
                  </a:spcBef>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a:solidFill>
                      <a:srgbClr val="0070C0"/>
                    </a:solidFill>
                    <a:latin typeface="Times New Roman" panose="02020603050405020304" pitchFamily="18" charset="0"/>
                    <a:cs typeface="Times New Roman" panose="02020603050405020304" pitchFamily="18" charset="0"/>
                  </a:rPr>
                  <a:t>(3)</a:t>
                </a:r>
                <a:r>
                  <a:rPr lang="zh-CN" altLang="zh-CN" sz="1800" dirty="0">
                    <a:solidFill>
                      <a:srgbClr val="0070C0"/>
                    </a:solidFill>
                    <a:latin typeface="Times New Roman" panose="02020603050405020304" pitchFamily="18" charset="0"/>
                    <a:cs typeface="Times New Roman" panose="02020603050405020304" pitchFamily="18" charset="0"/>
                  </a:rPr>
                  <a:t>这样就有可能使得双亲结点的数据个数为</a:t>
                </a:r>
                <a14:m>
                  <m:oMath xmlns:m="http://schemas.openxmlformats.org/officeDocument/2006/math">
                    <m:r>
                      <m:rPr>
                        <m:sty m:val="p"/>
                      </m:rPr>
                      <a:rPr lang="en-US" altLang="zh-CN" sz="1800">
                        <a:solidFill>
                          <a:srgbClr val="0070C0"/>
                        </a:solidFill>
                        <a:latin typeface="Cambria Math" panose="02040503050406030204" pitchFamily="18" charset="0"/>
                      </a:rPr>
                      <m:t>m</m:t>
                    </m:r>
                  </m:oMath>
                </a14:m>
                <a:r>
                  <a:rPr lang="zh-CN" altLang="zh-CN" sz="1800" dirty="0">
                    <a:solidFill>
                      <a:srgbClr val="0070C0"/>
                    </a:solidFill>
                    <a:latin typeface="Times New Roman" panose="02020603050405020304" pitchFamily="18" charset="0"/>
                    <a:cs typeface="Times New Roman" panose="02020603050405020304" pitchFamily="18" charset="0"/>
                  </a:rPr>
                  <a:t>，引起双亲结点的分裂，最坏情况下一直波及到根，引起根的分裂，</a:t>
                </a:r>
                <a:r>
                  <a:rPr lang="en-US" altLang="zh-CN" sz="1800" dirty="0">
                    <a:solidFill>
                      <a:srgbClr val="0070C0"/>
                    </a:solidFill>
                    <a:latin typeface="Times New Roman" panose="02020603050405020304" pitchFamily="18" charset="0"/>
                    <a:cs typeface="Times New Roman" panose="02020603050405020304" pitchFamily="18" charset="0"/>
                  </a:rPr>
                  <a:t>B-</a:t>
                </a:r>
                <a:r>
                  <a:rPr lang="zh-CN" altLang="zh-CN" sz="1800" dirty="0">
                    <a:solidFill>
                      <a:srgbClr val="0070C0"/>
                    </a:solidFill>
                    <a:latin typeface="Times New Roman" panose="02020603050405020304" pitchFamily="18" charset="0"/>
                    <a:cs typeface="Times New Roman" panose="02020603050405020304" pitchFamily="18" charset="0"/>
                  </a:rPr>
                  <a:t>树长高。</a:t>
                </a:r>
              </a:p>
              <a:p>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43508" y="915566"/>
                <a:ext cx="8856984" cy="3507876"/>
              </a:xfrm>
              <a:blipFill>
                <a:blip r:embed="rId2"/>
                <a:stretch>
                  <a:fillRect l="-758" r="-3375" b="-8854"/>
                </a:stretch>
              </a:blipFill>
            </p:spPr>
            <p:txBody>
              <a:bodyPr/>
              <a:lstStyle/>
              <a:p>
                <a:r>
                  <a:rPr lang="zh-CN" altLang="en-US">
                    <a:noFill/>
                  </a:rPr>
                  <a:t> </a:t>
                </a:r>
              </a:p>
            </p:txBody>
          </p:sp>
        </mc:Fallback>
      </mc:AlternateContent>
      <p:sp>
        <p:nvSpPr>
          <p:cNvPr id="4" name="文本框 3"/>
          <p:cNvSpPr txBox="1"/>
          <p:nvPr/>
        </p:nvSpPr>
        <p:spPr>
          <a:xfrm>
            <a:off x="611380" y="115457"/>
            <a:ext cx="14403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树的插入</a:t>
            </a:r>
          </a:p>
        </p:txBody>
      </p:sp>
    </p:spTree>
    <p:extLst>
      <p:ext uri="{BB962C8B-B14F-4D97-AF65-F5344CB8AC3E}">
        <p14:creationId xmlns:p14="http://schemas.microsoft.com/office/powerpoint/2010/main" val="294476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735218" y="1275606"/>
            <a:ext cx="3096344" cy="1254544"/>
          </a:xfrm>
          <a:prstGeom prst="rect">
            <a:avLst/>
          </a:prstGeom>
        </p:spPr>
      </p:pic>
      <p:sp>
        <p:nvSpPr>
          <p:cNvPr id="7" name="文本框 6"/>
          <p:cNvSpPr txBox="1"/>
          <p:nvPr/>
        </p:nvSpPr>
        <p:spPr>
          <a:xfrm>
            <a:off x="3059832" y="2208543"/>
            <a:ext cx="576064" cy="276999"/>
          </a:xfrm>
          <a:prstGeom prst="rect">
            <a:avLst/>
          </a:prstGeom>
          <a:noFill/>
        </p:spPr>
        <p:txBody>
          <a:bodyPr wrap="square" rtlCol="0">
            <a:spAutoFit/>
          </a:bodyPr>
          <a:lstStyle/>
          <a:p>
            <a:r>
              <a:rPr lang="en-US" altLang="zh-CN" sz="1200" dirty="0">
                <a:solidFill>
                  <a:srgbClr val="C00000"/>
                </a:solidFill>
              </a:rPr>
              <a:t>66</a:t>
            </a:r>
            <a:endParaRPr lang="zh-CN" altLang="en-US" sz="1200" dirty="0">
              <a:solidFill>
                <a:srgbClr val="C00000"/>
              </a:solidFill>
            </a:endParaRPr>
          </a:p>
        </p:txBody>
      </p:sp>
      <p:pic>
        <p:nvPicPr>
          <p:cNvPr id="8" name="图片 7"/>
          <p:cNvPicPr>
            <a:picLocks noChangeAspect="1"/>
          </p:cNvPicPr>
          <p:nvPr/>
        </p:nvPicPr>
        <p:blipFill>
          <a:blip r:embed="rId3"/>
          <a:stretch>
            <a:fillRect/>
          </a:stretch>
        </p:blipFill>
        <p:spPr>
          <a:xfrm>
            <a:off x="4387267" y="1330138"/>
            <a:ext cx="2961753" cy="1200012"/>
          </a:xfrm>
          <a:prstGeom prst="rect">
            <a:avLst/>
          </a:prstGeom>
        </p:spPr>
      </p:pic>
      <p:sp>
        <p:nvSpPr>
          <p:cNvPr id="9" name="椭圆 8"/>
          <p:cNvSpPr/>
          <p:nvPr/>
        </p:nvSpPr>
        <p:spPr>
          <a:xfrm>
            <a:off x="3124000" y="2233514"/>
            <a:ext cx="216024" cy="2520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a:endCxn id="18" idx="5"/>
          </p:cNvCxnSpPr>
          <p:nvPr/>
        </p:nvCxnSpPr>
        <p:spPr>
          <a:xfrm flipH="1" flipV="1">
            <a:off x="2956188" y="1984869"/>
            <a:ext cx="247732" cy="2311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2287887" y="1779662"/>
            <a:ext cx="236383" cy="2160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直接箭头连接符 13"/>
          <p:cNvCxnSpPr>
            <a:stCxn id="12" idx="0"/>
          </p:cNvCxnSpPr>
          <p:nvPr/>
        </p:nvCxnSpPr>
        <p:spPr>
          <a:xfrm flipH="1" flipV="1">
            <a:off x="1891843" y="1419622"/>
            <a:ext cx="514236" cy="36004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699792" y="1748436"/>
            <a:ext cx="576064" cy="276999"/>
          </a:xfrm>
          <a:prstGeom prst="rect">
            <a:avLst/>
          </a:prstGeom>
          <a:noFill/>
        </p:spPr>
        <p:txBody>
          <a:bodyPr wrap="square" rtlCol="0">
            <a:spAutoFit/>
          </a:bodyPr>
          <a:lstStyle/>
          <a:p>
            <a:r>
              <a:rPr lang="en-US" altLang="zh-CN" sz="1200" dirty="0">
                <a:solidFill>
                  <a:srgbClr val="C00000"/>
                </a:solidFill>
              </a:rPr>
              <a:t>66</a:t>
            </a:r>
            <a:endParaRPr lang="zh-CN" altLang="en-US" sz="1200" dirty="0">
              <a:solidFill>
                <a:srgbClr val="C00000"/>
              </a:solidFill>
            </a:endParaRPr>
          </a:p>
        </p:txBody>
      </p:sp>
      <p:sp>
        <p:nvSpPr>
          <p:cNvPr id="18" name="椭圆 17"/>
          <p:cNvSpPr/>
          <p:nvPr/>
        </p:nvSpPr>
        <p:spPr>
          <a:xfrm>
            <a:off x="2771800" y="1748436"/>
            <a:ext cx="216024" cy="27699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p:cNvSpPr txBox="1"/>
          <p:nvPr/>
        </p:nvSpPr>
        <p:spPr>
          <a:xfrm>
            <a:off x="1894928" y="1250635"/>
            <a:ext cx="576064" cy="276999"/>
          </a:xfrm>
          <a:prstGeom prst="rect">
            <a:avLst/>
          </a:prstGeom>
          <a:noFill/>
        </p:spPr>
        <p:txBody>
          <a:bodyPr wrap="square" rtlCol="0">
            <a:spAutoFit/>
          </a:bodyPr>
          <a:lstStyle/>
          <a:p>
            <a:r>
              <a:rPr lang="en-US" altLang="zh-CN" sz="1200" dirty="0">
                <a:solidFill>
                  <a:srgbClr val="C00000"/>
                </a:solidFill>
              </a:rPr>
              <a:t>21</a:t>
            </a:r>
            <a:endParaRPr lang="zh-CN" altLang="en-US" sz="1200" dirty="0">
              <a:solidFill>
                <a:srgbClr val="C00000"/>
              </a:solidFill>
            </a:endParaRPr>
          </a:p>
        </p:txBody>
      </p:sp>
      <p:sp>
        <p:nvSpPr>
          <p:cNvPr id="20" name="椭圆 19"/>
          <p:cNvSpPr/>
          <p:nvPr/>
        </p:nvSpPr>
        <p:spPr>
          <a:xfrm>
            <a:off x="1966936" y="1250635"/>
            <a:ext cx="216024" cy="27699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p:cNvSpPr txBox="1"/>
          <p:nvPr/>
        </p:nvSpPr>
        <p:spPr>
          <a:xfrm>
            <a:off x="611380" y="115457"/>
            <a:ext cx="194439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树的插入示例</a:t>
            </a:r>
          </a:p>
        </p:txBody>
      </p:sp>
    </p:spTree>
    <p:extLst>
      <p:ext uri="{BB962C8B-B14F-4D97-AF65-F5344CB8AC3E}">
        <p14:creationId xmlns:p14="http://schemas.microsoft.com/office/powerpoint/2010/main" val="146421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1000"/>
                                        <p:tgtEl>
                                          <p:spTgt spid="18"/>
                                        </p:tgtEl>
                                      </p:cBhvr>
                                    </p:animEffect>
                                    <p:anim calcmode="lin" valueType="num">
                                      <p:cBhvr>
                                        <p:cTn id="31" dur="1000" fill="hold"/>
                                        <p:tgtEl>
                                          <p:spTgt spid="18"/>
                                        </p:tgtEl>
                                        <p:attrNameLst>
                                          <p:attrName>ppt_x</p:attrName>
                                        </p:attrNameLst>
                                      </p:cBhvr>
                                      <p:tavLst>
                                        <p:tav tm="0">
                                          <p:val>
                                            <p:strVal val="#ppt_x"/>
                                          </p:val>
                                        </p:tav>
                                        <p:tav tm="100000">
                                          <p:val>
                                            <p:strVal val="#ppt_x"/>
                                          </p:val>
                                        </p:tav>
                                      </p:tavLst>
                                    </p:anim>
                                    <p:anim calcmode="lin" valueType="num">
                                      <p:cBhvr>
                                        <p:cTn id="32" dur="1000" fill="hold"/>
                                        <p:tgtEl>
                                          <p:spTgt spid="18"/>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1000"/>
                                        <p:tgtEl>
                                          <p:spTgt spid="17"/>
                                        </p:tgtEl>
                                      </p:cBhvr>
                                    </p:animEffect>
                                    <p:anim calcmode="lin" valueType="num">
                                      <p:cBhvr>
                                        <p:cTn id="36" dur="1000" fill="hold"/>
                                        <p:tgtEl>
                                          <p:spTgt spid="17"/>
                                        </p:tgtEl>
                                        <p:attrNameLst>
                                          <p:attrName>ppt_x</p:attrName>
                                        </p:attrNameLst>
                                      </p:cBhvr>
                                      <p:tavLst>
                                        <p:tav tm="0">
                                          <p:val>
                                            <p:strVal val="#ppt_x"/>
                                          </p:val>
                                        </p:tav>
                                        <p:tav tm="100000">
                                          <p:val>
                                            <p:strVal val="#ppt_x"/>
                                          </p:val>
                                        </p:tav>
                                      </p:tavLst>
                                    </p:anim>
                                    <p:anim calcmode="lin" valueType="num">
                                      <p:cBhvr>
                                        <p:cTn id="3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1000"/>
                                        <p:tgtEl>
                                          <p:spTgt spid="20"/>
                                        </p:tgtEl>
                                      </p:cBhvr>
                                    </p:animEffect>
                                    <p:anim calcmode="lin" valueType="num">
                                      <p:cBhvr>
                                        <p:cTn id="55" dur="1000" fill="hold"/>
                                        <p:tgtEl>
                                          <p:spTgt spid="20"/>
                                        </p:tgtEl>
                                        <p:attrNameLst>
                                          <p:attrName>ppt_x</p:attrName>
                                        </p:attrNameLst>
                                      </p:cBhvr>
                                      <p:tavLst>
                                        <p:tav tm="0">
                                          <p:val>
                                            <p:strVal val="#ppt_x"/>
                                          </p:val>
                                        </p:tav>
                                        <p:tav tm="100000">
                                          <p:val>
                                            <p:strVal val="#ppt_x"/>
                                          </p:val>
                                        </p:tav>
                                      </p:tavLst>
                                    </p:anim>
                                    <p:anim calcmode="lin" valueType="num">
                                      <p:cBhvr>
                                        <p:cTn id="56" dur="1000" fill="hold"/>
                                        <p:tgtEl>
                                          <p:spTgt spid="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1000"/>
                                        <p:tgtEl>
                                          <p:spTgt spid="19"/>
                                        </p:tgtEl>
                                      </p:cBhvr>
                                    </p:animEffect>
                                    <p:anim calcmode="lin" valueType="num">
                                      <p:cBhvr>
                                        <p:cTn id="60" dur="1000" fill="hold"/>
                                        <p:tgtEl>
                                          <p:spTgt spid="19"/>
                                        </p:tgtEl>
                                        <p:attrNameLst>
                                          <p:attrName>ppt_x</p:attrName>
                                        </p:attrNameLst>
                                      </p:cBhvr>
                                      <p:tavLst>
                                        <p:tav tm="0">
                                          <p:val>
                                            <p:strVal val="#ppt_x"/>
                                          </p:val>
                                        </p:tav>
                                        <p:tav tm="100000">
                                          <p:val>
                                            <p:strVal val="#ppt_x"/>
                                          </p:val>
                                        </p:tav>
                                      </p:tavLst>
                                    </p:anim>
                                    <p:anim calcmode="lin" valueType="num">
                                      <p:cBhvr>
                                        <p:cTn id="6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fade">
                                      <p:cBhvr>
                                        <p:cTn id="66" dur="1000"/>
                                        <p:tgtEl>
                                          <p:spTgt spid="8"/>
                                        </p:tgtEl>
                                      </p:cBhvr>
                                    </p:animEffect>
                                    <p:anim calcmode="lin" valueType="num">
                                      <p:cBhvr>
                                        <p:cTn id="67" dur="1000" fill="hold"/>
                                        <p:tgtEl>
                                          <p:spTgt spid="8"/>
                                        </p:tgtEl>
                                        <p:attrNameLst>
                                          <p:attrName>ppt_x</p:attrName>
                                        </p:attrNameLst>
                                      </p:cBhvr>
                                      <p:tavLst>
                                        <p:tav tm="0">
                                          <p:val>
                                            <p:strVal val="#ppt_x"/>
                                          </p:val>
                                        </p:tav>
                                        <p:tav tm="100000">
                                          <p:val>
                                            <p:strVal val="#ppt_x"/>
                                          </p:val>
                                        </p:tav>
                                      </p:tavLst>
                                    </p:anim>
                                    <p:anim calcmode="lin" valueType="num">
                                      <p:cBhvr>
                                        <p:cTn id="6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2" grpId="0" animBg="1"/>
      <p:bldP spid="17" grpId="0"/>
      <p:bldP spid="18" grpId="0" animBg="1"/>
      <p:bldP spid="19" grpId="0"/>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53752" y="627534"/>
                <a:ext cx="9036496" cy="3507876"/>
              </a:xfrm>
            </p:spPr>
            <p:txBody>
              <a:bodyPr/>
              <a:lstStyle/>
              <a:p>
                <a:pPr marL="0" indent="0" algn="just">
                  <a:spcBef>
                    <a:spcPts val="0"/>
                  </a:spcBef>
                  <a:buNone/>
                </a:pPr>
                <a:r>
                  <a:rPr lang="zh-CN" altLang="zh-CN" sz="1800" dirty="0">
                    <a:latin typeface="Times New Roman" panose="02020603050405020304" pitchFamily="18" charset="0"/>
                    <a:cs typeface="Times New Roman" panose="02020603050405020304" pitchFamily="18" charset="0"/>
                  </a:rPr>
                  <a:t>若在</a:t>
                </a:r>
                <a14:m>
                  <m:oMath xmlns:m="http://schemas.openxmlformats.org/officeDocument/2006/math">
                    <m:r>
                      <m:rPr>
                        <m:sty m:val="p"/>
                      </m:rPr>
                      <a:rPr lang="en-US" altLang="zh-CN" sz="1800">
                        <a:latin typeface="Cambria Math" panose="02040503050406030204" pitchFamily="18" charset="0"/>
                      </a:rPr>
                      <m:t>B</m:t>
                    </m:r>
                  </m:oMath>
                </a14:m>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树中删除一个关键字，则首先查找该关键字所在结点，并从中删除该关键字，删除时可能会涉及到结点的</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合并</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问题。</a:t>
                </a:r>
                <a14:m>
                  <m:oMath xmlns:m="http://schemas.openxmlformats.org/officeDocument/2006/math">
                    <m:r>
                      <m:rPr>
                        <m:sty m:val="p"/>
                      </m:rPr>
                      <a:rPr lang="en-US" altLang="zh-CN" sz="1800">
                        <a:latin typeface="Cambria Math" panose="02040503050406030204" pitchFamily="18" charset="0"/>
                      </a:rPr>
                      <m:t>B</m:t>
                    </m:r>
                  </m:oMath>
                </a14:m>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树中删除一个关键字删除过程讨论如下：</a:t>
                </a:r>
              </a:p>
              <a:p>
                <a:pPr marL="0" indent="0" algn="just">
                  <a:spcBef>
                    <a:spcPts val="0"/>
                  </a:spcBef>
                  <a:buNone/>
                </a:pP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）删除发生在最底层</a:t>
                </a:r>
              </a:p>
              <a:p>
                <a:pPr marL="0" indent="0" algn="just">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1</a:t>
                </a:r>
                <a:r>
                  <a:rPr lang="zh-CN" altLang="zh-CN" sz="1800" dirty="0">
                    <a:solidFill>
                      <a:srgbClr val="C00000"/>
                    </a:solidFill>
                    <a:latin typeface="Times New Roman" panose="02020603050405020304" pitchFamily="18" charset="0"/>
                    <a:cs typeface="Times New Roman" panose="02020603050405020304" pitchFamily="18" charset="0"/>
                  </a:rPr>
                  <a:t>）若被删关键字所在结点的关键字个数大于等于</a:t>
                </a:r>
                <a14:m>
                  <m:oMath xmlns:m="http://schemas.openxmlformats.org/officeDocument/2006/math">
                    <m:d>
                      <m:dPr>
                        <m:begChr m:val="⌈"/>
                        <m:endChr m:val="⌉"/>
                        <m:ctrlPr>
                          <a:rPr lang="zh-CN" altLang="zh-CN" sz="1800" i="1">
                            <a:solidFill>
                              <a:srgbClr val="C00000"/>
                            </a:solidFill>
                            <a:latin typeface="Cambria Math" panose="02040503050406030204" pitchFamily="18" charset="0"/>
                          </a:rPr>
                        </m:ctrlPr>
                      </m:dPr>
                      <m:e>
                        <m:f>
                          <m:fPr>
                            <m:ctrlPr>
                              <a:rPr lang="en-US" altLang="zh-CN" sz="1800" i="1" smtClean="0">
                                <a:solidFill>
                                  <a:srgbClr val="C00000"/>
                                </a:solidFill>
                                <a:latin typeface="Cambria Math" panose="02040503050406030204" pitchFamily="18" charset="0"/>
                              </a:rPr>
                            </m:ctrlPr>
                          </m:fPr>
                          <m:num>
                            <m:r>
                              <a:rPr lang="en-US" altLang="zh-CN" sz="1800" b="0" i="1" smtClean="0">
                                <a:solidFill>
                                  <a:srgbClr val="C00000"/>
                                </a:solidFill>
                                <a:latin typeface="Cambria Math" panose="02040503050406030204" pitchFamily="18" charset="0"/>
                              </a:rPr>
                              <m:t>𝑚</m:t>
                            </m:r>
                          </m:num>
                          <m:den>
                            <m:r>
                              <a:rPr lang="en-US" altLang="zh-CN" sz="1800" b="0" i="1" smtClean="0">
                                <a:solidFill>
                                  <a:srgbClr val="C00000"/>
                                </a:solidFill>
                                <a:latin typeface="Cambria Math" panose="02040503050406030204" pitchFamily="18" charset="0"/>
                              </a:rPr>
                              <m:t>2</m:t>
                            </m:r>
                          </m:den>
                        </m:f>
                      </m:e>
                    </m:d>
                  </m:oMath>
                </a14:m>
                <a:r>
                  <a:rPr lang="zh-CN" altLang="zh-CN" sz="1800" dirty="0">
                    <a:solidFill>
                      <a:srgbClr val="C00000"/>
                    </a:solidFill>
                    <a:latin typeface="Times New Roman" panose="02020603050405020304" pitchFamily="18" charset="0"/>
                    <a:cs typeface="Times New Roman" panose="02020603050405020304" pitchFamily="18" charset="0"/>
                  </a:rPr>
                  <a:t>，说明删除该关键字后对应结点仍然满足</a:t>
                </a:r>
                <a14:m>
                  <m:oMath xmlns:m="http://schemas.openxmlformats.org/officeDocument/2006/math">
                    <m:r>
                      <m:rPr>
                        <m:sty m:val="p"/>
                      </m:rPr>
                      <a:rPr lang="en-US" altLang="zh-CN" sz="1800">
                        <a:solidFill>
                          <a:srgbClr val="C00000"/>
                        </a:solidFill>
                        <a:latin typeface="Cambria Math" panose="02040503050406030204" pitchFamily="18" charset="0"/>
                      </a:rPr>
                      <m:t>B</m:t>
                    </m:r>
                  </m:oMath>
                </a14:m>
                <a:r>
                  <a:rPr lang="en-US" altLang="zh-CN" sz="1800" dirty="0">
                    <a:solidFill>
                      <a:srgbClr val="C00000"/>
                    </a:solidFill>
                    <a:latin typeface="Times New Roman" panose="02020603050405020304" pitchFamily="18" charset="0"/>
                    <a:cs typeface="Times New Roman" panose="02020603050405020304" pitchFamily="18" charset="0"/>
                  </a:rPr>
                  <a:t>-</a:t>
                </a:r>
                <a:r>
                  <a:rPr lang="zh-CN" altLang="zh-CN" sz="1800" dirty="0">
                    <a:solidFill>
                      <a:srgbClr val="C00000"/>
                    </a:solidFill>
                    <a:latin typeface="Times New Roman" panose="02020603050405020304" pitchFamily="18" charset="0"/>
                    <a:cs typeface="Times New Roman" panose="02020603050405020304" pitchFamily="18" charset="0"/>
                  </a:rPr>
                  <a:t>的定义，则直接删除该关键字。</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53752" y="627534"/>
                <a:ext cx="9036496" cy="3507876"/>
              </a:xfrm>
              <a:blipFill>
                <a:blip r:embed="rId2"/>
                <a:stretch>
                  <a:fillRect l="-810" r="-877"/>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611560" y="2972440"/>
            <a:ext cx="3096344" cy="1254544"/>
          </a:xfrm>
          <a:prstGeom prst="rect">
            <a:avLst/>
          </a:prstGeom>
        </p:spPr>
      </p:pic>
      <p:pic>
        <p:nvPicPr>
          <p:cNvPr id="5" name="图片 4"/>
          <p:cNvPicPr>
            <a:picLocks noChangeAspect="1"/>
          </p:cNvPicPr>
          <p:nvPr/>
        </p:nvPicPr>
        <p:blipFill>
          <a:blip r:embed="rId4"/>
          <a:stretch>
            <a:fillRect/>
          </a:stretch>
        </p:blipFill>
        <p:spPr>
          <a:xfrm>
            <a:off x="4860032" y="3015338"/>
            <a:ext cx="3021293" cy="1224136"/>
          </a:xfrm>
          <a:prstGeom prst="rect">
            <a:avLst/>
          </a:prstGeom>
        </p:spPr>
      </p:pic>
      <p:sp>
        <p:nvSpPr>
          <p:cNvPr id="6" name="文本框 5"/>
          <p:cNvSpPr txBox="1"/>
          <p:nvPr/>
        </p:nvSpPr>
        <p:spPr>
          <a:xfrm>
            <a:off x="3713022" y="3194493"/>
            <a:ext cx="1008112" cy="369332"/>
          </a:xfrm>
          <a:prstGeom prst="rect">
            <a:avLst/>
          </a:prstGeom>
          <a:noFill/>
        </p:spPr>
        <p:txBody>
          <a:bodyPr wrap="square" rtlCol="0">
            <a:spAutoFit/>
          </a:bodyPr>
          <a:lstStyle/>
          <a:p>
            <a:r>
              <a:rPr lang="zh-CN" altLang="en-US" dirty="0">
                <a:solidFill>
                  <a:srgbClr val="C00000"/>
                </a:solidFill>
                <a:latin typeface="隶书" panose="02010509060101010101" pitchFamily="49" charset="-122"/>
                <a:ea typeface="隶书" panose="02010509060101010101" pitchFamily="49" charset="-122"/>
              </a:rPr>
              <a:t>删除</a:t>
            </a:r>
            <a:r>
              <a:rPr lang="en-US" altLang="zh-CN" dirty="0">
                <a:solidFill>
                  <a:srgbClr val="C00000"/>
                </a:solidFill>
                <a:latin typeface="隶书" panose="02010509060101010101" pitchFamily="49" charset="-122"/>
                <a:ea typeface="隶书" panose="02010509060101010101" pitchFamily="49" charset="-122"/>
              </a:rPr>
              <a:t>14</a:t>
            </a:r>
            <a:endParaRPr lang="zh-CN" altLang="en-US" dirty="0">
              <a:solidFill>
                <a:srgbClr val="C00000"/>
              </a:solidFill>
              <a:latin typeface="隶书" panose="02010509060101010101" pitchFamily="49" charset="-122"/>
              <a:ea typeface="隶书" panose="02010509060101010101" pitchFamily="49" charset="-122"/>
            </a:endParaRPr>
          </a:p>
        </p:txBody>
      </p:sp>
      <p:sp>
        <p:nvSpPr>
          <p:cNvPr id="7" name="文本框 6"/>
          <p:cNvSpPr txBox="1"/>
          <p:nvPr/>
        </p:nvSpPr>
        <p:spPr>
          <a:xfrm>
            <a:off x="611380" y="115457"/>
            <a:ext cx="14403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树的删除</a:t>
            </a:r>
          </a:p>
        </p:txBody>
      </p:sp>
    </p:spTree>
    <p:extLst>
      <p:ext uri="{BB962C8B-B14F-4D97-AF65-F5344CB8AC3E}">
        <p14:creationId xmlns:p14="http://schemas.microsoft.com/office/powerpoint/2010/main" val="394576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4793" y="555526"/>
                <a:ext cx="9036496" cy="1440160"/>
              </a:xfrm>
            </p:spPr>
            <p:txBody>
              <a:bodyPr/>
              <a:lstStyle/>
              <a:p>
                <a:pPr algn="just">
                  <a:spcBef>
                    <a:spcPts val="0"/>
                  </a:spcBef>
                </a:pPr>
                <a:r>
                  <a:rPr lang="zh-CN" altLang="en-US"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2</a:t>
                </a:r>
                <a:r>
                  <a:rPr lang="zh-CN" altLang="en-US" sz="1800" dirty="0">
                    <a:solidFill>
                      <a:srgbClr val="C00000"/>
                    </a:solidFill>
                    <a:latin typeface="Times New Roman" panose="02020603050405020304" pitchFamily="18" charset="0"/>
                    <a:cs typeface="Times New Roman" panose="02020603050405020304" pitchFamily="18" charset="0"/>
                  </a:rPr>
                  <a:t>）若被删结点中的关键字数量等于</a:t>
                </a:r>
                <a14:m>
                  <m:oMath xmlns:m="http://schemas.openxmlformats.org/officeDocument/2006/math">
                    <m:d>
                      <m:dPr>
                        <m:begChr m:val="⌈"/>
                        <m:endChr m:val="⌉"/>
                        <m:ctrlPr>
                          <a:rPr lang="zh-CN" altLang="zh-CN" sz="1800" i="1">
                            <a:solidFill>
                              <a:srgbClr val="C00000"/>
                            </a:solidFill>
                            <a:latin typeface="Cambria Math" panose="02040503050406030204" pitchFamily="18" charset="0"/>
                          </a:rPr>
                        </m:ctrlPr>
                      </m:dPr>
                      <m:e>
                        <m:f>
                          <m:fPr>
                            <m:ctrlPr>
                              <a:rPr lang="en-US" altLang="zh-CN" sz="1800" i="1">
                                <a:solidFill>
                                  <a:srgbClr val="C00000"/>
                                </a:solidFill>
                                <a:latin typeface="Cambria Math" panose="02040503050406030204" pitchFamily="18" charset="0"/>
                              </a:rPr>
                            </m:ctrlPr>
                          </m:fPr>
                          <m:num>
                            <m:r>
                              <a:rPr lang="en-US" altLang="zh-CN" sz="1800" i="1">
                                <a:solidFill>
                                  <a:srgbClr val="C00000"/>
                                </a:solidFill>
                                <a:latin typeface="Cambria Math" panose="02040503050406030204" pitchFamily="18" charset="0"/>
                              </a:rPr>
                              <m:t>𝑚</m:t>
                            </m:r>
                          </m:num>
                          <m:den>
                            <m:r>
                              <a:rPr lang="en-US" altLang="zh-CN" sz="1800" i="1">
                                <a:solidFill>
                                  <a:srgbClr val="C00000"/>
                                </a:solidFill>
                                <a:latin typeface="Cambria Math" panose="02040503050406030204" pitchFamily="18" charset="0"/>
                              </a:rPr>
                              <m:t>2</m:t>
                            </m:r>
                          </m:den>
                        </m:f>
                      </m:e>
                    </m:d>
                  </m:oMath>
                </a14:m>
                <a:r>
                  <a:rPr lang="en-US" altLang="zh-CN" sz="1800" dirty="0">
                    <a:solidFill>
                      <a:srgbClr val="C00000"/>
                    </a:solidFill>
                    <a:latin typeface="Times New Roman" panose="02020603050405020304" pitchFamily="18" charset="0"/>
                    <a:cs typeface="Times New Roman" panose="02020603050405020304" pitchFamily="18" charset="0"/>
                  </a:rPr>
                  <a:t>-1, </a:t>
                </a:r>
                <a:r>
                  <a:rPr lang="zh-CN" altLang="en-US" sz="1800" dirty="0">
                    <a:solidFill>
                      <a:srgbClr val="C00000"/>
                    </a:solidFill>
                    <a:latin typeface="Times New Roman" panose="02020603050405020304" pitchFamily="18" charset="0"/>
                    <a:cs typeface="Times New Roman" panose="02020603050405020304" pitchFamily="18" charset="0"/>
                  </a:rPr>
                  <a:t>而相邻的兄弟结点中关键字的数量大于或 等于</a:t>
                </a:r>
                <a14:m>
                  <m:oMath xmlns:m="http://schemas.openxmlformats.org/officeDocument/2006/math">
                    <m:d>
                      <m:dPr>
                        <m:begChr m:val="⌈"/>
                        <m:endChr m:val="⌉"/>
                        <m:ctrlPr>
                          <a:rPr lang="zh-CN" altLang="zh-CN" sz="1800" i="1">
                            <a:solidFill>
                              <a:srgbClr val="C00000"/>
                            </a:solidFill>
                            <a:latin typeface="Cambria Math" panose="02040503050406030204" pitchFamily="18" charset="0"/>
                          </a:rPr>
                        </m:ctrlPr>
                      </m:dPr>
                      <m:e>
                        <m:f>
                          <m:fPr>
                            <m:ctrlPr>
                              <a:rPr lang="en-US" altLang="zh-CN" sz="1800" i="1">
                                <a:solidFill>
                                  <a:srgbClr val="C00000"/>
                                </a:solidFill>
                                <a:latin typeface="Cambria Math" panose="02040503050406030204" pitchFamily="18" charset="0"/>
                              </a:rPr>
                            </m:ctrlPr>
                          </m:fPr>
                          <m:num>
                            <m:r>
                              <a:rPr lang="en-US" altLang="zh-CN" sz="1800" i="1">
                                <a:solidFill>
                                  <a:srgbClr val="C00000"/>
                                </a:solidFill>
                                <a:latin typeface="Cambria Math" panose="02040503050406030204" pitchFamily="18" charset="0"/>
                              </a:rPr>
                              <m:t>𝑚</m:t>
                            </m:r>
                          </m:num>
                          <m:den>
                            <m:r>
                              <a:rPr lang="en-US" altLang="zh-CN" sz="1800" i="1">
                                <a:solidFill>
                                  <a:srgbClr val="C00000"/>
                                </a:solidFill>
                                <a:latin typeface="Cambria Math" panose="02040503050406030204" pitchFamily="18" charset="0"/>
                              </a:rPr>
                              <m:t>2</m:t>
                            </m:r>
                          </m:den>
                        </m:f>
                      </m:e>
                    </m:d>
                  </m:oMath>
                </a14:m>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en-US" sz="1800" dirty="0">
                    <a:solidFill>
                      <a:srgbClr val="C00000"/>
                    </a:solidFill>
                    <a:latin typeface="Times New Roman" panose="02020603050405020304" pitchFamily="18" charset="0"/>
                    <a:cs typeface="Times New Roman" panose="02020603050405020304" pitchFamily="18" charset="0"/>
                  </a:rPr>
                  <a:t>则此时将左兄弟中最大的关键字上移到双亲结点中</a:t>
                </a: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en-US" sz="1800" dirty="0">
                    <a:solidFill>
                      <a:srgbClr val="C00000"/>
                    </a:solidFill>
                    <a:latin typeface="Times New Roman" panose="02020603050405020304" pitchFamily="18" charset="0"/>
                    <a:cs typeface="Times New Roman" panose="02020603050405020304" pitchFamily="18" charset="0"/>
                  </a:rPr>
                  <a:t>同时把双亲中位于它后面的关键字下移到被删关键字的结点中</a:t>
                </a:r>
                <a:r>
                  <a:rPr lang="en-US" altLang="zh-CN" sz="1800" dirty="0">
                    <a:solidFill>
                      <a:srgbClr val="C00000"/>
                    </a:solidFill>
                    <a:latin typeface="Times New Roman" panose="02020603050405020304" pitchFamily="18" charset="0"/>
                    <a:cs typeface="Times New Roman" panose="02020603050405020304" pitchFamily="18" charset="0"/>
                  </a:rPr>
                  <a:t>;</a:t>
                </a:r>
                <a:r>
                  <a:rPr lang="zh-CN" altLang="en-US" sz="1800" dirty="0">
                    <a:solidFill>
                      <a:srgbClr val="7030A0"/>
                    </a:solidFill>
                    <a:latin typeface="Times New Roman" panose="02020603050405020304" pitchFamily="18" charset="0"/>
                    <a:cs typeface="Times New Roman" panose="02020603050405020304" pitchFamily="18" charset="0"/>
                  </a:rPr>
                  <a:t>或将右兄弟中最小的关键字上移到双亲结点中</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en-US" sz="1800" dirty="0">
                    <a:solidFill>
                      <a:srgbClr val="7030A0"/>
                    </a:solidFill>
                    <a:latin typeface="Times New Roman" panose="02020603050405020304" pitchFamily="18" charset="0"/>
                    <a:cs typeface="Times New Roman" panose="02020603050405020304" pitchFamily="18" charset="0"/>
                  </a:rPr>
                  <a:t>同时把双亲中位于它前面的关键字下移到被删关键字的结点中</a:t>
                </a:r>
                <a:r>
                  <a:rPr lang="zh-CN" altLang="en-US" sz="1800" dirty="0">
                    <a:solidFill>
                      <a:srgbClr val="C00000"/>
                    </a:solidFill>
                    <a:latin typeface="Times New Roman" panose="02020603050405020304" pitchFamily="18" charset="0"/>
                    <a:cs typeface="Times New Roman" panose="02020603050405020304" pitchFamily="18" charset="0"/>
                  </a:rPr>
                  <a:t>。</a:t>
                </a:r>
                <a:endParaRPr lang="en-US" altLang="zh-CN" sz="1800" dirty="0">
                  <a:solidFill>
                    <a:srgbClr val="C00000"/>
                  </a:solidFill>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4793" y="555526"/>
                <a:ext cx="9036496" cy="1440160"/>
              </a:xfrm>
              <a:blipFill>
                <a:blip r:embed="rId2"/>
                <a:stretch>
                  <a:fillRect l="-674" r="-809" b="-50000"/>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95536" y="2735012"/>
            <a:ext cx="3492373" cy="1415003"/>
          </a:xfrm>
          <a:prstGeom prst="rect">
            <a:avLst/>
          </a:prstGeom>
        </p:spPr>
      </p:pic>
      <p:sp>
        <p:nvSpPr>
          <p:cNvPr id="5" name="文本框 4"/>
          <p:cNvSpPr txBox="1"/>
          <p:nvPr/>
        </p:nvSpPr>
        <p:spPr>
          <a:xfrm>
            <a:off x="3887909" y="3219822"/>
            <a:ext cx="1008112" cy="369332"/>
          </a:xfrm>
          <a:prstGeom prst="rect">
            <a:avLst/>
          </a:prstGeom>
          <a:noFill/>
        </p:spPr>
        <p:txBody>
          <a:bodyPr wrap="square" rtlCol="0">
            <a:spAutoFit/>
          </a:bodyPr>
          <a:lstStyle/>
          <a:p>
            <a:r>
              <a:rPr lang="zh-CN" altLang="en-US" dirty="0">
                <a:solidFill>
                  <a:srgbClr val="C00000"/>
                </a:solidFill>
                <a:latin typeface="隶书" panose="02010509060101010101" pitchFamily="49" charset="-122"/>
                <a:ea typeface="隶书" panose="02010509060101010101" pitchFamily="49" charset="-122"/>
              </a:rPr>
              <a:t>删除</a:t>
            </a:r>
            <a:r>
              <a:rPr lang="en-US" altLang="zh-CN" dirty="0">
                <a:solidFill>
                  <a:srgbClr val="C00000"/>
                </a:solidFill>
                <a:latin typeface="隶书" panose="02010509060101010101" pitchFamily="49" charset="-122"/>
                <a:ea typeface="隶书" panose="02010509060101010101" pitchFamily="49" charset="-122"/>
              </a:rPr>
              <a:t>61</a:t>
            </a:r>
            <a:endParaRPr lang="zh-CN" altLang="en-US" dirty="0">
              <a:solidFill>
                <a:srgbClr val="C00000"/>
              </a:solidFill>
              <a:latin typeface="隶书" panose="02010509060101010101" pitchFamily="49" charset="-122"/>
              <a:ea typeface="隶书" panose="02010509060101010101" pitchFamily="49" charset="-122"/>
            </a:endParaRPr>
          </a:p>
        </p:txBody>
      </p:sp>
      <p:pic>
        <p:nvPicPr>
          <p:cNvPr id="6" name="图片 5"/>
          <p:cNvPicPr>
            <a:picLocks noChangeAspect="1"/>
          </p:cNvPicPr>
          <p:nvPr/>
        </p:nvPicPr>
        <p:blipFill>
          <a:blip r:embed="rId4"/>
          <a:stretch>
            <a:fillRect/>
          </a:stretch>
        </p:blipFill>
        <p:spPr>
          <a:xfrm>
            <a:off x="4788024" y="2763267"/>
            <a:ext cx="3099237" cy="1386748"/>
          </a:xfrm>
          <a:prstGeom prst="rect">
            <a:avLst/>
          </a:prstGeom>
        </p:spPr>
      </p:pic>
      <p:cxnSp>
        <p:nvCxnSpPr>
          <p:cNvPr id="8" name="直接箭头连接符 7"/>
          <p:cNvCxnSpPr/>
          <p:nvPr/>
        </p:nvCxnSpPr>
        <p:spPr>
          <a:xfrm flipH="1" flipV="1">
            <a:off x="3203848" y="3456641"/>
            <a:ext cx="216024" cy="48326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3059832" y="3456641"/>
            <a:ext cx="72008" cy="41125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611380" y="115457"/>
            <a:ext cx="14403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树的删除</a:t>
            </a:r>
          </a:p>
        </p:txBody>
      </p:sp>
    </p:spTree>
    <p:extLst>
      <p:ext uri="{BB962C8B-B14F-4D97-AF65-F5344CB8AC3E}">
        <p14:creationId xmlns:p14="http://schemas.microsoft.com/office/powerpoint/2010/main" val="31760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43508" y="515567"/>
                <a:ext cx="8856984" cy="1363610"/>
              </a:xfrm>
            </p:spPr>
            <p:txBody>
              <a:bodyPr/>
              <a:lstStyle/>
              <a:p>
                <a:pPr>
                  <a:spcBef>
                    <a:spcPts val="0"/>
                  </a:spcBef>
                </a:pPr>
                <a:r>
                  <a:rPr lang="en-US" altLang="zh-CN" sz="1800" dirty="0">
                    <a:solidFill>
                      <a:srgbClr val="002060"/>
                    </a:solidFill>
                    <a:latin typeface="Times New Roman" panose="02020603050405020304" pitchFamily="18" charset="0"/>
                    <a:cs typeface="Times New Roman" panose="02020603050405020304" pitchFamily="18" charset="0"/>
                  </a:rPr>
                  <a:t>(3)</a:t>
                </a:r>
                <a:r>
                  <a:rPr lang="zh-CN" altLang="en-US" sz="1800" dirty="0">
                    <a:solidFill>
                      <a:srgbClr val="002060"/>
                    </a:solidFill>
                    <a:latin typeface="Times New Roman" panose="02020603050405020304" pitchFamily="18" charset="0"/>
                    <a:cs typeface="Times New Roman" panose="02020603050405020304" pitchFamily="18" charset="0"/>
                  </a:rPr>
                  <a:t>若被删结点中的关键字数量等于</a:t>
                </a:r>
                <a14:m>
                  <m:oMath xmlns:m="http://schemas.openxmlformats.org/officeDocument/2006/math">
                    <m:d>
                      <m:dPr>
                        <m:begChr m:val="⌈"/>
                        <m:endChr m:val="⌉"/>
                        <m:ctrlPr>
                          <a:rPr lang="zh-CN" altLang="zh-CN" sz="1800" i="1">
                            <a:solidFill>
                              <a:srgbClr val="002060"/>
                            </a:solidFill>
                            <a:latin typeface="Cambria Math" panose="02040503050406030204" pitchFamily="18" charset="0"/>
                          </a:rPr>
                        </m:ctrlPr>
                      </m:dPr>
                      <m:e>
                        <m:f>
                          <m:fPr>
                            <m:ctrlPr>
                              <a:rPr lang="en-US" altLang="zh-CN" sz="1800" i="1">
                                <a:solidFill>
                                  <a:srgbClr val="002060"/>
                                </a:solidFill>
                                <a:latin typeface="Cambria Math" panose="02040503050406030204" pitchFamily="18" charset="0"/>
                              </a:rPr>
                            </m:ctrlPr>
                          </m:fPr>
                          <m:num>
                            <m:r>
                              <a:rPr lang="en-US" altLang="zh-CN" sz="1800" i="1">
                                <a:solidFill>
                                  <a:srgbClr val="002060"/>
                                </a:solidFill>
                                <a:latin typeface="Cambria Math" panose="02040503050406030204" pitchFamily="18" charset="0"/>
                              </a:rPr>
                              <m:t>𝑚</m:t>
                            </m:r>
                          </m:num>
                          <m:den>
                            <m:r>
                              <a:rPr lang="en-US" altLang="zh-CN" sz="1800" i="1">
                                <a:solidFill>
                                  <a:srgbClr val="002060"/>
                                </a:solidFill>
                                <a:latin typeface="Cambria Math" panose="02040503050406030204" pitchFamily="18" charset="0"/>
                              </a:rPr>
                              <m:t>2</m:t>
                            </m:r>
                          </m:den>
                        </m:f>
                      </m:e>
                    </m:d>
                  </m:oMath>
                </a14:m>
                <a:r>
                  <a:rPr lang="en-US" altLang="zh-CN" sz="1800" dirty="0">
                    <a:solidFill>
                      <a:srgbClr val="002060"/>
                    </a:solidFill>
                    <a:latin typeface="Times New Roman" panose="02020603050405020304" pitchFamily="18" charset="0"/>
                    <a:cs typeface="Times New Roman" panose="02020603050405020304" pitchFamily="18" charset="0"/>
                  </a:rPr>
                  <a:t>-1, </a:t>
                </a:r>
                <a:r>
                  <a:rPr lang="zh-CN" altLang="en-US" sz="1800" dirty="0">
                    <a:solidFill>
                      <a:srgbClr val="002060"/>
                    </a:solidFill>
                    <a:latin typeface="Times New Roman" panose="02020603050405020304" pitchFamily="18" charset="0"/>
                    <a:cs typeface="Times New Roman" panose="02020603050405020304" pitchFamily="18" charset="0"/>
                  </a:rPr>
                  <a:t>且相邻的兄弟结点中的关键字的数量均等于</a:t>
                </a:r>
                <a14:m>
                  <m:oMath xmlns:m="http://schemas.openxmlformats.org/officeDocument/2006/math">
                    <m:d>
                      <m:dPr>
                        <m:begChr m:val="⌈"/>
                        <m:endChr m:val="⌉"/>
                        <m:ctrlPr>
                          <a:rPr lang="zh-CN" altLang="zh-CN" sz="1800" i="1">
                            <a:solidFill>
                              <a:srgbClr val="002060"/>
                            </a:solidFill>
                            <a:latin typeface="Cambria Math" panose="02040503050406030204" pitchFamily="18" charset="0"/>
                          </a:rPr>
                        </m:ctrlPr>
                      </m:dPr>
                      <m:e>
                        <m:f>
                          <m:fPr>
                            <m:ctrlPr>
                              <a:rPr lang="en-US" altLang="zh-CN" sz="1800" i="1">
                                <a:solidFill>
                                  <a:srgbClr val="002060"/>
                                </a:solidFill>
                                <a:latin typeface="Cambria Math" panose="02040503050406030204" pitchFamily="18" charset="0"/>
                              </a:rPr>
                            </m:ctrlPr>
                          </m:fPr>
                          <m:num>
                            <m:r>
                              <a:rPr lang="en-US" altLang="zh-CN" sz="1800" i="1">
                                <a:solidFill>
                                  <a:srgbClr val="002060"/>
                                </a:solidFill>
                                <a:latin typeface="Cambria Math" panose="02040503050406030204" pitchFamily="18" charset="0"/>
                              </a:rPr>
                              <m:t>𝑚</m:t>
                            </m:r>
                          </m:num>
                          <m:den>
                            <m:r>
                              <a:rPr lang="en-US" altLang="zh-CN" sz="1800" i="1">
                                <a:solidFill>
                                  <a:srgbClr val="002060"/>
                                </a:solidFill>
                                <a:latin typeface="Cambria Math" panose="02040503050406030204" pitchFamily="18" charset="0"/>
                              </a:rPr>
                              <m:t>2</m:t>
                            </m:r>
                          </m:den>
                        </m:f>
                      </m:e>
                    </m:d>
                  </m:oMath>
                </a14:m>
                <a:r>
                  <a:rPr lang="en-US" altLang="zh-CN" sz="1800" dirty="0">
                    <a:solidFill>
                      <a:srgbClr val="002060"/>
                    </a:solidFill>
                    <a:latin typeface="Times New Roman" panose="02020603050405020304" pitchFamily="18" charset="0"/>
                    <a:cs typeface="Times New Roman" panose="02020603050405020304" pitchFamily="18" charset="0"/>
                  </a:rPr>
                  <a:t>-1, </a:t>
                </a:r>
                <a:r>
                  <a:rPr lang="zh-CN" altLang="en-US" sz="1800" dirty="0">
                    <a:solidFill>
                      <a:srgbClr val="002060"/>
                    </a:solidFill>
                    <a:latin typeface="Times New Roman" panose="02020603050405020304" pitchFamily="18" charset="0"/>
                    <a:cs typeface="Times New Roman" panose="02020603050405020304" pitchFamily="18" charset="0"/>
                  </a:rPr>
                  <a:t>则将要删除关键字的结点与其左兄弟或</a:t>
                </a:r>
                <a:r>
                  <a:rPr lang="zh-CN" altLang="en-US" sz="1800" dirty="0">
                    <a:solidFill>
                      <a:srgbClr val="C00000"/>
                    </a:solidFill>
                    <a:latin typeface="Times New Roman" panose="02020603050405020304" pitchFamily="18" charset="0"/>
                    <a:cs typeface="Times New Roman" panose="02020603050405020304" pitchFamily="18" charset="0"/>
                  </a:rPr>
                  <a:t>右兄弟</a:t>
                </a:r>
                <a:r>
                  <a:rPr lang="zh-CN" altLang="en-US" sz="1800" dirty="0">
                    <a:solidFill>
                      <a:srgbClr val="002060"/>
                    </a:solidFill>
                    <a:latin typeface="Times New Roman" panose="02020603050405020304" pitchFamily="18" charset="0"/>
                    <a:cs typeface="Times New Roman" panose="02020603050405020304" pitchFamily="18" charset="0"/>
                  </a:rPr>
                  <a:t>结点合并</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同时合并双亲中相关的关键字。 此时</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双亲中少了一项</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可能引起双亲的合并</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最坏一直波及到根</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en-US" sz="1800" dirty="0">
                    <a:solidFill>
                      <a:srgbClr val="002060"/>
                    </a:solidFill>
                    <a:latin typeface="Times New Roman" panose="02020603050405020304" pitchFamily="18" charset="0"/>
                    <a:cs typeface="Times New Roman" panose="02020603050405020304" pitchFamily="18" charset="0"/>
                  </a:rPr>
                  <a:t>使</a:t>
                </a:r>
                <a:r>
                  <a:rPr lang="en-US" altLang="zh-CN" sz="1800" dirty="0">
                    <a:solidFill>
                      <a:srgbClr val="002060"/>
                    </a:solidFill>
                    <a:latin typeface="Times New Roman" panose="02020603050405020304" pitchFamily="18" charset="0"/>
                    <a:cs typeface="Times New Roman" panose="02020603050405020304" pitchFamily="18" charset="0"/>
                  </a:rPr>
                  <a:t>B-</a:t>
                </a:r>
                <a:r>
                  <a:rPr lang="zh-CN" altLang="en-US" sz="1800" dirty="0">
                    <a:solidFill>
                      <a:srgbClr val="002060"/>
                    </a:solidFill>
                    <a:latin typeface="Times New Roman" panose="02020603050405020304" pitchFamily="18" charset="0"/>
                    <a:cs typeface="Times New Roman" panose="02020603050405020304" pitchFamily="18" charset="0"/>
                  </a:rPr>
                  <a:t>树降低一层。</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43508" y="515567"/>
                <a:ext cx="8856984" cy="1363610"/>
              </a:xfrm>
              <a:blipFill>
                <a:blip r:embed="rId2"/>
                <a:stretch>
                  <a:fillRect l="-758" r="-689" b="-58744"/>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539552" y="2398667"/>
            <a:ext cx="3096344" cy="1385454"/>
          </a:xfrm>
          <a:prstGeom prst="rect">
            <a:avLst/>
          </a:prstGeom>
        </p:spPr>
      </p:pic>
      <p:pic>
        <p:nvPicPr>
          <p:cNvPr id="5" name="图片 4"/>
          <p:cNvPicPr>
            <a:picLocks noChangeAspect="1"/>
          </p:cNvPicPr>
          <p:nvPr/>
        </p:nvPicPr>
        <p:blipFill>
          <a:blip r:embed="rId4"/>
          <a:stretch>
            <a:fillRect/>
          </a:stretch>
        </p:blipFill>
        <p:spPr>
          <a:xfrm>
            <a:off x="5004048" y="2415253"/>
            <a:ext cx="3032863" cy="1357049"/>
          </a:xfrm>
          <a:prstGeom prst="rect">
            <a:avLst/>
          </a:prstGeom>
        </p:spPr>
      </p:pic>
      <p:sp>
        <p:nvSpPr>
          <p:cNvPr id="6" name="文本框 5"/>
          <p:cNvSpPr txBox="1"/>
          <p:nvPr/>
        </p:nvSpPr>
        <p:spPr>
          <a:xfrm>
            <a:off x="3923928" y="2722062"/>
            <a:ext cx="1008112" cy="369332"/>
          </a:xfrm>
          <a:prstGeom prst="rect">
            <a:avLst/>
          </a:prstGeom>
          <a:noFill/>
        </p:spPr>
        <p:txBody>
          <a:bodyPr wrap="square" rtlCol="0">
            <a:spAutoFit/>
          </a:bodyPr>
          <a:lstStyle/>
          <a:p>
            <a:r>
              <a:rPr lang="zh-CN" altLang="en-US" dirty="0">
                <a:solidFill>
                  <a:srgbClr val="C00000"/>
                </a:solidFill>
                <a:latin typeface="隶书" panose="02010509060101010101" pitchFamily="49" charset="-122"/>
                <a:ea typeface="隶书" panose="02010509060101010101" pitchFamily="49" charset="-122"/>
              </a:rPr>
              <a:t>删除</a:t>
            </a:r>
            <a:r>
              <a:rPr lang="en-US" altLang="zh-CN" dirty="0">
                <a:solidFill>
                  <a:srgbClr val="C00000"/>
                </a:solidFill>
                <a:latin typeface="隶书" panose="02010509060101010101" pitchFamily="49" charset="-122"/>
                <a:ea typeface="隶书" panose="02010509060101010101" pitchFamily="49" charset="-122"/>
              </a:rPr>
              <a:t>66</a:t>
            </a:r>
            <a:endParaRPr lang="zh-CN" altLang="en-US" dirty="0">
              <a:solidFill>
                <a:srgbClr val="C00000"/>
              </a:solidFill>
              <a:latin typeface="隶书" panose="02010509060101010101" pitchFamily="49" charset="-122"/>
              <a:ea typeface="隶书" panose="02010509060101010101" pitchFamily="49" charset="-122"/>
            </a:endParaRPr>
          </a:p>
        </p:txBody>
      </p:sp>
      <p:sp>
        <p:nvSpPr>
          <p:cNvPr id="7" name="椭圆 6"/>
          <p:cNvSpPr/>
          <p:nvPr/>
        </p:nvSpPr>
        <p:spPr>
          <a:xfrm>
            <a:off x="2843808" y="3003798"/>
            <a:ext cx="1080120" cy="100811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11380" y="115457"/>
            <a:ext cx="14403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树的删除</a:t>
            </a:r>
          </a:p>
        </p:txBody>
      </p:sp>
    </p:spTree>
    <p:extLst>
      <p:ext uri="{BB962C8B-B14F-4D97-AF65-F5344CB8AC3E}">
        <p14:creationId xmlns:p14="http://schemas.microsoft.com/office/powerpoint/2010/main" val="393302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1" y="915566"/>
                <a:ext cx="8712969" cy="1219594"/>
              </a:xfrm>
            </p:spPr>
            <p:txBody>
              <a:bodyPr/>
              <a:lstStyle/>
              <a:p>
                <a:pPr marL="0" indent="0">
                  <a:lnSpc>
                    <a:spcPts val="25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2</a:t>
                </a:r>
                <a:r>
                  <a:rPr lang="zh-CN" altLang="zh-CN" sz="1800" dirty="0">
                    <a:solidFill>
                      <a:srgbClr val="7030A0"/>
                    </a:solidFill>
                    <a:latin typeface="Times New Roman" panose="02020603050405020304" pitchFamily="18" charset="0"/>
                    <a:cs typeface="Times New Roman" panose="02020603050405020304" pitchFamily="18" charset="0"/>
                  </a:rPr>
                  <a:t>）删除不在最低层</a:t>
                </a:r>
              </a:p>
              <a:p>
                <a:pPr marL="0" indent="0">
                  <a:lnSpc>
                    <a:spcPts val="2500"/>
                  </a:lnSpc>
                  <a:spcBef>
                    <a:spcPts val="0"/>
                  </a:spcBef>
                  <a:buNone/>
                </a:pP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若被删关键字</a:t>
                </a:r>
                <a14:m>
                  <m:oMath xmlns:m="http://schemas.openxmlformats.org/officeDocument/2006/math">
                    <m:r>
                      <m:rPr>
                        <m:sty m:val="p"/>
                      </m:rPr>
                      <a:rPr lang="en-US" altLang="zh-CN" sz="1800">
                        <a:solidFill>
                          <a:srgbClr val="C00000"/>
                        </a:solidFill>
                        <a:latin typeface="Cambria Math" panose="02040503050406030204" pitchFamily="18" charset="0"/>
                      </a:rPr>
                      <m:t>key</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i</m:t>
                    </m:r>
                    <m:r>
                      <a:rPr lang="en-US" altLang="zh-CN" sz="1800">
                        <a:solidFill>
                          <a:srgbClr val="C00000"/>
                        </a:solidFill>
                        <a:latin typeface="Cambria Math" panose="02040503050406030204" pitchFamily="18" charset="0"/>
                      </a:rPr>
                      <m:t>]</m:t>
                    </m:r>
                  </m:oMath>
                </a14:m>
                <a:r>
                  <a:rPr lang="zh-CN" altLang="zh-CN" sz="1800" dirty="0">
                    <a:solidFill>
                      <a:srgbClr val="C00000"/>
                    </a:solidFill>
                    <a:latin typeface="Times New Roman" panose="02020603050405020304" pitchFamily="18" charset="0"/>
                    <a:cs typeface="Times New Roman" panose="02020603050405020304" pitchFamily="18" charset="0"/>
                  </a:rPr>
                  <a:t>不在最低层，则在被删关键字</a:t>
                </a:r>
                <a14:m>
                  <m:oMath xmlns:m="http://schemas.openxmlformats.org/officeDocument/2006/math">
                    <m:r>
                      <m:rPr>
                        <m:sty m:val="p"/>
                      </m:rPr>
                      <a:rPr lang="en-US" altLang="zh-CN" sz="1800">
                        <a:solidFill>
                          <a:srgbClr val="C00000"/>
                        </a:solidFill>
                        <a:latin typeface="Cambria Math" panose="02040503050406030204" pitchFamily="18" charset="0"/>
                      </a:rPr>
                      <m:t>key</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i</m:t>
                    </m:r>
                    <m:r>
                      <a:rPr lang="en-US" altLang="zh-CN" sz="1800">
                        <a:solidFill>
                          <a:srgbClr val="C00000"/>
                        </a:solidFill>
                        <a:latin typeface="Cambria Math" panose="02040503050406030204" pitchFamily="18" charset="0"/>
                      </a:rPr>
                      <m:t>]</m:t>
                    </m:r>
                  </m:oMath>
                </a14:m>
                <a:r>
                  <a:rPr lang="zh-CN" altLang="zh-CN" sz="1800" dirty="0">
                    <a:solidFill>
                      <a:srgbClr val="C00000"/>
                    </a:solidFill>
                    <a:latin typeface="Times New Roman" panose="02020603050405020304" pitchFamily="18" charset="0"/>
                    <a:cs typeface="Times New Roman" panose="02020603050405020304" pitchFamily="18" charset="0"/>
                  </a:rPr>
                  <a:t>的右子树</a:t>
                </a:r>
                <a14:m>
                  <m:oMath xmlns:m="http://schemas.openxmlformats.org/officeDocument/2006/math">
                    <m:r>
                      <m:rPr>
                        <m:sty m:val="p"/>
                      </m:rPr>
                      <a:rPr lang="en-US" altLang="zh-CN" sz="1800">
                        <a:solidFill>
                          <a:srgbClr val="C00000"/>
                        </a:solidFill>
                        <a:latin typeface="Cambria Math" panose="02040503050406030204" pitchFamily="18" charset="0"/>
                      </a:rPr>
                      <m:t>ptr</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i</m:t>
                    </m:r>
                    <m:r>
                      <a:rPr lang="en-US" altLang="zh-CN" sz="1800">
                        <a:solidFill>
                          <a:srgbClr val="C00000"/>
                        </a:solidFill>
                        <a:latin typeface="Cambria Math" panose="02040503050406030204" pitchFamily="18" charset="0"/>
                      </a:rPr>
                      <m:t>]</m:t>
                    </m:r>
                  </m:oMath>
                </a14:m>
                <a:r>
                  <a:rPr lang="zh-CN" altLang="zh-CN" sz="1800" dirty="0">
                    <a:solidFill>
                      <a:srgbClr val="C00000"/>
                    </a:solidFill>
                    <a:latin typeface="Times New Roman" panose="02020603050405020304" pitchFamily="18" charset="0"/>
                    <a:cs typeface="Times New Roman" panose="02020603050405020304" pitchFamily="18" charset="0"/>
                  </a:rPr>
                  <a:t>中选最小的关键字代替被删关键字</a:t>
                </a:r>
                <a14:m>
                  <m:oMath xmlns:m="http://schemas.openxmlformats.org/officeDocument/2006/math">
                    <m:r>
                      <m:rPr>
                        <m:sty m:val="p"/>
                      </m:rPr>
                      <a:rPr lang="en-US" altLang="zh-CN" sz="1800">
                        <a:solidFill>
                          <a:srgbClr val="C00000"/>
                        </a:solidFill>
                        <a:latin typeface="Cambria Math" panose="02040503050406030204" pitchFamily="18" charset="0"/>
                      </a:rPr>
                      <m:t>key</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i</m:t>
                    </m:r>
                    <m:r>
                      <a:rPr lang="en-US" altLang="zh-CN" sz="1800">
                        <a:solidFill>
                          <a:srgbClr val="C00000"/>
                        </a:solidFill>
                        <a:latin typeface="Cambria Math" panose="02040503050406030204" pitchFamily="18" charset="0"/>
                      </a:rPr>
                      <m:t>]</m:t>
                    </m:r>
                  </m:oMath>
                </a14:m>
                <a:r>
                  <a:rPr lang="zh-CN" altLang="zh-CN" sz="1800" dirty="0">
                    <a:solidFill>
                      <a:srgbClr val="C00000"/>
                    </a:solidFill>
                    <a:latin typeface="Times New Roman" panose="02020603050405020304" pitchFamily="18" charset="0"/>
                    <a:cs typeface="Times New Roman" panose="02020603050405020304" pitchFamily="18" charset="0"/>
                  </a:rPr>
                  <a:t>，问题转换为最低层的删除过程。</a:t>
                </a:r>
              </a:p>
              <a:p>
                <a:pPr marL="0" indent="0">
                  <a:buNone/>
                </a:pPr>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1" y="915566"/>
                <a:ext cx="8712969" cy="1219594"/>
              </a:xfrm>
              <a:blipFill>
                <a:blip r:embed="rId2"/>
                <a:stretch>
                  <a:fillRect l="-839" t="-3500"/>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755576" y="2427734"/>
            <a:ext cx="2395472" cy="1485093"/>
          </a:xfrm>
          <a:prstGeom prst="rect">
            <a:avLst/>
          </a:prstGeom>
        </p:spPr>
      </p:pic>
      <p:sp>
        <p:nvSpPr>
          <p:cNvPr id="6" name="文本框 5"/>
          <p:cNvSpPr txBox="1"/>
          <p:nvPr/>
        </p:nvSpPr>
        <p:spPr>
          <a:xfrm>
            <a:off x="3564432" y="3075806"/>
            <a:ext cx="1008112" cy="369332"/>
          </a:xfrm>
          <a:prstGeom prst="rect">
            <a:avLst/>
          </a:prstGeom>
          <a:noFill/>
        </p:spPr>
        <p:txBody>
          <a:bodyPr wrap="square" rtlCol="0">
            <a:spAutoFit/>
          </a:bodyPr>
          <a:lstStyle/>
          <a:p>
            <a:r>
              <a:rPr lang="zh-CN" altLang="en-US" dirty="0">
                <a:solidFill>
                  <a:srgbClr val="C00000"/>
                </a:solidFill>
                <a:latin typeface="隶书" panose="02010509060101010101" pitchFamily="49" charset="-122"/>
                <a:ea typeface="隶书" panose="02010509060101010101" pitchFamily="49" charset="-122"/>
              </a:rPr>
              <a:t>删除</a:t>
            </a:r>
            <a:r>
              <a:rPr lang="en-US" altLang="zh-CN" dirty="0">
                <a:solidFill>
                  <a:srgbClr val="C00000"/>
                </a:solidFill>
                <a:latin typeface="隶书" panose="02010509060101010101" pitchFamily="49" charset="-122"/>
                <a:ea typeface="隶书" panose="02010509060101010101" pitchFamily="49" charset="-122"/>
              </a:rPr>
              <a:t>21</a:t>
            </a:r>
            <a:endParaRPr lang="zh-CN" altLang="en-US" dirty="0">
              <a:solidFill>
                <a:srgbClr val="C00000"/>
              </a:solidFill>
              <a:latin typeface="隶书" panose="02010509060101010101" pitchFamily="49" charset="-122"/>
              <a:ea typeface="隶书" panose="02010509060101010101" pitchFamily="49" charset="-122"/>
            </a:endParaRPr>
          </a:p>
        </p:txBody>
      </p:sp>
      <p:pic>
        <p:nvPicPr>
          <p:cNvPr id="7" name="图片 6"/>
          <p:cNvPicPr>
            <a:picLocks noChangeAspect="1"/>
          </p:cNvPicPr>
          <p:nvPr/>
        </p:nvPicPr>
        <p:blipFill>
          <a:blip r:embed="rId4"/>
          <a:stretch>
            <a:fillRect/>
          </a:stretch>
        </p:blipFill>
        <p:spPr>
          <a:xfrm>
            <a:off x="5220072" y="2647628"/>
            <a:ext cx="1787657" cy="1045303"/>
          </a:xfrm>
          <a:prstGeom prst="rect">
            <a:avLst/>
          </a:prstGeom>
        </p:spPr>
      </p:pic>
      <p:sp>
        <p:nvSpPr>
          <p:cNvPr id="8" name="文本框 7"/>
          <p:cNvSpPr txBox="1"/>
          <p:nvPr/>
        </p:nvSpPr>
        <p:spPr>
          <a:xfrm>
            <a:off x="611380" y="115457"/>
            <a:ext cx="144034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B-</a:t>
            </a:r>
            <a:r>
              <a:rPr lang="zh-CN" altLang="en-US" sz="2000" dirty="0"/>
              <a:t>树的删除</a:t>
            </a:r>
          </a:p>
        </p:txBody>
      </p:sp>
    </p:spTree>
    <p:extLst>
      <p:ext uri="{BB962C8B-B14F-4D97-AF65-F5344CB8AC3E}">
        <p14:creationId xmlns:p14="http://schemas.microsoft.com/office/powerpoint/2010/main" val="232802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哈希表查找</a:t>
            </a:r>
          </a:p>
        </p:txBody>
      </p:sp>
      <p:sp>
        <p:nvSpPr>
          <p:cNvPr id="5" name="文本占位符 4"/>
          <p:cNvSpPr>
            <a:spLocks noGrp="1"/>
          </p:cNvSpPr>
          <p:nvPr>
            <p:ph type="body" sz="quarter" idx="11"/>
          </p:nvPr>
        </p:nvSpPr>
        <p:spPr/>
        <p:txBody>
          <a:bodyPr/>
          <a:lstStyle/>
          <a:p>
            <a:r>
              <a:rPr lang="en-US" altLang="zh-CN" dirty="0"/>
              <a:t>04</a:t>
            </a:r>
            <a:endParaRPr lang="zh-CN" altLang="en-US" dirty="0"/>
          </a:p>
        </p:txBody>
      </p:sp>
      <p:sp>
        <p:nvSpPr>
          <p:cNvPr id="2" name="矩形 1"/>
          <p:cNvSpPr/>
          <p:nvPr/>
        </p:nvSpPr>
        <p:spPr>
          <a:xfrm>
            <a:off x="179512" y="4371950"/>
            <a:ext cx="3456384"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5329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5496" y="1064124"/>
                <a:ext cx="9001000" cy="3507876"/>
              </a:xfrm>
            </p:spPr>
            <p:txBody>
              <a:bodyPr/>
              <a:lstStyle/>
              <a:p>
                <a:pPr algn="just">
                  <a:lnSpc>
                    <a:spcPts val="2400"/>
                  </a:lnSpc>
                  <a:spcBef>
                    <a:spcPts val="0"/>
                  </a:spcBef>
                </a:pPr>
                <a:r>
                  <a:rPr lang="zh-CN" altLang="en-US" sz="1800" dirty="0">
                    <a:latin typeface="Times New Roman" panose="02020603050405020304" pitchFamily="18" charset="0"/>
                    <a:cs typeface="Times New Roman" panose="02020603050405020304" pitchFamily="18" charset="0"/>
                  </a:rPr>
                  <a:t>    静态查找表和动态查找表的查找算法都要通过将关键字值与给定值比较来确定位置</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查找效率取决于比较次数。</a:t>
                </a:r>
                <a:endParaRPr lang="en-US" altLang="zh-CN" sz="1800" dirty="0">
                  <a:latin typeface="Times New Roman" panose="02020603050405020304" pitchFamily="18" charset="0"/>
                  <a:cs typeface="Times New Roman" panose="02020603050405020304" pitchFamily="18" charset="0"/>
                </a:endParaRPr>
              </a:p>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理想的查找方法不需要比较</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根据给定值就能直接定位记录的存储位置</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即在元素的存储位置与该元素的关键字之间建立一种确定的对应关系</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使每个元素的关键字与一个存储位置对应。 </a:t>
                </a:r>
                <a:endParaRPr lang="en-US" altLang="zh-CN" sz="1800" dirty="0">
                  <a:latin typeface="Times New Roman" panose="02020603050405020304" pitchFamily="18" charset="0"/>
                  <a:cs typeface="Times New Roman" panose="02020603050405020304" pitchFamily="18" charset="0"/>
                </a:endParaRPr>
              </a:p>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en-US" sz="1800" dirty="0">
                    <a:solidFill>
                      <a:srgbClr val="C00000"/>
                    </a:solidFill>
                    <a:latin typeface="Times New Roman" panose="02020603050405020304" pitchFamily="18" charset="0"/>
                    <a:cs typeface="Times New Roman" panose="02020603050405020304" pitchFamily="18" charset="0"/>
                  </a:rPr>
                  <a:t>哈希表</a:t>
                </a:r>
                <a:r>
                  <a:rPr lang="zh-CN" altLang="en-US" sz="1800" dirty="0">
                    <a:latin typeface="Times New Roman" panose="02020603050405020304" pitchFamily="18" charset="0"/>
                    <a:cs typeface="Times New Roman" panose="02020603050405020304" pitchFamily="18" charset="0"/>
                  </a:rPr>
                  <a:t>又被称为</a:t>
                </a:r>
                <a:r>
                  <a:rPr lang="zh-CN" altLang="en-US" sz="1800" dirty="0">
                    <a:solidFill>
                      <a:srgbClr val="C00000"/>
                    </a:solidFill>
                    <a:latin typeface="Times New Roman" panose="02020603050405020304" pitchFamily="18" charset="0"/>
                    <a:cs typeface="Times New Roman" panose="02020603050405020304" pitchFamily="18" charset="0"/>
                  </a:rPr>
                  <a:t>散列表</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是一种将元素的存储位置与该元素的关键字之间建立对应关系的线性表存储结构。</a:t>
                </a:r>
                <a:endParaRPr lang="en-US" altLang="zh-CN" sz="1800" dirty="0">
                  <a:latin typeface="Times New Roman" panose="02020603050405020304" pitchFamily="18" charset="0"/>
                  <a:cs typeface="Times New Roman" panose="02020603050405020304" pitchFamily="18" charset="0"/>
                </a:endParaRPr>
              </a:p>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其基本思路是设有一个需存储</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n</m:t>
                    </m:r>
                  </m:oMath>
                </a14:m>
                <a:r>
                  <a:rPr lang="zh-CN" altLang="zh-CN" sz="1800" dirty="0">
                    <a:latin typeface="Times New Roman" panose="02020603050405020304" pitchFamily="18" charset="0"/>
                    <a:cs typeface="Times New Roman" panose="02020603050405020304" pitchFamily="18" charset="0"/>
                  </a:rPr>
                  <a:t>个数据元素的线性表，一个长度为</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m</m:t>
                    </m:r>
                    <m:r>
                      <a:rPr lang="en-US" altLang="zh-CN" sz="1800">
                        <a:latin typeface="Cambria Math" panose="02040503050406030204" pitchFamily="18" charset="0"/>
                        <a:ea typeface="隶书" panose="02010509060101010101" pitchFamily="49" charset="-122"/>
                      </a:rPr>
                      <m:t>(</m:t>
                    </m:r>
                    <m:r>
                      <m:rPr>
                        <m:sty m:val="p"/>
                      </m:rPr>
                      <a:rPr lang="en-US" altLang="zh-CN" sz="1800">
                        <a:latin typeface="Cambria Math" panose="02040503050406030204" pitchFamily="18" charset="0"/>
                        <a:ea typeface="隶书" panose="02010509060101010101" pitchFamily="49" charset="-122"/>
                      </a:rPr>
                      <m:t>m</m:t>
                    </m:r>
                    <m:r>
                      <a:rPr lang="en-US" altLang="zh-CN" sz="1800">
                        <a:latin typeface="Cambria Math" panose="02040503050406030204" pitchFamily="18" charset="0"/>
                        <a:ea typeface="隶书" panose="02010509060101010101" pitchFamily="49" charset="-122"/>
                      </a:rPr>
                      <m:t>≥</m:t>
                    </m:r>
                    <m:r>
                      <m:rPr>
                        <m:sty m:val="p"/>
                      </m:rPr>
                      <a:rPr lang="en-US" altLang="zh-CN" sz="1800">
                        <a:latin typeface="Cambria Math" panose="02040503050406030204" pitchFamily="18" charset="0"/>
                        <a:ea typeface="隶书" panose="02010509060101010101" pitchFamily="49" charset="-122"/>
                      </a:rPr>
                      <m:t>n</m:t>
                    </m:r>
                    <m:r>
                      <a:rPr lang="en-US" altLang="zh-CN" sz="1800">
                        <a:latin typeface="Cambria Math" panose="02040503050406030204" pitchFamily="18" charset="0"/>
                        <a:ea typeface="隶书" panose="02010509060101010101" pitchFamily="49" charset="-122"/>
                      </a:rPr>
                      <m:t>)</m:t>
                    </m:r>
                  </m:oMath>
                </a14:m>
                <a:r>
                  <a:rPr lang="zh-CN" altLang="zh-CN" sz="1800" dirty="0">
                    <a:latin typeface="Times New Roman" panose="02020603050405020304" pitchFamily="18" charset="0"/>
                    <a:cs typeface="Times New Roman" panose="02020603050405020304" pitchFamily="18" charset="0"/>
                  </a:rPr>
                  <a:t>连续存储单元，以线性表中每个元素的关键字</a:t>
                </a:r>
                <a14:m>
                  <m:oMath xmlns:m="http://schemas.openxmlformats.org/officeDocument/2006/math">
                    <m:sSub>
                      <m:sSubPr>
                        <m:ctrlPr>
                          <a:rPr lang="zh-CN" altLang="zh-CN" sz="1800" i="1">
                            <a:latin typeface="Cambria Math" panose="02040503050406030204" pitchFamily="18" charset="0"/>
                            <a:ea typeface="隶书" panose="02010509060101010101" pitchFamily="49" charset="-122"/>
                          </a:rPr>
                        </m:ctrlPr>
                      </m:sSubPr>
                      <m:e>
                        <m:r>
                          <a:rPr lang="en-US" altLang="zh-CN" sz="1800">
                            <a:latin typeface="Cambria Math" panose="02040503050406030204" pitchFamily="18" charset="0"/>
                            <a:ea typeface="隶书" panose="02010509060101010101" pitchFamily="49" charset="-122"/>
                          </a:rPr>
                          <m:t>𝑘</m:t>
                        </m:r>
                      </m:e>
                      <m:sub>
                        <m:r>
                          <a:rPr lang="en-US" altLang="zh-CN" sz="1800">
                            <a:latin typeface="Cambria Math" panose="02040503050406030204" pitchFamily="18" charset="0"/>
                            <a:ea typeface="隶书" panose="02010509060101010101" pitchFamily="49" charset="-122"/>
                          </a:rPr>
                          <m:t>𝑖</m:t>
                        </m:r>
                      </m:sub>
                    </m:sSub>
                    <m:r>
                      <a:rPr lang="en-US" altLang="zh-CN" sz="1800">
                        <a:latin typeface="Cambria Math" panose="02040503050406030204" pitchFamily="18" charset="0"/>
                        <a:ea typeface="隶书" panose="02010509060101010101" pitchFamily="49" charset="-122"/>
                      </a:rPr>
                      <m:t>(0≤</m:t>
                    </m:r>
                    <m:r>
                      <a:rPr lang="en-US" altLang="zh-CN" sz="1800">
                        <a:latin typeface="Cambria Math" panose="02040503050406030204" pitchFamily="18" charset="0"/>
                        <a:ea typeface="隶书" panose="02010509060101010101" pitchFamily="49" charset="-122"/>
                      </a:rPr>
                      <m:t>𝑖</m:t>
                    </m:r>
                    <m:r>
                      <a:rPr lang="en-US" altLang="zh-CN" sz="1800">
                        <a:latin typeface="Cambria Math" panose="02040503050406030204" pitchFamily="18" charset="0"/>
                        <a:ea typeface="隶书" panose="02010509060101010101" pitchFamily="49" charset="-122"/>
                      </a:rPr>
                      <m:t>≤</m:t>
                    </m:r>
                    <m:r>
                      <a:rPr lang="en-US" altLang="zh-CN" sz="1800">
                        <a:latin typeface="Cambria Math" panose="02040503050406030204" pitchFamily="18" charset="0"/>
                        <a:ea typeface="隶书" panose="02010509060101010101" pitchFamily="49" charset="-122"/>
                      </a:rPr>
                      <m:t>𝑛</m:t>
                    </m:r>
                    <m:r>
                      <a:rPr lang="en-US" altLang="zh-CN" sz="1800">
                        <a:latin typeface="Cambria Math" panose="02040503050406030204" pitchFamily="18" charset="0"/>
                        <a:ea typeface="隶书" panose="02010509060101010101" pitchFamily="49" charset="-122"/>
                      </a:rPr>
                      <m:t>−1)</m:t>
                    </m:r>
                  </m:oMath>
                </a14:m>
                <a:r>
                  <a:rPr lang="zh-CN" altLang="zh-CN" sz="1800" dirty="0">
                    <a:latin typeface="Times New Roman" panose="02020603050405020304" pitchFamily="18" charset="0"/>
                    <a:cs typeface="Times New Roman" panose="02020603050405020304" pitchFamily="18" charset="0"/>
                  </a:rPr>
                  <a:t>为自变量，通过一个称为</a:t>
                </a:r>
                <a:r>
                  <a:rPr lang="zh-CN" altLang="zh-CN" sz="1800" dirty="0">
                    <a:solidFill>
                      <a:srgbClr val="C00000"/>
                    </a:solidFill>
                    <a:latin typeface="Times New Roman" panose="02020603050405020304" pitchFamily="18" charset="0"/>
                    <a:cs typeface="Times New Roman" panose="02020603050405020304" pitchFamily="18" charset="0"/>
                  </a:rPr>
                  <a:t>哈希函数</a:t>
                </a:r>
                <a:r>
                  <a:rPr lang="zh-CN" altLang="zh-CN" sz="1800" dirty="0">
                    <a:latin typeface="Times New Roman" panose="02020603050405020304" pitchFamily="18" charset="0"/>
                    <a:cs typeface="Times New Roman" panose="02020603050405020304" pitchFamily="18" charset="0"/>
                  </a:rPr>
                  <a:t>的函数</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H</m:t>
                    </m:r>
                  </m:oMath>
                </a14:m>
                <a:r>
                  <a:rPr lang="zh-CN" altLang="zh-CN" sz="1800" dirty="0">
                    <a:latin typeface="Times New Roman" panose="02020603050405020304" pitchFamily="18" charset="0"/>
                    <a:cs typeface="Times New Roman" panose="02020603050405020304" pitchFamily="18" charset="0"/>
                  </a:rPr>
                  <a:t>，把</a:t>
                </a:r>
                <a14:m>
                  <m:oMath xmlns:m="http://schemas.openxmlformats.org/officeDocument/2006/math">
                    <m:sSub>
                      <m:sSubPr>
                        <m:ctrlPr>
                          <a:rPr lang="zh-CN" altLang="zh-CN" sz="1800" i="1">
                            <a:latin typeface="Cambria Math" panose="02040503050406030204" pitchFamily="18" charset="0"/>
                            <a:ea typeface="隶书" panose="02010509060101010101" pitchFamily="49" charset="-122"/>
                          </a:rPr>
                        </m:ctrlPr>
                      </m:sSubPr>
                      <m:e>
                        <m:r>
                          <a:rPr lang="en-US" altLang="zh-CN" sz="1800">
                            <a:latin typeface="Cambria Math" panose="02040503050406030204" pitchFamily="18" charset="0"/>
                            <a:ea typeface="隶书" panose="02010509060101010101" pitchFamily="49" charset="-122"/>
                          </a:rPr>
                          <m:t>𝑘</m:t>
                        </m:r>
                      </m:e>
                      <m:sub>
                        <m:r>
                          <a:rPr lang="en-US" altLang="zh-CN" sz="1800">
                            <a:latin typeface="Cambria Math" panose="02040503050406030204" pitchFamily="18" charset="0"/>
                            <a:ea typeface="隶书" panose="02010509060101010101" pitchFamily="49" charset="-122"/>
                          </a:rPr>
                          <m:t>𝑖</m:t>
                        </m:r>
                      </m:sub>
                    </m:sSub>
                  </m:oMath>
                </a14:m>
                <a:r>
                  <a:rPr lang="zh-CN" altLang="zh-CN" sz="1800" dirty="0">
                    <a:latin typeface="Times New Roman" panose="02020603050405020304" pitchFamily="18" charset="0"/>
                    <a:cs typeface="Times New Roman" panose="02020603050405020304" pitchFamily="18" charset="0"/>
                  </a:rPr>
                  <a:t>映射到内存单元地址</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H</m:t>
                    </m:r>
                    <m:r>
                      <a:rPr lang="en-US" altLang="zh-CN" sz="1800">
                        <a:latin typeface="Cambria Math" panose="02040503050406030204" pitchFamily="18" charset="0"/>
                        <a:ea typeface="隶书" panose="02010509060101010101" pitchFamily="49" charset="-122"/>
                      </a:rPr>
                      <m:t>(</m:t>
                    </m:r>
                    <m:sSub>
                      <m:sSubPr>
                        <m:ctrlPr>
                          <a:rPr lang="zh-CN" altLang="zh-CN" sz="1800" i="1">
                            <a:latin typeface="Cambria Math" panose="02040503050406030204" pitchFamily="18" charset="0"/>
                            <a:ea typeface="隶书" panose="02010509060101010101" pitchFamily="49" charset="-122"/>
                          </a:rPr>
                        </m:ctrlPr>
                      </m:sSubPr>
                      <m:e>
                        <m:r>
                          <a:rPr lang="en-US" altLang="zh-CN" sz="1800">
                            <a:latin typeface="Cambria Math" panose="02040503050406030204" pitchFamily="18" charset="0"/>
                            <a:ea typeface="隶书" panose="02010509060101010101" pitchFamily="49" charset="-122"/>
                          </a:rPr>
                          <m:t>𝑘</m:t>
                        </m:r>
                      </m:e>
                      <m:sub>
                        <m:r>
                          <a:rPr lang="en-US" altLang="zh-CN" sz="1800">
                            <a:latin typeface="Cambria Math" panose="02040503050406030204" pitchFamily="18" charset="0"/>
                            <a:ea typeface="隶书" panose="02010509060101010101" pitchFamily="49" charset="-122"/>
                          </a:rPr>
                          <m:t>𝑖</m:t>
                        </m:r>
                      </m:sub>
                    </m:sSub>
                    <m:r>
                      <a:rPr lang="en-US" altLang="zh-CN" sz="1800">
                        <a:latin typeface="Cambria Math" panose="02040503050406030204" pitchFamily="18" charset="0"/>
                        <a:ea typeface="隶书" panose="02010509060101010101" pitchFamily="49" charset="-122"/>
                      </a:rPr>
                      <m:t>)</m:t>
                    </m:r>
                  </m:oMath>
                </a14:m>
                <a:r>
                  <a:rPr lang="zh-CN" altLang="zh-CN" sz="1800" dirty="0">
                    <a:latin typeface="Times New Roman" panose="02020603050405020304" pitchFamily="18" charset="0"/>
                    <a:cs typeface="Times New Roman" panose="02020603050405020304" pitchFamily="18" charset="0"/>
                  </a:rPr>
                  <a:t>，并把该元素存储到该单元中。</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H</m:t>
                    </m:r>
                    <m:r>
                      <a:rPr lang="en-US" altLang="zh-CN" sz="1800">
                        <a:latin typeface="Cambria Math" panose="02040503050406030204" pitchFamily="18" charset="0"/>
                        <a:ea typeface="隶书" panose="02010509060101010101" pitchFamily="49" charset="-122"/>
                      </a:rPr>
                      <m:t>(</m:t>
                    </m:r>
                    <m:sSub>
                      <m:sSubPr>
                        <m:ctrlPr>
                          <a:rPr lang="zh-CN" altLang="zh-CN" sz="1800" i="1">
                            <a:latin typeface="Cambria Math" panose="02040503050406030204" pitchFamily="18" charset="0"/>
                            <a:ea typeface="隶书" panose="02010509060101010101" pitchFamily="49" charset="-122"/>
                          </a:rPr>
                        </m:ctrlPr>
                      </m:sSubPr>
                      <m:e>
                        <m:r>
                          <a:rPr lang="en-US" altLang="zh-CN" sz="1800">
                            <a:latin typeface="Cambria Math" panose="02040503050406030204" pitchFamily="18" charset="0"/>
                            <a:ea typeface="隶书" panose="02010509060101010101" pitchFamily="49" charset="-122"/>
                          </a:rPr>
                          <m:t>𝑘</m:t>
                        </m:r>
                      </m:e>
                      <m:sub>
                        <m:r>
                          <a:rPr lang="en-US" altLang="zh-CN" sz="1800">
                            <a:latin typeface="Cambria Math" panose="02040503050406030204" pitchFamily="18" charset="0"/>
                            <a:ea typeface="隶书" panose="02010509060101010101" pitchFamily="49" charset="-122"/>
                          </a:rPr>
                          <m:t>𝑖</m:t>
                        </m:r>
                      </m:sub>
                    </m:sSub>
                    <m:r>
                      <a:rPr lang="en-US" altLang="zh-CN" sz="1800">
                        <a:latin typeface="Cambria Math" panose="02040503050406030204" pitchFamily="18" charset="0"/>
                        <a:ea typeface="隶书" panose="02010509060101010101" pitchFamily="49" charset="-122"/>
                      </a:rPr>
                      <m:t>)</m:t>
                    </m:r>
                  </m:oMath>
                </a14:m>
                <a:r>
                  <a:rPr lang="zh-CN" altLang="zh-CN" sz="1800" dirty="0">
                    <a:latin typeface="Times New Roman" panose="02020603050405020304" pitchFamily="18" charset="0"/>
                    <a:cs typeface="Times New Roman" panose="02020603050405020304" pitchFamily="18" charset="0"/>
                  </a:rPr>
                  <a:t>称为</a:t>
                </a:r>
                <a:r>
                  <a:rPr lang="zh-CN" altLang="zh-CN" sz="1800" dirty="0">
                    <a:solidFill>
                      <a:srgbClr val="C00000"/>
                    </a:solidFill>
                    <a:latin typeface="Times New Roman" panose="02020603050405020304" pitchFamily="18" charset="0"/>
                    <a:cs typeface="Times New Roman" panose="02020603050405020304" pitchFamily="18" charset="0"/>
                  </a:rPr>
                  <a:t>哈希地址</a:t>
                </a:r>
                <a:r>
                  <a:rPr lang="zh-CN" altLang="zh-CN" sz="1800" dirty="0">
                    <a:latin typeface="Times New Roman" panose="02020603050405020304" pitchFamily="18" charset="0"/>
                    <a:cs typeface="Times New Roman" panose="02020603050405020304" pitchFamily="18" charset="0"/>
                  </a:rPr>
                  <a:t>，又称为</a:t>
                </a:r>
                <a:r>
                  <a:rPr lang="zh-CN" altLang="zh-CN" sz="1800" dirty="0">
                    <a:solidFill>
                      <a:srgbClr val="C00000"/>
                    </a:solidFill>
                    <a:latin typeface="Times New Roman" panose="02020603050405020304" pitchFamily="18" charset="0"/>
                    <a:cs typeface="Times New Roman" panose="02020603050405020304" pitchFamily="18" charset="0"/>
                  </a:rPr>
                  <a:t>散列地址</a:t>
                </a:r>
                <a:r>
                  <a:rPr lang="zh-CN" altLang="zh-CN" sz="1800" dirty="0">
                    <a:latin typeface="Times New Roman" panose="02020603050405020304" pitchFamily="18" charset="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5496" y="1064124"/>
                <a:ext cx="9001000" cy="3507876"/>
              </a:xfrm>
              <a:blipFill>
                <a:blip r:embed="rId2"/>
                <a:stretch>
                  <a:fillRect l="-678" t="-1565" r="-881"/>
                </a:stretch>
              </a:blipFill>
            </p:spPr>
            <p:txBody>
              <a:bodyPr/>
              <a:lstStyle/>
              <a:p>
                <a:r>
                  <a:rPr lang="zh-CN" altLang="en-US">
                    <a:noFill/>
                  </a:rPr>
                  <a:t> </a:t>
                </a:r>
              </a:p>
            </p:txBody>
          </p:sp>
        </mc:Fallback>
      </mc:AlternateContent>
      <p:sp>
        <p:nvSpPr>
          <p:cNvPr id="4" name="文本框 3"/>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哈希表的基本概念</a:t>
            </a:r>
          </a:p>
        </p:txBody>
      </p:sp>
    </p:spTree>
    <p:extLst>
      <p:ext uri="{BB962C8B-B14F-4D97-AF65-F5344CB8AC3E}">
        <p14:creationId xmlns:p14="http://schemas.microsoft.com/office/powerpoint/2010/main" val="197978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064124"/>
                <a:ext cx="9036496" cy="3507876"/>
              </a:xfrm>
            </p:spPr>
            <p:txBody>
              <a:bodyPr/>
              <a:lstStyle/>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除了特别简单的应用，在大多数情况下，所构造出的哈希函数是多对一的（非单射函数），即可能有多个不同的关键字，它们对应的哈希函数值是相同的，这意味着不同元素的关键字由哈希函数确定的存储位置是相同的，即</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𝑘𝑒𝑦</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𝑘𝑒𝑦</m:t>
                        </m:r>
                      </m:e>
                      <m:sub>
                        <m:r>
                          <a:rPr lang="en-US" altLang="zh-CN" sz="1800" i="1">
                            <a:latin typeface="Cambria Math" panose="02040503050406030204" pitchFamily="18" charset="0"/>
                          </a:rPr>
                          <m:t>2</m:t>
                        </m:r>
                      </m:sub>
                    </m:sSub>
                  </m:oMath>
                </a14:m>
                <a:r>
                  <a:rPr lang="zh-CN" altLang="zh-CN" sz="1800" dirty="0">
                    <a:latin typeface="Times New Roman" panose="02020603050405020304" pitchFamily="18" charset="0"/>
                    <a:cs typeface="Times New Roman" panose="02020603050405020304" pitchFamily="18" charset="0"/>
                  </a:rPr>
                  <a:t>，但</a:t>
                </a:r>
                <a14:m>
                  <m:oMath xmlns:m="http://schemas.openxmlformats.org/officeDocument/2006/math">
                    <m:r>
                      <m:rPr>
                        <m:sty m:val="p"/>
                      </m:rPr>
                      <a:rPr lang="en-US" altLang="zh-CN" sz="1800">
                        <a:latin typeface="Cambria Math" panose="02040503050406030204" pitchFamily="18" charset="0"/>
                      </a:rPr>
                      <m:t>H</m:t>
                    </m:r>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𝑘𝑒𝑦</m:t>
                            </m:r>
                          </m:e>
                          <m:sub>
                            <m:r>
                              <a:rPr lang="en-US" altLang="zh-CN" sz="1800" i="1">
                                <a:latin typeface="Cambria Math" panose="02040503050406030204" pitchFamily="18" charset="0"/>
                              </a:rPr>
                              <m:t>1</m:t>
                            </m:r>
                          </m:sub>
                        </m:sSub>
                      </m:e>
                    </m:d>
                    <m:r>
                      <a:rPr lang="en-US" altLang="zh-CN" sz="1800" i="1">
                        <a:latin typeface="Cambria Math" panose="02040503050406030204" pitchFamily="18" charset="0"/>
                      </a:rPr>
                      <m:t>=</m:t>
                    </m:r>
                    <m:r>
                      <m:rPr>
                        <m:sty m:val="p"/>
                      </m:rPr>
                      <a:rPr lang="en-US" altLang="zh-CN" sz="1800">
                        <a:latin typeface="Cambria Math" panose="02040503050406030204" pitchFamily="18" charset="0"/>
                      </a:rPr>
                      <m:t>H</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𝑘𝑒𝑦</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。这种情况被称为</a:t>
                </a:r>
                <a:r>
                  <a:rPr lang="zh-CN" altLang="zh-CN" sz="1800" dirty="0">
                    <a:solidFill>
                      <a:srgbClr val="C00000"/>
                    </a:solidFill>
                    <a:latin typeface="Times New Roman" panose="02020603050405020304" pitchFamily="18" charset="0"/>
                    <a:cs typeface="Times New Roman" panose="02020603050405020304" pitchFamily="18" charset="0"/>
                  </a:rPr>
                  <a:t>哈希冲突</a:t>
                </a:r>
                <a:r>
                  <a:rPr lang="zh-CN" altLang="zh-CN" sz="1800" dirty="0">
                    <a:latin typeface="Times New Roman" panose="02020603050405020304" pitchFamily="18" charset="0"/>
                    <a:cs typeface="Times New Roman" panose="02020603050405020304" pitchFamily="18" charset="0"/>
                  </a:rPr>
                  <a:t>。</a:t>
                </a:r>
              </a:p>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根据抽屉原理，冲突是不可能完全避免的。由于冲突的存在，在建立哈希表时将无法唯一地确定关键字和存储地址的对应关系。为此在设计哈希表时应当尽量减少冲突的发生，当冲突发生时应寻找解决冲突的方法。因此，采用哈希存储技术需要考虑以下两个主要问题：</a:t>
                </a:r>
              </a:p>
              <a:p>
                <a:pPr algn="just">
                  <a:lnSpc>
                    <a:spcPts val="2400"/>
                  </a:lnSpc>
                  <a:spcBef>
                    <a:spcPts val="0"/>
                  </a:spcBef>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）哈希函数的构造：构造一个性能好，冲突少的</a:t>
                </a:r>
                <a:r>
                  <a:rPr lang="en-US" altLang="zh-CN" sz="1800" dirty="0">
                    <a:latin typeface="Times New Roman" panose="02020603050405020304" pitchFamily="18" charset="0"/>
                    <a:cs typeface="Times New Roman" panose="02020603050405020304" pitchFamily="18" charset="0"/>
                  </a:rPr>
                  <a:t>Hash</a:t>
                </a:r>
                <a:r>
                  <a:rPr lang="zh-CN" altLang="zh-CN" sz="1800" dirty="0">
                    <a:latin typeface="Times New Roman" panose="02020603050405020304" pitchFamily="18" charset="0"/>
                    <a:cs typeface="Times New Roman" panose="02020603050405020304" pitchFamily="18" charset="0"/>
                  </a:rPr>
                  <a:t>函数。</a:t>
                </a:r>
              </a:p>
              <a:p>
                <a:pPr algn="just">
                  <a:lnSpc>
                    <a:spcPts val="2400"/>
                  </a:lnSpc>
                  <a:spcBef>
                    <a:spcPts val="0"/>
                  </a:spcBef>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）冲突的处理：当冲突发生时，寻找合适的处理冲突的方法来解决冲突。</a:t>
                </a:r>
              </a:p>
              <a:p>
                <a:pPr>
                  <a:lnSpc>
                    <a:spcPts val="24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064124"/>
                <a:ext cx="9036496" cy="3507876"/>
              </a:xfrm>
              <a:blipFill>
                <a:blip r:embed="rId2"/>
                <a:stretch>
                  <a:fillRect l="-675" t="-1565" r="-877"/>
                </a:stretch>
              </a:blipFill>
            </p:spPr>
            <p:txBody>
              <a:bodyPr/>
              <a:lstStyle/>
              <a:p>
                <a:r>
                  <a:rPr lang="zh-CN" altLang="en-US">
                    <a:noFill/>
                  </a:rPr>
                  <a:t> </a:t>
                </a:r>
              </a:p>
            </p:txBody>
          </p:sp>
        </mc:Fallback>
      </mc:AlternateContent>
      <p:sp>
        <p:nvSpPr>
          <p:cNvPr id="4" name="文本框 3"/>
          <p:cNvSpPr txBox="1"/>
          <p:nvPr/>
        </p:nvSpPr>
        <p:spPr>
          <a:xfrm>
            <a:off x="611380" y="115457"/>
            <a:ext cx="223242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哈希表的基本概念</a:t>
            </a:r>
          </a:p>
        </p:txBody>
      </p:sp>
    </p:spTree>
    <p:extLst>
      <p:ext uri="{BB962C8B-B14F-4D97-AF65-F5344CB8AC3E}">
        <p14:creationId xmlns:p14="http://schemas.microsoft.com/office/powerpoint/2010/main" val="136610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784976" cy="3507876"/>
              </a:xfrm>
            </p:spPr>
            <p:txBody>
              <a:bodyPr/>
              <a:lstStyle/>
              <a:p>
                <a:pPr algn="just"/>
                <a:r>
                  <a:rPr lang="zh-CN" altLang="en-US" sz="1800" dirty="0">
                    <a:latin typeface="Times New Roman" panose="02020603050405020304" pitchFamily="18" charset="0"/>
                    <a:cs typeface="Times New Roman" panose="02020603050405020304" pitchFamily="18" charset="0"/>
                  </a:rPr>
                  <a:t>    哈希函数的设计方法有很多种</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一般来说</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构造哈希函数的目标是使得到的哈希地址尽可能均匀地分布在</a:t>
                </a:r>
                <a14:m>
                  <m:oMath xmlns:m="http://schemas.openxmlformats.org/officeDocument/2006/math">
                    <m:r>
                      <a:rPr lang="en-US" altLang="zh-CN" sz="1800" i="1" dirty="0" smtClean="0">
                        <a:latin typeface="Cambria Math" panose="02040503050406030204" pitchFamily="18" charset="0"/>
                        <a:ea typeface="隶书" panose="02010509060101010101" pitchFamily="49" charset="-122"/>
                      </a:rPr>
                      <m:t>𝑚</m:t>
                    </m:r>
                  </m:oMath>
                </a14:m>
                <a:r>
                  <a:rPr lang="zh-CN" altLang="en-US" sz="1800" dirty="0">
                    <a:latin typeface="Times New Roman" panose="02020603050405020304" pitchFamily="18" charset="0"/>
                    <a:cs typeface="Times New Roman" panose="02020603050405020304" pitchFamily="18" charset="0"/>
                  </a:rPr>
                  <a:t>个连续的存储单元上</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即希望哈希函数能够把数据元素以相同的概率放置在哈希表的所有存储单元中</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同时提高计算过程的效率。 </a:t>
                </a:r>
                <a:endParaRPr lang="en-US" altLang="zh-CN" sz="1800" dirty="0">
                  <a:latin typeface="Times New Roman" panose="02020603050405020304" pitchFamily="18" charset="0"/>
                  <a:cs typeface="Times New Roman" panose="02020603050405020304" pitchFamily="18" charset="0"/>
                </a:endParaRPr>
              </a:p>
              <a:p>
                <a:pPr algn="just"/>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哈希函数一般依赖于关键字的分布情况</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然而在大多数实际情况中</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事先可能并不知道关键字的分布</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因此在设计哈希函数时</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要根据具体情况选择一个合理的方案。 </a:t>
                </a:r>
                <a:endParaRPr lang="en-US" altLang="zh-CN" sz="1800" dirty="0">
                  <a:latin typeface="Times New Roman" panose="02020603050405020304" pitchFamily="18" charset="0"/>
                  <a:cs typeface="Times New Roman" panose="02020603050405020304" pitchFamily="18" charset="0"/>
                </a:endParaRPr>
              </a:p>
              <a:p>
                <a:pPr algn="just"/>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常见的哈希函数构造方法有直接定址法、除留余数法、数字分析法、平方取中法和折叠法。</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784976" cy="3507876"/>
              </a:xfrm>
              <a:blipFill>
                <a:blip r:embed="rId2"/>
                <a:stretch>
                  <a:fillRect l="-693" r="-763"/>
                </a:stretch>
              </a:blipFill>
            </p:spPr>
            <p:txBody>
              <a:bodyPr/>
              <a:lstStyle/>
              <a:p>
                <a:r>
                  <a:rPr lang="zh-CN" altLang="en-US">
                    <a:noFill/>
                  </a:rPr>
                  <a:t> </a:t>
                </a:r>
              </a:p>
            </p:txBody>
          </p:sp>
        </mc:Fallback>
      </mc:AlternateContent>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哈希函数的构造 </a:t>
            </a:r>
          </a:p>
        </p:txBody>
      </p:sp>
    </p:spTree>
    <p:extLst>
      <p:ext uri="{BB962C8B-B14F-4D97-AF65-F5344CB8AC3E}">
        <p14:creationId xmlns:p14="http://schemas.microsoft.com/office/powerpoint/2010/main" val="251207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178" y="915566"/>
                <a:ext cx="9108504" cy="2659754"/>
              </a:xfrm>
            </p:spPr>
            <p:txBody>
              <a:bodyPr/>
              <a:lstStyle/>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直接定址法是指取关键字或关键字的某个线性函数作哈希地址，即：</a:t>
                </a:r>
              </a:p>
              <a:p>
                <a:pPr marL="0" indent="0" algn="just">
                  <a:lnSpc>
                    <a:spcPts val="2400"/>
                  </a:lnSpc>
                  <a:spcBef>
                    <a:spcPts val="0"/>
                  </a:spcBef>
                  <a:buNone/>
                </a:pPr>
                <a14:m>
                  <m:oMathPara xmlns:m="http://schemas.openxmlformats.org/officeDocument/2006/math">
                    <m:oMathParaPr>
                      <m:jc m:val="center"/>
                    </m:oMathParaPr>
                    <m:oMath xmlns:m="http://schemas.openxmlformats.org/officeDocument/2006/math">
                      <m:r>
                        <m:rPr>
                          <m:sty m:val="p"/>
                        </m:rPr>
                        <a:rPr lang="en-US" altLang="zh-CN" sz="1800" smtClean="0">
                          <a:solidFill>
                            <a:srgbClr val="C00000"/>
                          </a:solidFill>
                          <a:latin typeface="Cambria Math" panose="02040503050406030204" pitchFamily="18" charset="0"/>
                        </a:rPr>
                        <m:t>H</m:t>
                      </m:r>
                      <m:r>
                        <a:rPr lang="en-US" altLang="zh-CN" sz="1800" smtClean="0">
                          <a:solidFill>
                            <a:srgbClr val="C00000"/>
                          </a:solidFill>
                          <a:latin typeface="Cambria Math" panose="02040503050406030204" pitchFamily="18" charset="0"/>
                        </a:rPr>
                        <m:t>(</m:t>
                      </m:r>
                      <m:r>
                        <m:rPr>
                          <m:sty m:val="p"/>
                        </m:rPr>
                        <a:rPr lang="en-US" altLang="zh-CN" sz="1800" smtClean="0">
                          <a:solidFill>
                            <a:srgbClr val="C00000"/>
                          </a:solidFill>
                          <a:latin typeface="Cambria Math" panose="02040503050406030204" pitchFamily="18" charset="0"/>
                        </a:rPr>
                        <m:t>key</m:t>
                      </m:r>
                      <m:r>
                        <a:rPr lang="en-US" altLang="zh-CN" sz="1800" smtClean="0">
                          <a:solidFill>
                            <a:srgbClr val="C00000"/>
                          </a:solidFill>
                          <a:latin typeface="Cambria Math" panose="02040503050406030204" pitchFamily="18" charset="0"/>
                        </a:rPr>
                        <m:t>)=</m:t>
                      </m:r>
                      <m:r>
                        <m:rPr>
                          <m:sty m:val="p"/>
                        </m:rPr>
                        <a:rPr lang="en-US" altLang="zh-CN" sz="1800" smtClean="0">
                          <a:solidFill>
                            <a:srgbClr val="C00000"/>
                          </a:solidFill>
                          <a:latin typeface="Cambria Math" panose="02040503050406030204" pitchFamily="18" charset="0"/>
                        </a:rPr>
                        <m:t>key</m:t>
                      </m:r>
                      <m:r>
                        <a:rPr lang="en-US" altLang="zh-CN" sz="1800" i="1">
                          <a:solidFill>
                            <a:srgbClr val="C00000"/>
                          </a:solidFill>
                          <a:latin typeface="Cambria Math" panose="02040503050406030204" pitchFamily="18" charset="0"/>
                        </a:rPr>
                        <m:t> </m:t>
                      </m:r>
                      <m:r>
                        <a:rPr lang="en-US" altLang="zh-CN" sz="1800">
                          <a:solidFill>
                            <a:srgbClr val="C00000"/>
                          </a:solidFill>
                          <a:latin typeface="Cambria Math" panose="02040503050406030204" pitchFamily="18" charset="0"/>
                        </a:rPr>
                        <m:t>   </m:t>
                      </m:r>
                      <m:r>
                        <a:rPr lang="zh-CN" altLang="zh-CN" sz="1800">
                          <a:solidFill>
                            <a:srgbClr val="C00000"/>
                          </a:solidFill>
                          <a:latin typeface="Cambria Math" panose="02040503050406030204" pitchFamily="18" charset="0"/>
                        </a:rPr>
                        <m:t>或</m:t>
                      </m:r>
                      <m:r>
                        <a:rPr lang="en-US" altLang="zh-CN" sz="1800">
                          <a:solidFill>
                            <a:srgbClr val="C00000"/>
                          </a:solidFill>
                          <a:latin typeface="Cambria Math" panose="02040503050406030204" pitchFamily="18" charset="0"/>
                        </a:rPr>
                        <m:t>   </m:t>
                      </m:r>
                      <m:r>
                        <m:rPr>
                          <m:sty m:val="p"/>
                        </m:rPr>
                        <a:rPr lang="en-US" altLang="zh-CN" sz="1800">
                          <a:solidFill>
                            <a:srgbClr val="C00000"/>
                          </a:solidFill>
                          <a:latin typeface="Cambria Math" panose="02040503050406030204" pitchFamily="18" charset="0"/>
                        </a:rPr>
                        <m:t>H</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key</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a</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key</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b</m:t>
                      </m:r>
                    </m:oMath>
                  </m:oMathPara>
                </a14:m>
                <a:endParaRPr lang="zh-CN" altLang="zh-CN" sz="1800" dirty="0">
                  <a:solidFill>
                    <a:srgbClr val="C00000"/>
                  </a:solidFill>
                  <a:latin typeface="Times New Roman" panose="02020603050405020304" pitchFamily="18" charset="0"/>
                  <a:cs typeface="Times New Roman" panose="02020603050405020304" pitchFamily="18" charset="0"/>
                </a:endParaRPr>
              </a:p>
              <a:p>
                <a:pPr algn="just">
                  <a:lnSpc>
                    <a:spcPts val="2400"/>
                  </a:lnSpc>
                  <a:spcBef>
                    <a:spcPts val="0"/>
                  </a:spcBef>
                </a:pPr>
                <a:r>
                  <a:rPr lang="zh-CN" altLang="zh-CN" sz="1800" dirty="0">
                    <a:latin typeface="Times New Roman" panose="02020603050405020304" pitchFamily="18" charset="0"/>
                    <a:cs typeface="Times New Roman" panose="02020603050405020304" pitchFamily="18" charset="0"/>
                  </a:rPr>
                  <a:t>其中，</a:t>
                </a:r>
                <a14:m>
                  <m:oMath xmlns:m="http://schemas.openxmlformats.org/officeDocument/2006/math">
                    <m:r>
                      <m:rPr>
                        <m:sty m:val="p"/>
                      </m:rPr>
                      <a:rPr lang="en-US" altLang="zh-CN" sz="1800">
                        <a:latin typeface="Cambria Math" panose="02040503050406030204" pitchFamily="18" charset="0"/>
                      </a:rPr>
                      <m:t>a</m:t>
                    </m:r>
                    <m:r>
                      <a:rPr lang="zh-CN" altLang="zh-CN" sz="1800">
                        <a:latin typeface="Cambria Math" panose="02040503050406030204" pitchFamily="18" charset="0"/>
                      </a:rPr>
                      <m:t>和</m:t>
                    </m:r>
                    <m:r>
                      <m:rPr>
                        <m:sty m:val="p"/>
                      </m:rPr>
                      <a:rPr lang="en-US" altLang="zh-CN" sz="1800">
                        <a:latin typeface="Cambria Math" panose="02040503050406030204" pitchFamily="18" charset="0"/>
                      </a:rPr>
                      <m:t>b</m:t>
                    </m:r>
                  </m:oMath>
                </a14:m>
                <a:r>
                  <a:rPr lang="zh-CN" altLang="zh-CN" sz="1800" dirty="0">
                    <a:latin typeface="Times New Roman" panose="02020603050405020304" pitchFamily="18" charset="0"/>
                    <a:cs typeface="Times New Roman" panose="02020603050405020304" pitchFamily="18" charset="0"/>
                  </a:rPr>
                  <a:t>为常数。由于哈希函数是一类双射函数，因此哈希地址不会产生冲突。当关键字的分布基本连续时，一般可用直接定址法的哈希函数；否则，将造成内存单元的浪费</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实际应用中能用这种哈希函数的情况很少。</a:t>
                </a:r>
              </a:p>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例如，某高校</a:t>
                </a:r>
                <a:r>
                  <a:rPr lang="en-US" altLang="zh-CN" sz="1800" dirty="0">
                    <a:solidFill>
                      <a:srgbClr val="C00000"/>
                    </a:solidFill>
                    <a:latin typeface="Times New Roman" panose="02020603050405020304" pitchFamily="18" charset="0"/>
                    <a:cs typeface="Times New Roman" panose="02020603050405020304" pitchFamily="18" charset="0"/>
                  </a:rPr>
                  <a:t>2000</a:t>
                </a:r>
                <a:r>
                  <a:rPr lang="zh-CN" altLang="zh-CN" sz="1800" dirty="0">
                    <a:solidFill>
                      <a:srgbClr val="C00000"/>
                    </a:solidFill>
                    <a:latin typeface="Times New Roman" panose="02020603050405020304" pitchFamily="18" charset="0"/>
                    <a:cs typeface="Times New Roman" panose="02020603050405020304" pitchFamily="18" charset="0"/>
                  </a:rPr>
                  <a:t>年以来</a:t>
                </a:r>
                <a:r>
                  <a:rPr lang="en-US" altLang="zh-CN" sz="1800" dirty="0">
                    <a:solidFill>
                      <a:srgbClr val="C00000"/>
                    </a:solidFill>
                    <a:latin typeface="Times New Roman" panose="02020603050405020304" pitchFamily="18" charset="0"/>
                    <a:cs typeface="Times New Roman" panose="02020603050405020304" pitchFamily="18" charset="0"/>
                  </a:rPr>
                  <a:t>pc</a:t>
                </a:r>
                <a:r>
                  <a:rPr lang="zh-CN" altLang="zh-CN" sz="1800" dirty="0">
                    <a:solidFill>
                      <a:srgbClr val="C00000"/>
                    </a:solidFill>
                    <a:latin typeface="Times New Roman" panose="02020603050405020304" pitchFamily="18" charset="0"/>
                    <a:cs typeface="Times New Roman" panose="02020603050405020304" pitchFamily="18" charset="0"/>
                  </a:rPr>
                  <a:t>机的拥有量数字统计表如表</a:t>
                </a:r>
                <a:r>
                  <a:rPr lang="en-US" altLang="zh-CN" sz="1800" dirty="0">
                    <a:solidFill>
                      <a:srgbClr val="C00000"/>
                    </a:solidFill>
                    <a:latin typeface="Times New Roman" panose="02020603050405020304" pitchFamily="18" charset="0"/>
                    <a:cs typeface="Times New Roman" panose="02020603050405020304" pitchFamily="18" charset="0"/>
                  </a:rPr>
                  <a:t>8.2</a:t>
                </a:r>
                <a:r>
                  <a:rPr lang="zh-CN" altLang="zh-CN" sz="1800" dirty="0">
                    <a:solidFill>
                      <a:srgbClr val="C00000"/>
                    </a:solidFill>
                    <a:latin typeface="Times New Roman" panose="02020603050405020304" pitchFamily="18" charset="0"/>
                    <a:cs typeface="Times New Roman" panose="02020603050405020304" pitchFamily="18" charset="0"/>
                  </a:rPr>
                  <a:t>所示，其中年份为关键字，哈希函数取</a:t>
                </a:r>
                <a14:m>
                  <m:oMath xmlns:m="http://schemas.openxmlformats.org/officeDocument/2006/math">
                    <m:r>
                      <m:rPr>
                        <m:sty m:val="p"/>
                      </m:rPr>
                      <a:rPr lang="en-US" altLang="zh-CN" sz="1800">
                        <a:solidFill>
                          <a:srgbClr val="C00000"/>
                        </a:solidFill>
                        <a:latin typeface="Cambria Math" panose="02040503050406030204" pitchFamily="18" charset="0"/>
                      </a:rPr>
                      <m:t>H</m:t>
                    </m:r>
                    <m:d>
                      <m:dPr>
                        <m:ctrlPr>
                          <a:rPr lang="zh-CN" altLang="zh-CN" sz="1800" i="1">
                            <a:solidFill>
                              <a:srgbClr val="C00000"/>
                            </a:solidFill>
                            <a:latin typeface="Cambria Math" panose="02040503050406030204" pitchFamily="18" charset="0"/>
                          </a:rPr>
                        </m:ctrlPr>
                      </m:dPr>
                      <m:e>
                        <m:r>
                          <m:rPr>
                            <m:sty m:val="p"/>
                          </m:rPr>
                          <a:rPr lang="en-US" altLang="zh-CN" sz="1800">
                            <a:solidFill>
                              <a:srgbClr val="C00000"/>
                            </a:solidFill>
                            <a:latin typeface="Cambria Math" panose="02040503050406030204" pitchFamily="18" charset="0"/>
                          </a:rPr>
                          <m:t>key</m:t>
                        </m:r>
                      </m:e>
                    </m:d>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key</m:t>
                    </m:r>
                    <m:r>
                      <a:rPr lang="en-US" altLang="zh-CN" sz="1800" i="1">
                        <a:solidFill>
                          <a:srgbClr val="C00000"/>
                        </a:solidFill>
                        <a:latin typeface="Cambria Math" panose="02040503050406030204" pitchFamily="18" charset="0"/>
                      </a:rPr>
                      <m:t>−</m:t>
                    </m:r>
                    <m:r>
                      <a:rPr lang="en-US" altLang="zh-CN" sz="1800">
                        <a:solidFill>
                          <a:srgbClr val="C00000"/>
                        </a:solidFill>
                        <a:latin typeface="Cambria Math" panose="02040503050406030204" pitchFamily="18" charset="0"/>
                      </a:rPr>
                      <m:t>2000</m:t>
                    </m:r>
                  </m:oMath>
                </a14:m>
                <a:r>
                  <a:rPr lang="zh-CN" altLang="zh-CN" sz="1800" dirty="0">
                    <a:solidFill>
                      <a:srgbClr val="C00000"/>
                    </a:solidFill>
                    <a:latin typeface="Times New Roman" panose="02020603050405020304" pitchFamily="18" charset="0"/>
                    <a:cs typeface="Times New Roman" panose="02020603050405020304" pitchFamily="18" charset="0"/>
                  </a:rPr>
                  <a:t>。</a:t>
                </a:r>
              </a:p>
              <a:p>
                <a:pPr>
                  <a:lnSpc>
                    <a:spcPts val="24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178" y="915566"/>
                <a:ext cx="9108504" cy="2659754"/>
              </a:xfrm>
              <a:blipFill>
                <a:blip r:embed="rId2"/>
                <a:stretch>
                  <a:fillRect l="-669" t="-1831" r="-803"/>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043608" y="3147814"/>
            <a:ext cx="6696744" cy="972587"/>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26071" y="4299942"/>
                <a:ext cx="8496944" cy="369332"/>
              </a:xfrm>
              <a:prstGeom prst="rect">
                <a:avLst/>
              </a:prstGeom>
              <a:noFill/>
            </p:spPr>
            <p:txBody>
              <a:bodyPr wrap="square" rtlCol="0">
                <a:spAutoFit/>
              </a:bodyPr>
              <a:lstStyle/>
              <a:p>
                <a:r>
                  <a:rPr lang="zh-CN" altLang="zh-CN" dirty="0">
                    <a:latin typeface="Times New Roman" panose="02020603050405020304" pitchFamily="18" charset="0"/>
                    <a:ea typeface="黑体" panose="02010609060101010101" pitchFamily="49" charset="-122"/>
                    <a:cs typeface="Times New Roman" panose="02020603050405020304" pitchFamily="18" charset="0"/>
                  </a:rPr>
                  <a:t>若查询</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2019</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年某高校</a:t>
                </a:r>
                <a:r>
                  <a:rPr lang="en-US" altLang="zh-CN" dirty="0">
                    <a:latin typeface="Times New Roman" panose="02020603050405020304" pitchFamily="18" charset="0"/>
                    <a:ea typeface="黑体" panose="02010609060101010101" pitchFamily="49" charset="-122"/>
                    <a:cs typeface="Times New Roman" panose="02020603050405020304" pitchFamily="18" charset="0"/>
                  </a:rPr>
                  <a:t>pc</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机的拥有量，则只需查</a:t>
                </a:r>
                <a14:m>
                  <m:oMath xmlns:m="http://schemas.openxmlformats.org/officeDocument/2006/math">
                    <m:r>
                      <m:rPr>
                        <m:sty m:val="p"/>
                      </m:rPr>
                      <a:rPr lang="en-US" altLang="zh-CN">
                        <a:latin typeface="Cambria Math" panose="02040503050406030204" pitchFamily="18" charset="0"/>
                      </a:rPr>
                      <m:t>H</m:t>
                    </m:r>
                    <m:d>
                      <m:dPr>
                        <m:ctrlPr>
                          <a:rPr lang="zh-CN" altLang="zh-CN" i="1">
                            <a:latin typeface="Cambria Math" panose="02040503050406030204" pitchFamily="18" charset="0"/>
                          </a:rPr>
                        </m:ctrlPr>
                      </m:dPr>
                      <m:e>
                        <m:r>
                          <a:rPr lang="en-US" altLang="zh-CN" i="1">
                            <a:latin typeface="Cambria Math" panose="02040503050406030204" pitchFamily="18" charset="0"/>
                          </a:rPr>
                          <m:t>2019</m:t>
                        </m:r>
                      </m:e>
                    </m:d>
                    <m:r>
                      <a:rPr lang="en-US" altLang="zh-CN" i="1">
                        <a:latin typeface="Cambria Math" panose="02040503050406030204" pitchFamily="18" charset="0"/>
                      </a:rPr>
                      <m:t>=2019−2000=19</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项即可</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6071" y="4299942"/>
                <a:ext cx="8496944" cy="369332"/>
              </a:xfrm>
              <a:prstGeom prst="rect">
                <a:avLst/>
              </a:prstGeom>
              <a:blipFill>
                <a:blip r:embed="rId4"/>
                <a:stretch>
                  <a:fillRect l="-574" t="-11475" b="-26230"/>
                </a:stretch>
              </a:blipFill>
            </p:spPr>
            <p:txBody>
              <a:bodyPr/>
              <a:lstStyle/>
              <a:p>
                <a:r>
                  <a:rPr lang="zh-CN" altLang="en-US">
                    <a:noFill/>
                  </a:rPr>
                  <a:t> </a:t>
                </a:r>
              </a:p>
            </p:txBody>
          </p:sp>
        </mc:Fallback>
      </mc:AlternateContent>
      <p:sp>
        <p:nvSpPr>
          <p:cNvPr id="6" name="文本框 5"/>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直接定址法</a:t>
            </a:r>
          </a:p>
        </p:txBody>
      </p:sp>
    </p:spTree>
    <p:extLst>
      <p:ext uri="{BB962C8B-B14F-4D97-AF65-F5344CB8AC3E}">
        <p14:creationId xmlns:p14="http://schemas.microsoft.com/office/powerpoint/2010/main" val="50585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9036496" cy="2443730"/>
              </a:xfrm>
            </p:spPr>
            <p:txBody>
              <a:bodyPr/>
              <a:lstStyle/>
              <a:p>
                <a:pPr algn="just">
                  <a:lnSpc>
                    <a:spcPts val="25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除留余数法是指用关键字</a:t>
                </a:r>
                <a14:m>
                  <m:oMath xmlns:m="http://schemas.openxmlformats.org/officeDocument/2006/math">
                    <m:r>
                      <m:rPr>
                        <m:sty m:val="p"/>
                      </m:rPr>
                      <a:rPr lang="en-US" altLang="zh-CN" sz="1800">
                        <a:latin typeface="Cambria Math" panose="02040503050406030204" pitchFamily="18" charset="0"/>
                      </a:rPr>
                      <m:t>key</m:t>
                    </m:r>
                  </m:oMath>
                </a14:m>
                <a:r>
                  <a:rPr lang="zh-CN" altLang="zh-CN" sz="1800" dirty="0">
                    <a:latin typeface="Times New Roman" panose="02020603050405020304" pitchFamily="18" charset="0"/>
                    <a:cs typeface="Times New Roman" panose="02020603050405020304" pitchFamily="18" charset="0"/>
                  </a:rPr>
                  <a:t>除以某个不大于哈希表表长</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的数</a:t>
                </a:r>
                <a14:m>
                  <m:oMath xmlns:m="http://schemas.openxmlformats.org/officeDocument/2006/math">
                    <m:r>
                      <m:rPr>
                        <m:sty m:val="p"/>
                      </m:rPr>
                      <a:rPr lang="en-US" altLang="zh-CN" sz="1800">
                        <a:latin typeface="Cambria Math" panose="02040503050406030204" pitchFamily="18" charset="0"/>
                      </a:rPr>
                      <m:t>p</m:t>
                    </m:r>
                  </m:oMath>
                </a14:m>
                <a:r>
                  <a:rPr lang="zh-CN" altLang="zh-CN" sz="1800" dirty="0">
                    <a:latin typeface="Times New Roman" panose="02020603050405020304" pitchFamily="18" charset="0"/>
                    <a:cs typeface="Times New Roman" panose="02020603050405020304" pitchFamily="18" charset="0"/>
                  </a:rPr>
                  <a:t>，将所得余数作为哈希地址的方法。即</a:t>
                </a:r>
              </a:p>
              <a:p>
                <a:pPr marL="0" indent="0" algn="just">
                  <a:lnSpc>
                    <a:spcPts val="25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H</m:t>
                      </m:r>
                      <m:r>
                        <a:rPr lang="en-US" altLang="zh-CN" sz="1800">
                          <a:latin typeface="Cambria Math" panose="02040503050406030204" pitchFamily="18" charset="0"/>
                        </a:rPr>
                        <m:t>(</m:t>
                      </m:r>
                      <m:r>
                        <m:rPr>
                          <m:sty m:val="p"/>
                        </m:rPr>
                        <a:rPr lang="en-US" altLang="zh-CN" sz="1800">
                          <a:latin typeface="Cambria Math" panose="02040503050406030204" pitchFamily="18" charset="0"/>
                        </a:rPr>
                        <m:t>key</m:t>
                      </m:r>
                      <m:r>
                        <a:rPr lang="en-US" altLang="zh-CN" sz="1800">
                          <a:latin typeface="Cambria Math" panose="02040503050406030204" pitchFamily="18" charset="0"/>
                        </a:rPr>
                        <m:t>)=</m:t>
                      </m:r>
                      <m:r>
                        <m:rPr>
                          <m:sty m:val="p"/>
                        </m:rPr>
                        <a:rPr lang="en-US" altLang="zh-CN" sz="1800">
                          <a:latin typeface="Cambria Math" panose="02040503050406030204" pitchFamily="18" charset="0"/>
                        </a:rPr>
                        <m:t>key</m:t>
                      </m:r>
                      <m:r>
                        <a:rPr lang="en-US" altLang="zh-CN" sz="1800">
                          <a:latin typeface="Cambria Math" panose="02040503050406030204" pitchFamily="18" charset="0"/>
                        </a:rPr>
                        <m:t>  %  </m:t>
                      </m:r>
                      <m:r>
                        <m:rPr>
                          <m:sty m:val="p"/>
                        </m:rPr>
                        <a:rPr lang="en-US" altLang="zh-CN" sz="1800">
                          <a:latin typeface="Cambria Math" panose="02040503050406030204" pitchFamily="18" charset="0"/>
                        </a:rPr>
                        <m:t>p</m:t>
                      </m:r>
                      <m:r>
                        <a:rPr lang="en-US" altLang="zh-CN" sz="1800">
                          <a:latin typeface="Cambria Math" panose="02040503050406030204" pitchFamily="18" charset="0"/>
                        </a:rPr>
                        <m:t>(</m:t>
                      </m:r>
                      <m:r>
                        <m:rPr>
                          <m:sty m:val="p"/>
                        </m:rPr>
                        <a:rPr lang="en-US" altLang="zh-CN" sz="1800">
                          <a:latin typeface="Cambria Math" panose="02040503050406030204" pitchFamily="18" charset="0"/>
                        </a:rPr>
                        <m:t>p</m:t>
                      </m:r>
                      <m:r>
                        <a:rPr lang="en-US" altLang="zh-CN" sz="1800">
                          <a:latin typeface="Cambria Math" panose="02040503050406030204" pitchFamily="18" charset="0"/>
                        </a:rPr>
                        <m:t>≤</m:t>
                      </m:r>
                      <m:r>
                        <m:rPr>
                          <m:sty m:val="p"/>
                        </m:rPr>
                        <a:rPr lang="en-US" altLang="zh-CN" sz="1800">
                          <a:latin typeface="Cambria Math" panose="02040503050406030204" pitchFamily="18" charset="0"/>
                        </a:rPr>
                        <m:t>m</m:t>
                      </m:r>
                      <m:r>
                        <a:rPr lang="en-US" altLang="zh-CN" sz="1800">
                          <a:latin typeface="Cambria Math" panose="02040503050406030204" pitchFamily="18" charset="0"/>
                        </a:rPr>
                        <m:t>)</m:t>
                      </m:r>
                    </m:oMath>
                  </m:oMathPara>
                </a14:m>
                <a:endParaRPr lang="zh-CN" altLang="zh-CN" sz="1800" dirty="0">
                  <a:latin typeface="Times New Roman" panose="02020603050405020304" pitchFamily="18" charset="0"/>
                  <a:cs typeface="Times New Roman" panose="02020603050405020304" pitchFamily="18" charset="0"/>
                </a:endParaRPr>
              </a:p>
              <a:p>
                <a:pPr algn="just">
                  <a:lnSpc>
                    <a:spcPts val="25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除留余数法计算简单，适用范围广，是一种最常用的哈希函数。该方法</a:t>
                </a:r>
                <a14:m>
                  <m:oMath xmlns:m="http://schemas.openxmlformats.org/officeDocument/2006/math">
                    <m:r>
                      <m:rPr>
                        <m:sty m:val="p"/>
                      </m:rPr>
                      <a:rPr lang="en-US" altLang="zh-CN" sz="1800">
                        <a:latin typeface="Cambria Math" panose="02040503050406030204" pitchFamily="18" charset="0"/>
                      </a:rPr>
                      <m:t>p</m:t>
                    </m:r>
                  </m:oMath>
                </a14:m>
                <a:r>
                  <a:rPr lang="zh-CN" altLang="zh-CN" sz="1800" dirty="0">
                    <a:latin typeface="Times New Roman" panose="02020603050405020304" pitchFamily="18" charset="0"/>
                    <a:cs typeface="Times New Roman" panose="02020603050405020304" pitchFamily="18" charset="0"/>
                  </a:rPr>
                  <a:t>的选取很重要，</a:t>
                </a:r>
                <a14:m>
                  <m:oMath xmlns:m="http://schemas.openxmlformats.org/officeDocument/2006/math">
                    <m:r>
                      <m:rPr>
                        <m:sty m:val="p"/>
                      </m:rPr>
                      <a:rPr lang="en-US" altLang="zh-CN" sz="1800">
                        <a:latin typeface="Cambria Math" panose="02040503050406030204" pitchFamily="18" charset="0"/>
                      </a:rPr>
                      <m:t>p</m:t>
                    </m:r>
                  </m:oMath>
                </a14:m>
                <a:r>
                  <a:rPr lang="zh-CN" altLang="zh-CN" sz="1800" dirty="0">
                    <a:latin typeface="Times New Roman" panose="02020603050405020304" pitchFamily="18" charset="0"/>
                    <a:cs typeface="Times New Roman" panose="02020603050405020304" pitchFamily="18" charset="0"/>
                  </a:rPr>
                  <a:t>选的不好，容易产生同义词，一般</a:t>
                </a:r>
                <a14:m>
                  <m:oMath xmlns:m="http://schemas.openxmlformats.org/officeDocument/2006/math">
                    <m:r>
                      <m:rPr>
                        <m:sty m:val="p"/>
                      </m:rPr>
                      <a:rPr lang="en-US" altLang="zh-CN" sz="1800">
                        <a:latin typeface="Cambria Math" panose="02040503050406030204" pitchFamily="18" charset="0"/>
                      </a:rPr>
                      <m:t>p</m:t>
                    </m:r>
                  </m:oMath>
                </a14:m>
                <a:r>
                  <a:rPr lang="zh-CN" altLang="zh-CN" sz="1800" dirty="0">
                    <a:latin typeface="Times New Roman" panose="02020603050405020304" pitchFamily="18" charset="0"/>
                    <a:cs typeface="Times New Roman" panose="02020603050405020304" pitchFamily="18" charset="0"/>
                  </a:rPr>
                  <a:t>取不大于</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的素数。</a:t>
                </a:r>
              </a:p>
              <a:p>
                <a:pPr algn="just">
                  <a:lnSpc>
                    <a:spcPts val="2500"/>
                  </a:lnSpc>
                  <a:spcBef>
                    <a:spcPts val="0"/>
                  </a:spcBef>
                </a:pP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例如，已知关键字集合</a:t>
                </a:r>
                <a14:m>
                  <m:oMath xmlns:m="http://schemas.openxmlformats.org/officeDocument/2006/math">
                    <m:r>
                      <a:rPr lang="en-US" altLang="zh-CN" sz="1800">
                        <a:solidFill>
                          <a:srgbClr val="C00000"/>
                        </a:solidFill>
                        <a:latin typeface="Cambria Math" panose="02040503050406030204" pitchFamily="18" charset="0"/>
                      </a:rPr>
                      <m:t>{45,59,39,23,15,9,56,27,18,94,12}</m:t>
                    </m:r>
                  </m:oMath>
                </a14:m>
                <a:r>
                  <a:rPr lang="zh-CN" altLang="zh-CN" sz="1800" dirty="0">
                    <a:solidFill>
                      <a:srgbClr val="C00000"/>
                    </a:solidFill>
                    <a:latin typeface="Times New Roman" panose="02020603050405020304" pitchFamily="18" charset="0"/>
                    <a:cs typeface="Times New Roman" panose="02020603050405020304" pitchFamily="18" charset="0"/>
                  </a:rPr>
                  <a:t>，哈希表长度为</a:t>
                </a:r>
                <a14:m>
                  <m:oMath xmlns:m="http://schemas.openxmlformats.org/officeDocument/2006/math">
                    <m:r>
                      <m:rPr>
                        <m:sty m:val="p"/>
                      </m:rPr>
                      <a:rPr lang="en-US" altLang="zh-CN" sz="1800">
                        <a:solidFill>
                          <a:srgbClr val="C00000"/>
                        </a:solidFill>
                        <a:latin typeface="Cambria Math" panose="02040503050406030204" pitchFamily="18" charset="0"/>
                      </a:rPr>
                      <m:t>m</m:t>
                    </m:r>
                    <m:r>
                      <a:rPr lang="en-US" altLang="zh-CN" sz="1800" i="1">
                        <a:solidFill>
                          <a:srgbClr val="C00000"/>
                        </a:solidFill>
                        <a:latin typeface="Cambria Math" panose="02040503050406030204" pitchFamily="18" charset="0"/>
                      </a:rPr>
                      <m:t>=14</m:t>
                    </m:r>
                  </m:oMath>
                </a14:m>
                <a:r>
                  <a:rPr lang="zh-CN" altLang="zh-CN" sz="1800" dirty="0">
                    <a:solidFill>
                      <a:srgbClr val="C00000"/>
                    </a:solidFill>
                    <a:latin typeface="Times New Roman" panose="02020603050405020304" pitchFamily="18" charset="0"/>
                    <a:cs typeface="Times New Roman" panose="02020603050405020304" pitchFamily="18" charset="0"/>
                  </a:rPr>
                  <a:t>，选取</a:t>
                </a:r>
                <a14:m>
                  <m:oMath xmlns:m="http://schemas.openxmlformats.org/officeDocument/2006/math">
                    <m:r>
                      <m:rPr>
                        <m:sty m:val="p"/>
                      </m:rPr>
                      <a:rPr lang="en-US" altLang="zh-CN" sz="1800">
                        <a:solidFill>
                          <a:srgbClr val="C00000"/>
                        </a:solidFill>
                        <a:latin typeface="Cambria Math" panose="02040503050406030204" pitchFamily="18" charset="0"/>
                      </a:rPr>
                      <m:t>p</m:t>
                    </m:r>
                    <m:r>
                      <a:rPr lang="en-US" altLang="zh-CN" sz="1800" i="1">
                        <a:solidFill>
                          <a:srgbClr val="C00000"/>
                        </a:solidFill>
                        <a:latin typeface="Cambria Math" panose="02040503050406030204" pitchFamily="18" charset="0"/>
                      </a:rPr>
                      <m:t>=13</m:t>
                    </m:r>
                  </m:oMath>
                </a14:m>
                <a:r>
                  <a:rPr lang="zh-CN" altLang="zh-CN" sz="1800" dirty="0">
                    <a:solidFill>
                      <a:srgbClr val="C00000"/>
                    </a:solidFill>
                    <a:latin typeface="Times New Roman" panose="02020603050405020304" pitchFamily="18" charset="0"/>
                    <a:cs typeface="Times New Roman" panose="02020603050405020304" pitchFamily="18" charset="0"/>
                  </a:rPr>
                  <a:t>，哈希函数为</a:t>
                </a:r>
                <a14:m>
                  <m:oMath xmlns:m="http://schemas.openxmlformats.org/officeDocument/2006/math">
                    <m:r>
                      <m:rPr>
                        <m:sty m:val="p"/>
                      </m:rPr>
                      <a:rPr lang="en-US" altLang="zh-CN" sz="1800">
                        <a:solidFill>
                          <a:srgbClr val="C00000"/>
                        </a:solidFill>
                        <a:latin typeface="Cambria Math" panose="02040503050406030204" pitchFamily="18" charset="0"/>
                      </a:rPr>
                      <m:t>H</m:t>
                    </m:r>
                    <m:d>
                      <m:dPr>
                        <m:ctrlPr>
                          <a:rPr lang="zh-CN" altLang="zh-CN" sz="1800" i="1">
                            <a:solidFill>
                              <a:srgbClr val="C00000"/>
                            </a:solidFill>
                            <a:latin typeface="Cambria Math" panose="02040503050406030204" pitchFamily="18" charset="0"/>
                          </a:rPr>
                        </m:ctrlPr>
                      </m:dPr>
                      <m:e>
                        <m:r>
                          <m:rPr>
                            <m:sty m:val="p"/>
                          </m:rPr>
                          <a:rPr lang="en-US" altLang="zh-CN" sz="1800">
                            <a:solidFill>
                              <a:srgbClr val="C00000"/>
                            </a:solidFill>
                            <a:latin typeface="Cambria Math" panose="02040503050406030204" pitchFamily="18" charset="0"/>
                          </a:rPr>
                          <m:t>key</m:t>
                        </m:r>
                      </m:e>
                    </m:d>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key</m:t>
                    </m:r>
                    <m:r>
                      <a:rPr lang="en-US" altLang="zh-CN" sz="1800">
                        <a:solidFill>
                          <a:srgbClr val="C00000"/>
                        </a:solidFill>
                        <a:latin typeface="Cambria Math" panose="02040503050406030204" pitchFamily="18" charset="0"/>
                      </a:rPr>
                      <m:t> </m:t>
                    </m:r>
                    <m:r>
                      <m:rPr>
                        <m:sty m:val="p"/>
                      </m:rPr>
                      <a:rPr lang="en-US" altLang="zh-CN" sz="1800">
                        <a:solidFill>
                          <a:srgbClr val="C00000"/>
                        </a:solidFill>
                        <a:latin typeface="Cambria Math" panose="02040503050406030204" pitchFamily="18" charset="0"/>
                      </a:rPr>
                      <m:t>mod</m:t>
                    </m:r>
                    <m:r>
                      <a:rPr lang="en-US" altLang="zh-CN" sz="1800">
                        <a:solidFill>
                          <a:srgbClr val="C00000"/>
                        </a:solidFill>
                        <a:latin typeface="Cambria Math" panose="02040503050406030204" pitchFamily="18" charset="0"/>
                      </a:rPr>
                      <m:t> 13</m:t>
                    </m:r>
                  </m:oMath>
                </a14:m>
                <a:r>
                  <a:rPr lang="zh-CN" altLang="zh-CN" sz="1800" dirty="0">
                    <a:solidFill>
                      <a:srgbClr val="C00000"/>
                    </a:solidFill>
                    <a:latin typeface="Times New Roman" panose="02020603050405020304" pitchFamily="18" charset="0"/>
                    <a:cs typeface="Times New Roman" panose="02020603050405020304" pitchFamily="18" charset="0"/>
                  </a:rPr>
                  <a:t>，其所得的哈希表如</a:t>
                </a:r>
                <a:r>
                  <a:rPr lang="zh-CN" altLang="en-US" sz="1800" dirty="0">
                    <a:solidFill>
                      <a:srgbClr val="C00000"/>
                    </a:solidFill>
                    <a:latin typeface="Times New Roman" panose="02020603050405020304" pitchFamily="18" charset="0"/>
                    <a:cs typeface="Times New Roman" panose="02020603050405020304" pitchFamily="18" charset="0"/>
                  </a:rPr>
                  <a:t>下</a:t>
                </a:r>
                <a:r>
                  <a:rPr lang="zh-CN" altLang="zh-CN" sz="1800" dirty="0">
                    <a:solidFill>
                      <a:srgbClr val="C00000"/>
                    </a:solidFill>
                    <a:latin typeface="Times New Roman" panose="02020603050405020304" pitchFamily="18" charset="0"/>
                    <a:cs typeface="Times New Roman" panose="02020603050405020304" pitchFamily="18" charset="0"/>
                  </a:rPr>
                  <a:t>表所示。</a:t>
                </a:r>
              </a:p>
              <a:p>
                <a:pPr algn="just">
                  <a:lnSpc>
                    <a:spcPts val="25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9036496" cy="2443730"/>
              </a:xfrm>
              <a:blipFill>
                <a:blip r:embed="rId2"/>
                <a:stretch>
                  <a:fillRect l="-742" t="-2000" r="-810"/>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117236" y="3579862"/>
            <a:ext cx="7017032" cy="809658"/>
          </a:xfrm>
          <a:prstGeom prst="rect">
            <a:avLst/>
          </a:prstGeom>
        </p:spPr>
      </p:pic>
      <p:sp>
        <p:nvSpPr>
          <p:cNvPr id="5" name="文本框 4"/>
          <p:cNvSpPr txBox="1"/>
          <p:nvPr/>
        </p:nvSpPr>
        <p:spPr>
          <a:xfrm>
            <a:off x="611560" y="110224"/>
            <a:ext cx="151216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除留余数法</a:t>
            </a:r>
          </a:p>
        </p:txBody>
      </p:sp>
    </p:spTree>
    <p:extLst>
      <p:ext uri="{BB962C8B-B14F-4D97-AF65-F5344CB8AC3E}">
        <p14:creationId xmlns:p14="http://schemas.microsoft.com/office/powerpoint/2010/main" val="59715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856984" cy="3507876"/>
              </a:xfrm>
            </p:spPr>
            <p:txBody>
              <a:bodyPr/>
              <a:lstStyle/>
              <a:p>
                <a:pPr algn="just">
                  <a:spcBef>
                    <a:spcPts val="0"/>
                  </a:spcBef>
                </a:pPr>
                <a:r>
                  <a:rPr lang="zh-CN" altLang="zh-CN" sz="1800" dirty="0">
                    <a:latin typeface="Times New Roman" panose="02020603050405020304" pitchFamily="18" charset="0"/>
                    <a:cs typeface="Times New Roman" panose="02020603050405020304" pitchFamily="18" charset="0"/>
                  </a:rPr>
                  <a:t>例如，已知关键字的集合</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0" indent="0" algn="just">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{62378165,62371563,62376489,62370317,62374401,62349994, 62340103,62349852}</a:t>
                </a:r>
                <a:endParaRPr lang="en-US" altLang="zh-CN" sz="1800" dirty="0">
                  <a:latin typeface="Times New Roman" panose="02020603050405020304" pitchFamily="18" charset="0"/>
                  <a:cs typeface="Times New Roman" panose="02020603050405020304" pitchFamily="18" charset="0"/>
                </a:endParaRPr>
              </a:p>
              <a:p>
                <a:pPr algn="just">
                  <a:spcBef>
                    <a:spcPts val="0"/>
                  </a:spcBef>
                </a:pPr>
                <a:r>
                  <a:rPr lang="zh-CN" altLang="zh-CN" sz="1800" dirty="0">
                    <a:latin typeface="Times New Roman" panose="02020603050405020304" pitchFamily="18" charset="0"/>
                    <a:cs typeface="Times New Roman" panose="02020603050405020304" pitchFamily="18" charset="0"/>
                  </a:rPr>
                  <a:t>通过分析可知，每个关键字从左到右的第</a:t>
                </a:r>
                <a:r>
                  <a:rPr lang="en-US" altLang="zh-CN" sz="1800" dirty="0">
                    <a:latin typeface="Times New Roman" panose="02020603050405020304" pitchFamily="18" charset="0"/>
                    <a:cs typeface="Times New Roman" panose="02020603050405020304" pitchFamily="18" charset="0"/>
                  </a:rPr>
                  <a:t>1,2,3,4</a:t>
                </a:r>
                <a:r>
                  <a:rPr lang="zh-CN" altLang="zh-CN" sz="1800" dirty="0">
                    <a:latin typeface="Times New Roman" panose="02020603050405020304" pitchFamily="18" charset="0"/>
                    <a:cs typeface="Times New Roman" panose="02020603050405020304" pitchFamily="18" charset="0"/>
                  </a:rPr>
                  <a:t>位数字取值较为集中，不宜作为哈希地址，其它各位取值分布较为均匀，可以根据实际需要取其中的若干位作为哈希地址。若取最后两位作为哈希地址，则上述关键字的哈希地址为</a:t>
                </a:r>
                <a14:m>
                  <m:oMath xmlns:m="http://schemas.openxmlformats.org/officeDocument/2006/math">
                    <m:r>
                      <a:rPr lang="en-US" altLang="zh-CN" sz="1800" smtClean="0">
                        <a:solidFill>
                          <a:srgbClr val="7030A0"/>
                        </a:solidFill>
                        <a:latin typeface="Cambria Math" panose="02040503050406030204" pitchFamily="18" charset="0"/>
                      </a:rPr>
                      <m:t>{65,63,89,17,01,94,03,52}</m:t>
                    </m:r>
                  </m:oMath>
                </a14:m>
                <a:r>
                  <a:rPr lang="zh-CN" altLang="zh-CN" sz="1800" dirty="0">
                    <a:solidFill>
                      <a:srgbClr val="7030A0"/>
                    </a:solidFill>
                    <a:latin typeface="Times New Roman" panose="02020603050405020304" pitchFamily="18" charset="0"/>
                    <a:cs typeface="Times New Roman" panose="02020603050405020304" pitchFamily="18" charset="0"/>
                  </a:rPr>
                  <a:t>。</a:t>
                </a:r>
              </a:p>
              <a:p>
                <a:pPr>
                  <a:lnSpc>
                    <a:spcPts val="24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856984" cy="3507876"/>
              </a:xfrm>
              <a:blipFill>
                <a:blip r:embed="rId2"/>
                <a:stretch>
                  <a:fillRect l="-826" r="-3372"/>
                </a:stretch>
              </a:blipFill>
            </p:spPr>
            <p:txBody>
              <a:bodyPr/>
              <a:lstStyle/>
              <a:p>
                <a:r>
                  <a:rPr lang="zh-CN" altLang="en-US">
                    <a:noFill/>
                  </a:rPr>
                  <a:t> </a:t>
                </a:r>
              </a:p>
            </p:txBody>
          </p:sp>
        </mc:Fallback>
      </mc:AlternateContent>
      <p:sp>
        <p:nvSpPr>
          <p:cNvPr id="4" name="文本框 3"/>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数字分析法</a:t>
            </a:r>
          </a:p>
        </p:txBody>
      </p:sp>
    </p:spTree>
    <p:extLst>
      <p:ext uri="{BB962C8B-B14F-4D97-AF65-F5344CB8AC3E}">
        <p14:creationId xmlns:p14="http://schemas.microsoft.com/office/powerpoint/2010/main" val="379543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928992" cy="2011682"/>
              </a:xfrm>
            </p:spPr>
            <p:txBody>
              <a:bodyPr/>
              <a:lstStyle/>
              <a:p>
                <a:pPr algn="just">
                  <a:lnSpc>
                    <a:spcPts val="25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平方取中法是取关键字平方后的分布均匀的几位作为哈希地址的方法，这是一种较为常见的哈希函数构造方法。通常在选定哈希函数时不一定能知道关键字的所有情况，且取其中几位作为哈希地址也不一定适合，因此平方可以使随机分布的关键字得到的哈希地址也随机，而其所取的地址位数则由表长决定。</a:t>
                </a:r>
              </a:p>
              <a:p>
                <a:pPr algn="just">
                  <a:lnSpc>
                    <a:spcPts val="2500"/>
                  </a:lnSpc>
                  <a:spcBef>
                    <a:spcPts val="0"/>
                  </a:spcBef>
                </a:pPr>
                <a:r>
                  <a:rPr lang="zh-CN" altLang="zh-CN" sz="1800" dirty="0">
                    <a:latin typeface="Times New Roman" panose="02020603050405020304" pitchFamily="18" charset="0"/>
                    <a:cs typeface="Times New Roman" panose="02020603050405020304" pitchFamily="18" charset="0"/>
                  </a:rPr>
                  <a:t>例如，已知关键字集合</a:t>
                </a:r>
                <a14:m>
                  <m:oMath xmlns:m="http://schemas.openxmlformats.org/officeDocument/2006/math">
                    <m:r>
                      <a:rPr lang="en-US" altLang="zh-CN" sz="1800">
                        <a:latin typeface="Cambria Math" panose="02040503050406030204" pitchFamily="18" charset="0"/>
                      </a:rPr>
                      <m:t>{1234,5238,2234,1276}</m:t>
                    </m:r>
                  </m:oMath>
                </a14:m>
                <a:r>
                  <a:rPr lang="zh-CN" altLang="zh-CN" sz="1800" dirty="0">
                    <a:latin typeface="Times New Roman" panose="02020603050405020304" pitchFamily="18" charset="0"/>
                    <a:cs typeface="Times New Roman" panose="02020603050405020304" pitchFamily="18" charset="0"/>
                  </a:rPr>
                  <a:t>，则对关键字进行平方取中法，且平方后取其中第</a:t>
                </a:r>
                <a:r>
                  <a:rPr lang="en-US" altLang="zh-CN" sz="1800" dirty="0">
                    <a:latin typeface="Times New Roman" panose="02020603050405020304" pitchFamily="18" charset="0"/>
                    <a:cs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5</a:t>
                </a:r>
                <a:r>
                  <a:rPr lang="zh-CN" altLang="zh-CN" sz="1800" dirty="0">
                    <a:latin typeface="Times New Roman" panose="02020603050405020304" pitchFamily="18" charset="0"/>
                    <a:cs typeface="Times New Roman" panose="02020603050405020304" pitchFamily="18" charset="0"/>
                  </a:rPr>
                  <a:t>位作地址的哈希</a:t>
                </a:r>
                <a:r>
                  <a:rPr lang="zh-CN" altLang="en-US" sz="1800" dirty="0">
                    <a:latin typeface="Times New Roman" panose="02020603050405020304" pitchFamily="18" charset="0"/>
                    <a:cs typeface="Times New Roman" panose="02020603050405020304" pitchFamily="18" charset="0"/>
                  </a:rPr>
                  <a:t>地址</a:t>
                </a:r>
                <a:r>
                  <a:rPr lang="zh-CN" altLang="zh-CN" sz="1800" dirty="0">
                    <a:latin typeface="Times New Roman" panose="02020603050405020304" pitchFamily="18" charset="0"/>
                    <a:cs typeface="Times New Roman" panose="02020603050405020304" pitchFamily="18" charset="0"/>
                  </a:rPr>
                  <a:t>如</a:t>
                </a:r>
                <a:r>
                  <a:rPr lang="zh-CN" altLang="en-US" sz="1800" dirty="0">
                    <a:latin typeface="Times New Roman" panose="02020603050405020304" pitchFamily="18" charset="0"/>
                    <a:cs typeface="Times New Roman" panose="02020603050405020304" pitchFamily="18" charset="0"/>
                  </a:rPr>
                  <a:t>下</a:t>
                </a:r>
                <a:r>
                  <a:rPr lang="zh-CN" altLang="zh-CN" sz="1800" dirty="0">
                    <a:latin typeface="Times New Roman" panose="02020603050405020304" pitchFamily="18" charset="0"/>
                    <a:cs typeface="Times New Roman" panose="02020603050405020304" pitchFamily="18" charset="0"/>
                  </a:rPr>
                  <a:t>表所示。</a:t>
                </a:r>
              </a:p>
              <a:p>
                <a:pPr>
                  <a:lnSpc>
                    <a:spcPts val="25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928992" cy="2011682"/>
              </a:xfrm>
              <a:blipFill>
                <a:blip r:embed="rId2"/>
                <a:stretch>
                  <a:fillRect l="-751" t="-2121" r="-3347" b="-212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475656" y="3061873"/>
            <a:ext cx="6120680" cy="1475580"/>
          </a:xfrm>
          <a:prstGeom prst="rect">
            <a:avLst/>
          </a:prstGeom>
        </p:spPr>
      </p:pic>
      <p:sp>
        <p:nvSpPr>
          <p:cNvPr id="5" name="文本框 4"/>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平方取中法</a:t>
            </a:r>
          </a:p>
        </p:txBody>
      </p:sp>
    </p:spTree>
    <p:extLst>
      <p:ext uri="{BB962C8B-B14F-4D97-AF65-F5344CB8AC3E}">
        <p14:creationId xmlns:p14="http://schemas.microsoft.com/office/powerpoint/2010/main" val="329335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773821"/>
            <a:ext cx="8928992" cy="2299714"/>
          </a:xfrm>
        </p:spPr>
        <p:txBody>
          <a:bodyPr/>
          <a:lstStyle/>
          <a:p>
            <a:pPr algn="just">
              <a:lnSpc>
                <a:spcPts val="25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折叠法是指将关键字分割成位数相同的几部分，然后取这几部分的叠加和（舍去进位）作为哈希地址的方法。适于关键字位数较多，且每一位上数字分布大致均匀情况。常见的折叠法有移位叠加和间界叠加两种方法：</a:t>
            </a:r>
          </a:p>
          <a:p>
            <a:pPr marL="342900" lvl="1" indent="0" algn="just">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a:t>
            </a:r>
            <a:r>
              <a:rPr lang="zh-CN" altLang="zh-CN" sz="1800" dirty="0">
                <a:solidFill>
                  <a:srgbClr val="C00000"/>
                </a:solidFill>
                <a:latin typeface="Times New Roman" panose="02020603050405020304" pitchFamily="18" charset="0"/>
                <a:cs typeface="Times New Roman" panose="02020603050405020304" pitchFamily="18" charset="0"/>
              </a:rPr>
              <a:t>移位叠加</a:t>
            </a:r>
            <a:r>
              <a:rPr lang="zh-CN" altLang="zh-CN" sz="1800" dirty="0">
                <a:latin typeface="Times New Roman" panose="02020603050405020304" pitchFamily="18" charset="0"/>
                <a:cs typeface="Times New Roman" panose="02020603050405020304" pitchFamily="18" charset="0"/>
              </a:rPr>
              <a:t>：将分割后的几部分低位对齐相加；</a:t>
            </a:r>
          </a:p>
          <a:p>
            <a:pPr marL="342900" lvl="1" indent="0" algn="just">
              <a:lnSpc>
                <a:spcPts val="2500"/>
              </a:lnSpc>
              <a:spcBef>
                <a:spcPts val="0"/>
              </a:spcBef>
              <a:buNone/>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a:t>
            </a:r>
            <a:r>
              <a:rPr lang="zh-CN" altLang="zh-CN" sz="1800" dirty="0">
                <a:solidFill>
                  <a:srgbClr val="C00000"/>
                </a:solidFill>
                <a:latin typeface="Times New Roman" panose="02020603050405020304" pitchFamily="18" charset="0"/>
                <a:cs typeface="Times New Roman" panose="02020603050405020304" pitchFamily="18" charset="0"/>
              </a:rPr>
              <a:t>间界叠加</a:t>
            </a:r>
            <a:r>
              <a:rPr lang="zh-CN" altLang="zh-CN" sz="1800" dirty="0">
                <a:latin typeface="Times New Roman" panose="02020603050405020304" pitchFamily="18" charset="0"/>
                <a:cs typeface="Times New Roman" panose="02020603050405020304" pitchFamily="18" charset="0"/>
              </a:rPr>
              <a:t>：从一端沿分割界来回折送，然后对齐相加。</a:t>
            </a:r>
          </a:p>
          <a:p>
            <a:pPr algn="just">
              <a:lnSpc>
                <a:spcPts val="2500"/>
              </a:lnSpc>
              <a:spcBef>
                <a:spcPts val="0"/>
              </a:spcBef>
            </a:pPr>
            <a:r>
              <a:rPr lang="zh-CN" altLang="zh-CN" sz="1800" dirty="0">
                <a:solidFill>
                  <a:srgbClr val="C00000"/>
                </a:solidFill>
                <a:latin typeface="Times New Roman" panose="02020603050405020304" pitchFamily="18" charset="0"/>
                <a:cs typeface="Times New Roman" panose="02020603050405020304" pitchFamily="18" charset="0"/>
              </a:rPr>
              <a:t>例如，已知关键字为</a:t>
            </a:r>
            <a:r>
              <a:rPr lang="en-US" altLang="zh-CN" sz="1800" dirty="0">
                <a:solidFill>
                  <a:srgbClr val="C00000"/>
                </a:solidFill>
                <a:latin typeface="Times New Roman" panose="02020603050405020304" pitchFamily="18" charset="0"/>
                <a:cs typeface="Times New Roman" panose="02020603050405020304" pitchFamily="18" charset="0"/>
              </a:rPr>
              <a:t>88562918402</a:t>
            </a:r>
            <a:r>
              <a:rPr lang="zh-CN" altLang="zh-CN" sz="1800" dirty="0">
                <a:solidFill>
                  <a:srgbClr val="C00000"/>
                </a:solidFill>
                <a:latin typeface="Times New Roman" panose="02020603050405020304" pitchFamily="18" charset="0"/>
                <a:cs typeface="Times New Roman" panose="02020603050405020304" pitchFamily="18" charset="0"/>
              </a:rPr>
              <a:t>，哈希地址为</a:t>
            </a:r>
            <a:r>
              <a:rPr lang="en-US" altLang="zh-CN" sz="1800" dirty="0">
                <a:solidFill>
                  <a:srgbClr val="C00000"/>
                </a:solidFill>
                <a:latin typeface="Times New Roman" panose="02020603050405020304" pitchFamily="18" charset="0"/>
                <a:cs typeface="Times New Roman" panose="02020603050405020304" pitchFamily="18" charset="0"/>
              </a:rPr>
              <a:t>4</a:t>
            </a:r>
            <a:r>
              <a:rPr lang="zh-CN" altLang="zh-CN" sz="1800" dirty="0">
                <a:solidFill>
                  <a:srgbClr val="C00000"/>
                </a:solidFill>
                <a:latin typeface="Times New Roman" panose="02020603050405020304" pitchFamily="18" charset="0"/>
                <a:cs typeface="Times New Roman" panose="02020603050405020304" pitchFamily="18" charset="0"/>
              </a:rPr>
              <a:t>位，采用</a:t>
            </a:r>
            <a:r>
              <a:rPr lang="en-US" altLang="zh-CN" sz="1800" dirty="0">
                <a:solidFill>
                  <a:srgbClr val="C00000"/>
                </a:solidFill>
                <a:latin typeface="Times New Roman" panose="02020603050405020304" pitchFamily="18" charset="0"/>
                <a:cs typeface="Times New Roman" panose="02020603050405020304" pitchFamily="18" charset="0"/>
              </a:rPr>
              <a:t>2</a:t>
            </a:r>
            <a:r>
              <a:rPr lang="zh-CN" altLang="zh-CN" sz="1800" dirty="0">
                <a:solidFill>
                  <a:srgbClr val="C00000"/>
                </a:solidFill>
                <a:latin typeface="Times New Roman" panose="02020603050405020304" pitchFamily="18" charset="0"/>
                <a:cs typeface="Times New Roman" panose="02020603050405020304" pitchFamily="18" charset="0"/>
              </a:rPr>
              <a:t>种方法构造的哈希</a:t>
            </a:r>
            <a:r>
              <a:rPr lang="zh-CN" altLang="en-US" sz="1800" dirty="0">
                <a:solidFill>
                  <a:srgbClr val="C00000"/>
                </a:solidFill>
                <a:latin typeface="Times New Roman" panose="02020603050405020304" pitchFamily="18" charset="0"/>
                <a:cs typeface="Times New Roman" panose="02020603050405020304" pitchFamily="18" charset="0"/>
              </a:rPr>
              <a:t>地址</a:t>
            </a:r>
            <a:r>
              <a:rPr lang="zh-CN" altLang="zh-CN" sz="1800" dirty="0">
                <a:solidFill>
                  <a:srgbClr val="C00000"/>
                </a:solidFill>
                <a:latin typeface="Times New Roman" panose="02020603050405020304" pitchFamily="18" charset="0"/>
                <a:cs typeface="Times New Roman" panose="02020603050405020304" pitchFamily="18" charset="0"/>
              </a:rPr>
              <a:t>如</a:t>
            </a:r>
            <a:r>
              <a:rPr lang="zh-CN" altLang="en-US" sz="1800" dirty="0">
                <a:solidFill>
                  <a:srgbClr val="C00000"/>
                </a:solidFill>
                <a:latin typeface="Times New Roman" panose="02020603050405020304" pitchFamily="18" charset="0"/>
                <a:cs typeface="Times New Roman" panose="02020603050405020304" pitchFamily="18" charset="0"/>
              </a:rPr>
              <a:t>下</a:t>
            </a:r>
            <a:r>
              <a:rPr lang="zh-CN" altLang="zh-CN" sz="1800" dirty="0">
                <a:solidFill>
                  <a:srgbClr val="C00000"/>
                </a:solidFill>
                <a:latin typeface="Times New Roman" panose="02020603050405020304" pitchFamily="18" charset="0"/>
                <a:cs typeface="Times New Roman" panose="02020603050405020304" pitchFamily="18" charset="0"/>
              </a:rPr>
              <a:t>表所示</a:t>
            </a:r>
            <a:r>
              <a:rPr lang="zh-CN" altLang="en-US" sz="1800" dirty="0">
                <a:solidFill>
                  <a:srgbClr val="C00000"/>
                </a:solidFill>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1198528" y="3219822"/>
            <a:ext cx="6152030" cy="1756769"/>
          </a:xfrm>
          <a:prstGeom prst="rect">
            <a:avLst/>
          </a:prstGeom>
        </p:spPr>
      </p:pic>
      <p:sp>
        <p:nvSpPr>
          <p:cNvPr id="5" name="文本框 4"/>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折叠法</a:t>
            </a:r>
          </a:p>
        </p:txBody>
      </p:sp>
    </p:spTree>
    <p:extLst>
      <p:ext uri="{BB962C8B-B14F-4D97-AF65-F5344CB8AC3E}">
        <p14:creationId xmlns:p14="http://schemas.microsoft.com/office/powerpoint/2010/main" val="217829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745804"/>
                <a:ext cx="8928992" cy="3651892"/>
              </a:xfrm>
            </p:spPr>
            <p:txBody>
              <a:bodyPr/>
              <a:lstStyle/>
              <a:p>
                <a:pPr>
                  <a:lnSpc>
                    <a:spcPts val="22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由于关键字的复杂性和随机性，很难有理想的哈希函数存在。虽然在上一节提到了均匀的哈希函数可以减少冲突，但仍然无法完全避免冲突的发生，因此如何处理冲突便是创建哈希表另外一件重要的工作。通常发生冲突的可能性主要与以下</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个因素有关：</a:t>
                </a:r>
              </a:p>
              <a:p>
                <a:pPr>
                  <a:lnSpc>
                    <a:spcPts val="2200"/>
                  </a:lnSpc>
                  <a:spcBef>
                    <a:spcPts val="0"/>
                  </a:spcBef>
                </a:pP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1</a:t>
                </a:r>
                <a:r>
                  <a:rPr lang="zh-CN" altLang="zh-CN" sz="1800" dirty="0">
                    <a:solidFill>
                      <a:srgbClr val="7030A0"/>
                    </a:solidFill>
                    <a:latin typeface="Times New Roman" panose="02020603050405020304" pitchFamily="18" charset="0"/>
                    <a:cs typeface="Times New Roman" panose="02020603050405020304" pitchFamily="18" charset="0"/>
                  </a:rPr>
                  <a:t>）与装填因子</a:t>
                </a:r>
                <a14:m>
                  <m:oMath xmlns:m="http://schemas.openxmlformats.org/officeDocument/2006/math">
                    <m:r>
                      <m:rPr>
                        <m:sty m:val="p"/>
                      </m:rPr>
                      <a:rPr lang="en-US" altLang="zh-CN" sz="1800">
                        <a:solidFill>
                          <a:srgbClr val="7030A0"/>
                        </a:solidFill>
                        <a:latin typeface="Cambria Math" panose="02040503050406030204" pitchFamily="18" charset="0"/>
                      </a:rPr>
                      <m:t>α</m:t>
                    </m:r>
                  </m:oMath>
                </a14:m>
                <a:r>
                  <a:rPr lang="zh-CN" altLang="zh-CN" sz="1800" dirty="0">
                    <a:solidFill>
                      <a:srgbClr val="7030A0"/>
                    </a:solidFill>
                    <a:latin typeface="Times New Roman" panose="02020603050405020304" pitchFamily="18" charset="0"/>
                    <a:cs typeface="Times New Roman" panose="02020603050405020304" pitchFamily="18" charset="0"/>
                  </a:rPr>
                  <a:t>有关</a:t>
                </a:r>
              </a:p>
              <a:p>
                <a:pPr marL="342900" lvl="1" indent="0">
                  <a:lnSpc>
                    <a:spcPts val="2200"/>
                  </a:lnSpc>
                  <a:spcBef>
                    <a:spcPts val="0"/>
                  </a:spcBef>
                  <a:buNone/>
                </a:pPr>
                <a:r>
                  <a:rPr lang="zh-CN" altLang="zh-CN" sz="1800" dirty="0">
                    <a:latin typeface="Times New Roman" panose="02020603050405020304" pitchFamily="18" charset="0"/>
                    <a:cs typeface="Times New Roman" panose="02020603050405020304" pitchFamily="18" charset="0"/>
                  </a:rPr>
                  <a:t>所谓</a:t>
                </a:r>
                <a:r>
                  <a:rPr lang="zh-CN" altLang="zh-CN" sz="1800" dirty="0">
                    <a:solidFill>
                      <a:srgbClr val="C00000"/>
                    </a:solidFill>
                    <a:latin typeface="Times New Roman" panose="02020603050405020304" pitchFamily="18" charset="0"/>
                    <a:cs typeface="Times New Roman" panose="02020603050405020304" pitchFamily="18" charset="0"/>
                  </a:rPr>
                  <a:t>装填因子</a:t>
                </a:r>
                <a:r>
                  <a:rPr lang="zh-CN" altLang="zh-CN" sz="1800" dirty="0">
                    <a:latin typeface="Times New Roman" panose="02020603050405020304" pitchFamily="18" charset="0"/>
                    <a:cs typeface="Times New Roman" panose="02020603050405020304" pitchFamily="18" charset="0"/>
                  </a:rPr>
                  <a:t>是指哈希表中已填入的元素个数</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与哈希地址空间大小</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的比值，即</a:t>
                </a:r>
                <a14:m>
                  <m:oMath xmlns:m="http://schemas.openxmlformats.org/officeDocument/2006/math">
                    <m:r>
                      <m:rPr>
                        <m:sty m:val="p"/>
                      </m:rPr>
                      <a:rPr lang="en-US" altLang="zh-CN" sz="1800">
                        <a:latin typeface="Cambria Math" panose="02040503050406030204" pitchFamily="18" charset="0"/>
                      </a:rPr>
                      <m:t>α</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800">
                        <a:latin typeface="Cambria Math" panose="02040503050406030204" pitchFamily="18" charset="0"/>
                      </a:rPr>
                      <m:t>α</m:t>
                    </m:r>
                  </m:oMath>
                </a14:m>
                <a:r>
                  <a:rPr lang="zh-CN" altLang="zh-CN" sz="1800" dirty="0">
                    <a:latin typeface="Times New Roman" panose="02020603050405020304" pitchFamily="18" charset="0"/>
                    <a:cs typeface="Times New Roman" panose="02020603050405020304" pitchFamily="18" charset="0"/>
                  </a:rPr>
                  <a:t>越小，冲突的可能性就越小；</a:t>
                </a:r>
                <a14:m>
                  <m:oMath xmlns:m="http://schemas.openxmlformats.org/officeDocument/2006/math">
                    <m:r>
                      <m:rPr>
                        <m:sty m:val="p"/>
                      </m:rPr>
                      <a:rPr lang="en-US" altLang="zh-CN" sz="1800">
                        <a:latin typeface="Cambria Math" panose="02040503050406030204" pitchFamily="18" charset="0"/>
                      </a:rPr>
                      <m:t>α</m:t>
                    </m:r>
                  </m:oMath>
                </a14:m>
                <a:r>
                  <a:rPr lang="zh-CN" altLang="zh-CN" sz="1800" dirty="0">
                    <a:latin typeface="Times New Roman" panose="02020603050405020304" pitchFamily="18" charset="0"/>
                    <a:cs typeface="Times New Roman" panose="02020603050405020304" pitchFamily="18" charset="0"/>
                  </a:rPr>
                  <a:t>越大（最大为</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），冲突的可能性就越大。</a:t>
                </a:r>
              </a:p>
              <a:p>
                <a:pPr>
                  <a:lnSpc>
                    <a:spcPts val="2200"/>
                  </a:lnSpc>
                  <a:spcBef>
                    <a:spcPts val="0"/>
                  </a:spcBef>
                </a:pP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2</a:t>
                </a:r>
                <a:r>
                  <a:rPr lang="zh-CN" altLang="zh-CN" sz="1800" dirty="0">
                    <a:solidFill>
                      <a:srgbClr val="7030A0"/>
                    </a:solidFill>
                    <a:latin typeface="Times New Roman" panose="02020603050405020304" pitchFamily="18" charset="0"/>
                    <a:cs typeface="Times New Roman" panose="02020603050405020304" pitchFamily="18" charset="0"/>
                  </a:rPr>
                  <a:t>）与哈希函数有关</a:t>
                </a:r>
              </a:p>
              <a:p>
                <a:pPr marL="342900" lvl="1" indent="0">
                  <a:lnSpc>
                    <a:spcPts val="2200"/>
                  </a:lnSpc>
                  <a:spcBef>
                    <a:spcPts val="0"/>
                  </a:spcBef>
                  <a:buNone/>
                </a:pPr>
                <a:r>
                  <a:rPr lang="zh-CN" altLang="zh-CN" sz="1800" dirty="0">
                    <a:latin typeface="Times New Roman" panose="02020603050405020304" pitchFamily="18" charset="0"/>
                    <a:cs typeface="Times New Roman" panose="02020603050405020304" pitchFamily="18" charset="0"/>
                  </a:rPr>
                  <a:t>哈希函数选择合理，可以使哈希地址尽可能均匀分布在哈希地址空间上，从而减少冲突发生的可能性；否则，就可能使哈希地址集中在某些区域，从而增加冲突的可能性。</a:t>
                </a:r>
              </a:p>
              <a:p>
                <a:pPr>
                  <a:lnSpc>
                    <a:spcPts val="2200"/>
                  </a:lnSpc>
                  <a:spcBef>
                    <a:spcPts val="0"/>
                  </a:spcBef>
                </a:pP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3</a:t>
                </a:r>
                <a:r>
                  <a:rPr lang="zh-CN" altLang="zh-CN" sz="1800" dirty="0">
                    <a:solidFill>
                      <a:srgbClr val="7030A0"/>
                    </a:solidFill>
                    <a:latin typeface="Times New Roman" panose="02020603050405020304" pitchFamily="18" charset="0"/>
                    <a:cs typeface="Times New Roman" panose="02020603050405020304" pitchFamily="18" charset="0"/>
                  </a:rPr>
                  <a:t>）与解决冲突的方法有关</a:t>
                </a:r>
              </a:p>
              <a:p>
                <a:pPr marL="342900" lvl="1" indent="0">
                  <a:lnSpc>
                    <a:spcPts val="2200"/>
                  </a:lnSpc>
                  <a:spcBef>
                    <a:spcPts val="0"/>
                  </a:spcBef>
                  <a:buNone/>
                </a:pPr>
                <a:r>
                  <a:rPr lang="zh-CN" altLang="zh-CN" sz="1800" dirty="0">
                    <a:latin typeface="Times New Roman" panose="02020603050405020304" pitchFamily="18" charset="0"/>
                    <a:cs typeface="Times New Roman" panose="02020603050405020304" pitchFamily="18" charset="0"/>
                  </a:rPr>
                  <a:t>哈希冲突函数的选择的好坏也将影响发生冲突的可能性。</a:t>
                </a:r>
                <a:endParaRPr lang="en-US" altLang="zh-CN" sz="1800" dirty="0">
                  <a:latin typeface="Times New Roman" panose="02020603050405020304" pitchFamily="18" charset="0"/>
                  <a:cs typeface="Times New Roman" panose="02020603050405020304" pitchFamily="18" charset="0"/>
                </a:endParaRPr>
              </a:p>
              <a:p>
                <a:pPr marL="342900" lvl="1" indent="0">
                  <a:lnSpc>
                    <a:spcPts val="2200"/>
                  </a:lnSpc>
                  <a:spcBef>
                    <a:spcPts val="0"/>
                  </a:spcBef>
                  <a:buNone/>
                </a:pPr>
                <a:endParaRPr lang="zh-CN" altLang="zh-CN" sz="1800" dirty="0">
                  <a:latin typeface="Times New Roman" panose="02020603050405020304" pitchFamily="18" charset="0"/>
                  <a:cs typeface="Times New Roman" panose="02020603050405020304" pitchFamily="18" charset="0"/>
                </a:endParaRPr>
              </a:p>
              <a:p>
                <a:pPr>
                  <a:lnSpc>
                    <a:spcPts val="2200"/>
                  </a:lnSpc>
                  <a:spcBef>
                    <a:spcPts val="0"/>
                  </a:spcBef>
                </a:pPr>
                <a:r>
                  <a:rPr lang="zh-CN" altLang="zh-CN" sz="1800" dirty="0">
                    <a:latin typeface="Times New Roman" panose="02020603050405020304" pitchFamily="18" charset="0"/>
                    <a:cs typeface="Times New Roman" panose="02020603050405020304" pitchFamily="18" charset="0"/>
                  </a:rPr>
                  <a:t>冲突的处理方法有许多种，不同的方法可以得到不同的哈希表，下面介绍几种常用的处理冲突的方法。</a:t>
                </a:r>
              </a:p>
              <a:p>
                <a:pPr>
                  <a:lnSpc>
                    <a:spcPts val="24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745804"/>
                <a:ext cx="8928992" cy="3651892"/>
              </a:xfrm>
              <a:blipFill>
                <a:blip r:embed="rId2"/>
                <a:stretch>
                  <a:fillRect l="-751" t="-2003" r="-3347" b="-18698"/>
                </a:stretch>
              </a:blipFill>
            </p:spPr>
            <p:txBody>
              <a:bodyPr/>
              <a:lstStyle/>
              <a:p>
                <a:r>
                  <a:rPr lang="zh-CN" altLang="en-US">
                    <a:noFill/>
                  </a:rPr>
                  <a:t> </a:t>
                </a:r>
              </a:p>
            </p:txBody>
          </p:sp>
        </mc:Fallback>
      </mc:AlternateContent>
      <p:sp>
        <p:nvSpPr>
          <p:cNvPr id="4" name="文本框 3"/>
          <p:cNvSpPr txBox="1"/>
          <p:nvPr/>
        </p:nvSpPr>
        <p:spPr>
          <a:xfrm>
            <a:off x="611380" y="115457"/>
            <a:ext cx="25204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哈希冲突的解决办法</a:t>
            </a:r>
          </a:p>
        </p:txBody>
      </p:sp>
    </p:spTree>
    <p:extLst>
      <p:ext uri="{BB962C8B-B14F-4D97-AF65-F5344CB8AC3E}">
        <p14:creationId xmlns:p14="http://schemas.microsoft.com/office/powerpoint/2010/main" val="86908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928992" cy="3507876"/>
              </a:xfrm>
            </p:spPr>
            <p:txBody>
              <a:bodyPr/>
              <a:lstStyle/>
              <a:p>
                <a:pPr algn="just">
                  <a:lnSpc>
                    <a:spcPts val="23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所谓</a:t>
                </a:r>
                <a:r>
                  <a:rPr lang="zh-CN" altLang="zh-CN" sz="1800" dirty="0">
                    <a:solidFill>
                      <a:srgbClr val="7030A0"/>
                    </a:solidFill>
                    <a:latin typeface="Times New Roman" panose="02020603050405020304" pitchFamily="18" charset="0"/>
                    <a:cs typeface="Times New Roman" panose="02020603050405020304" pitchFamily="18" charset="0"/>
                  </a:rPr>
                  <a:t>开放定址法</a:t>
                </a:r>
                <a:r>
                  <a:rPr lang="zh-CN" altLang="zh-CN" sz="1800" dirty="0">
                    <a:latin typeface="Times New Roman" panose="02020603050405020304" pitchFamily="18" charset="0"/>
                    <a:cs typeface="Times New Roman" panose="02020603050405020304" pitchFamily="18" charset="0"/>
                  </a:rPr>
                  <a:t>，是一类以发生冲突的哈希地址（该地址已经存放了数据元素）为自变量，通过某种哈希冲突处理函数产生一个新空闲的哈希地址的方法。只要哈希地址空间足够大，空闲的哈希地址总能确定。其函数定义如下：</a:t>
                </a: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𝐻</m:t>
                          </m:r>
                        </m:e>
                        <m:sub>
                          <m:r>
                            <a:rPr lang="en-US" altLang="zh-CN" sz="1800" i="1">
                              <a:latin typeface="Cambria Math" panose="02040503050406030204" pitchFamily="18" charset="0"/>
                            </a:rPr>
                            <m:t>𝑖</m:t>
                          </m:r>
                        </m:sub>
                      </m:sSub>
                      <m:r>
                        <a:rPr lang="en-US" altLang="zh-CN" sz="1800">
                          <a:latin typeface="Cambria Math" panose="02040503050406030204" pitchFamily="18" charset="0"/>
                        </a:rPr>
                        <m:t>=</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H</m:t>
                          </m:r>
                          <m:d>
                            <m:dPr>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key</m:t>
                              </m:r>
                            </m:e>
                          </m:d>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𝑑</m:t>
                              </m:r>
                            </m:e>
                            <m:sub>
                              <m:r>
                                <a:rPr lang="en-US" altLang="zh-CN" sz="1800" i="1">
                                  <a:latin typeface="Cambria Math" panose="02040503050406030204" pitchFamily="18" charset="0"/>
                                </a:rPr>
                                <m:t>𝑖</m:t>
                              </m:r>
                            </m:sub>
                          </m:sSub>
                        </m:e>
                      </m:d>
                      <m:r>
                        <m:rPr>
                          <m:sty m:val="p"/>
                        </m:rPr>
                        <a:rPr lang="en-US" altLang="zh-CN" sz="1800">
                          <a:latin typeface="Cambria Math" panose="02040503050406030204" pitchFamily="18" charset="0"/>
                        </a:rPr>
                        <m:t>mod</m:t>
                      </m:r>
                      <m:r>
                        <a:rPr lang="en-US" altLang="zh-CN" sz="1800">
                          <a:latin typeface="Cambria Math" panose="02040503050406030204" pitchFamily="18" charset="0"/>
                        </a:rPr>
                        <m:t> </m:t>
                      </m:r>
                      <m:r>
                        <m:rPr>
                          <m:sty m:val="p"/>
                        </m:rPr>
                        <a:rPr lang="en-US" altLang="zh-CN" sz="1800">
                          <a:latin typeface="Cambria Math" panose="02040503050406030204" pitchFamily="18" charset="0"/>
                        </a:rPr>
                        <m:t>m</m:t>
                      </m:r>
                      <m:r>
                        <a:rPr lang="en-US" altLang="zh-CN" sz="1800">
                          <a:latin typeface="Cambria Math" panose="02040503050406030204" pitchFamily="18" charset="0"/>
                        </a:rPr>
                        <m:t>(1≤</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m:rPr>
                          <m:sty m:val="p"/>
                        </m:rPr>
                        <a:rPr lang="en-US" altLang="zh-CN" sz="1800">
                          <a:latin typeface="Cambria Math" panose="02040503050406030204" pitchFamily="18" charset="0"/>
                        </a:rPr>
                        <m:t>m</m:t>
                      </m:r>
                      <m:r>
                        <a:rPr lang="en-US" altLang="zh-CN" sz="1800" i="1">
                          <a:latin typeface="Cambria Math" panose="02040503050406030204" pitchFamily="18" charset="0"/>
                        </a:rPr>
                        <m:t>−</m:t>
                      </m:r>
                      <m:r>
                        <a:rPr lang="en-US" altLang="zh-CN" sz="1800">
                          <a:latin typeface="Cambria Math" panose="02040503050406030204" pitchFamily="18" charset="0"/>
                        </a:rPr>
                        <m:t>1)</m:t>
                      </m:r>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其中</a:t>
                </a:r>
                <a14:m>
                  <m:oMath xmlns:m="http://schemas.openxmlformats.org/officeDocument/2006/math">
                    <m:r>
                      <m:rPr>
                        <m:sty m:val="p"/>
                      </m:rPr>
                      <a:rPr lang="en-US" altLang="zh-CN" sz="1800">
                        <a:latin typeface="Cambria Math" panose="02040503050406030204" pitchFamily="18" charset="0"/>
                      </a:rPr>
                      <m:t>H</m:t>
                    </m:r>
                  </m:oMath>
                </a14:m>
                <a:r>
                  <a:rPr lang="zh-CN" altLang="zh-CN" sz="1800" dirty="0">
                    <a:latin typeface="Times New Roman" panose="02020603050405020304" pitchFamily="18" charset="0"/>
                    <a:cs typeface="Times New Roman" panose="02020603050405020304" pitchFamily="18" charset="0"/>
                  </a:rPr>
                  <a:t>为哈希函数，</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为哈希表的表长，</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𝑑</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为所取的增量序列。</a:t>
                </a:r>
                <a:endParaRPr lang="en-US"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algn="just">
                  <a:lnSpc>
                    <a:spcPts val="23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可以采用 线性探测再散列 或 二次探测再散列 两种常用方法取值。</a:t>
                </a:r>
                <a:endParaRPr lang="zh-CN" altLang="zh-CN" sz="1800" dirty="0">
                  <a:latin typeface="Times New Roman" panose="02020603050405020304" pitchFamily="18" charset="0"/>
                  <a:cs typeface="Times New Roman" panose="02020603050405020304" pitchFamily="18" charset="0"/>
                </a:endParaRPr>
              </a:p>
              <a:p>
                <a:pPr>
                  <a:lnSpc>
                    <a:spcPts val="23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928992" cy="3507876"/>
              </a:xfrm>
              <a:blipFill>
                <a:blip r:embed="rId2"/>
                <a:stretch>
                  <a:fillRect l="-751" t="-1913" r="-820"/>
                </a:stretch>
              </a:blipFill>
            </p:spPr>
            <p:txBody>
              <a:bodyPr/>
              <a:lstStyle/>
              <a:p>
                <a:r>
                  <a:rPr lang="zh-CN" altLang="en-US">
                    <a:noFill/>
                  </a:rPr>
                  <a:t> </a:t>
                </a:r>
              </a:p>
            </p:txBody>
          </p:sp>
        </mc:Fallback>
      </mc:AlternateContent>
      <p:sp>
        <p:nvSpPr>
          <p:cNvPr id="4" name="文本框 3"/>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开放定址法</a:t>
            </a:r>
          </a:p>
        </p:txBody>
      </p:sp>
    </p:spTree>
    <p:extLst>
      <p:ext uri="{BB962C8B-B14F-4D97-AF65-F5344CB8AC3E}">
        <p14:creationId xmlns:p14="http://schemas.microsoft.com/office/powerpoint/2010/main" val="262045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064124"/>
                <a:ext cx="9036496" cy="3507876"/>
              </a:xfrm>
            </p:spPr>
            <p:txBody>
              <a:bodyPr/>
              <a:lstStyle/>
              <a:p>
                <a:pPr algn="just">
                  <a:lnSpc>
                    <a:spcPts val="25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线性探测再散列是取增量序列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𝑑</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为</a:t>
                </a:r>
                <a14:m>
                  <m:oMath xmlns:m="http://schemas.openxmlformats.org/officeDocument/2006/math">
                    <m:r>
                      <a:rPr lang="en-US" altLang="zh-CN" sz="1800">
                        <a:latin typeface="Cambria Math" panose="02040503050406030204" pitchFamily="18" charset="0"/>
                      </a:rPr>
                      <m:t>1,2,⋯,</m:t>
                    </m:r>
                    <m:r>
                      <m:rPr>
                        <m:sty m:val="p"/>
                      </m:rPr>
                      <a:rPr lang="en-US" altLang="zh-CN" sz="1800">
                        <a:latin typeface="Cambria Math" panose="02040503050406030204" pitchFamily="18" charset="0"/>
                      </a:rPr>
                      <m:t>m</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的方法。其过程可描述为：当哈希地址</a:t>
                </a:r>
                <a14:m>
                  <m:oMath xmlns:m="http://schemas.openxmlformats.org/officeDocument/2006/math">
                    <m:r>
                      <a:rPr lang="en-US" altLang="zh-CN" sz="1800" i="1">
                        <a:latin typeface="Cambria Math" panose="02040503050406030204" pitchFamily="18" charset="0"/>
                      </a:rPr>
                      <m:t>𝑖</m:t>
                    </m:r>
                  </m:oMath>
                </a14:m>
                <a:r>
                  <a:rPr lang="zh-CN" altLang="zh-CN" sz="1800" dirty="0">
                    <a:latin typeface="Times New Roman" panose="02020603050405020304" pitchFamily="18" charset="0"/>
                    <a:cs typeface="Times New Roman" panose="02020603050405020304" pitchFamily="18" charset="0"/>
                  </a:rPr>
                  <a:t>发生冲突时，查看哈希地址</a:t>
                </a:r>
                <a14:m>
                  <m:oMath xmlns:m="http://schemas.openxmlformats.org/officeDocument/2006/math">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是否为空，若为空，则存放数据元素；否则查看</a:t>
                </a:r>
                <a14:m>
                  <m:oMath xmlns:m="http://schemas.openxmlformats.org/officeDocument/2006/math">
                    <m:r>
                      <m:rPr>
                        <m:sty m:val="p"/>
                      </m:rPr>
                      <a:rPr lang="en-US" altLang="zh-CN" sz="1800">
                        <a:latin typeface="Cambria Math" panose="02040503050406030204" pitchFamily="18" charset="0"/>
                      </a:rPr>
                      <m:t>i</m:t>
                    </m:r>
                    <m:r>
                      <a:rPr lang="en-US" altLang="zh-CN" sz="1800">
                        <a:latin typeface="Cambria Math" panose="02040503050406030204" pitchFamily="18" charset="0"/>
                      </a:rPr>
                      <m:t>+2</m:t>
                    </m:r>
                  </m:oMath>
                </a14:m>
                <a:r>
                  <a:rPr lang="zh-CN" altLang="zh-CN" sz="1800" dirty="0">
                    <a:latin typeface="Times New Roman" panose="02020603050405020304" pitchFamily="18" charset="0"/>
                    <a:cs typeface="Times New Roman" panose="02020603050405020304" pitchFamily="18" charset="0"/>
                  </a:rPr>
                  <a:t>是否为空，依次类推。</a:t>
                </a:r>
                <a:endParaRPr lang="en-US" altLang="zh-CN" sz="1800" dirty="0">
                  <a:latin typeface="Times New Roman" panose="02020603050405020304" pitchFamily="18" charset="0"/>
                  <a:cs typeface="Times New Roman" panose="02020603050405020304" pitchFamily="18" charset="0"/>
                </a:endParaRPr>
              </a:p>
              <a:p>
                <a:pPr algn="just">
                  <a:lnSpc>
                    <a:spcPts val="2500"/>
                  </a:lnSpc>
                  <a:spcBef>
                    <a:spcPts val="0"/>
                  </a:spcBef>
                </a:pPr>
                <a:endParaRPr lang="zh-CN" altLang="zh-CN" sz="1800" dirty="0">
                  <a:latin typeface="Times New Roman" panose="02020603050405020304" pitchFamily="18" charset="0"/>
                  <a:cs typeface="Times New Roman" panose="02020603050405020304" pitchFamily="18" charset="0"/>
                </a:endParaRPr>
              </a:p>
              <a:p>
                <a:pPr algn="just">
                  <a:lnSpc>
                    <a:spcPts val="2500"/>
                  </a:lnSpc>
                  <a:spcBef>
                    <a:spcPts val="0"/>
                  </a:spcBef>
                </a:pPr>
                <a:r>
                  <a:rPr lang="zh-CN" altLang="zh-CN" sz="1800" dirty="0">
                    <a:solidFill>
                      <a:srgbClr val="7030A0"/>
                    </a:solidFill>
                    <a:latin typeface="Times New Roman" panose="02020603050405020304" pitchFamily="18" charset="0"/>
                    <a:cs typeface="Times New Roman" panose="02020603050405020304" pitchFamily="18" charset="0"/>
                  </a:rPr>
                  <a:t>例</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已知关键字集合</a:t>
                </a:r>
                <a14:m>
                  <m:oMath xmlns:m="http://schemas.openxmlformats.org/officeDocument/2006/math">
                    <m:d>
                      <m:dPr>
                        <m:begChr m:val="{"/>
                        <m:endChr m:val="}"/>
                        <m:ctrlPr>
                          <a:rPr lang="zh-CN" altLang="zh-CN" sz="1800" i="1">
                            <a:solidFill>
                              <a:srgbClr val="7030A0"/>
                            </a:solidFill>
                            <a:latin typeface="Cambria Math" panose="02040503050406030204" pitchFamily="18" charset="0"/>
                          </a:rPr>
                        </m:ctrlPr>
                      </m:dPr>
                      <m:e>
                        <m:r>
                          <a:rPr lang="en-US" altLang="zh-CN" sz="1800" i="1">
                            <a:solidFill>
                              <a:srgbClr val="7030A0"/>
                            </a:solidFill>
                            <a:latin typeface="Cambria Math" panose="02040503050406030204" pitchFamily="18" charset="0"/>
                          </a:rPr>
                          <m:t>18</m:t>
                        </m:r>
                        <m:r>
                          <a:rPr lang="en-US" altLang="zh-CN" sz="1800">
                            <a:solidFill>
                              <a:srgbClr val="7030A0"/>
                            </a:solidFill>
                            <a:latin typeface="Cambria Math" panose="02040503050406030204" pitchFamily="18" charset="0"/>
                          </a:rPr>
                          <m:t>,28,36,8,17,55,42,2,59,76,33</m:t>
                        </m:r>
                      </m:e>
                    </m:d>
                  </m:oMath>
                </a14:m>
                <a:r>
                  <a:rPr lang="zh-CN" altLang="zh-CN" sz="1800" dirty="0">
                    <a:solidFill>
                      <a:srgbClr val="7030A0"/>
                    </a:solidFill>
                    <a:latin typeface="Times New Roman" panose="02020603050405020304" pitchFamily="18" charset="0"/>
                    <a:cs typeface="Times New Roman" panose="02020603050405020304" pitchFamily="18" charset="0"/>
                  </a:rPr>
                  <a:t>，哈希表表长为</a:t>
                </a:r>
                <a:r>
                  <a:rPr lang="en-US" altLang="zh-CN" sz="1800" dirty="0">
                    <a:solidFill>
                      <a:srgbClr val="7030A0"/>
                    </a:solidFill>
                    <a:latin typeface="Times New Roman" panose="02020603050405020304" pitchFamily="18" charset="0"/>
                    <a:cs typeface="Times New Roman" panose="02020603050405020304" pitchFamily="18" charset="0"/>
                  </a:rPr>
                  <a:t>16</a:t>
                </a:r>
                <a:r>
                  <a:rPr lang="zh-CN" altLang="zh-CN" sz="1800" dirty="0">
                    <a:solidFill>
                      <a:srgbClr val="7030A0"/>
                    </a:solidFill>
                    <a:latin typeface="Times New Roman" panose="02020603050405020304" pitchFamily="18" charset="0"/>
                    <a:cs typeface="Times New Roman" panose="02020603050405020304" pitchFamily="18" charset="0"/>
                  </a:rPr>
                  <a:t>，哈希函数为</a:t>
                </a:r>
                <a14:m>
                  <m:oMath xmlns:m="http://schemas.openxmlformats.org/officeDocument/2006/math">
                    <m:r>
                      <m:rPr>
                        <m:sty m:val="p"/>
                      </m:rPr>
                      <a:rPr lang="en-US" altLang="zh-CN" sz="1800">
                        <a:solidFill>
                          <a:srgbClr val="7030A0"/>
                        </a:solidFill>
                        <a:latin typeface="Cambria Math" panose="02040503050406030204" pitchFamily="18" charset="0"/>
                      </a:rPr>
                      <m:t>H</m:t>
                    </m:r>
                    <m:d>
                      <m:dPr>
                        <m:ctrlPr>
                          <a:rPr lang="zh-CN" altLang="zh-CN" sz="1800" i="1">
                            <a:solidFill>
                              <a:srgbClr val="7030A0"/>
                            </a:solidFill>
                            <a:latin typeface="Cambria Math" panose="02040503050406030204" pitchFamily="18" charset="0"/>
                          </a:rPr>
                        </m:ctrlPr>
                      </m:dPr>
                      <m:e>
                        <m:r>
                          <m:rPr>
                            <m:sty m:val="p"/>
                          </m:rPr>
                          <a:rPr lang="en-US" altLang="zh-CN" sz="1800">
                            <a:solidFill>
                              <a:srgbClr val="7030A0"/>
                            </a:solidFill>
                            <a:latin typeface="Cambria Math" panose="02040503050406030204" pitchFamily="18" charset="0"/>
                          </a:rPr>
                          <m:t>key</m:t>
                        </m:r>
                      </m:e>
                    </m:d>
                    <m:r>
                      <a:rPr lang="en-US" altLang="zh-CN" sz="1800">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key</m:t>
                    </m:r>
                    <m:r>
                      <a:rPr lang="en-US" altLang="zh-CN" sz="1800">
                        <a:solidFill>
                          <a:srgbClr val="7030A0"/>
                        </a:solidFill>
                        <a:latin typeface="Cambria Math" panose="02040503050406030204" pitchFamily="18" charset="0"/>
                      </a:rPr>
                      <m:t> </m:t>
                    </m:r>
                    <m:r>
                      <m:rPr>
                        <m:sty m:val="p"/>
                      </m:rPr>
                      <a:rPr lang="en-US" altLang="zh-CN" sz="1800">
                        <a:solidFill>
                          <a:srgbClr val="7030A0"/>
                        </a:solidFill>
                        <a:latin typeface="Cambria Math" panose="02040503050406030204" pitchFamily="18" charset="0"/>
                      </a:rPr>
                      <m:t>mod</m:t>
                    </m:r>
                    <m:r>
                      <a:rPr lang="en-US" altLang="zh-CN" sz="1800">
                        <a:solidFill>
                          <a:srgbClr val="7030A0"/>
                        </a:solidFill>
                        <a:latin typeface="Cambria Math" panose="02040503050406030204" pitchFamily="18" charset="0"/>
                      </a:rPr>
                      <m:t> 13</m:t>
                    </m:r>
                  </m:oMath>
                </a14:m>
                <a:r>
                  <a:rPr lang="zh-CN" altLang="zh-CN" sz="1800" dirty="0">
                    <a:solidFill>
                      <a:srgbClr val="7030A0"/>
                    </a:solidFill>
                    <a:latin typeface="Times New Roman" panose="02020603050405020304" pitchFamily="18" charset="0"/>
                    <a:cs typeface="Times New Roman" panose="02020603050405020304" pitchFamily="18" charset="0"/>
                  </a:rPr>
                  <a:t>，试用线性探测再散列构造哈希表。</a:t>
                </a:r>
              </a:p>
              <a:p>
                <a:pPr algn="just">
                  <a:lnSpc>
                    <a:spcPts val="2500"/>
                  </a:lnSpc>
                  <a:spcBef>
                    <a:spcPts val="0"/>
                  </a:spcBef>
                </a:pPr>
                <a:r>
                  <a:rPr lang="zh-CN" altLang="zh-CN" sz="1800" dirty="0">
                    <a:latin typeface="Times New Roman" panose="02020603050405020304" pitchFamily="18" charset="0"/>
                    <a:cs typeface="Times New Roman" panose="02020603050405020304" pitchFamily="18" charset="0"/>
                  </a:rPr>
                  <a:t>解：线性探测再散列构造哈希表如</a:t>
                </a:r>
                <a:r>
                  <a:rPr lang="zh-CN" altLang="en-US" sz="1800" dirty="0">
                    <a:latin typeface="Times New Roman" panose="02020603050405020304" pitchFamily="18" charset="0"/>
                    <a:cs typeface="Times New Roman" panose="02020603050405020304" pitchFamily="18" charset="0"/>
                  </a:rPr>
                  <a:t>下</a:t>
                </a:r>
                <a:r>
                  <a:rPr lang="zh-CN" altLang="zh-CN" sz="1800" dirty="0">
                    <a:latin typeface="Times New Roman" panose="02020603050405020304" pitchFamily="18" charset="0"/>
                    <a:cs typeface="Times New Roman" panose="02020603050405020304" pitchFamily="18" charset="0"/>
                  </a:rPr>
                  <a:t>表所示。</a:t>
                </a:r>
              </a:p>
              <a:p>
                <a:pPr>
                  <a:lnSpc>
                    <a:spcPts val="25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064124"/>
                <a:ext cx="9036496" cy="3507876"/>
              </a:xfrm>
              <a:blipFill>
                <a:blip r:embed="rId2"/>
                <a:stretch>
                  <a:fillRect l="-675" t="-1391" r="-877"/>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222377" y="3291830"/>
            <a:ext cx="6591742" cy="701702"/>
          </a:xfrm>
          <a:prstGeom prst="rect">
            <a:avLst/>
          </a:prstGeom>
        </p:spPr>
      </p:pic>
      <p:sp>
        <p:nvSpPr>
          <p:cNvPr id="5" name="文本框 4"/>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线性探测再散列</a:t>
            </a:r>
          </a:p>
        </p:txBody>
      </p:sp>
    </p:spTree>
    <p:extLst>
      <p:ext uri="{BB962C8B-B14F-4D97-AF65-F5344CB8AC3E}">
        <p14:creationId xmlns:p14="http://schemas.microsoft.com/office/powerpoint/2010/main" val="37269749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928992" cy="1291602"/>
              </a:xfrm>
            </p:spPr>
            <p:txBody>
              <a:bodyPr/>
              <a:lstStyle/>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二次探测再散列是取增量序列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𝑑</m:t>
                        </m:r>
                      </m:e>
                      <m:sub>
                        <m:r>
                          <a:rPr lang="en-US" altLang="zh-CN" sz="1800" i="1">
                            <a:latin typeface="Cambria Math" panose="02040503050406030204" pitchFamily="18" charset="0"/>
                          </a:rPr>
                          <m:t>𝑖</m:t>
                        </m:r>
                      </m:sub>
                    </m:sSub>
                  </m:oMath>
                </a14:m>
                <a:r>
                  <a:rPr lang="zh-CN" altLang="zh-CN" sz="1800" dirty="0">
                    <a:latin typeface="Times New Roman" panose="02020603050405020304" pitchFamily="18" charset="0"/>
                    <a:cs typeface="Times New Roman" panose="02020603050405020304" pitchFamily="18" charset="0"/>
                  </a:rPr>
                  <a:t>为</a:t>
                </a:r>
                <a14:m>
                  <m:oMath xmlns:m="http://schemas.openxmlformats.org/officeDocument/2006/math">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1</m:t>
                        </m:r>
                      </m:e>
                      <m:sup>
                        <m:r>
                          <a:rPr lang="en-US" altLang="zh-CN" sz="1800" i="1">
                            <a:latin typeface="Cambria Math" panose="02040503050406030204" pitchFamily="18" charset="0"/>
                          </a:rPr>
                          <m:t>2</m:t>
                        </m:r>
                      </m:sup>
                    </m:sSup>
                    <m:r>
                      <a:rPr lang="en-US" altLang="zh-CN" sz="1800">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−1</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2</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−2</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𝑘</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m:t>
                        </m:r>
                        <m:r>
                          <a:rPr lang="en-US" altLang="zh-CN" sz="1800" i="1">
                            <a:latin typeface="Cambria Math" panose="02040503050406030204" pitchFamily="18" charset="0"/>
                          </a:rPr>
                          <m:t>𝑘</m:t>
                        </m:r>
                      </m:e>
                      <m:sup>
                        <m:r>
                          <a:rPr lang="en-US" altLang="zh-CN" sz="1800" i="1">
                            <a:latin typeface="Cambria Math" panose="02040503050406030204" pitchFamily="18" charset="0"/>
                          </a:rPr>
                          <m:t>2</m:t>
                        </m:r>
                      </m:sup>
                    </m:sSup>
                    <m:r>
                      <a:rPr lang="en-US" altLang="zh-CN" sz="1800">
                        <a:latin typeface="Cambria Math" panose="02040503050406030204" pitchFamily="18" charset="0"/>
                      </a:rPr>
                      <m:t>(</m:t>
                    </m:r>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𝑚</m:t>
                    </m:r>
                    <m:r>
                      <a:rPr lang="en-US" altLang="zh-CN" sz="1800" i="1">
                        <a:latin typeface="Cambria Math" panose="02040503050406030204" pitchFamily="18" charset="0"/>
                      </a:rPr>
                      <m:t>/2</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的方法。其过程可描述为：当哈希地址</a:t>
                </a:r>
                <a14:m>
                  <m:oMath xmlns:m="http://schemas.openxmlformats.org/officeDocument/2006/math">
                    <m:r>
                      <m:rPr>
                        <m:sty m:val="p"/>
                      </m:rPr>
                      <a:rPr lang="en-US" altLang="zh-CN" sz="1800">
                        <a:latin typeface="Cambria Math" panose="02040503050406030204" pitchFamily="18" charset="0"/>
                      </a:rPr>
                      <m:t>i</m:t>
                    </m:r>
                  </m:oMath>
                </a14:m>
                <a:r>
                  <a:rPr lang="zh-CN" altLang="zh-CN" sz="1800" dirty="0">
                    <a:latin typeface="Times New Roman" panose="02020603050405020304" pitchFamily="18" charset="0"/>
                    <a:cs typeface="Times New Roman" panose="02020603050405020304" pitchFamily="18" charset="0"/>
                  </a:rPr>
                  <a:t>发生冲突时，查看哈希地址</a:t>
                </a:r>
                <a14:m>
                  <m:oMath xmlns:m="http://schemas.openxmlformats.org/officeDocument/2006/math">
                    <m:r>
                      <m:rPr>
                        <m:sty m:val="p"/>
                      </m:rPr>
                      <a:rPr lang="en-US" altLang="zh-CN" sz="1800">
                        <a:latin typeface="Cambria Math" panose="02040503050406030204" pitchFamily="18" charset="0"/>
                      </a:rPr>
                      <m:t>i</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是否为空，若为空则将数据填入，否则查看</a:t>
                </a:r>
                <a14:m>
                  <m:oMath xmlns:m="http://schemas.openxmlformats.org/officeDocument/2006/math">
                    <m:r>
                      <m:rPr>
                        <m:sty m:val="p"/>
                      </m:rPr>
                      <a:rPr lang="en-US" altLang="zh-CN" sz="1800">
                        <a:latin typeface="Cambria Math" panose="02040503050406030204" pitchFamily="18" charset="0"/>
                      </a:rPr>
                      <m:t>i</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是否为空，若为空则将数据填入，否则查看</a:t>
                </a:r>
                <a14:m>
                  <m:oMath xmlns:m="http://schemas.openxmlformats.org/officeDocument/2006/math">
                    <m:r>
                      <m:rPr>
                        <m:sty m:val="p"/>
                      </m:rPr>
                      <a:rPr lang="en-US" altLang="zh-CN" sz="1800">
                        <a:latin typeface="Cambria Math" panose="02040503050406030204" pitchFamily="18" charset="0"/>
                      </a:rPr>
                      <m:t>i</m:t>
                    </m:r>
                    <m:r>
                      <a:rPr lang="en-US" altLang="zh-CN" sz="1800">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a:latin typeface="Cambria Math" panose="02040503050406030204" pitchFamily="18" charset="0"/>
                          </a:rPr>
                          <m:t>2</m:t>
                        </m:r>
                      </m:e>
                      <m:sup>
                        <m:r>
                          <a:rPr lang="en-US" altLang="zh-CN" sz="1800">
                            <a:latin typeface="Cambria Math" panose="02040503050406030204" pitchFamily="18" charset="0"/>
                          </a:rPr>
                          <m:t>2</m:t>
                        </m:r>
                      </m:sup>
                    </m:sSup>
                  </m:oMath>
                </a14:m>
                <a:r>
                  <a:rPr lang="zh-CN" altLang="zh-CN" sz="1800" dirty="0">
                    <a:latin typeface="Times New Roman" panose="02020603050405020304" pitchFamily="18" charset="0"/>
                    <a:cs typeface="Times New Roman" panose="02020603050405020304" pitchFamily="18" charset="0"/>
                  </a:rPr>
                  <a:t>是否为空，依此类推。</a:t>
                </a:r>
                <a:endParaRPr lang="en-US" altLang="zh-CN" sz="1800" dirty="0">
                  <a:latin typeface="Times New Roman" panose="02020603050405020304" pitchFamily="18" charset="0"/>
                  <a:cs typeface="Times New Roman" panose="02020603050405020304" pitchFamily="18" charset="0"/>
                </a:endParaRPr>
              </a:p>
              <a:p>
                <a:pPr algn="just">
                  <a:lnSpc>
                    <a:spcPts val="2400"/>
                  </a:lnSpc>
                  <a:spcBef>
                    <a:spcPts val="0"/>
                  </a:spcBef>
                </a:pPr>
                <a:endParaRPr lang="zh-CN" altLang="zh-CN" sz="1800" dirty="0">
                  <a:latin typeface="Times New Roman" panose="02020603050405020304" pitchFamily="18" charset="0"/>
                  <a:cs typeface="Times New Roman" panose="02020603050405020304" pitchFamily="18" charset="0"/>
                </a:endParaRPr>
              </a:p>
              <a:p>
                <a:pPr>
                  <a:lnSpc>
                    <a:spcPts val="2300"/>
                  </a:lnSpc>
                  <a:spcBef>
                    <a:spcPts val="0"/>
                  </a:spcBef>
                </a:pP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例</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已知关键字的集合</a:t>
                </a:r>
                <a14:m>
                  <m:oMath xmlns:m="http://schemas.openxmlformats.org/officeDocument/2006/math">
                    <m:d>
                      <m:dPr>
                        <m:begChr m:val="{"/>
                        <m:endChr m:val="}"/>
                        <m:ctrlPr>
                          <a:rPr lang="zh-CN" altLang="zh-CN" sz="1800" i="1">
                            <a:solidFill>
                              <a:srgbClr val="7030A0"/>
                            </a:solidFill>
                            <a:latin typeface="Cambria Math" panose="02040503050406030204" pitchFamily="18" charset="0"/>
                          </a:rPr>
                        </m:ctrlPr>
                      </m:dPr>
                      <m:e>
                        <m:r>
                          <a:rPr lang="en-US" altLang="zh-CN" sz="1800" i="1">
                            <a:solidFill>
                              <a:srgbClr val="7030A0"/>
                            </a:solidFill>
                            <a:latin typeface="Cambria Math" panose="02040503050406030204" pitchFamily="18" charset="0"/>
                          </a:rPr>
                          <m:t>18</m:t>
                        </m:r>
                        <m:r>
                          <a:rPr lang="en-US" altLang="zh-CN" sz="1800">
                            <a:solidFill>
                              <a:srgbClr val="7030A0"/>
                            </a:solidFill>
                            <a:latin typeface="Cambria Math" panose="02040503050406030204" pitchFamily="18" charset="0"/>
                          </a:rPr>
                          <m:t>,28,36,8,17,55,42,2,59,76,33</m:t>
                        </m:r>
                      </m:e>
                    </m:d>
                  </m:oMath>
                </a14:m>
                <a:r>
                  <a:rPr lang="zh-CN" altLang="zh-CN" sz="1800" dirty="0">
                    <a:solidFill>
                      <a:srgbClr val="7030A0"/>
                    </a:solidFill>
                    <a:latin typeface="Times New Roman" panose="02020603050405020304" pitchFamily="18" charset="0"/>
                    <a:cs typeface="Times New Roman" panose="02020603050405020304" pitchFamily="18" charset="0"/>
                  </a:rPr>
                  <a:t>，哈希表表长为</a:t>
                </a:r>
                <a:r>
                  <a:rPr lang="en-US" altLang="zh-CN" sz="1800" dirty="0">
                    <a:solidFill>
                      <a:srgbClr val="7030A0"/>
                    </a:solidFill>
                    <a:latin typeface="Times New Roman" panose="02020603050405020304" pitchFamily="18" charset="0"/>
                    <a:cs typeface="Times New Roman" panose="02020603050405020304" pitchFamily="18" charset="0"/>
                  </a:rPr>
                  <a:t>16</a:t>
                </a:r>
                <a:r>
                  <a:rPr lang="zh-CN" altLang="zh-CN" sz="1800" dirty="0">
                    <a:solidFill>
                      <a:srgbClr val="7030A0"/>
                    </a:solidFill>
                    <a:latin typeface="Times New Roman" panose="02020603050405020304" pitchFamily="18" charset="0"/>
                    <a:cs typeface="Times New Roman" panose="02020603050405020304" pitchFamily="18" charset="0"/>
                  </a:rPr>
                  <a:t>，哈希函数为</a:t>
                </a:r>
                <a14:m>
                  <m:oMath xmlns:m="http://schemas.openxmlformats.org/officeDocument/2006/math">
                    <m:r>
                      <m:rPr>
                        <m:sty m:val="p"/>
                      </m:rPr>
                      <a:rPr lang="en-US" altLang="zh-CN" sz="1800">
                        <a:solidFill>
                          <a:srgbClr val="7030A0"/>
                        </a:solidFill>
                        <a:latin typeface="Cambria Math" panose="02040503050406030204" pitchFamily="18" charset="0"/>
                      </a:rPr>
                      <m:t>H</m:t>
                    </m:r>
                    <m:d>
                      <m:dPr>
                        <m:ctrlPr>
                          <a:rPr lang="zh-CN" altLang="zh-CN" sz="1800" i="1">
                            <a:solidFill>
                              <a:srgbClr val="7030A0"/>
                            </a:solidFill>
                            <a:latin typeface="Cambria Math" panose="02040503050406030204" pitchFamily="18" charset="0"/>
                          </a:rPr>
                        </m:ctrlPr>
                      </m:dPr>
                      <m:e>
                        <m:r>
                          <m:rPr>
                            <m:sty m:val="p"/>
                          </m:rPr>
                          <a:rPr lang="en-US" altLang="zh-CN" sz="1800">
                            <a:solidFill>
                              <a:srgbClr val="7030A0"/>
                            </a:solidFill>
                            <a:latin typeface="Cambria Math" panose="02040503050406030204" pitchFamily="18" charset="0"/>
                          </a:rPr>
                          <m:t>key</m:t>
                        </m:r>
                      </m:e>
                    </m:d>
                    <m:r>
                      <a:rPr lang="en-US" altLang="zh-CN" sz="1800">
                        <a:solidFill>
                          <a:srgbClr val="7030A0"/>
                        </a:solidFill>
                        <a:latin typeface="Cambria Math" panose="02040503050406030204" pitchFamily="18" charset="0"/>
                      </a:rPr>
                      <m:t>=</m:t>
                    </m:r>
                    <m:r>
                      <m:rPr>
                        <m:sty m:val="p"/>
                      </m:rPr>
                      <a:rPr lang="en-US" altLang="zh-CN" sz="1800">
                        <a:solidFill>
                          <a:srgbClr val="7030A0"/>
                        </a:solidFill>
                        <a:latin typeface="Cambria Math" panose="02040503050406030204" pitchFamily="18" charset="0"/>
                      </a:rPr>
                      <m:t>key</m:t>
                    </m:r>
                    <m:r>
                      <a:rPr lang="en-US" altLang="zh-CN" sz="1800">
                        <a:solidFill>
                          <a:srgbClr val="7030A0"/>
                        </a:solidFill>
                        <a:latin typeface="Cambria Math" panose="02040503050406030204" pitchFamily="18" charset="0"/>
                      </a:rPr>
                      <m:t> </m:t>
                    </m:r>
                    <m:r>
                      <m:rPr>
                        <m:sty m:val="p"/>
                      </m:rPr>
                      <a:rPr lang="en-US" altLang="zh-CN" sz="1800">
                        <a:solidFill>
                          <a:srgbClr val="7030A0"/>
                        </a:solidFill>
                        <a:latin typeface="Cambria Math" panose="02040503050406030204" pitchFamily="18" charset="0"/>
                      </a:rPr>
                      <m:t>mod</m:t>
                    </m:r>
                    <m:r>
                      <a:rPr lang="en-US" altLang="zh-CN" sz="1800">
                        <a:solidFill>
                          <a:srgbClr val="7030A0"/>
                        </a:solidFill>
                        <a:latin typeface="Cambria Math" panose="02040503050406030204" pitchFamily="18" charset="0"/>
                      </a:rPr>
                      <m:t> 13</m:t>
                    </m:r>
                  </m:oMath>
                </a14:m>
                <a:r>
                  <a:rPr lang="zh-CN" altLang="zh-CN" sz="1800" dirty="0">
                    <a:solidFill>
                      <a:srgbClr val="7030A0"/>
                    </a:solidFill>
                    <a:latin typeface="Times New Roman" panose="02020603050405020304" pitchFamily="18" charset="0"/>
                    <a:cs typeface="Times New Roman" panose="02020603050405020304" pitchFamily="18" charset="0"/>
                  </a:rPr>
                  <a:t>，试用二次探测再散列构造哈希表。</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928992" cy="1291602"/>
              </a:xfrm>
              <a:blipFill>
                <a:blip r:embed="rId2"/>
                <a:stretch>
                  <a:fillRect l="-751" t="-4265" r="-820" b="-74882"/>
                </a:stretch>
              </a:blipFill>
            </p:spPr>
            <p:txBody>
              <a:bodyPr/>
              <a:lstStyle/>
              <a:p>
                <a:r>
                  <a:rPr lang="zh-CN" altLang="en-US">
                    <a:noFill/>
                  </a:rPr>
                  <a:t> </a:t>
                </a:r>
              </a:p>
            </p:txBody>
          </p:sp>
        </mc:Fallback>
      </mc:AlternateContent>
      <p:pic>
        <p:nvPicPr>
          <p:cNvPr id="49" name="图片 48"/>
          <p:cNvPicPr>
            <a:picLocks noChangeAspect="1"/>
          </p:cNvPicPr>
          <p:nvPr/>
        </p:nvPicPr>
        <p:blipFill>
          <a:blip r:embed="rId3"/>
          <a:stretch>
            <a:fillRect/>
          </a:stretch>
        </p:blipFill>
        <p:spPr>
          <a:xfrm>
            <a:off x="1151467" y="3291830"/>
            <a:ext cx="6705691" cy="716357"/>
          </a:xfrm>
          <a:prstGeom prst="rect">
            <a:avLst/>
          </a:prstGeom>
        </p:spPr>
      </p:pic>
      <p:sp>
        <p:nvSpPr>
          <p:cNvPr id="5" name="文本框 4"/>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二次探测再散列</a:t>
            </a:r>
          </a:p>
        </p:txBody>
      </p:sp>
    </p:spTree>
    <p:extLst>
      <p:ext uri="{BB962C8B-B14F-4D97-AF65-F5344CB8AC3E}">
        <p14:creationId xmlns:p14="http://schemas.microsoft.com/office/powerpoint/2010/main" val="234509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67509" y="763523"/>
                <a:ext cx="8928992" cy="1723650"/>
              </a:xfrm>
            </p:spPr>
            <p:txBody>
              <a:bodyPr/>
              <a:lstStyle/>
              <a:p>
                <a:pPr algn="just">
                  <a:lnSpc>
                    <a:spcPts val="2400"/>
                  </a:lnSpc>
                  <a:spcBef>
                    <a:spcPts val="0"/>
                  </a:spcBef>
                </a:pPr>
                <a:r>
                  <a:rPr lang="zh-CN" altLang="en-US" sz="1800" dirty="0">
                    <a:latin typeface="Times New Roman" panose="02020603050405020304" pitchFamily="18" charset="0"/>
                    <a:cs typeface="Times New Roman" panose="02020603050405020304" pitchFamily="18" charset="0"/>
                  </a:rPr>
                  <a:t> 链地址法把所有关键字为同义词的数据元素存储在同一单链表中。在这种方法中</a:t>
                </a: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哈希表的每个单元中存放相应同义词的单链表的头指针。在构造哈希表时每个单链表中的元素有序排列。</a:t>
                </a:r>
                <a:endParaRPr lang="en-US" altLang="zh-CN" sz="1800" dirty="0">
                  <a:latin typeface="Times New Roman" panose="02020603050405020304" pitchFamily="18" charset="0"/>
                  <a:cs typeface="Times New Roman" panose="02020603050405020304" pitchFamily="18" charset="0"/>
                </a:endParaRPr>
              </a:p>
              <a:p>
                <a:pPr algn="just">
                  <a:lnSpc>
                    <a:spcPts val="24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已知关键字的集合</a:t>
                </a:r>
                <a14:m>
                  <m:oMath xmlns:m="http://schemas.openxmlformats.org/officeDocument/2006/math">
                    <m:d>
                      <m:dPr>
                        <m:begChr m:val="{"/>
                        <m:endChr m:val="}"/>
                        <m:ctrlPr>
                          <a:rPr lang="zh-CN" altLang="zh-CN" sz="1800" i="1">
                            <a:latin typeface="Cambria Math" panose="02040503050406030204" pitchFamily="18" charset="0"/>
                            <a:ea typeface="隶书" panose="02010509060101010101" pitchFamily="49" charset="-122"/>
                          </a:rPr>
                        </m:ctrlPr>
                      </m:dPr>
                      <m:e>
                        <m:r>
                          <a:rPr lang="en-US" altLang="zh-CN" sz="1800">
                            <a:latin typeface="Cambria Math" panose="02040503050406030204" pitchFamily="18" charset="0"/>
                            <a:ea typeface="隶书" panose="02010509060101010101" pitchFamily="49" charset="-122"/>
                          </a:rPr>
                          <m:t>18,28,36,8,17,55,42,2,59,76,33</m:t>
                        </m:r>
                      </m:e>
                    </m:d>
                  </m:oMath>
                </a14:m>
                <a:r>
                  <a:rPr lang="zh-CN" altLang="zh-CN" sz="1800" dirty="0">
                    <a:latin typeface="Times New Roman" panose="02020603050405020304" pitchFamily="18" charset="0"/>
                    <a:cs typeface="Times New Roman" panose="02020603050405020304" pitchFamily="18" charset="0"/>
                  </a:rPr>
                  <a:t>，哈希函数为</a:t>
                </a:r>
                <a14:m>
                  <m:oMath xmlns:m="http://schemas.openxmlformats.org/officeDocument/2006/math">
                    <m:r>
                      <m:rPr>
                        <m:sty m:val="p"/>
                      </m:rPr>
                      <a:rPr lang="en-US" altLang="zh-CN" sz="1800">
                        <a:latin typeface="Cambria Math" panose="02040503050406030204" pitchFamily="18" charset="0"/>
                        <a:ea typeface="隶书" panose="02010509060101010101" pitchFamily="49" charset="-122"/>
                      </a:rPr>
                      <m:t>H</m:t>
                    </m:r>
                    <m:d>
                      <m:dPr>
                        <m:ctrlPr>
                          <a:rPr lang="zh-CN" altLang="zh-CN" sz="1800" i="1">
                            <a:latin typeface="Cambria Math" panose="02040503050406030204" pitchFamily="18" charset="0"/>
                            <a:ea typeface="隶书" panose="02010509060101010101" pitchFamily="49" charset="-122"/>
                          </a:rPr>
                        </m:ctrlPr>
                      </m:dPr>
                      <m:e>
                        <m:r>
                          <m:rPr>
                            <m:sty m:val="p"/>
                          </m:rPr>
                          <a:rPr lang="en-US" altLang="zh-CN" sz="1800">
                            <a:latin typeface="Cambria Math" panose="02040503050406030204" pitchFamily="18" charset="0"/>
                            <a:ea typeface="隶书" panose="02010509060101010101" pitchFamily="49" charset="-122"/>
                          </a:rPr>
                          <m:t>key</m:t>
                        </m:r>
                      </m:e>
                    </m:d>
                    <m:r>
                      <a:rPr lang="en-US" altLang="zh-CN" sz="1800">
                        <a:latin typeface="Cambria Math" panose="02040503050406030204" pitchFamily="18" charset="0"/>
                        <a:ea typeface="隶书" panose="02010509060101010101" pitchFamily="49" charset="-122"/>
                      </a:rPr>
                      <m:t>=</m:t>
                    </m:r>
                    <m:r>
                      <m:rPr>
                        <m:sty m:val="p"/>
                      </m:rPr>
                      <a:rPr lang="en-US" altLang="zh-CN" sz="1800">
                        <a:latin typeface="Cambria Math" panose="02040503050406030204" pitchFamily="18" charset="0"/>
                        <a:ea typeface="隶书" panose="02010509060101010101" pitchFamily="49" charset="-122"/>
                      </a:rPr>
                      <m:t>key</m:t>
                    </m:r>
                    <m:r>
                      <a:rPr lang="en-US" altLang="zh-CN" sz="1800">
                        <a:latin typeface="Cambria Math" panose="02040503050406030204" pitchFamily="18" charset="0"/>
                        <a:ea typeface="隶书" panose="02010509060101010101" pitchFamily="49" charset="-122"/>
                      </a:rPr>
                      <m:t> </m:t>
                    </m:r>
                    <m:r>
                      <m:rPr>
                        <m:sty m:val="p"/>
                      </m:rPr>
                      <a:rPr lang="en-US" altLang="zh-CN" sz="1800">
                        <a:latin typeface="Cambria Math" panose="02040503050406030204" pitchFamily="18" charset="0"/>
                        <a:ea typeface="隶书" panose="02010509060101010101" pitchFamily="49" charset="-122"/>
                      </a:rPr>
                      <m:t>mod</m:t>
                    </m:r>
                    <m:r>
                      <a:rPr lang="en-US" altLang="zh-CN" sz="1800">
                        <a:latin typeface="Cambria Math" panose="02040503050406030204" pitchFamily="18" charset="0"/>
                        <a:ea typeface="隶书" panose="02010509060101010101" pitchFamily="49" charset="-122"/>
                      </a:rPr>
                      <m:t> 13</m:t>
                    </m:r>
                  </m:oMath>
                </a14:m>
                <a:r>
                  <a:rPr lang="zh-CN" altLang="zh-CN" sz="1800" dirty="0">
                    <a:latin typeface="Times New Roman" panose="02020603050405020304" pitchFamily="18" charset="0"/>
                    <a:cs typeface="Times New Roman" panose="02020603050405020304" pitchFamily="18" charset="0"/>
                  </a:rPr>
                  <a:t>，试用链地址法构造哈希表。</a:t>
                </a:r>
                <a:endParaRPr lang="en-US" altLang="zh-CN"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67509" y="763523"/>
                <a:ext cx="8928992" cy="1723650"/>
              </a:xfrm>
              <a:blipFill>
                <a:blip r:embed="rId2"/>
                <a:stretch>
                  <a:fillRect l="-683" t="-2827" r="-34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98783" y="2458826"/>
                <a:ext cx="4824536" cy="2862322"/>
              </a:xfrm>
              <a:prstGeom prst="rect">
                <a:avLst/>
              </a:prstGeom>
              <a:noFill/>
            </p:spPr>
            <p:txBody>
              <a:bodyPr wrap="square" rtlCol="0">
                <a:spAutoFit/>
              </a:bodyPr>
              <a:lstStyle/>
              <a:p>
                <a:pPr algn="just"/>
                <a:r>
                  <a:rPr lang="zh-CN" altLang="en-US" dirty="0">
                    <a:latin typeface="Times New Roman" panose="02020603050405020304" pitchFamily="18" charset="0"/>
                    <a:ea typeface="黑体" panose="02010609060101010101" pitchFamily="49" charset="-122"/>
                    <a:cs typeface="Times New Roman" panose="02020603050405020304" pitchFamily="18" charset="0"/>
                  </a:rPr>
                  <a:t>   构造一个表长为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13</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的有序表</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有序表的下标为哈希地址。利用哈希函数计算哈希地址</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当出现同义词时采用链地址法解决冲突。集合中不同关键字的哈希地址计算结果如下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ea typeface="隶书" panose="02010509060101010101" pitchFamily="49" charset="-122"/>
                      </a:rPr>
                      <m:t>𝐻</m:t>
                    </m:r>
                    <m:d>
                      <m:dPr>
                        <m:ctrlPr>
                          <a:rPr lang="en-US" altLang="zh-CN" i="1" dirty="0" smtClean="0">
                            <a:latin typeface="Cambria Math" panose="02040503050406030204" pitchFamily="18" charset="0"/>
                            <a:ea typeface="隶书" panose="02010509060101010101" pitchFamily="49" charset="-122"/>
                          </a:rPr>
                        </m:ctrlPr>
                      </m:dPr>
                      <m:e>
                        <m:r>
                          <a:rPr lang="en-US" altLang="zh-CN" i="1" dirty="0" smtClean="0">
                            <a:latin typeface="Cambria Math" panose="02040503050406030204" pitchFamily="18" charset="0"/>
                            <a:ea typeface="隶书" panose="02010509060101010101" pitchFamily="49" charset="-122"/>
                          </a:rPr>
                          <m:t>18</m:t>
                        </m:r>
                      </m:e>
                    </m:d>
                    <m:r>
                      <a:rPr lang="en-US" altLang="zh-CN" i="1" dirty="0" smtClean="0">
                        <a:latin typeface="Cambria Math" panose="02040503050406030204" pitchFamily="18" charset="0"/>
                        <a:ea typeface="隶书" panose="02010509060101010101" pitchFamily="49" charset="-122"/>
                      </a:rPr>
                      <m:t>= 5, </m:t>
                    </m:r>
                    <m:r>
                      <a:rPr lang="en-US" altLang="zh-CN" i="1" dirty="0" smtClean="0">
                        <a:latin typeface="Cambria Math" panose="02040503050406030204" pitchFamily="18" charset="0"/>
                        <a:ea typeface="隶书" panose="02010509060101010101" pitchFamily="49" charset="-122"/>
                      </a:rPr>
                      <m:t>𝐻</m:t>
                    </m:r>
                    <m:d>
                      <m:dPr>
                        <m:ctrlPr>
                          <a:rPr lang="en-US" altLang="zh-CN" i="1" dirty="0" smtClean="0">
                            <a:latin typeface="Cambria Math" panose="02040503050406030204" pitchFamily="18" charset="0"/>
                            <a:ea typeface="隶书" panose="02010509060101010101" pitchFamily="49" charset="-122"/>
                          </a:rPr>
                        </m:ctrlPr>
                      </m:dPr>
                      <m:e>
                        <m:r>
                          <a:rPr lang="en-US" altLang="zh-CN" i="1" dirty="0" smtClean="0">
                            <a:latin typeface="Cambria Math" panose="02040503050406030204" pitchFamily="18" charset="0"/>
                            <a:ea typeface="隶书" panose="02010509060101010101" pitchFamily="49" charset="-122"/>
                          </a:rPr>
                          <m:t>28</m:t>
                        </m:r>
                      </m:e>
                    </m:d>
                    <m:r>
                      <a:rPr lang="en-US" altLang="zh-CN" i="1" dirty="0" smtClean="0">
                        <a:latin typeface="Cambria Math" panose="02040503050406030204" pitchFamily="18" charset="0"/>
                        <a:ea typeface="隶书" panose="02010509060101010101" pitchFamily="49" charset="-122"/>
                      </a:rPr>
                      <m:t>= 2, </m:t>
                    </m:r>
                    <m:r>
                      <a:rPr lang="en-US" altLang="zh-CN" i="1" dirty="0" smtClean="0">
                        <a:latin typeface="Cambria Math" panose="02040503050406030204" pitchFamily="18" charset="0"/>
                        <a:ea typeface="隶书" panose="02010509060101010101" pitchFamily="49" charset="-122"/>
                      </a:rPr>
                      <m:t>𝐻</m:t>
                    </m:r>
                    <m:d>
                      <m:dPr>
                        <m:ctrlPr>
                          <a:rPr lang="en-US" altLang="zh-CN" i="1" dirty="0" smtClean="0">
                            <a:latin typeface="Cambria Math" panose="02040503050406030204" pitchFamily="18" charset="0"/>
                            <a:ea typeface="隶书" panose="02010509060101010101" pitchFamily="49" charset="-122"/>
                          </a:rPr>
                        </m:ctrlPr>
                      </m:dPr>
                      <m:e>
                        <m:r>
                          <a:rPr lang="en-US" altLang="zh-CN" i="1" dirty="0" smtClean="0">
                            <a:latin typeface="Cambria Math" panose="02040503050406030204" pitchFamily="18" charset="0"/>
                            <a:ea typeface="隶书" panose="02010509060101010101" pitchFamily="49" charset="-122"/>
                          </a:rPr>
                          <m:t>36</m:t>
                        </m:r>
                      </m:e>
                    </m:d>
                    <m:r>
                      <a:rPr lang="en-US" altLang="zh-CN" i="1" dirty="0" smtClean="0">
                        <a:latin typeface="Cambria Math" panose="02040503050406030204" pitchFamily="18" charset="0"/>
                        <a:ea typeface="隶书" panose="02010509060101010101" pitchFamily="49" charset="-122"/>
                      </a:rPr>
                      <m:t>= 10, </m:t>
                    </m:r>
                  </m:oMath>
                </a14:m>
                <a:endParaRPr lang="en-US" altLang="zh-CN" i="1"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ea typeface="隶书" panose="02010509060101010101" pitchFamily="49" charset="-122"/>
                      </a:rPr>
                      <m:t>𝐻</m:t>
                    </m:r>
                    <m:d>
                      <m:dPr>
                        <m:ctrlPr>
                          <a:rPr lang="en-US" altLang="zh-CN" i="1" dirty="0" smtClean="0">
                            <a:latin typeface="Cambria Math" panose="02040503050406030204" pitchFamily="18" charset="0"/>
                            <a:ea typeface="隶书" panose="02010509060101010101" pitchFamily="49" charset="-122"/>
                          </a:rPr>
                        </m:ctrlPr>
                      </m:dPr>
                      <m:e>
                        <m:r>
                          <a:rPr lang="en-US" altLang="zh-CN" i="1" dirty="0" smtClean="0">
                            <a:latin typeface="Cambria Math" panose="02040503050406030204" pitchFamily="18" charset="0"/>
                            <a:ea typeface="隶书" panose="02010509060101010101" pitchFamily="49" charset="-122"/>
                          </a:rPr>
                          <m:t>8</m:t>
                        </m:r>
                      </m:e>
                    </m:d>
                    <m:r>
                      <a:rPr lang="en-US" altLang="zh-CN" i="1" dirty="0" smtClean="0">
                        <a:latin typeface="Cambria Math" panose="02040503050406030204" pitchFamily="18" charset="0"/>
                        <a:ea typeface="隶书" panose="02010509060101010101" pitchFamily="49" charset="-122"/>
                      </a:rPr>
                      <m:t>= 8, </m:t>
                    </m:r>
                    <m:r>
                      <a:rPr lang="en-US" altLang="zh-CN" i="1" dirty="0" smtClean="0">
                        <a:latin typeface="Cambria Math" panose="02040503050406030204" pitchFamily="18" charset="0"/>
                        <a:ea typeface="隶书" panose="02010509060101010101" pitchFamily="49" charset="-122"/>
                      </a:rPr>
                      <m:t>𝐻</m:t>
                    </m:r>
                    <m:d>
                      <m:dPr>
                        <m:ctrlPr>
                          <a:rPr lang="en-US" altLang="zh-CN" i="1" dirty="0" smtClean="0">
                            <a:latin typeface="Cambria Math" panose="02040503050406030204" pitchFamily="18" charset="0"/>
                            <a:ea typeface="隶书" panose="02010509060101010101" pitchFamily="49" charset="-122"/>
                          </a:rPr>
                        </m:ctrlPr>
                      </m:dPr>
                      <m:e>
                        <m:r>
                          <a:rPr lang="en-US" altLang="zh-CN" i="1" dirty="0" smtClean="0">
                            <a:latin typeface="Cambria Math" panose="02040503050406030204" pitchFamily="18" charset="0"/>
                            <a:ea typeface="隶书" panose="02010509060101010101" pitchFamily="49" charset="-122"/>
                          </a:rPr>
                          <m:t>17</m:t>
                        </m:r>
                      </m:e>
                    </m:d>
                    <m:r>
                      <a:rPr lang="en-US" altLang="zh-CN" i="1" dirty="0" smtClean="0">
                        <a:latin typeface="Cambria Math" panose="02040503050406030204" pitchFamily="18" charset="0"/>
                        <a:ea typeface="隶书" panose="02010509060101010101" pitchFamily="49" charset="-122"/>
                      </a:rPr>
                      <m:t>= 4, </m:t>
                    </m:r>
                    <m:r>
                      <a:rPr lang="en-US" altLang="zh-CN" i="1" dirty="0" smtClean="0">
                        <a:latin typeface="Cambria Math" panose="02040503050406030204" pitchFamily="18" charset="0"/>
                        <a:ea typeface="隶书" panose="02010509060101010101" pitchFamily="49" charset="-122"/>
                      </a:rPr>
                      <m:t>𝐻</m:t>
                    </m:r>
                    <m:d>
                      <m:dPr>
                        <m:ctrlPr>
                          <a:rPr lang="en-US" altLang="zh-CN" i="1" dirty="0" smtClean="0">
                            <a:latin typeface="Cambria Math" panose="02040503050406030204" pitchFamily="18" charset="0"/>
                            <a:ea typeface="隶书" panose="02010509060101010101" pitchFamily="49" charset="-122"/>
                          </a:rPr>
                        </m:ctrlPr>
                      </m:dPr>
                      <m:e>
                        <m:r>
                          <a:rPr lang="en-US" altLang="zh-CN" i="1" dirty="0" smtClean="0">
                            <a:latin typeface="Cambria Math" panose="02040503050406030204" pitchFamily="18" charset="0"/>
                            <a:ea typeface="隶书" panose="02010509060101010101" pitchFamily="49" charset="-122"/>
                          </a:rPr>
                          <m:t>55</m:t>
                        </m:r>
                      </m:e>
                    </m:d>
                    <m:r>
                      <a:rPr lang="en-US" altLang="zh-CN" i="1" dirty="0" smtClean="0">
                        <a:latin typeface="Cambria Math" panose="02040503050406030204" pitchFamily="18" charset="0"/>
                        <a:ea typeface="隶书" panose="02010509060101010101" pitchFamily="49" charset="-122"/>
                      </a:rPr>
                      <m:t>= 3, </m:t>
                    </m:r>
                  </m:oMath>
                </a14:m>
                <a:endParaRPr lang="en-US" altLang="zh-CN" i="1"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ea typeface="隶书" panose="02010509060101010101" pitchFamily="49" charset="-122"/>
                      </a:rPr>
                      <m:t>𝐻</m:t>
                    </m:r>
                    <m:r>
                      <a:rPr lang="en-US" altLang="zh-CN" i="1" dirty="0" smtClean="0">
                        <a:latin typeface="Cambria Math" panose="02040503050406030204" pitchFamily="18" charset="0"/>
                        <a:ea typeface="隶书" panose="02010509060101010101" pitchFamily="49" charset="-122"/>
                      </a:rPr>
                      <m:t>(42) = 3, </m:t>
                    </m:r>
                    <m:r>
                      <a:rPr lang="en-US" altLang="zh-CN" i="1" dirty="0" smtClean="0">
                        <a:latin typeface="Cambria Math" panose="02040503050406030204" pitchFamily="18" charset="0"/>
                        <a:ea typeface="隶书" panose="02010509060101010101" pitchFamily="49" charset="-122"/>
                      </a:rPr>
                      <m:t>𝐻</m:t>
                    </m:r>
                    <m:r>
                      <a:rPr lang="en-US" altLang="zh-CN" i="1" dirty="0" smtClean="0">
                        <a:latin typeface="Cambria Math" panose="02040503050406030204" pitchFamily="18" charset="0"/>
                        <a:ea typeface="隶书" panose="02010509060101010101" pitchFamily="49" charset="-122"/>
                      </a:rPr>
                      <m:t>(2) = 2, </m:t>
                    </m:r>
                    <m:r>
                      <a:rPr lang="en-US" altLang="zh-CN" i="1" dirty="0" smtClean="0">
                        <a:latin typeface="Cambria Math" panose="02040503050406030204" pitchFamily="18" charset="0"/>
                        <a:ea typeface="隶书" panose="02010509060101010101" pitchFamily="49" charset="-122"/>
                      </a:rPr>
                      <m:t>𝐻</m:t>
                    </m:r>
                    <m:r>
                      <a:rPr lang="en-US" altLang="zh-CN" i="1" dirty="0" smtClean="0">
                        <a:latin typeface="Cambria Math" panose="02040503050406030204" pitchFamily="18" charset="0"/>
                        <a:ea typeface="隶书" panose="02010509060101010101" pitchFamily="49" charset="-122"/>
                      </a:rPr>
                      <m:t>(59)= 7, </m:t>
                    </m:r>
                    <m:r>
                      <a:rPr lang="en-US" altLang="zh-CN" i="1" dirty="0" smtClean="0">
                        <a:latin typeface="Cambria Math" panose="02040503050406030204" pitchFamily="18" charset="0"/>
                        <a:ea typeface="隶书" panose="02010509060101010101" pitchFamily="49" charset="-122"/>
                      </a:rPr>
                      <m:t>𝐻</m:t>
                    </m:r>
                    <m:r>
                      <a:rPr lang="en-US" altLang="zh-CN" i="1" dirty="0" smtClean="0">
                        <a:latin typeface="Cambria Math" panose="02040503050406030204" pitchFamily="18" charset="0"/>
                        <a:ea typeface="隶书" panose="02010509060101010101" pitchFamily="49" charset="-122"/>
                      </a:rPr>
                      <m:t>(76) = 11, </m:t>
                    </m:r>
                    <m:r>
                      <a:rPr lang="en-US" altLang="zh-CN" i="1" dirty="0" smtClean="0">
                        <a:latin typeface="Cambria Math" panose="02040503050406030204" pitchFamily="18" charset="0"/>
                        <a:ea typeface="隶书" panose="02010509060101010101" pitchFamily="49" charset="-122"/>
                      </a:rPr>
                      <m:t>𝐻</m:t>
                    </m:r>
                    <m:r>
                      <a:rPr lang="en-US" altLang="zh-CN" i="1" dirty="0" smtClean="0">
                        <a:latin typeface="Cambria Math" panose="02040503050406030204" pitchFamily="18" charset="0"/>
                        <a:ea typeface="隶书" panose="02010509060101010101" pitchFamily="49" charset="-122"/>
                      </a:rPr>
                      <m:t>(33)= 7</m:t>
                    </m:r>
                    <m:r>
                      <a:rPr lang="zh-CN" altLang="en-US" i="1" dirty="0">
                        <a:latin typeface="Cambria Math" panose="02040503050406030204" pitchFamily="18" charset="0"/>
                        <a:ea typeface="隶书" panose="02010509060101010101" pitchFamily="49" charset="-122"/>
                      </a:rPr>
                      <m:t>。</m:t>
                    </m:r>
                    <m:r>
                      <a:rPr lang="zh-CN" altLang="en-US" i="1" dirty="0">
                        <a:latin typeface="Cambria Math" panose="02040503050406030204" pitchFamily="18" charset="0"/>
                        <a:ea typeface="隶书" panose="02010509060101010101" pitchFamily="49" charset="-122"/>
                      </a:rPr>
                      <m:t> </m:t>
                    </m:r>
                  </m:oMath>
                </a14:m>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采用链地址法构造的哈希表如图所示。</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98783" y="2458826"/>
                <a:ext cx="4824536" cy="2862322"/>
              </a:xfrm>
              <a:prstGeom prst="rect">
                <a:avLst/>
              </a:prstGeom>
              <a:blipFill>
                <a:blip r:embed="rId3"/>
                <a:stretch>
                  <a:fillRect l="-1138" t="-1489" r="-1011"/>
                </a:stretch>
              </a:blipFill>
            </p:spPr>
            <p:txBody>
              <a:bodyPr/>
              <a:lstStyle/>
              <a:p>
                <a:r>
                  <a:rPr lang="zh-CN" altLang="en-US">
                    <a:noFill/>
                  </a:rPr>
                  <a:t> </a:t>
                </a:r>
              </a:p>
            </p:txBody>
          </p:sp>
        </mc:Fallback>
      </mc:AlternateContent>
      <p:sp>
        <p:nvSpPr>
          <p:cNvPr id="5" name="文本框 4"/>
          <p:cNvSpPr txBox="1"/>
          <p:nvPr/>
        </p:nvSpPr>
        <p:spPr>
          <a:xfrm>
            <a:off x="5510535" y="217337"/>
            <a:ext cx="3456384" cy="4586661"/>
          </a:xfrm>
          <a:prstGeom prst="rect">
            <a:avLst/>
          </a:prstGeom>
          <a:solidFill>
            <a:schemeClr val="accent4">
              <a:lumMod val="75000"/>
            </a:schemeClr>
          </a:solidFill>
          <a:ln>
            <a:solidFill>
              <a:srgbClr val="C00000"/>
            </a:solidFill>
          </a:ln>
        </p:spPr>
        <p:txBody>
          <a:bodyPr wrap="square" rtlCol="0">
            <a:spAutoFit/>
          </a:bodyPr>
          <a:lstStyle/>
          <a:p>
            <a:endParaRPr lang="zh-CN" altLang="en-US" dirty="0"/>
          </a:p>
        </p:txBody>
      </p:sp>
      <p:pic>
        <p:nvPicPr>
          <p:cNvPr id="6" name="图片 5"/>
          <p:cNvPicPr>
            <a:picLocks noChangeAspect="1"/>
          </p:cNvPicPr>
          <p:nvPr/>
        </p:nvPicPr>
        <p:blipFill>
          <a:blip r:embed="rId4"/>
          <a:stretch>
            <a:fillRect/>
          </a:stretch>
        </p:blipFill>
        <p:spPr>
          <a:xfrm>
            <a:off x="5802558" y="275988"/>
            <a:ext cx="2952328" cy="4365676"/>
          </a:xfrm>
          <a:prstGeom prst="roundRect">
            <a:avLst>
              <a:gd name="adj" fmla="val 8594"/>
            </a:avLst>
          </a:prstGeom>
          <a:solidFill>
            <a:srgbClr val="FFFFFF">
              <a:shade val="85000"/>
            </a:srgbClr>
          </a:solidFill>
          <a:ln>
            <a:noFill/>
          </a:ln>
          <a:effectLst/>
        </p:spPr>
      </p:pic>
      <p:sp>
        <p:nvSpPr>
          <p:cNvPr id="7" name="文本框 6"/>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链地址法</a:t>
            </a:r>
          </a:p>
        </p:txBody>
      </p:sp>
    </p:spTree>
    <p:extLst>
      <p:ext uri="{BB962C8B-B14F-4D97-AF65-F5344CB8AC3E}">
        <p14:creationId xmlns:p14="http://schemas.microsoft.com/office/powerpoint/2010/main" val="371310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1000"/>
                                        <p:tgtEl>
                                          <p:spTgt spid="4">
                                            <p:txEl>
                                              <p:pRg st="1" end="1"/>
                                            </p:txEl>
                                          </p:spTgt>
                                        </p:tgtEl>
                                      </p:cBhvr>
                                    </p:animEffect>
                                    <p:anim calcmode="lin" valueType="num">
                                      <p:cBhvr>
                                        <p:cTn id="2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fade">
                                      <p:cBhvr>
                                        <p:cTn id="32" dur="1000"/>
                                        <p:tgtEl>
                                          <p:spTgt spid="4">
                                            <p:txEl>
                                              <p:pRg st="2" end="2"/>
                                            </p:txEl>
                                          </p:spTgt>
                                        </p:tgtEl>
                                      </p:cBhvr>
                                    </p:animEffect>
                                    <p:anim calcmode="lin" valueType="num">
                                      <p:cBhvr>
                                        <p:cTn id="3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1000"/>
                                        <p:tgtEl>
                                          <p:spTgt spid="4">
                                            <p:txEl>
                                              <p:pRg st="3" end="3"/>
                                            </p:txEl>
                                          </p:spTgt>
                                        </p:tgtEl>
                                      </p:cBhvr>
                                    </p:animEffect>
                                    <p:anim calcmode="lin" valueType="num">
                                      <p:cBhvr>
                                        <p:cTn id="3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
                                            <p:txEl>
                                              <p:pRg st="4" end="4"/>
                                            </p:txEl>
                                          </p:spTgt>
                                        </p:tgtEl>
                                        <p:attrNameLst>
                                          <p:attrName>style.visibility</p:attrName>
                                        </p:attrNameLst>
                                      </p:cBhvr>
                                      <p:to>
                                        <p:strVal val="visible"/>
                                      </p:to>
                                    </p:set>
                                    <p:animEffect transition="in" filter="fade">
                                      <p:cBhvr>
                                        <p:cTn id="44" dur="1000"/>
                                        <p:tgtEl>
                                          <p:spTgt spid="4">
                                            <p:txEl>
                                              <p:pRg st="4" end="4"/>
                                            </p:txEl>
                                          </p:spTgt>
                                        </p:tgtEl>
                                      </p:cBhvr>
                                    </p:animEffect>
                                    <p:anim calcmode="lin" valueType="num">
                                      <p:cBhvr>
                                        <p:cTn id="4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1000"/>
                                        <p:tgtEl>
                                          <p:spTgt spid="5"/>
                                        </p:tgtEl>
                                      </p:cBhvr>
                                    </p:animEffect>
                                    <p:anim calcmode="lin" valueType="num">
                                      <p:cBhvr>
                                        <p:cTn id="52" dur="1000" fill="hold"/>
                                        <p:tgtEl>
                                          <p:spTgt spid="5"/>
                                        </p:tgtEl>
                                        <p:attrNameLst>
                                          <p:attrName>ppt_x</p:attrName>
                                        </p:attrNameLst>
                                      </p:cBhvr>
                                      <p:tavLst>
                                        <p:tav tm="0">
                                          <p:val>
                                            <p:strVal val="#ppt_x"/>
                                          </p:val>
                                        </p:tav>
                                        <p:tav tm="100000">
                                          <p:val>
                                            <p:strVal val="#ppt_x"/>
                                          </p:val>
                                        </p:tav>
                                      </p:tavLst>
                                    </p:anim>
                                    <p:anim calcmode="lin" valueType="num">
                                      <p:cBhvr>
                                        <p:cTn id="5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1000"/>
                                        <p:tgtEl>
                                          <p:spTgt spid="6"/>
                                        </p:tgtEl>
                                      </p:cBhvr>
                                    </p:animEffect>
                                    <p:anim calcmode="lin" valueType="num">
                                      <p:cBhvr>
                                        <p:cTn id="59" dur="1000" fill="hold"/>
                                        <p:tgtEl>
                                          <p:spTgt spid="6"/>
                                        </p:tgtEl>
                                        <p:attrNameLst>
                                          <p:attrName>ppt_x</p:attrName>
                                        </p:attrNameLst>
                                      </p:cBhvr>
                                      <p:tavLst>
                                        <p:tav tm="0">
                                          <p:val>
                                            <p:strVal val="#ppt_x"/>
                                          </p:val>
                                        </p:tav>
                                        <p:tav tm="100000">
                                          <p:val>
                                            <p:strVal val="#ppt_x"/>
                                          </p:val>
                                        </p:tav>
                                      </p:tavLst>
                                    </p:anim>
                                    <p:anim calcmode="lin" valueType="num">
                                      <p:cBhvr>
                                        <p:cTn id="6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p:cNvSpPr txBox="1"/>
              <p:nvPr/>
            </p:nvSpPr>
            <p:spPr>
              <a:xfrm>
                <a:off x="107504" y="771550"/>
                <a:ext cx="9036496" cy="1477328"/>
              </a:xfrm>
              <a:prstGeom prst="rect">
                <a:avLst/>
              </a:prstGeom>
              <a:noFill/>
            </p:spPr>
            <p:txBody>
              <a:bodyPr wrap="square" rtlCol="0">
                <a:spAutoFit/>
              </a:bodyPr>
              <a:lstStyle/>
              <a:p>
                <a:r>
                  <a:rPr lang="zh-CN" altLang="zh-CN" dirty="0">
                    <a:solidFill>
                      <a:srgbClr val="FF0000"/>
                    </a:solidFill>
                  </a:rPr>
                  <a:t>例</a:t>
                </a:r>
                <a:r>
                  <a:rPr lang="zh-CN" altLang="en-US" dirty="0">
                    <a:solidFill>
                      <a:srgbClr val="FF0000"/>
                    </a:solidFill>
                  </a:rPr>
                  <a:t>：</a:t>
                </a:r>
                <a:r>
                  <a:rPr lang="zh-CN" altLang="zh-CN" dirty="0">
                    <a:solidFill>
                      <a:srgbClr val="FF0000"/>
                    </a:solidFill>
                  </a:rPr>
                  <a:t>已知关键字的集合</a:t>
                </a:r>
                <a14:m>
                  <m:oMath xmlns:m="http://schemas.openxmlformats.org/officeDocument/2006/math">
                    <m:r>
                      <a:rPr lang="en-US" altLang="zh-CN">
                        <a:solidFill>
                          <a:srgbClr val="FF0000"/>
                        </a:solidFill>
                        <a:latin typeface="Cambria Math" panose="02040503050406030204" pitchFamily="18" charset="0"/>
                      </a:rPr>
                      <m:t>{45,18,33,5,78,66,21,19,11,32}</m:t>
                    </m:r>
                  </m:oMath>
                </a14:m>
                <a:r>
                  <a:rPr lang="zh-CN" altLang="zh-CN" dirty="0">
                    <a:solidFill>
                      <a:srgbClr val="FF0000"/>
                    </a:solidFill>
                  </a:rPr>
                  <a:t>，哈希函数为</a:t>
                </a:r>
                <a14:m>
                  <m:oMath xmlns:m="http://schemas.openxmlformats.org/officeDocument/2006/math">
                    <m:r>
                      <m:rPr>
                        <m:sty m:val="p"/>
                      </m:rPr>
                      <a:rPr lang="en-US" altLang="zh-CN">
                        <a:solidFill>
                          <a:srgbClr val="FF0000"/>
                        </a:solidFill>
                        <a:latin typeface="Cambria Math" panose="02040503050406030204" pitchFamily="18" charset="0"/>
                      </a:rPr>
                      <m:t>H</m:t>
                    </m:r>
                    <m:d>
                      <m:dPr>
                        <m:ctrlPr>
                          <a:rPr lang="zh-CN" altLang="zh-CN" i="1">
                            <a:solidFill>
                              <a:srgbClr val="FF0000"/>
                            </a:solidFill>
                            <a:latin typeface="Cambria Math" panose="02040503050406030204" pitchFamily="18" charset="0"/>
                          </a:rPr>
                        </m:ctrlPr>
                      </m:dPr>
                      <m:e>
                        <m:r>
                          <m:rPr>
                            <m:sty m:val="p"/>
                          </m:rPr>
                          <a:rPr lang="en-US" altLang="zh-CN">
                            <a:solidFill>
                              <a:srgbClr val="FF0000"/>
                            </a:solidFill>
                            <a:latin typeface="Cambria Math" panose="02040503050406030204" pitchFamily="18" charset="0"/>
                          </a:rPr>
                          <m:t>key</m:t>
                        </m:r>
                      </m:e>
                    </m:d>
                    <m:r>
                      <a:rPr lang="en-US" altLang="zh-CN">
                        <a:solidFill>
                          <a:srgbClr val="FF0000"/>
                        </a:solidFill>
                        <a:latin typeface="Cambria Math" panose="02040503050406030204" pitchFamily="18" charset="0"/>
                      </a:rPr>
                      <m:t>=</m:t>
                    </m:r>
                    <m:r>
                      <m:rPr>
                        <m:sty m:val="p"/>
                      </m:rPr>
                      <a:rPr lang="en-US" altLang="zh-CN">
                        <a:solidFill>
                          <a:srgbClr val="FF0000"/>
                        </a:solidFill>
                        <a:latin typeface="Cambria Math" panose="02040503050406030204" pitchFamily="18" charset="0"/>
                      </a:rPr>
                      <m:t>key</m:t>
                    </m:r>
                    <m:r>
                      <a:rPr lang="en-US" altLang="zh-CN">
                        <a:solidFill>
                          <a:srgbClr val="FF0000"/>
                        </a:solidFill>
                        <a:latin typeface="Cambria Math" panose="02040503050406030204" pitchFamily="18" charset="0"/>
                      </a:rPr>
                      <m:t> </m:t>
                    </m:r>
                    <m:r>
                      <m:rPr>
                        <m:sty m:val="p"/>
                      </m:rPr>
                      <a:rPr lang="en-US" altLang="zh-CN">
                        <a:solidFill>
                          <a:srgbClr val="FF0000"/>
                        </a:solidFill>
                        <a:latin typeface="Cambria Math" panose="02040503050406030204" pitchFamily="18" charset="0"/>
                      </a:rPr>
                      <m:t>mod</m:t>
                    </m:r>
                    <m:r>
                      <a:rPr lang="en-US" altLang="zh-CN">
                        <a:solidFill>
                          <a:srgbClr val="FF0000"/>
                        </a:solidFill>
                        <a:latin typeface="Cambria Math" panose="02040503050406030204" pitchFamily="18" charset="0"/>
                      </a:rPr>
                      <m:t> 11</m:t>
                    </m:r>
                  </m:oMath>
                </a14:m>
                <a:r>
                  <a:rPr lang="zh-CN" altLang="zh-CN" dirty="0">
                    <a:solidFill>
                      <a:srgbClr val="FF0000"/>
                    </a:solidFill>
                  </a:rPr>
                  <a:t>，装填因子</a:t>
                </a:r>
                <a14:m>
                  <m:oMath xmlns:m="http://schemas.openxmlformats.org/officeDocument/2006/math">
                    <m:r>
                      <m:rPr>
                        <m:sty m:val="p"/>
                      </m:rPr>
                      <a:rPr lang="en-US" altLang="zh-CN">
                        <a:solidFill>
                          <a:srgbClr val="FF0000"/>
                        </a:solidFill>
                        <a:latin typeface="Cambria Math" panose="02040503050406030204" pitchFamily="18" charset="0"/>
                      </a:rPr>
                      <m:t>α</m:t>
                    </m:r>
                    <m:r>
                      <a:rPr lang="en-US" altLang="zh-CN">
                        <a:solidFill>
                          <a:srgbClr val="FF0000"/>
                        </a:solidFill>
                        <a:latin typeface="Cambria Math" panose="02040503050406030204" pitchFamily="18" charset="0"/>
                      </a:rPr>
                      <m:t>=0.7</m:t>
                    </m:r>
                  </m:oMath>
                </a14:m>
                <a:r>
                  <a:rPr lang="zh-CN" altLang="zh-CN" dirty="0">
                    <a:solidFill>
                      <a:srgbClr val="FF0000"/>
                    </a:solidFill>
                  </a:rPr>
                  <a:t>，采用线性探测再散列构造哈希表。</a:t>
                </a:r>
              </a:p>
              <a:p>
                <a:r>
                  <a:rPr lang="zh-CN" altLang="zh-CN" dirty="0">
                    <a:solidFill>
                      <a:srgbClr val="FF0000"/>
                    </a:solidFill>
                  </a:rPr>
                  <a:t>（</a:t>
                </a:r>
                <a:r>
                  <a:rPr lang="en-US" altLang="zh-CN" dirty="0">
                    <a:solidFill>
                      <a:srgbClr val="FF0000"/>
                    </a:solidFill>
                  </a:rPr>
                  <a:t>1</a:t>
                </a:r>
                <a:r>
                  <a:rPr lang="zh-CN" altLang="zh-CN" dirty="0">
                    <a:solidFill>
                      <a:srgbClr val="FF0000"/>
                    </a:solidFill>
                  </a:rPr>
                  <a:t>）给出哈希表；</a:t>
                </a:r>
              </a:p>
              <a:p>
                <a:r>
                  <a:rPr lang="zh-CN" altLang="zh-CN" dirty="0">
                    <a:solidFill>
                      <a:srgbClr val="FF0000"/>
                    </a:solidFill>
                  </a:rPr>
                  <a:t>（</a:t>
                </a:r>
                <a:r>
                  <a:rPr lang="en-US" altLang="zh-CN" dirty="0">
                    <a:solidFill>
                      <a:srgbClr val="FF0000"/>
                    </a:solidFill>
                  </a:rPr>
                  <a:t>2</a:t>
                </a:r>
                <a:r>
                  <a:rPr lang="zh-CN" altLang="zh-CN" dirty="0">
                    <a:solidFill>
                      <a:srgbClr val="FF0000"/>
                    </a:solidFill>
                  </a:rPr>
                  <a:t>）计算等概率情况下，查找成功的平均查找长度。</a:t>
                </a:r>
              </a:p>
              <a:p>
                <a:r>
                  <a:rPr lang="zh-CN" altLang="zh-CN" dirty="0">
                    <a:solidFill>
                      <a:srgbClr val="FF0000"/>
                    </a:solidFill>
                  </a:rPr>
                  <a:t>（</a:t>
                </a:r>
                <a:r>
                  <a:rPr lang="en-US" altLang="zh-CN" dirty="0">
                    <a:solidFill>
                      <a:srgbClr val="FF0000"/>
                    </a:solidFill>
                  </a:rPr>
                  <a:t>3</a:t>
                </a:r>
                <a:r>
                  <a:rPr lang="zh-CN" altLang="zh-CN" dirty="0">
                    <a:solidFill>
                      <a:srgbClr val="FF0000"/>
                    </a:solidFill>
                  </a:rPr>
                  <a:t>）计算等概率情况下，查找不成功的平均查找长度。</a:t>
                </a:r>
                <a:endParaRPr lang="zh-CN" altLang="en-US" dirty="0">
                  <a:solidFill>
                    <a:srgbClr val="FF0000"/>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07504" y="771550"/>
                <a:ext cx="9036496" cy="1477328"/>
              </a:xfrm>
              <a:prstGeom prst="rect">
                <a:avLst/>
              </a:prstGeom>
              <a:blipFill rotWithShape="0">
                <a:blip r:embed="rId2"/>
                <a:stretch>
                  <a:fillRect l="-607" t="-3306" r="-3104" b="-6198"/>
                </a:stretch>
              </a:blipFill>
            </p:spPr>
            <p:txBody>
              <a:bodyPr/>
              <a:lstStyle/>
              <a:p>
                <a:r>
                  <a:rPr lang="zh-CN" altLang="en-US">
                    <a:noFill/>
                  </a:rPr>
                  <a:t> </a:t>
                </a:r>
              </a:p>
            </p:txBody>
          </p:sp>
        </mc:Fallback>
      </mc:AlternateContent>
      <p:sp>
        <p:nvSpPr>
          <p:cNvPr id="7" name="文本框 6"/>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mc:AlternateContent xmlns:mc="http://schemas.openxmlformats.org/markup-compatibility/2006" xmlns:a14="http://schemas.microsoft.com/office/drawing/2010/main">
        <mc:Choice Requires="a14">
          <p:sp>
            <p:nvSpPr>
              <p:cNvPr id="8" name="文本框 7"/>
              <p:cNvSpPr txBox="1"/>
              <p:nvPr/>
            </p:nvSpPr>
            <p:spPr>
              <a:xfrm>
                <a:off x="107504" y="2355726"/>
                <a:ext cx="8856984" cy="646331"/>
              </a:xfrm>
              <a:prstGeom prst="rect">
                <a:avLst/>
              </a:prstGeom>
              <a:noFill/>
            </p:spPr>
            <p:txBody>
              <a:bodyPr wrap="square" rtlCol="0">
                <a:spAutoFit/>
              </a:bodyPr>
              <a:lstStyle/>
              <a:p>
                <a:r>
                  <a:rPr lang="zh-CN" altLang="zh-CN" dirty="0"/>
                  <a:t>解：（</a:t>
                </a:r>
                <a:r>
                  <a:rPr lang="en-US" altLang="zh-CN" dirty="0"/>
                  <a:t>1</a:t>
                </a:r>
                <a:r>
                  <a:rPr lang="zh-CN" altLang="zh-CN" dirty="0"/>
                  <a:t>）</a:t>
                </a:r>
                <a14:m>
                  <m:oMath xmlns:m="http://schemas.openxmlformats.org/officeDocument/2006/math">
                    <m:r>
                      <m:rPr>
                        <m:sty m:val="p"/>
                      </m:rPr>
                      <a:rPr lang="en-US" altLang="zh-CN">
                        <a:latin typeface="Cambria Math" panose="02040503050406030204" pitchFamily="18" charset="0"/>
                      </a:rPr>
                      <m:t>n</m:t>
                    </m:r>
                    <m:r>
                      <a:rPr lang="en-US" altLang="zh-CN">
                        <a:latin typeface="Cambria Math" panose="02040503050406030204" pitchFamily="18" charset="0"/>
                      </a:rPr>
                      <m:t>=10</m:t>
                    </m:r>
                  </m:oMath>
                </a14:m>
                <a:r>
                  <a:rPr lang="zh-CN" altLang="zh-CN" dirty="0"/>
                  <a:t>，</a:t>
                </a:r>
                <a14:m>
                  <m:oMath xmlns:m="http://schemas.openxmlformats.org/officeDocument/2006/math">
                    <m:r>
                      <m:rPr>
                        <m:sty m:val="p"/>
                      </m:rPr>
                      <a:rPr lang="en-US" altLang="zh-CN">
                        <a:latin typeface="Cambria Math" panose="02040503050406030204" pitchFamily="18" charset="0"/>
                      </a:rPr>
                      <m:t>α</m:t>
                    </m:r>
                    <m:r>
                      <a:rPr lang="en-US" altLang="zh-CN">
                        <a:latin typeface="Cambria Math" panose="02040503050406030204" pitchFamily="18" charset="0"/>
                      </a:rPr>
                      <m:t>=0.7=</m:t>
                    </m:r>
                    <m:r>
                      <m:rPr>
                        <m:sty m:val="p"/>
                      </m:rPr>
                      <a:rPr lang="en-US" altLang="zh-CN">
                        <a:latin typeface="Cambria Math" panose="02040503050406030204" pitchFamily="18" charset="0"/>
                      </a:rPr>
                      <m:t>n</m:t>
                    </m:r>
                    <m:r>
                      <a:rPr lang="en-US" altLang="zh-CN">
                        <a:latin typeface="Cambria Math" panose="02040503050406030204" pitchFamily="18" charset="0"/>
                      </a:rPr>
                      <m:t>/</m:t>
                    </m:r>
                    <m:r>
                      <m:rPr>
                        <m:sty m:val="p"/>
                      </m:rPr>
                      <a:rPr lang="en-US" altLang="zh-CN">
                        <a:latin typeface="Cambria Math" panose="02040503050406030204" pitchFamily="18" charset="0"/>
                      </a:rPr>
                      <m:t>m</m:t>
                    </m:r>
                  </m:oMath>
                </a14:m>
                <a:r>
                  <a:rPr lang="zh-CN" altLang="zh-CN" dirty="0"/>
                  <a:t>，</a:t>
                </a:r>
                <a14:m>
                  <m:oMath xmlns:m="http://schemas.openxmlformats.org/officeDocument/2006/math">
                    <m:r>
                      <m:rPr>
                        <m:sty m:val="p"/>
                      </m:rPr>
                      <a:rPr lang="en-US" altLang="zh-CN">
                        <a:latin typeface="Cambria Math" panose="02040503050406030204" pitchFamily="18" charset="0"/>
                      </a:rPr>
                      <m:t>m</m:t>
                    </m:r>
                    <m:r>
                      <a:rPr lang="en-US" altLang="zh-CN">
                        <a:latin typeface="Cambria Math" panose="02040503050406030204" pitchFamily="18" charset="0"/>
                      </a:rPr>
                      <m:t>=13</m:t>
                    </m:r>
                  </m:oMath>
                </a14:m>
                <a:r>
                  <a:rPr lang="zh-CN" altLang="zh-CN" dirty="0"/>
                  <a:t>（取整数），</a:t>
                </a:r>
                <a14:m>
                  <m:oMath xmlns:m="http://schemas.openxmlformats.org/officeDocument/2006/math">
                    <m:r>
                      <m:rPr>
                        <m:sty m:val="p"/>
                      </m:rPr>
                      <a:rPr lang="en-US" altLang="zh-CN">
                        <a:latin typeface="Cambria Math" panose="02040503050406030204" pitchFamily="18" charset="0"/>
                      </a:rPr>
                      <m:t>α</m:t>
                    </m:r>
                    <m:r>
                      <a:rPr lang="en-US" altLang="zh-CN">
                        <a:latin typeface="Cambria Math" panose="02040503050406030204" pitchFamily="18" charset="0"/>
                      </a:rPr>
                      <m:t>=0.7</m:t>
                    </m:r>
                  </m:oMath>
                </a14:m>
                <a:r>
                  <a:rPr lang="zh-CN" altLang="zh-CN" dirty="0"/>
                  <a:t>时构造的哈希表如</a:t>
                </a:r>
                <a:r>
                  <a:rPr lang="zh-CN" altLang="en-US" dirty="0"/>
                  <a:t>下：</a:t>
                </a:r>
                <a:endParaRPr lang="zh-CN" altLang="zh-CN" dirty="0"/>
              </a:p>
              <a:p>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107504" y="2355726"/>
                <a:ext cx="8856984" cy="646331"/>
              </a:xfrm>
              <a:prstGeom prst="rect">
                <a:avLst/>
              </a:prstGeom>
              <a:blipFill rotWithShape="0">
                <a:blip r:embed="rId3"/>
                <a:stretch>
                  <a:fillRect l="-619" t="-6604" r="-3097"/>
                </a:stretch>
              </a:blipFill>
            </p:spPr>
            <p:txBody>
              <a:bodyPr/>
              <a:lstStyle/>
              <a:p>
                <a:r>
                  <a:rPr lang="zh-CN" altLang="en-US">
                    <a:noFill/>
                  </a:rPr>
                  <a:t> </a:t>
                </a:r>
              </a:p>
            </p:txBody>
          </p:sp>
        </mc:Fallback>
      </mc:AlternateContent>
      <p:graphicFrame>
        <p:nvGraphicFramePr>
          <p:cNvPr id="9" name="表格 8"/>
          <p:cNvGraphicFramePr>
            <a:graphicFrameLocks noGrp="1"/>
          </p:cNvGraphicFramePr>
          <p:nvPr>
            <p:extLst>
              <p:ext uri="{D42A27DB-BD31-4B8C-83A1-F6EECF244321}">
                <p14:modId xmlns:p14="http://schemas.microsoft.com/office/powerpoint/2010/main" val="589553754"/>
              </p:ext>
            </p:extLst>
          </p:nvPr>
        </p:nvGraphicFramePr>
        <p:xfrm>
          <a:off x="755576" y="3291830"/>
          <a:ext cx="7071265" cy="720080"/>
        </p:xfrm>
        <a:graphic>
          <a:graphicData uri="http://schemas.openxmlformats.org/drawingml/2006/table">
            <a:tbl>
              <a:tblPr firstRow="1" firstCol="1" bandRow="1">
                <a:tableStyleId>{5C22544A-7EE6-4342-B048-85BDC9FD1C3A}</a:tableStyleId>
              </a:tblPr>
              <a:tblGrid>
                <a:gridCol w="1005534">
                  <a:extLst>
                    <a:ext uri="{9D8B030D-6E8A-4147-A177-3AD203B41FA5}">
                      <a16:colId xmlns:a16="http://schemas.microsoft.com/office/drawing/2014/main" val="20000"/>
                    </a:ext>
                  </a:extLst>
                </a:gridCol>
                <a:gridCol w="439832">
                  <a:extLst>
                    <a:ext uri="{9D8B030D-6E8A-4147-A177-3AD203B41FA5}">
                      <a16:colId xmlns:a16="http://schemas.microsoft.com/office/drawing/2014/main" val="20001"/>
                    </a:ext>
                  </a:extLst>
                </a:gridCol>
                <a:gridCol w="439832">
                  <a:extLst>
                    <a:ext uri="{9D8B030D-6E8A-4147-A177-3AD203B41FA5}">
                      <a16:colId xmlns:a16="http://schemas.microsoft.com/office/drawing/2014/main" val="20002"/>
                    </a:ext>
                  </a:extLst>
                </a:gridCol>
                <a:gridCol w="490746">
                  <a:extLst>
                    <a:ext uri="{9D8B030D-6E8A-4147-A177-3AD203B41FA5}">
                      <a16:colId xmlns:a16="http://schemas.microsoft.com/office/drawing/2014/main" val="20003"/>
                    </a:ext>
                  </a:extLst>
                </a:gridCol>
                <a:gridCol w="493575">
                  <a:extLst>
                    <a:ext uri="{9D8B030D-6E8A-4147-A177-3AD203B41FA5}">
                      <a16:colId xmlns:a16="http://schemas.microsoft.com/office/drawing/2014/main" val="20004"/>
                    </a:ext>
                  </a:extLst>
                </a:gridCol>
                <a:gridCol w="493575">
                  <a:extLst>
                    <a:ext uri="{9D8B030D-6E8A-4147-A177-3AD203B41FA5}">
                      <a16:colId xmlns:a16="http://schemas.microsoft.com/office/drawing/2014/main" val="20005"/>
                    </a:ext>
                  </a:extLst>
                </a:gridCol>
                <a:gridCol w="493575">
                  <a:extLst>
                    <a:ext uri="{9D8B030D-6E8A-4147-A177-3AD203B41FA5}">
                      <a16:colId xmlns:a16="http://schemas.microsoft.com/office/drawing/2014/main" val="20006"/>
                    </a:ext>
                  </a:extLst>
                </a:gridCol>
                <a:gridCol w="493575">
                  <a:extLst>
                    <a:ext uri="{9D8B030D-6E8A-4147-A177-3AD203B41FA5}">
                      <a16:colId xmlns:a16="http://schemas.microsoft.com/office/drawing/2014/main" val="20007"/>
                    </a:ext>
                  </a:extLst>
                </a:gridCol>
                <a:gridCol w="439832">
                  <a:extLst>
                    <a:ext uri="{9D8B030D-6E8A-4147-A177-3AD203B41FA5}">
                      <a16:colId xmlns:a16="http://schemas.microsoft.com/office/drawing/2014/main" val="20008"/>
                    </a:ext>
                  </a:extLst>
                </a:gridCol>
                <a:gridCol w="439832">
                  <a:extLst>
                    <a:ext uri="{9D8B030D-6E8A-4147-A177-3AD203B41FA5}">
                      <a16:colId xmlns:a16="http://schemas.microsoft.com/office/drawing/2014/main" val="20009"/>
                    </a:ext>
                  </a:extLst>
                </a:gridCol>
                <a:gridCol w="370534">
                  <a:extLst>
                    <a:ext uri="{9D8B030D-6E8A-4147-A177-3AD203B41FA5}">
                      <a16:colId xmlns:a16="http://schemas.microsoft.com/office/drawing/2014/main" val="20010"/>
                    </a:ext>
                  </a:extLst>
                </a:gridCol>
                <a:gridCol w="497817">
                  <a:extLst>
                    <a:ext uri="{9D8B030D-6E8A-4147-A177-3AD203B41FA5}">
                      <a16:colId xmlns:a16="http://schemas.microsoft.com/office/drawing/2014/main" val="20011"/>
                    </a:ext>
                  </a:extLst>
                </a:gridCol>
                <a:gridCol w="489332">
                  <a:extLst>
                    <a:ext uri="{9D8B030D-6E8A-4147-A177-3AD203B41FA5}">
                      <a16:colId xmlns:a16="http://schemas.microsoft.com/office/drawing/2014/main" val="20012"/>
                    </a:ext>
                  </a:extLst>
                </a:gridCol>
                <a:gridCol w="483674">
                  <a:extLst>
                    <a:ext uri="{9D8B030D-6E8A-4147-A177-3AD203B41FA5}">
                      <a16:colId xmlns:a16="http://schemas.microsoft.com/office/drawing/2014/main" val="20013"/>
                    </a:ext>
                  </a:extLst>
                </a:gridCol>
              </a:tblGrid>
              <a:tr h="360040">
                <a:tc>
                  <a:txBody>
                    <a:bodyPr/>
                    <a:lstStyle/>
                    <a:p>
                      <a:pPr algn="ctr">
                        <a:spcAft>
                          <a:spcPts val="0"/>
                        </a:spcAft>
                      </a:pPr>
                      <a:r>
                        <a:rPr lang="zh-CN" sz="1800" kern="100" dirty="0">
                          <a:effectLst/>
                        </a:rPr>
                        <a:t>地址</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10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11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12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60040">
                <a:tc>
                  <a:txBody>
                    <a:bodyPr/>
                    <a:lstStyle/>
                    <a:p>
                      <a:pPr algn="ctr">
                        <a:spcAft>
                          <a:spcPts val="0"/>
                        </a:spcAft>
                      </a:pPr>
                      <a:r>
                        <a:rPr lang="zh-CN" sz="1800" kern="100" dirty="0">
                          <a:effectLst/>
                        </a:rPr>
                        <a:t>关键字</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33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45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a:effectLst/>
                        </a:rPr>
                        <a:t>78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66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11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5</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18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21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32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800" kern="100" dirty="0">
                          <a:effectLst/>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2" name="文本框 11"/>
              <p:cNvSpPr txBox="1"/>
              <p:nvPr/>
            </p:nvSpPr>
            <p:spPr>
              <a:xfrm>
                <a:off x="755576" y="1173454"/>
                <a:ext cx="8208912" cy="1973489"/>
              </a:xfrm>
              <a:prstGeom prst="rect">
                <a:avLst/>
              </a:prstGeom>
              <a:solidFill>
                <a:schemeClr val="accent2"/>
              </a:solidFill>
            </p:spPr>
            <p:txBody>
              <a:bodyPr wrap="square" rtlCol="0">
                <a:spAutoFit/>
              </a:bodyPr>
              <a:lstStyle/>
              <a:p>
                <a:r>
                  <a:rPr lang="zh-CN" altLang="zh-CN" dirty="0"/>
                  <a:t>（</a:t>
                </a:r>
                <a:r>
                  <a:rPr lang="en-US" altLang="zh-CN" dirty="0"/>
                  <a:t>2</a:t>
                </a:r>
                <a:r>
                  <a:rPr lang="zh-CN" altLang="zh-CN" dirty="0"/>
                  <a:t>）在等概率情况下查找成功的平均查找长度为：</a:t>
                </a: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𝐴𝑆𝐿</m:t>
                          </m:r>
                        </m:e>
                        <m:sub>
                          <m:r>
                            <a:rPr lang="en-US" altLang="zh-CN" i="1">
                              <a:latin typeface="Cambria Math" panose="02040503050406030204" pitchFamily="18" charset="0"/>
                            </a:rPr>
                            <m:t>𝑠𝑢𝑐𝑐</m:t>
                          </m:r>
                        </m:sub>
                      </m:sSub>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1×6+2×2+4×1+5×1</m:t>
                          </m:r>
                        </m:num>
                        <m:den>
                          <m:r>
                            <a:rPr lang="en-US" altLang="zh-CN" i="1">
                              <a:latin typeface="Cambria Math" panose="02040503050406030204" pitchFamily="18" charset="0"/>
                            </a:rPr>
                            <m:t>10</m:t>
                          </m:r>
                        </m:den>
                      </m:f>
                      <m:r>
                        <a:rPr lang="en-US" altLang="zh-CN" i="1">
                          <a:latin typeface="Cambria Math" panose="02040503050406030204" pitchFamily="18" charset="0"/>
                        </a:rPr>
                        <m:t>=1.9</m:t>
                      </m:r>
                    </m:oMath>
                  </m:oMathPara>
                </a14:m>
                <a:endParaRPr lang="zh-CN" altLang="zh-CN" dirty="0"/>
              </a:p>
              <a:p>
                <a:r>
                  <a:rPr lang="zh-CN" altLang="zh-CN" dirty="0"/>
                  <a:t>（</a:t>
                </a:r>
                <a:r>
                  <a:rPr lang="en-US" altLang="zh-CN" dirty="0"/>
                  <a:t>3</a:t>
                </a:r>
                <a:r>
                  <a:rPr lang="zh-CN" altLang="zh-CN" dirty="0"/>
                  <a:t>）在等概率情况下查找不成功的平均查找长度为：</a:t>
                </a:r>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𝐴𝑆𝐿</m:t>
                          </m:r>
                        </m:e>
                        <m:sub>
                          <m:r>
                            <a:rPr lang="en-US" altLang="zh-CN" i="1">
                              <a:latin typeface="Cambria Math" panose="02040503050406030204" pitchFamily="18" charset="0"/>
                            </a:rPr>
                            <m:t>𝑢𝑛𝑠𝑢𝑐𝑐</m:t>
                          </m:r>
                        </m:sub>
                      </m:sSub>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7+6+5+4+3+2+1+3+2+</m:t>
                          </m:r>
                          <m:r>
                            <a:rPr lang="en-US" altLang="zh-CN" b="0" i="1" smtClean="0">
                              <a:latin typeface="Cambria Math" panose="02040503050406030204" pitchFamily="18" charset="0"/>
                            </a:rPr>
                            <m:t>1</m:t>
                          </m:r>
                          <m:r>
                            <a:rPr lang="en-US" altLang="zh-CN" i="1">
                              <a:latin typeface="Cambria Math" panose="02040503050406030204" pitchFamily="18" charset="0"/>
                            </a:rPr>
                            <m:t>+</m:t>
                          </m:r>
                          <m:r>
                            <a:rPr lang="en-US" altLang="zh-CN" b="0" i="1" smtClean="0">
                              <a:latin typeface="Cambria Math" panose="02040503050406030204" pitchFamily="18" charset="0"/>
                            </a:rPr>
                            <m:t>3</m:t>
                          </m:r>
                        </m:num>
                        <m:den>
                          <m:r>
                            <a:rPr lang="en-US" altLang="zh-CN" i="1">
                              <a:latin typeface="Cambria Math" panose="02040503050406030204" pitchFamily="18" charset="0"/>
                            </a:rPr>
                            <m:t>11</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37</m:t>
                          </m:r>
                        </m:num>
                        <m:den>
                          <m:r>
                            <a:rPr lang="en-US" altLang="zh-CN" i="1">
                              <a:latin typeface="Cambria Math" panose="02040503050406030204" pitchFamily="18" charset="0"/>
                            </a:rPr>
                            <m:t>11</m:t>
                          </m:r>
                        </m:den>
                      </m:f>
                    </m:oMath>
                  </m:oMathPara>
                </a14:m>
                <a:endParaRPr lang="zh-CN" altLang="zh-CN" dirty="0"/>
              </a:p>
              <a:p>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755576" y="1173454"/>
                <a:ext cx="8208912" cy="1973489"/>
              </a:xfrm>
              <a:prstGeom prst="rect">
                <a:avLst/>
              </a:prstGeom>
              <a:blipFill>
                <a:blip r:embed="rId4"/>
                <a:stretch>
                  <a:fillRect l="-668" t="-21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792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 calcmode="lin" valueType="num">
                                      <p:cBhvr additive="base">
                                        <p:cTn id="31"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xEl>
                                              <p:pRg st="1" end="1"/>
                                            </p:txEl>
                                          </p:spTgt>
                                        </p:tgtEl>
                                        <p:attrNameLst>
                                          <p:attrName>style.visibility</p:attrName>
                                        </p:attrNameLst>
                                      </p:cBhvr>
                                      <p:to>
                                        <p:strVal val="visible"/>
                                      </p:to>
                                    </p:set>
                                    <p:anim calcmode="lin" valueType="num">
                                      <p:cBhvr additive="base">
                                        <p:cTn id="37"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anim calcmode="lin" valueType="num">
                                      <p:cBhvr additive="base">
                                        <p:cTn id="43"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xEl>
                                              <p:pRg st="3" end="3"/>
                                            </p:txEl>
                                          </p:spTgt>
                                        </p:tgtEl>
                                        <p:attrNameLst>
                                          <p:attrName>style.visibility</p:attrName>
                                        </p:attrNameLst>
                                      </p:cBhvr>
                                      <p:to>
                                        <p:strVal val="visible"/>
                                      </p:to>
                                    </p:set>
                                    <p:anim calcmode="lin" valueType="num">
                                      <p:cBhvr additive="base">
                                        <p:cTn id="49"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animBg="1"/>
    </p:bldLst>
  </p:timing>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 数字媒体及应用123</Template>
  <TotalTime>6488</TotalTime>
  <Words>10292</Words>
  <Application>Microsoft Office PowerPoint</Application>
  <PresentationFormat>全屏显示(16:9)</PresentationFormat>
  <Paragraphs>703</Paragraphs>
  <Slides>72</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72</vt:i4>
      </vt:variant>
    </vt:vector>
  </HeadingPairs>
  <TitlesOfParts>
    <vt:vector size="84" baseType="lpstr">
      <vt:lpstr>Arial Unicode MS</vt:lpstr>
      <vt:lpstr>方正粗黑宋简体</vt:lpstr>
      <vt:lpstr>黑体</vt:lpstr>
      <vt:lpstr>隶书</vt:lpstr>
      <vt:lpstr>宋体</vt:lpstr>
      <vt:lpstr>微软雅黑</vt:lpstr>
      <vt:lpstr>Arial</vt:lpstr>
      <vt:lpstr>Calibri</vt:lpstr>
      <vt:lpstr>Calibri Light</vt:lpstr>
      <vt:lpstr>Cambria Math</vt:lpstr>
      <vt:lpstr>Times New Roman</vt:lpstr>
      <vt:lpstr>章节简洁版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cp:lastModifiedBy>
  <cp:revision>250</cp:revision>
  <dcterms:created xsi:type="dcterms:W3CDTF">2007-07-12T03:00:51Z</dcterms:created>
  <dcterms:modified xsi:type="dcterms:W3CDTF">2025-04-13T07:17:04Z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