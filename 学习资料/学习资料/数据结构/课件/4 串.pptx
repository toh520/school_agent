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33"/>
  </p:notesMasterIdLst>
  <p:sldIdLst>
    <p:sldId id="454" r:id="rId2"/>
    <p:sldId id="259" r:id="rId3"/>
    <p:sldId id="791" r:id="rId4"/>
    <p:sldId id="261" r:id="rId5"/>
    <p:sldId id="795" r:id="rId6"/>
    <p:sldId id="797" r:id="rId7"/>
    <p:sldId id="798" r:id="rId8"/>
    <p:sldId id="800" r:id="rId9"/>
    <p:sldId id="799" r:id="rId10"/>
    <p:sldId id="801" r:id="rId11"/>
    <p:sldId id="802" r:id="rId12"/>
    <p:sldId id="803" r:id="rId13"/>
    <p:sldId id="804" r:id="rId14"/>
    <p:sldId id="805" r:id="rId15"/>
    <p:sldId id="806" r:id="rId16"/>
    <p:sldId id="807" r:id="rId17"/>
    <p:sldId id="808" r:id="rId18"/>
    <p:sldId id="809" r:id="rId19"/>
    <p:sldId id="810" r:id="rId20"/>
    <p:sldId id="812" r:id="rId21"/>
    <p:sldId id="811" r:id="rId22"/>
    <p:sldId id="813" r:id="rId23"/>
    <p:sldId id="814" r:id="rId24"/>
    <p:sldId id="815" r:id="rId25"/>
    <p:sldId id="816" r:id="rId26"/>
    <p:sldId id="817" r:id="rId27"/>
    <p:sldId id="818" r:id="rId28"/>
    <p:sldId id="819" r:id="rId29"/>
    <p:sldId id="820" r:id="rId30"/>
    <p:sldId id="821" r:id="rId31"/>
    <p:sldId id="822" r:id="rId32"/>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CFF"/>
    <a:srgbClr val="FFFF00"/>
    <a:srgbClr val="0066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0295" autoAdjust="0"/>
  </p:normalViewPr>
  <p:slideViewPr>
    <p:cSldViewPr showGuides="1">
      <p:cViewPr varScale="1">
        <p:scale>
          <a:sx n="129" d="100"/>
          <a:sy n="129" d="100"/>
        </p:scale>
        <p:origin x="1210" y="91"/>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11994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01934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1148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2025/3/17</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2025/3/17</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2025/3/17</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2025/3/17</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p:cover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cover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cover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章节目录1">
    <p:spTree>
      <p:nvGrpSpPr>
        <p:cNvPr id="1" name=""/>
        <p:cNvGrpSpPr/>
        <p:nvPr/>
      </p:nvGrpSpPr>
      <p:grpSpPr>
        <a:xfrm>
          <a:off x="0" y="0"/>
          <a:ext cx="0" cy="0"/>
          <a:chOff x="0" y="0"/>
          <a:chExt cx="0" cy="0"/>
        </a:xfrm>
      </p:grpSpPr>
      <p:grpSp>
        <p:nvGrpSpPr>
          <p:cNvPr id="6" name="组合 5"/>
          <p:cNvGrpSpPr/>
          <p:nvPr/>
        </p:nvGrpSpPr>
        <p:grpSpPr>
          <a:xfrm>
            <a:off x="4366189" y="199568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75058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210017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92014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67735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Lst>
  </p:timing>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2025/3/17</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79" r:id="rId5"/>
    <p:sldLayoutId id="2147483668" r:id="rId6"/>
    <p:sldLayoutId id="2147483669" r:id="rId7"/>
    <p:sldLayoutId id="2147483680" r:id="rId8"/>
    <p:sldLayoutId id="2147483670" r:id="rId9"/>
    <p:sldLayoutId id="2147483671" r:id="rId10"/>
    <p:sldLayoutId id="2147483672" r:id="rId11"/>
    <p:sldLayoutId id="2147483673" r:id="rId12"/>
    <p:sldLayoutId id="2147483674" r:id="rId13"/>
    <p:sldLayoutId id="2147483675" r:id="rId14"/>
    <p:sldLayoutId id="2147483676" r:id="rId15"/>
    <p:sldLayoutId id="2147483681" r:id="rId16"/>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22534;&#20998;&#37197;&#34920;&#31034;&#23454;&#29616;&#38142;&#25509;.tx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38142;&#20018;&#30340;&#23454;&#29616;&#38142;&#25509;.tx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串</a:t>
            </a:r>
          </a:p>
        </p:txBody>
      </p:sp>
      <p:sp>
        <p:nvSpPr>
          <p:cNvPr id="5" name="文本占位符 4"/>
          <p:cNvSpPr>
            <a:spLocks noGrp="1"/>
          </p:cNvSpPr>
          <p:nvPr>
            <p:ph type="body" sz="quarter" idx="13"/>
          </p:nvPr>
        </p:nvSpPr>
        <p:spPr/>
        <p:txBody>
          <a:bodyPr/>
          <a:lstStyle/>
          <a:p>
            <a:r>
              <a:rPr lang="en-US" altLang="zh-CN" dirty="0">
                <a:solidFill>
                  <a:srgbClr val="7030A0"/>
                </a:solidFill>
              </a:rPr>
              <a:t>4</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827584" y="1203598"/>
            <a:ext cx="7776864" cy="2564265"/>
          </a:xfrm>
        </p:spPr>
        <p:txBody>
          <a:bodyPr/>
          <a:lstStyle/>
          <a:p>
            <a:pPr marL="0" indent="0" eaLnBrk="0" hangingPunct="0">
              <a:lnSpc>
                <a:spcPct val="200000"/>
              </a:lnSpc>
              <a:spcBef>
                <a:spcPts val="600"/>
              </a:spcBef>
              <a:buNone/>
            </a:pPr>
            <a:r>
              <a:rPr lang="en-US" altLang="zh-CN" sz="2000" dirty="0"/>
              <a:t>   </a:t>
            </a:r>
            <a:r>
              <a:rPr lang="zh-CN" altLang="zh-CN" sz="2000" dirty="0"/>
              <a:t>字符串简称串，串是一种重要的线性结构。串的操作在计算机的非数值计算问题中占有重要的地位，例如，文本编辑、信息检索系统、自然语言处理系统等均以串为处理对象。</a:t>
            </a:r>
            <a:endParaRPr lang="en-US" altLang="zh-CN" dirty="0"/>
          </a:p>
        </p:txBody>
      </p:sp>
      <p:sp>
        <p:nvSpPr>
          <p:cNvPr id="4" name="文本框 3"/>
          <p:cNvSpPr txBox="1"/>
          <p:nvPr/>
        </p:nvSpPr>
        <p:spPr>
          <a:xfrm>
            <a:off x="611380" y="115457"/>
            <a:ext cx="36022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串的基本概念</a:t>
            </a:r>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文本框 1"/>
          <p:cNvSpPr txBox="1"/>
          <p:nvPr/>
        </p:nvSpPr>
        <p:spPr>
          <a:xfrm>
            <a:off x="179512" y="4299942"/>
            <a:ext cx="3456384" cy="843558"/>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270231823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179512" y="915565"/>
                <a:ext cx="8784976" cy="4010597"/>
              </a:xfrm>
            </p:spPr>
            <p:txBody>
              <a:bodyPr/>
              <a:lstStyle/>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FF0000"/>
                    </a:solidFill>
                    <a:latin typeface="Times New Roman" panose="02020603050405020304" pitchFamily="18" charset="0"/>
                    <a:cs typeface="Times New Roman" panose="02020603050405020304" pitchFamily="18" charset="0"/>
                  </a:rPr>
                  <a:t>串</a:t>
                </a:r>
                <a:r>
                  <a:rPr lang="zh-CN" altLang="zh-CN" sz="1600" dirty="0">
                    <a:latin typeface="Times New Roman" panose="02020603050405020304" pitchFamily="18" charset="0"/>
                    <a:cs typeface="Times New Roman" panose="02020603050405020304" pitchFamily="18" charset="0"/>
                  </a:rPr>
                  <a:t>是</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个字符组成的有限序列。一般记作</a:t>
                </a:r>
                <a14:m>
                  <m:oMath xmlns:m="http://schemas.openxmlformats.org/officeDocument/2006/math">
                    <m:r>
                      <m:rPr>
                        <m:sty m:val="p"/>
                      </m:rPr>
                      <a:rPr lang="en-US" altLang="zh-CN" sz="1600">
                        <a:latin typeface="Cambria Math" panose="02040503050406030204" pitchFamily="18" charset="0"/>
                      </a:rPr>
                      <m:t>S</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r>
                      <m:rPr>
                        <m:sty m:val="p"/>
                      </m:rPr>
                      <a:rPr lang="en-US" altLang="zh-CN" sz="1600">
                        <a:latin typeface="Cambria Math" panose="02040503050406030204" pitchFamily="18" charset="0"/>
                      </a:rPr>
                      <m:t>S</m:t>
                    </m:r>
                  </m:oMath>
                </a14:m>
                <a:r>
                  <a:rPr lang="zh-CN" altLang="zh-CN" sz="1600" dirty="0">
                    <a:latin typeface="Times New Roman" panose="02020603050405020304" pitchFamily="18" charset="0"/>
                    <a:cs typeface="Times New Roman" panose="02020603050405020304" pitchFamily="18" charset="0"/>
                  </a:rPr>
                  <a:t>是串名，双引号括起来的字符序列是串的值，</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(1≤</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代表一个字符，其可以是字母、数字或其它符号。串中所包含的字符个数称为串的</a:t>
                </a:r>
                <a:r>
                  <a:rPr lang="zh-CN" altLang="zh-CN" sz="1600" dirty="0">
                    <a:solidFill>
                      <a:srgbClr val="FF0000"/>
                    </a:solidFill>
                    <a:latin typeface="Times New Roman" panose="02020603050405020304" pitchFamily="18" charset="0"/>
                    <a:cs typeface="Times New Roman" panose="02020603050405020304" pitchFamily="18" charset="0"/>
                  </a:rPr>
                  <a:t>长度</a:t>
                </a:r>
                <a:r>
                  <a:rPr lang="zh-CN" altLang="zh-CN" sz="1600" dirty="0">
                    <a:latin typeface="Times New Roman" panose="02020603050405020304" pitchFamily="18" charset="0"/>
                    <a:cs typeface="Times New Roman" panose="02020603050405020304" pitchFamily="18" charset="0"/>
                  </a:rPr>
                  <a:t>。长度为零的串称为</a:t>
                </a:r>
                <a:r>
                  <a:rPr lang="zh-CN" altLang="zh-CN" sz="1600" dirty="0">
                    <a:solidFill>
                      <a:srgbClr val="FF0000"/>
                    </a:solidFill>
                    <a:latin typeface="Times New Roman" panose="02020603050405020304" pitchFamily="18" charset="0"/>
                    <a:cs typeface="Times New Roman" panose="02020603050405020304" pitchFamily="18" charset="0"/>
                  </a:rPr>
                  <a:t>空串</a:t>
                </a:r>
                <a:r>
                  <a:rPr lang="zh-CN" altLang="zh-CN" sz="1600" dirty="0">
                    <a:latin typeface="Times New Roman" panose="02020603050405020304" pitchFamily="18" charset="0"/>
                    <a:cs typeface="Times New Roman" panose="02020603050405020304" pitchFamily="18" charset="0"/>
                  </a:rPr>
                  <a:t>，它不包含任何字符。通常将仅由一个或多个空格组成的串称为空格串。例如，</a:t>
                </a:r>
                <a14:m>
                  <m:oMath xmlns:m="http://schemas.openxmlformats.org/officeDocument/2006/math">
                    <m:r>
                      <a:rPr lang="en-US" altLang="zh-CN" sz="1600">
                        <a:latin typeface="Cambria Math" panose="02040503050406030204" pitchFamily="18" charset="0"/>
                      </a:rPr>
                      <m:t>" </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是长度为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的空格串，</a:t>
                </a:r>
                <a14:m>
                  <m:oMath xmlns:m="http://schemas.openxmlformats.org/officeDocument/2006/math">
                    <m:r>
                      <a:rPr lang="en-US" altLang="zh-CN" sz="1600">
                        <a:latin typeface="Cambria Math" panose="02040503050406030204" pitchFamily="18" charset="0"/>
                      </a:rPr>
                      <m:t>"</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是长度为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的空格串。</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两个串相等当且仅当两个串的长度相等，且其对应位置上的字符均相等。</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串中任意个连续字符组成的子序列称为该串的</a:t>
                </a:r>
                <a:r>
                  <a:rPr lang="zh-CN" altLang="zh-CN" sz="1600" dirty="0">
                    <a:solidFill>
                      <a:srgbClr val="FF0000"/>
                    </a:solidFill>
                    <a:latin typeface="Times New Roman" panose="02020603050405020304" pitchFamily="18" charset="0"/>
                    <a:cs typeface="Times New Roman" panose="02020603050405020304" pitchFamily="18" charset="0"/>
                  </a:rPr>
                  <a:t>子串</a:t>
                </a:r>
                <a:r>
                  <a:rPr lang="zh-CN" altLang="zh-CN" sz="1600" dirty="0">
                    <a:latin typeface="Times New Roman" panose="02020603050405020304" pitchFamily="18" charset="0"/>
                    <a:cs typeface="Times New Roman" panose="02020603050405020304" pitchFamily="18" charset="0"/>
                  </a:rPr>
                  <a:t>。包含子串的串相应地称为</a:t>
                </a:r>
                <a:r>
                  <a:rPr lang="zh-CN" altLang="zh-CN" sz="1600" dirty="0">
                    <a:solidFill>
                      <a:srgbClr val="FF0000"/>
                    </a:solidFill>
                    <a:latin typeface="Times New Roman" panose="02020603050405020304" pitchFamily="18" charset="0"/>
                    <a:cs typeface="Times New Roman" panose="02020603050405020304" pitchFamily="18" charset="0"/>
                  </a:rPr>
                  <a:t>主串</a:t>
                </a:r>
                <a:r>
                  <a:rPr lang="zh-CN" altLang="zh-CN" sz="1600" dirty="0">
                    <a:latin typeface="Times New Roman" panose="02020603050405020304" pitchFamily="18" charset="0"/>
                    <a:cs typeface="Times New Roman" panose="02020603050405020304" pitchFamily="18" charset="0"/>
                  </a:rPr>
                  <a:t>。</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字符在字符序列中的序号称为该字符在串中的位置。子串在主串中的位置用子串的首字符在主串的位置来表示。特例，空串是任意串的子串，串总是其自身的子串。</a:t>
                </a: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   例如</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设 </a:t>
                </a:r>
                <a:r>
                  <a:rPr lang="en-US" altLang="zh-CN" sz="1600" dirty="0">
                    <a:latin typeface="Times New Roman" panose="02020603050405020304" pitchFamily="18" charset="0"/>
                    <a:cs typeface="Times New Roman" panose="02020603050405020304" pitchFamily="18" charset="0"/>
                  </a:rPr>
                  <a:t>A</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C </a:t>
                </a:r>
                <a:r>
                  <a:rPr lang="zh-CN" altLang="en-US" sz="1600" dirty="0">
                    <a:latin typeface="Times New Roman" panose="02020603050405020304" pitchFamily="18" charset="0"/>
                    <a:cs typeface="Times New Roman" panose="02020603050405020304" pitchFamily="18" charset="0"/>
                  </a:rPr>
                  <a:t>为如下的 </a:t>
                </a:r>
                <a:r>
                  <a:rPr lang="en-US" altLang="zh-CN" sz="1600" dirty="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个串</a:t>
                </a:r>
                <a:r>
                  <a:rPr lang="en-US" altLang="zh-CN" sz="1600" dirty="0">
                    <a:latin typeface="Times New Roman" panose="02020603050405020304" pitchFamily="18" charset="0"/>
                    <a:cs typeface="Times New Roman" panose="02020603050405020304" pitchFamily="18" charset="0"/>
                  </a:rPr>
                  <a:t>: A="NJU" , B ="University" , C ="Nanjing University is short for NJU" , </a:t>
                </a:r>
                <a:r>
                  <a:rPr lang="zh-CN" altLang="en-US" sz="1600" dirty="0">
                    <a:latin typeface="Times New Roman" panose="02020603050405020304" pitchFamily="18" charset="0"/>
                    <a:cs typeface="Times New Roman" panose="02020603050405020304" pitchFamily="18" charset="0"/>
                  </a:rPr>
                  <a:t>则 </a:t>
                </a:r>
                <a:r>
                  <a:rPr lang="en-US" altLang="zh-CN" sz="1600" dirty="0">
                    <a:latin typeface="Times New Roman" panose="02020603050405020304" pitchFamily="18" charset="0"/>
                    <a:cs typeface="Times New Roman" panose="02020603050405020304" pitchFamily="18" charset="0"/>
                  </a:rPr>
                  <a:t>A</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C </a:t>
                </a:r>
                <a:r>
                  <a:rPr lang="zh-CN" altLang="en-US" sz="1600" dirty="0">
                    <a:latin typeface="Times New Roman" panose="02020603050405020304" pitchFamily="18" charset="0"/>
                    <a:cs typeface="Times New Roman" panose="02020603050405020304" pitchFamily="18" charset="0"/>
                  </a:rPr>
                  <a:t>的长度分别为 </a:t>
                </a:r>
                <a:r>
                  <a:rPr lang="en-US" altLang="zh-CN" sz="1600" dirty="0">
                    <a:latin typeface="Times New Roman" panose="02020603050405020304" pitchFamily="18" charset="0"/>
                    <a:cs typeface="Times New Roman" panose="02020603050405020304" pitchFamily="18" charset="0"/>
                  </a:rPr>
                  <a:t>3</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10 </a:t>
                </a:r>
                <a:r>
                  <a:rPr lang="zh-CN" altLang="en-US" sz="1600" dirty="0">
                    <a:latin typeface="Times New Roman" panose="02020603050405020304" pitchFamily="18" charset="0"/>
                    <a:cs typeface="Times New Roman" panose="02020603050405020304" pitchFamily="18" charset="0"/>
                  </a:rPr>
                  <a:t>和 </a:t>
                </a:r>
                <a:r>
                  <a:rPr lang="en-US" altLang="zh-CN" sz="1600" dirty="0">
                    <a:latin typeface="Times New Roman" panose="02020603050405020304" pitchFamily="18" charset="0"/>
                    <a:cs typeface="Times New Roman" panose="02020603050405020304" pitchFamily="18" charset="0"/>
                  </a:rPr>
                  <a:t>35; A </a:t>
                </a:r>
                <a:r>
                  <a:rPr lang="zh-CN" altLang="en-US" sz="1600" dirty="0">
                    <a:latin typeface="Times New Roman" panose="02020603050405020304" pitchFamily="18" charset="0"/>
                    <a:cs typeface="Times New Roman" panose="02020603050405020304" pitchFamily="18" charset="0"/>
                  </a:rPr>
                  <a:t>和 </a:t>
                </a:r>
                <a:r>
                  <a:rPr lang="en-US" altLang="zh-CN" sz="1600" dirty="0">
                    <a:latin typeface="Times New Roman" panose="02020603050405020304" pitchFamily="18" charset="0"/>
                    <a:cs typeface="Times New Roman" panose="02020603050405020304" pitchFamily="18" charset="0"/>
                  </a:rPr>
                  <a:t>B </a:t>
                </a:r>
                <a:r>
                  <a:rPr lang="zh-CN" altLang="en-US" sz="1600" dirty="0">
                    <a:latin typeface="Times New Roman" panose="02020603050405020304" pitchFamily="18" charset="0"/>
                    <a:cs typeface="Times New Roman" panose="02020603050405020304" pitchFamily="18" charset="0"/>
                  </a:rPr>
                  <a:t>都是 </a:t>
                </a:r>
                <a:r>
                  <a:rPr lang="en-US" altLang="zh-CN" sz="1600" dirty="0">
                    <a:latin typeface="Times New Roman" panose="02020603050405020304" pitchFamily="18" charset="0"/>
                    <a:cs typeface="Times New Roman" panose="02020603050405020304" pitchFamily="18" charset="0"/>
                  </a:rPr>
                  <a:t>C </a:t>
                </a:r>
                <a:r>
                  <a:rPr lang="zh-CN" altLang="en-US" sz="1600" dirty="0">
                    <a:latin typeface="Times New Roman" panose="02020603050405020304" pitchFamily="18" charset="0"/>
                    <a:cs typeface="Times New Roman" panose="02020603050405020304" pitchFamily="18" charset="0"/>
                  </a:rPr>
                  <a:t>的子串</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它们在 </a:t>
                </a:r>
                <a:r>
                  <a:rPr lang="en-US" altLang="zh-CN" sz="1600" dirty="0">
                    <a:latin typeface="Times New Roman" panose="02020603050405020304" pitchFamily="18" charset="0"/>
                    <a:cs typeface="Times New Roman" panose="02020603050405020304" pitchFamily="18" charset="0"/>
                  </a:rPr>
                  <a:t>C </a:t>
                </a:r>
                <a:r>
                  <a:rPr lang="zh-CN" altLang="en-US" sz="1600" dirty="0">
                    <a:latin typeface="Times New Roman" panose="02020603050405020304" pitchFamily="18" charset="0"/>
                    <a:cs typeface="Times New Roman" panose="02020603050405020304" pitchFamily="18" charset="0"/>
                  </a:rPr>
                  <a:t>中的位置分别是 </a:t>
                </a:r>
                <a:r>
                  <a:rPr lang="en-US" altLang="zh-CN" sz="1600" dirty="0">
                    <a:latin typeface="Times New Roman" panose="02020603050405020304" pitchFamily="18" charset="0"/>
                    <a:cs typeface="Times New Roman" panose="02020603050405020304" pitchFamily="18" charset="0"/>
                  </a:rPr>
                  <a:t>33 </a:t>
                </a:r>
                <a:r>
                  <a:rPr lang="zh-CN" altLang="en-US" sz="1600" dirty="0">
                    <a:latin typeface="Times New Roman" panose="02020603050405020304" pitchFamily="18" charset="0"/>
                    <a:cs typeface="Times New Roman" panose="02020603050405020304" pitchFamily="18" charset="0"/>
                  </a:rPr>
                  <a:t>和 </a:t>
                </a:r>
                <a:r>
                  <a:rPr lang="en-US" altLang="zh-CN" sz="1600" dirty="0">
                    <a:latin typeface="Times New Roman" panose="02020603050405020304" pitchFamily="18" charset="0"/>
                    <a:cs typeface="Times New Roman" panose="02020603050405020304" pitchFamily="18" charset="0"/>
                  </a:rPr>
                  <a:t>9</a:t>
                </a:r>
                <a:r>
                  <a:rPr lang="zh-CN" altLang="en-US"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179512" y="915565"/>
                <a:ext cx="8784976" cy="4010597"/>
              </a:xfrm>
              <a:blipFill>
                <a:blip r:embed="rId3"/>
                <a:stretch>
                  <a:fillRect l="-624" t="-760" r="-555"/>
                </a:stretch>
              </a:blipFill>
            </p:spPr>
            <p:txBody>
              <a:bodyPr/>
              <a:lstStyle/>
              <a:p>
                <a:r>
                  <a:rPr lang="zh-CN" altLang="en-US">
                    <a:noFill/>
                  </a:rPr>
                  <a:t> </a:t>
                </a:r>
              </a:p>
            </p:txBody>
          </p:sp>
        </mc:Fallback>
      </mc:AlternateContent>
      <p:sp>
        <p:nvSpPr>
          <p:cNvPr id="5" name="文本框 4"/>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串的基本概念</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755576" y="674385"/>
                <a:ext cx="8208912" cy="1512168"/>
              </a:xfrm>
            </p:spPr>
            <p:txBody>
              <a:bodyPr/>
              <a:lstStyle/>
              <a:p>
                <a:pPr marL="0" indent="0">
                  <a:lnSpc>
                    <a:spcPts val="2000"/>
                  </a:lnSpc>
                  <a:spcBef>
                    <a:spcPts val="0"/>
                  </a:spcBef>
                  <a:buNone/>
                </a:pPr>
                <a:r>
                  <a:rPr lang="en-US" altLang="zh-CN" sz="1400" dirty="0">
                    <a:latin typeface="Times New Roman" panose="02020603050405020304" pitchFamily="18" charset="0"/>
                    <a:cs typeface="Times New Roman" panose="02020603050405020304" pitchFamily="18" charset="0"/>
                  </a:rPr>
                  <a:t>ADT String{</a:t>
                </a:r>
                <a:endParaRPr lang="zh-CN" altLang="zh-CN" sz="14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latin typeface="Times New Roman" panose="02020603050405020304" pitchFamily="18" charset="0"/>
                    <a:cs typeface="Times New Roman" panose="02020603050405020304" pitchFamily="18" charset="0"/>
                  </a:rPr>
                  <a:t>   </a:t>
                </a:r>
                <a:r>
                  <a:rPr lang="zh-CN" altLang="zh-CN" sz="1400" dirty="0">
                    <a:solidFill>
                      <a:srgbClr val="7030A0"/>
                    </a:solidFill>
                    <a:latin typeface="Times New Roman" panose="02020603050405020304" pitchFamily="18" charset="0"/>
                    <a:cs typeface="Times New Roman" panose="02020603050405020304" pitchFamily="18" charset="0"/>
                  </a:rPr>
                  <a:t>数据对象：</a:t>
                </a:r>
                <a:r>
                  <a:rPr lang="en-US" altLang="zh-CN" sz="1400" dirty="0">
                    <a:solidFill>
                      <a:srgbClr val="7030A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400" i="1">
                        <a:solidFill>
                          <a:srgbClr val="7030A0"/>
                        </a:solidFill>
                        <a:latin typeface="Cambria Math" panose="02040503050406030204" pitchFamily="18" charset="0"/>
                      </a:rPr>
                      <m:t>𝐷</m:t>
                    </m:r>
                    <m:r>
                      <a:rPr lang="en-US" altLang="zh-CN" sz="1400">
                        <a:solidFill>
                          <a:srgbClr val="7030A0"/>
                        </a:solidFill>
                        <a:latin typeface="Cambria Math" panose="02040503050406030204" pitchFamily="18" charset="0"/>
                      </a:rPr>
                      <m:t>=</m:t>
                    </m:r>
                    <m:d>
                      <m:dPr>
                        <m:begChr m:val="{"/>
                        <m:endChr m:val="}"/>
                        <m:ctrlPr>
                          <a:rPr lang="zh-CN" altLang="zh-CN" sz="1400" i="1">
                            <a:solidFill>
                              <a:srgbClr val="7030A0"/>
                            </a:solidFill>
                            <a:latin typeface="Cambria Math" panose="02040503050406030204" pitchFamily="18" charset="0"/>
                          </a:rPr>
                        </m:ctrlPr>
                      </m:dPr>
                      <m:e>
                        <m:sSub>
                          <m:sSubPr>
                            <m:ctrlPr>
                              <a:rPr lang="zh-CN" altLang="zh-CN" sz="1400" i="1">
                                <a:solidFill>
                                  <a:srgbClr val="7030A0"/>
                                </a:solidFill>
                                <a:latin typeface="Cambria Math" panose="02040503050406030204" pitchFamily="18" charset="0"/>
                              </a:rPr>
                            </m:ctrlPr>
                          </m:sSubPr>
                          <m:e>
                            <m:r>
                              <a:rPr lang="en-US" altLang="zh-CN" sz="1400" i="1">
                                <a:solidFill>
                                  <a:srgbClr val="7030A0"/>
                                </a:solidFill>
                                <a:latin typeface="Cambria Math" panose="02040503050406030204" pitchFamily="18" charset="0"/>
                              </a:rPr>
                              <m:t>𝑎</m:t>
                            </m:r>
                          </m:e>
                          <m:sub>
                            <m:r>
                              <a:rPr lang="en-US" altLang="zh-CN" sz="1400" i="1">
                                <a:solidFill>
                                  <a:srgbClr val="7030A0"/>
                                </a:solidFill>
                                <a:latin typeface="Cambria Math" panose="02040503050406030204" pitchFamily="18" charset="0"/>
                              </a:rPr>
                              <m:t>𝑖</m:t>
                            </m:r>
                          </m:sub>
                        </m:sSub>
                      </m:e>
                      <m:e>
                        <m:r>
                          <a:rPr lang="en-US" altLang="zh-CN" sz="1400" i="1">
                            <a:solidFill>
                              <a:srgbClr val="7030A0"/>
                            </a:solidFill>
                            <a:latin typeface="Cambria Math" panose="02040503050406030204" pitchFamily="18" charset="0"/>
                          </a:rPr>
                          <m:t>1≤</m:t>
                        </m:r>
                        <m:r>
                          <a:rPr lang="en-US" altLang="zh-CN" sz="1400" i="1">
                            <a:solidFill>
                              <a:srgbClr val="7030A0"/>
                            </a:solidFill>
                            <a:latin typeface="Cambria Math" panose="02040503050406030204" pitchFamily="18" charset="0"/>
                          </a:rPr>
                          <m:t>𝑖</m:t>
                        </m:r>
                        <m:r>
                          <a:rPr lang="en-US" altLang="zh-CN" sz="1400" i="1">
                            <a:solidFill>
                              <a:srgbClr val="7030A0"/>
                            </a:solidFill>
                            <a:latin typeface="Cambria Math" panose="02040503050406030204" pitchFamily="18" charset="0"/>
                          </a:rPr>
                          <m:t>≤</m:t>
                        </m:r>
                        <m:r>
                          <a:rPr lang="en-US" altLang="zh-CN" sz="1400" i="1">
                            <a:solidFill>
                              <a:srgbClr val="7030A0"/>
                            </a:solidFill>
                            <a:latin typeface="Cambria Math" panose="02040503050406030204" pitchFamily="18" charset="0"/>
                          </a:rPr>
                          <m:t>𝑛</m:t>
                        </m:r>
                        <m:r>
                          <a:rPr lang="en-US" altLang="zh-CN" sz="1400">
                            <a:solidFill>
                              <a:srgbClr val="7030A0"/>
                            </a:solidFill>
                            <a:latin typeface="Cambria Math" panose="02040503050406030204" pitchFamily="18" charset="0"/>
                          </a:rPr>
                          <m:t>,</m:t>
                        </m:r>
                        <m:sSub>
                          <m:sSubPr>
                            <m:ctrlPr>
                              <a:rPr lang="zh-CN" altLang="zh-CN" sz="1400" i="1">
                                <a:solidFill>
                                  <a:srgbClr val="7030A0"/>
                                </a:solidFill>
                                <a:latin typeface="Cambria Math" panose="02040503050406030204" pitchFamily="18" charset="0"/>
                              </a:rPr>
                            </m:ctrlPr>
                          </m:sSubPr>
                          <m:e>
                            <m:r>
                              <a:rPr lang="en-US" altLang="zh-CN" sz="1400" i="1">
                                <a:solidFill>
                                  <a:srgbClr val="7030A0"/>
                                </a:solidFill>
                                <a:latin typeface="Cambria Math" panose="02040503050406030204" pitchFamily="18" charset="0"/>
                              </a:rPr>
                              <m:t>𝑎</m:t>
                            </m:r>
                          </m:e>
                          <m:sub>
                            <m:r>
                              <a:rPr lang="en-US" altLang="zh-CN" sz="1400" i="1">
                                <a:solidFill>
                                  <a:srgbClr val="7030A0"/>
                                </a:solidFill>
                                <a:latin typeface="Cambria Math" panose="02040503050406030204" pitchFamily="18" charset="0"/>
                              </a:rPr>
                              <m:t>𝑖</m:t>
                            </m:r>
                          </m:sub>
                        </m:sSub>
                        <m:r>
                          <a:rPr lang="zh-CN" altLang="zh-CN" sz="1400">
                            <a:solidFill>
                              <a:srgbClr val="7030A0"/>
                            </a:solidFill>
                            <a:latin typeface="Cambria Math" panose="02040503050406030204" pitchFamily="18" charset="0"/>
                          </a:rPr>
                          <m:t>为</m:t>
                        </m:r>
                        <m:r>
                          <m:rPr>
                            <m:sty m:val="p"/>
                          </m:rPr>
                          <a:rPr lang="en-US" altLang="zh-CN" sz="1400">
                            <a:solidFill>
                              <a:srgbClr val="7030A0"/>
                            </a:solidFill>
                            <a:latin typeface="Cambria Math" panose="02040503050406030204" pitchFamily="18" charset="0"/>
                          </a:rPr>
                          <m:t>char</m:t>
                        </m:r>
                        <m:r>
                          <a:rPr lang="zh-CN" altLang="zh-CN" sz="1400">
                            <a:solidFill>
                              <a:srgbClr val="7030A0"/>
                            </a:solidFill>
                            <a:latin typeface="Cambria Math" panose="02040503050406030204" pitchFamily="18" charset="0"/>
                          </a:rPr>
                          <m:t>类型</m:t>
                        </m:r>
                      </m:e>
                    </m:d>
                  </m:oMath>
                </a14:m>
                <a:endParaRPr lang="zh-CN" altLang="zh-CN" sz="14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latin typeface="Times New Roman" panose="02020603050405020304" pitchFamily="18" charset="0"/>
                    <a:cs typeface="Times New Roman" panose="02020603050405020304" pitchFamily="18" charset="0"/>
                  </a:rPr>
                  <a:t>   </a:t>
                </a:r>
                <a:r>
                  <a:rPr lang="zh-CN" altLang="zh-CN" sz="1400" dirty="0">
                    <a:solidFill>
                      <a:srgbClr val="C00000"/>
                    </a:solidFill>
                    <a:latin typeface="Times New Roman" panose="02020603050405020304" pitchFamily="18" charset="0"/>
                    <a:cs typeface="Times New Roman" panose="02020603050405020304" pitchFamily="18" charset="0"/>
                  </a:rPr>
                  <a:t>数据关系：</a:t>
                </a:r>
                <a:r>
                  <a:rPr lang="en-US" altLang="zh-CN" sz="1400"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400" i="1">
                        <a:solidFill>
                          <a:srgbClr val="C00000"/>
                        </a:solidFill>
                        <a:latin typeface="Cambria Math" panose="02040503050406030204" pitchFamily="18" charset="0"/>
                      </a:rPr>
                      <m:t>𝑅</m:t>
                    </m:r>
                    <m:r>
                      <a:rPr lang="en-US" altLang="zh-CN" sz="1400">
                        <a:solidFill>
                          <a:srgbClr val="C00000"/>
                        </a:solidFill>
                        <a:latin typeface="Cambria Math" panose="02040503050406030204" pitchFamily="18" charset="0"/>
                      </a:rPr>
                      <m:t>={(</m:t>
                    </m:r>
                    <m:sSub>
                      <m:sSubPr>
                        <m:ctrlPr>
                          <a:rPr lang="zh-CN" altLang="zh-CN" sz="1400" i="1">
                            <a:solidFill>
                              <a:srgbClr val="C00000"/>
                            </a:solidFill>
                            <a:latin typeface="Cambria Math" panose="02040503050406030204" pitchFamily="18" charset="0"/>
                          </a:rPr>
                        </m:ctrlPr>
                      </m:sSubPr>
                      <m:e>
                        <m:r>
                          <a:rPr lang="en-US" altLang="zh-CN" sz="1400" i="1">
                            <a:solidFill>
                              <a:srgbClr val="C00000"/>
                            </a:solidFill>
                            <a:latin typeface="Cambria Math" panose="02040503050406030204" pitchFamily="18" charset="0"/>
                          </a:rPr>
                          <m:t>𝑎</m:t>
                        </m:r>
                      </m:e>
                      <m:sub>
                        <m:r>
                          <a:rPr lang="en-US" altLang="zh-CN" sz="1400" i="1">
                            <a:solidFill>
                              <a:srgbClr val="C00000"/>
                            </a:solidFill>
                            <a:latin typeface="Cambria Math" panose="02040503050406030204" pitchFamily="18" charset="0"/>
                          </a:rPr>
                          <m:t>𝑖</m:t>
                        </m:r>
                      </m:sub>
                    </m:sSub>
                    <m:r>
                      <a:rPr lang="en-US" altLang="zh-CN" sz="1400" i="1">
                        <a:solidFill>
                          <a:srgbClr val="C00000"/>
                        </a:solidFill>
                        <a:latin typeface="Cambria Math" panose="02040503050406030204" pitchFamily="18" charset="0"/>
                      </a:rPr>
                      <m:t>,</m:t>
                    </m:r>
                    <m:sSub>
                      <m:sSubPr>
                        <m:ctrlPr>
                          <a:rPr lang="zh-CN" altLang="zh-CN" sz="1400" i="1">
                            <a:solidFill>
                              <a:srgbClr val="C00000"/>
                            </a:solidFill>
                            <a:latin typeface="Cambria Math" panose="02040503050406030204" pitchFamily="18" charset="0"/>
                          </a:rPr>
                        </m:ctrlPr>
                      </m:sSubPr>
                      <m:e>
                        <m:r>
                          <a:rPr lang="en-US" altLang="zh-CN" sz="1400" i="1">
                            <a:solidFill>
                              <a:srgbClr val="C00000"/>
                            </a:solidFill>
                            <a:latin typeface="Cambria Math" panose="02040503050406030204" pitchFamily="18" charset="0"/>
                          </a:rPr>
                          <m:t>𝑎</m:t>
                        </m:r>
                      </m:e>
                      <m:sub>
                        <m:r>
                          <a:rPr lang="en-US" altLang="zh-CN" sz="1400" i="1">
                            <a:solidFill>
                              <a:srgbClr val="C00000"/>
                            </a:solidFill>
                            <a:latin typeface="Cambria Math" panose="02040503050406030204" pitchFamily="18" charset="0"/>
                          </a:rPr>
                          <m:t>𝑖</m:t>
                        </m:r>
                        <m:r>
                          <a:rPr lang="en-US" altLang="zh-CN" sz="1400" i="1">
                            <a:solidFill>
                              <a:srgbClr val="C00000"/>
                            </a:solidFill>
                            <a:latin typeface="Cambria Math" panose="02040503050406030204" pitchFamily="18" charset="0"/>
                          </a:rPr>
                          <m:t>+1</m:t>
                        </m:r>
                      </m:sub>
                    </m:sSub>
                    <m:r>
                      <a:rPr lang="en-US" altLang="zh-CN" sz="1400" i="1">
                        <a:solidFill>
                          <a:srgbClr val="C00000"/>
                        </a:solidFill>
                        <a:latin typeface="Cambria Math" panose="02040503050406030204" pitchFamily="18" charset="0"/>
                      </a:rPr>
                      <m:t>)|</m:t>
                    </m:r>
                    <m:sSub>
                      <m:sSubPr>
                        <m:ctrlPr>
                          <a:rPr lang="zh-CN" altLang="zh-CN" sz="1400" i="1">
                            <a:solidFill>
                              <a:srgbClr val="C00000"/>
                            </a:solidFill>
                            <a:latin typeface="Cambria Math" panose="02040503050406030204" pitchFamily="18" charset="0"/>
                          </a:rPr>
                        </m:ctrlPr>
                      </m:sSubPr>
                      <m:e>
                        <m:r>
                          <a:rPr lang="en-US" altLang="zh-CN" sz="1400" i="1">
                            <a:solidFill>
                              <a:srgbClr val="C00000"/>
                            </a:solidFill>
                            <a:latin typeface="Cambria Math" panose="02040503050406030204" pitchFamily="18" charset="0"/>
                          </a:rPr>
                          <m:t>𝑎</m:t>
                        </m:r>
                      </m:e>
                      <m:sub>
                        <m:r>
                          <a:rPr lang="en-US" altLang="zh-CN" sz="1400" i="1">
                            <a:solidFill>
                              <a:srgbClr val="C00000"/>
                            </a:solidFill>
                            <a:latin typeface="Cambria Math" panose="02040503050406030204" pitchFamily="18" charset="0"/>
                          </a:rPr>
                          <m:t>𝑖</m:t>
                        </m:r>
                      </m:sub>
                    </m:sSub>
                    <m:r>
                      <a:rPr lang="en-US" altLang="zh-CN" sz="1400" i="1">
                        <a:solidFill>
                          <a:srgbClr val="C00000"/>
                        </a:solidFill>
                        <a:latin typeface="Cambria Math" panose="02040503050406030204" pitchFamily="18" charset="0"/>
                      </a:rPr>
                      <m:t>,</m:t>
                    </m:r>
                    <m:sSub>
                      <m:sSubPr>
                        <m:ctrlPr>
                          <a:rPr lang="zh-CN" altLang="zh-CN" sz="1400" i="1">
                            <a:solidFill>
                              <a:srgbClr val="C00000"/>
                            </a:solidFill>
                            <a:latin typeface="Cambria Math" panose="02040503050406030204" pitchFamily="18" charset="0"/>
                          </a:rPr>
                        </m:ctrlPr>
                      </m:sSubPr>
                      <m:e>
                        <m:r>
                          <a:rPr lang="en-US" altLang="zh-CN" sz="1400" i="1">
                            <a:solidFill>
                              <a:srgbClr val="C00000"/>
                            </a:solidFill>
                            <a:latin typeface="Cambria Math" panose="02040503050406030204" pitchFamily="18" charset="0"/>
                          </a:rPr>
                          <m:t>𝑎</m:t>
                        </m:r>
                      </m:e>
                      <m:sub>
                        <m:r>
                          <a:rPr lang="en-US" altLang="zh-CN" sz="1400" i="1">
                            <a:solidFill>
                              <a:srgbClr val="C00000"/>
                            </a:solidFill>
                            <a:latin typeface="Cambria Math" panose="02040503050406030204" pitchFamily="18" charset="0"/>
                          </a:rPr>
                          <m:t>𝑖</m:t>
                        </m:r>
                        <m:r>
                          <a:rPr lang="en-US" altLang="zh-CN" sz="1400" i="1">
                            <a:solidFill>
                              <a:srgbClr val="C00000"/>
                            </a:solidFill>
                            <a:latin typeface="Cambria Math" panose="02040503050406030204" pitchFamily="18" charset="0"/>
                          </a:rPr>
                          <m:t>+1</m:t>
                        </m:r>
                      </m:sub>
                    </m:sSub>
                    <m:r>
                      <a:rPr lang="en-US" altLang="zh-CN" sz="1400" i="1">
                        <a:solidFill>
                          <a:srgbClr val="C00000"/>
                        </a:solidFill>
                        <a:latin typeface="Cambria Math" panose="02040503050406030204" pitchFamily="18" charset="0"/>
                      </a:rPr>
                      <m:t>∈</m:t>
                    </m:r>
                    <m:r>
                      <a:rPr lang="en-US" altLang="zh-CN" sz="1400" i="1">
                        <a:solidFill>
                          <a:srgbClr val="C00000"/>
                        </a:solidFill>
                        <a:latin typeface="Cambria Math" panose="02040503050406030204" pitchFamily="18" charset="0"/>
                      </a:rPr>
                      <m:t>𝐷</m:t>
                    </m:r>
                    <m:r>
                      <a:rPr lang="en-US" altLang="zh-CN" sz="1400" i="1">
                        <a:solidFill>
                          <a:srgbClr val="C00000"/>
                        </a:solidFill>
                        <a:latin typeface="Cambria Math" panose="02040503050406030204" pitchFamily="18" charset="0"/>
                      </a:rPr>
                      <m:t>,</m:t>
                    </m:r>
                    <m:r>
                      <a:rPr lang="en-US" altLang="zh-CN" sz="1400" i="1">
                        <a:solidFill>
                          <a:srgbClr val="C00000"/>
                        </a:solidFill>
                        <a:latin typeface="Cambria Math" panose="02040503050406030204" pitchFamily="18" charset="0"/>
                      </a:rPr>
                      <m:t>𝑖</m:t>
                    </m:r>
                    <m:r>
                      <a:rPr lang="en-US" altLang="zh-CN" sz="1400" i="1">
                        <a:solidFill>
                          <a:srgbClr val="C00000"/>
                        </a:solidFill>
                        <a:latin typeface="Cambria Math" panose="02040503050406030204" pitchFamily="18" charset="0"/>
                      </a:rPr>
                      <m:t>=1,2,⋯,</m:t>
                    </m:r>
                    <m:r>
                      <a:rPr lang="en-US" altLang="zh-CN" sz="1400" i="1">
                        <a:solidFill>
                          <a:srgbClr val="C00000"/>
                        </a:solidFill>
                        <a:latin typeface="Cambria Math" panose="02040503050406030204" pitchFamily="18" charset="0"/>
                      </a:rPr>
                      <m:t>𝑛</m:t>
                    </m:r>
                    <m:r>
                      <a:rPr lang="en-US" altLang="zh-CN" sz="1400" i="1">
                        <a:solidFill>
                          <a:srgbClr val="C00000"/>
                        </a:solidFill>
                        <a:latin typeface="Cambria Math" panose="02040503050406030204" pitchFamily="18" charset="0"/>
                      </a:rPr>
                      <m:t>−1}</m:t>
                    </m:r>
                  </m:oMath>
                </a14:m>
                <a:endParaRPr lang="zh-CN" altLang="zh-CN" sz="14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基本操作：</a:t>
                </a:r>
              </a:p>
              <a:p>
                <a:pPr marL="0" indent="0">
                  <a:lnSpc>
                    <a:spcPts val="2000"/>
                  </a:lnSpc>
                  <a:spcBef>
                    <a:spcPts val="0"/>
                  </a:spcBef>
                  <a:buNone/>
                </a:pPr>
                <a:r>
                  <a:rPr lang="en-US" altLang="zh-CN" sz="1400" dirty="0">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StrAssign</a:t>
                </a:r>
                <a:r>
                  <a:rPr lang="en-US" altLang="zh-CN" sz="1400" dirty="0">
                    <a:solidFill>
                      <a:srgbClr val="002060"/>
                    </a:solidFill>
                    <a:latin typeface="Times New Roman" panose="02020603050405020304" pitchFamily="18" charset="0"/>
                    <a:cs typeface="Times New Roman" panose="02020603050405020304" pitchFamily="18" charset="0"/>
                  </a:rPr>
                  <a:t>(&amp;</a:t>
                </a:r>
                <a:r>
                  <a:rPr lang="en-US" altLang="zh-CN" sz="1400" dirty="0" err="1">
                    <a:solidFill>
                      <a:srgbClr val="002060"/>
                    </a:solidFill>
                    <a:latin typeface="Times New Roman" panose="02020603050405020304" pitchFamily="18" charset="0"/>
                    <a:cs typeface="Times New Roman" panose="02020603050405020304" pitchFamily="18" charset="0"/>
                  </a:rPr>
                  <a:t>s,str</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：生成其值等于</a:t>
                </a:r>
                <a:r>
                  <a:rPr lang="en-US" altLang="zh-CN" sz="1400" dirty="0" err="1">
                    <a:solidFill>
                      <a:srgbClr val="002060"/>
                    </a:solidFill>
                    <a:latin typeface="Times New Roman" panose="02020603050405020304" pitchFamily="18" charset="0"/>
                    <a:cs typeface="Times New Roman" panose="02020603050405020304" pitchFamily="18" charset="0"/>
                  </a:rPr>
                  <a:t>str</a:t>
                </a:r>
                <a:r>
                  <a:rPr lang="zh-CN" altLang="zh-CN" sz="1400" dirty="0">
                    <a:solidFill>
                      <a:srgbClr val="002060"/>
                    </a:solidFill>
                    <a:latin typeface="Times New Roman" panose="02020603050405020304" pitchFamily="18" charset="0"/>
                    <a:cs typeface="Times New Roman" panose="02020603050405020304" pitchFamily="18" charset="0"/>
                  </a:rPr>
                  <a:t>的串</a:t>
                </a:r>
                <a:r>
                  <a:rPr lang="en-US" altLang="zh-CN" sz="1400" dirty="0">
                    <a:solidFill>
                      <a:srgbClr val="002060"/>
                    </a:solidFill>
                    <a:latin typeface="Times New Roman" panose="02020603050405020304" pitchFamily="18" charset="0"/>
                    <a:cs typeface="Times New Roman" panose="02020603050405020304" pitchFamily="18" charset="0"/>
                  </a:rPr>
                  <a:t>s</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StrDestroy</a:t>
                </a:r>
                <a:r>
                  <a:rPr lang="en-US" altLang="zh-CN" sz="1400" dirty="0">
                    <a:solidFill>
                      <a:srgbClr val="002060"/>
                    </a:solidFill>
                    <a:latin typeface="Times New Roman" panose="02020603050405020304" pitchFamily="18" charset="0"/>
                    <a:cs typeface="Times New Roman" panose="02020603050405020304" pitchFamily="18" charset="0"/>
                  </a:rPr>
                  <a:t>(&amp;s)</a:t>
                </a:r>
                <a:r>
                  <a:rPr lang="zh-CN" altLang="zh-CN" sz="1400" dirty="0">
                    <a:solidFill>
                      <a:srgbClr val="002060"/>
                    </a:solidFill>
                    <a:latin typeface="Times New Roman" panose="02020603050405020304" pitchFamily="18" charset="0"/>
                    <a:cs typeface="Times New Roman" panose="02020603050405020304" pitchFamily="18" charset="0"/>
                  </a:rPr>
                  <a:t>：销毁串</a:t>
                </a:r>
                <a:r>
                  <a:rPr lang="en-US" altLang="zh-CN" sz="1400" dirty="0">
                    <a:solidFill>
                      <a:srgbClr val="002060"/>
                    </a:solidFill>
                    <a:latin typeface="Times New Roman" panose="02020603050405020304" pitchFamily="18" charset="0"/>
                    <a:cs typeface="Times New Roman" panose="02020603050405020304" pitchFamily="18" charset="0"/>
                  </a:rPr>
                  <a:t>s</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StrCopy</a:t>
                </a:r>
                <a:r>
                  <a:rPr lang="en-US" altLang="zh-CN" sz="1400" dirty="0">
                    <a:solidFill>
                      <a:srgbClr val="002060"/>
                    </a:solidFill>
                    <a:latin typeface="Times New Roman" panose="02020603050405020304" pitchFamily="18" charset="0"/>
                    <a:cs typeface="Times New Roman" panose="02020603050405020304" pitchFamily="18" charset="0"/>
                  </a:rPr>
                  <a:t>(&amp;</a:t>
                </a:r>
                <a:r>
                  <a:rPr lang="en-US" altLang="zh-CN" sz="1400" dirty="0" err="1">
                    <a:solidFill>
                      <a:srgbClr val="002060"/>
                    </a:solidFill>
                    <a:latin typeface="Times New Roman" panose="02020603050405020304" pitchFamily="18" charset="0"/>
                    <a:cs typeface="Times New Roman" panose="02020603050405020304" pitchFamily="18" charset="0"/>
                  </a:rPr>
                  <a:t>t,s</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：将串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拷贝给</a:t>
                </a:r>
                <a:r>
                  <a:rPr lang="en-US" altLang="zh-CN" sz="1400" dirty="0">
                    <a:solidFill>
                      <a:srgbClr val="002060"/>
                    </a:solidFill>
                    <a:latin typeface="Times New Roman" panose="02020603050405020304" pitchFamily="18" charset="0"/>
                    <a:cs typeface="Times New Roman" panose="02020603050405020304" pitchFamily="18" charset="0"/>
                  </a:rPr>
                  <a:t>t</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StrLength</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：返回串的长度</a:t>
                </a: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StrCompare</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s,t</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：串的比较，若</a:t>
                </a:r>
                <a:r>
                  <a:rPr lang="en-US" altLang="zh-CN" sz="1400" dirty="0">
                    <a:solidFill>
                      <a:srgbClr val="002060"/>
                    </a:solidFill>
                    <a:latin typeface="Times New Roman" panose="02020603050405020304" pitchFamily="18" charset="0"/>
                    <a:cs typeface="Times New Roman" panose="02020603050405020304" pitchFamily="18" charset="0"/>
                  </a:rPr>
                  <a:t>s==t</a:t>
                </a:r>
                <a:r>
                  <a:rPr lang="zh-CN" altLang="zh-CN" sz="1400" dirty="0">
                    <a:solidFill>
                      <a:srgbClr val="002060"/>
                    </a:solidFill>
                    <a:latin typeface="Times New Roman" panose="02020603050405020304" pitchFamily="18" charset="0"/>
                    <a:cs typeface="Times New Roman" panose="02020603050405020304" pitchFamily="18" charset="0"/>
                  </a:rPr>
                  <a:t>，则返回</a:t>
                </a:r>
                <a:r>
                  <a:rPr lang="en-US" altLang="zh-CN" sz="1400" dirty="0">
                    <a:solidFill>
                      <a:srgbClr val="002060"/>
                    </a:solidFill>
                    <a:latin typeface="Times New Roman" panose="02020603050405020304" pitchFamily="18" charset="0"/>
                    <a:cs typeface="Times New Roman" panose="02020603050405020304" pitchFamily="18" charset="0"/>
                  </a:rPr>
                  <a:t>0</a:t>
                </a:r>
                <a:r>
                  <a:rPr lang="zh-CN" altLang="zh-CN" sz="1400" dirty="0">
                    <a:solidFill>
                      <a:srgbClr val="002060"/>
                    </a:solidFill>
                    <a:latin typeface="Times New Roman" panose="02020603050405020304" pitchFamily="18" charset="0"/>
                    <a:cs typeface="Times New Roman" panose="02020603050405020304" pitchFamily="18" charset="0"/>
                  </a:rPr>
                  <a:t>；若</a:t>
                </a:r>
                <a:r>
                  <a:rPr lang="en-US" altLang="zh-CN" sz="1400" dirty="0">
                    <a:solidFill>
                      <a:srgbClr val="002060"/>
                    </a:solidFill>
                    <a:latin typeface="Times New Roman" panose="02020603050405020304" pitchFamily="18" charset="0"/>
                    <a:cs typeface="Times New Roman" panose="02020603050405020304" pitchFamily="18" charset="0"/>
                  </a:rPr>
                  <a:t>s&gt;t</a:t>
                </a:r>
                <a:r>
                  <a:rPr lang="zh-CN" altLang="zh-CN" sz="1400" dirty="0">
                    <a:solidFill>
                      <a:srgbClr val="002060"/>
                    </a:solidFill>
                    <a:latin typeface="Times New Roman" panose="02020603050405020304" pitchFamily="18" charset="0"/>
                    <a:cs typeface="Times New Roman" panose="02020603050405020304" pitchFamily="18" charset="0"/>
                  </a:rPr>
                  <a:t>，则返回值</a:t>
                </a:r>
                <a:r>
                  <a:rPr lang="en-US" altLang="zh-CN" sz="1400" dirty="0">
                    <a:solidFill>
                      <a:srgbClr val="002060"/>
                    </a:solidFill>
                    <a:latin typeface="Times New Roman" panose="02020603050405020304" pitchFamily="18" charset="0"/>
                    <a:cs typeface="Times New Roman" panose="02020603050405020304" pitchFamily="18" charset="0"/>
                  </a:rPr>
                  <a:t>&gt;0</a:t>
                </a:r>
                <a:r>
                  <a:rPr lang="zh-CN" altLang="zh-CN" sz="1400" dirty="0">
                    <a:solidFill>
                      <a:srgbClr val="002060"/>
                    </a:solidFill>
                    <a:latin typeface="Times New Roman" panose="02020603050405020304" pitchFamily="18" charset="0"/>
                    <a:cs typeface="Times New Roman" panose="02020603050405020304" pitchFamily="18" charset="0"/>
                  </a:rPr>
                  <a:t>；否则返回值</a:t>
                </a:r>
                <a:r>
                  <a:rPr lang="en-US" altLang="zh-CN" sz="1400" dirty="0">
                    <a:solidFill>
                      <a:srgbClr val="002060"/>
                    </a:solidFill>
                    <a:latin typeface="Times New Roman" panose="02020603050405020304" pitchFamily="18" charset="0"/>
                    <a:cs typeface="Times New Roman" panose="02020603050405020304" pitchFamily="18" charset="0"/>
                  </a:rPr>
                  <a:t>&lt;0</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SubString</a:t>
                </a:r>
                <a:r>
                  <a:rPr lang="en-US" altLang="zh-CN" sz="1400" dirty="0">
                    <a:solidFill>
                      <a:srgbClr val="002060"/>
                    </a:solidFill>
                    <a:latin typeface="Times New Roman" panose="02020603050405020304" pitchFamily="18" charset="0"/>
                    <a:cs typeface="Times New Roman" panose="02020603050405020304" pitchFamily="18" charset="0"/>
                  </a:rPr>
                  <a:t>(&amp;</a:t>
                </a:r>
                <a:r>
                  <a:rPr lang="en-US" altLang="zh-CN" sz="1400" dirty="0" err="1">
                    <a:solidFill>
                      <a:srgbClr val="002060"/>
                    </a:solidFill>
                    <a:latin typeface="Times New Roman" panose="02020603050405020304" pitchFamily="18" charset="0"/>
                    <a:cs typeface="Times New Roman" panose="02020603050405020304" pitchFamily="18" charset="0"/>
                  </a:rPr>
                  <a:t>sub,s,pos,len</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：用</a:t>
                </a:r>
                <a:r>
                  <a:rPr lang="en-US" altLang="zh-CN" sz="1400" dirty="0">
                    <a:solidFill>
                      <a:srgbClr val="002060"/>
                    </a:solidFill>
                    <a:latin typeface="Times New Roman" panose="02020603050405020304" pitchFamily="18" charset="0"/>
                    <a:cs typeface="Times New Roman" panose="02020603050405020304" pitchFamily="18" charset="0"/>
                  </a:rPr>
                  <a:t>sub</a:t>
                </a:r>
                <a:r>
                  <a:rPr lang="zh-CN" altLang="zh-CN" sz="1400" dirty="0">
                    <a:solidFill>
                      <a:srgbClr val="002060"/>
                    </a:solidFill>
                    <a:latin typeface="Times New Roman" panose="02020603050405020304" pitchFamily="18" charset="0"/>
                    <a:cs typeface="Times New Roman" panose="02020603050405020304" pitchFamily="18" charset="0"/>
                  </a:rPr>
                  <a:t>返回串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中第</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zh-CN" altLang="zh-CN" sz="1400" dirty="0">
                    <a:solidFill>
                      <a:srgbClr val="002060"/>
                    </a:solidFill>
                    <a:latin typeface="Times New Roman" panose="02020603050405020304" pitchFamily="18" charset="0"/>
                    <a:cs typeface="Times New Roman" panose="02020603050405020304" pitchFamily="18" charset="0"/>
                  </a:rPr>
                  <a:t>个字符开始长度为</a:t>
                </a:r>
                <a:r>
                  <a:rPr lang="en-US" altLang="zh-CN" sz="1400" dirty="0" err="1">
                    <a:solidFill>
                      <a:srgbClr val="002060"/>
                    </a:solidFill>
                    <a:latin typeface="Times New Roman" panose="02020603050405020304" pitchFamily="18" charset="0"/>
                    <a:cs typeface="Times New Roman" panose="02020603050405020304" pitchFamily="18" charset="0"/>
                  </a:rPr>
                  <a:t>len</a:t>
                </a:r>
                <a:r>
                  <a:rPr lang="zh-CN" altLang="zh-CN" sz="1400" dirty="0">
                    <a:solidFill>
                      <a:srgbClr val="002060"/>
                    </a:solidFill>
                    <a:latin typeface="Times New Roman" panose="02020603050405020304" pitchFamily="18" charset="0"/>
                    <a:cs typeface="Times New Roman" panose="02020603050405020304" pitchFamily="18" charset="0"/>
                  </a:rPr>
                  <a:t>的子串</a:t>
                </a: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StrConcat</a:t>
                </a:r>
                <a:r>
                  <a:rPr lang="en-US" altLang="zh-CN" sz="1400" dirty="0">
                    <a:solidFill>
                      <a:srgbClr val="002060"/>
                    </a:solidFill>
                    <a:latin typeface="Times New Roman" panose="02020603050405020304" pitchFamily="18" charset="0"/>
                    <a:cs typeface="Times New Roman" panose="02020603050405020304" pitchFamily="18" charset="0"/>
                  </a:rPr>
                  <a:t>(&amp;t,s1,s2)</a:t>
                </a:r>
                <a:r>
                  <a:rPr lang="zh-CN" altLang="zh-CN" sz="1400" dirty="0">
                    <a:solidFill>
                      <a:srgbClr val="002060"/>
                    </a:solidFill>
                    <a:latin typeface="Times New Roman" panose="02020603050405020304" pitchFamily="18" charset="0"/>
                    <a:cs typeface="Times New Roman" panose="02020603050405020304" pitchFamily="18" charset="0"/>
                  </a:rPr>
                  <a:t>：用</a:t>
                </a:r>
                <a:r>
                  <a:rPr lang="en-US" altLang="zh-CN" sz="1400" dirty="0">
                    <a:solidFill>
                      <a:srgbClr val="002060"/>
                    </a:solidFill>
                    <a:latin typeface="Times New Roman" panose="02020603050405020304" pitchFamily="18" charset="0"/>
                    <a:cs typeface="Times New Roman" panose="02020603050405020304" pitchFamily="18" charset="0"/>
                  </a:rPr>
                  <a:t>t</a:t>
                </a:r>
                <a:r>
                  <a:rPr lang="zh-CN" altLang="zh-CN" sz="1400" dirty="0">
                    <a:solidFill>
                      <a:srgbClr val="002060"/>
                    </a:solidFill>
                    <a:latin typeface="Times New Roman" panose="02020603050405020304" pitchFamily="18" charset="0"/>
                    <a:cs typeface="Times New Roman" panose="02020603050405020304" pitchFamily="18" charset="0"/>
                  </a:rPr>
                  <a:t>返回两个串</a:t>
                </a:r>
                <a:r>
                  <a:rPr lang="en-US" altLang="zh-CN" sz="1400" dirty="0">
                    <a:solidFill>
                      <a:srgbClr val="002060"/>
                    </a:solidFill>
                    <a:latin typeface="Times New Roman" panose="02020603050405020304" pitchFamily="18" charset="0"/>
                    <a:cs typeface="Times New Roman" panose="02020603050405020304" pitchFamily="18" charset="0"/>
                  </a:rPr>
                  <a:t>s1</a:t>
                </a:r>
                <a:r>
                  <a:rPr lang="zh-CN" altLang="zh-CN" sz="1400" dirty="0">
                    <a:solidFill>
                      <a:srgbClr val="002060"/>
                    </a:solidFill>
                    <a:latin typeface="Times New Roman" panose="02020603050405020304" pitchFamily="18" charset="0"/>
                    <a:cs typeface="Times New Roman" panose="02020603050405020304" pitchFamily="18" charset="0"/>
                  </a:rPr>
                  <a:t>和</a:t>
                </a:r>
                <a:r>
                  <a:rPr lang="en-US" altLang="zh-CN" sz="1400" dirty="0">
                    <a:solidFill>
                      <a:srgbClr val="002060"/>
                    </a:solidFill>
                    <a:latin typeface="Times New Roman" panose="02020603050405020304" pitchFamily="18" charset="0"/>
                    <a:cs typeface="Times New Roman" panose="02020603050405020304" pitchFamily="18" charset="0"/>
                  </a:rPr>
                  <a:t>s2</a:t>
                </a:r>
                <a:r>
                  <a:rPr lang="zh-CN" altLang="zh-CN" sz="1400" dirty="0">
                    <a:solidFill>
                      <a:srgbClr val="002060"/>
                    </a:solidFill>
                    <a:latin typeface="Times New Roman" panose="02020603050405020304" pitchFamily="18" charset="0"/>
                    <a:cs typeface="Times New Roman" panose="02020603050405020304" pitchFamily="18" charset="0"/>
                  </a:rPr>
                  <a:t>连接后的新串</a:t>
                </a: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StrInsert</a:t>
                </a:r>
                <a:r>
                  <a:rPr lang="en-US" altLang="zh-CN" sz="1400" dirty="0">
                    <a:solidFill>
                      <a:srgbClr val="002060"/>
                    </a:solidFill>
                    <a:latin typeface="Times New Roman" panose="02020603050405020304" pitchFamily="18" charset="0"/>
                    <a:cs typeface="Times New Roman" panose="02020603050405020304" pitchFamily="18" charset="0"/>
                  </a:rPr>
                  <a:t>(&amp;</a:t>
                </a:r>
                <a:r>
                  <a:rPr lang="en-US" altLang="zh-CN" sz="1400" dirty="0" err="1">
                    <a:solidFill>
                      <a:srgbClr val="002060"/>
                    </a:solidFill>
                    <a:latin typeface="Times New Roman" panose="02020603050405020304" pitchFamily="18" charset="0"/>
                    <a:cs typeface="Times New Roman" panose="02020603050405020304" pitchFamily="18" charset="0"/>
                  </a:rPr>
                  <a:t>s,pos,t</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：在串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中第</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zh-CN" altLang="zh-CN" sz="1400" dirty="0">
                    <a:solidFill>
                      <a:srgbClr val="002060"/>
                    </a:solidFill>
                    <a:latin typeface="Times New Roman" panose="02020603050405020304" pitchFamily="18" charset="0"/>
                    <a:cs typeface="Times New Roman" panose="02020603050405020304" pitchFamily="18" charset="0"/>
                  </a:rPr>
                  <a:t>个字符前插入串</a:t>
                </a:r>
                <a:r>
                  <a:rPr lang="en-US" altLang="zh-CN" sz="1400" dirty="0">
                    <a:solidFill>
                      <a:srgbClr val="002060"/>
                    </a:solidFill>
                    <a:latin typeface="Times New Roman" panose="02020603050405020304" pitchFamily="18" charset="0"/>
                    <a:cs typeface="Times New Roman" panose="02020603050405020304" pitchFamily="18" charset="0"/>
                  </a:rPr>
                  <a:t>t</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StrDelete</a:t>
                </a:r>
                <a:r>
                  <a:rPr lang="en-US" altLang="zh-CN" sz="1400" dirty="0">
                    <a:solidFill>
                      <a:srgbClr val="002060"/>
                    </a:solidFill>
                    <a:latin typeface="Times New Roman" panose="02020603050405020304" pitchFamily="18" charset="0"/>
                    <a:cs typeface="Times New Roman" panose="02020603050405020304" pitchFamily="18" charset="0"/>
                  </a:rPr>
                  <a:t>(&amp;</a:t>
                </a:r>
                <a:r>
                  <a:rPr lang="en-US" altLang="zh-CN" sz="1400" dirty="0" err="1">
                    <a:solidFill>
                      <a:srgbClr val="002060"/>
                    </a:solidFill>
                    <a:latin typeface="Times New Roman" panose="02020603050405020304" pitchFamily="18" charset="0"/>
                    <a:cs typeface="Times New Roman" panose="02020603050405020304" pitchFamily="18" charset="0"/>
                  </a:rPr>
                  <a:t>s,pos,len</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：在串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中删除第</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zh-CN" altLang="zh-CN" sz="1400" dirty="0">
                    <a:solidFill>
                      <a:srgbClr val="002060"/>
                    </a:solidFill>
                    <a:latin typeface="Times New Roman" panose="02020603050405020304" pitchFamily="18" charset="0"/>
                    <a:cs typeface="Times New Roman" panose="02020603050405020304" pitchFamily="18" charset="0"/>
                  </a:rPr>
                  <a:t>个字符开始长度为</a:t>
                </a:r>
                <a:r>
                  <a:rPr lang="en-US" altLang="zh-CN" sz="1400" dirty="0" err="1">
                    <a:solidFill>
                      <a:srgbClr val="002060"/>
                    </a:solidFill>
                    <a:latin typeface="Times New Roman" panose="02020603050405020304" pitchFamily="18" charset="0"/>
                    <a:cs typeface="Times New Roman" panose="02020603050405020304" pitchFamily="18" charset="0"/>
                  </a:rPr>
                  <a:t>len</a:t>
                </a:r>
                <a:r>
                  <a:rPr lang="zh-CN" altLang="zh-CN" sz="1400" dirty="0">
                    <a:solidFill>
                      <a:srgbClr val="002060"/>
                    </a:solidFill>
                    <a:latin typeface="Times New Roman" panose="02020603050405020304" pitchFamily="18" charset="0"/>
                    <a:cs typeface="Times New Roman" panose="02020603050405020304" pitchFamily="18" charset="0"/>
                  </a:rPr>
                  <a:t>的子串</a:t>
                </a: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StrReplace</a:t>
                </a:r>
                <a:r>
                  <a:rPr lang="en-US" altLang="zh-CN" sz="1400" dirty="0">
                    <a:solidFill>
                      <a:srgbClr val="002060"/>
                    </a:solidFill>
                    <a:latin typeface="Times New Roman" panose="02020603050405020304" pitchFamily="18" charset="0"/>
                    <a:cs typeface="Times New Roman" panose="02020603050405020304" pitchFamily="18" charset="0"/>
                  </a:rPr>
                  <a:t>(&amp;</a:t>
                </a:r>
                <a:r>
                  <a:rPr lang="en-US" altLang="zh-CN" sz="1400" dirty="0" err="1">
                    <a:solidFill>
                      <a:srgbClr val="002060"/>
                    </a:solidFill>
                    <a:latin typeface="Times New Roman" panose="02020603050405020304" pitchFamily="18" charset="0"/>
                    <a:cs typeface="Times New Roman" panose="02020603050405020304" pitchFamily="18" charset="0"/>
                  </a:rPr>
                  <a:t>s,t,u</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：用</a:t>
                </a:r>
                <a:r>
                  <a:rPr lang="en-US" altLang="zh-CN" sz="1400" dirty="0">
                    <a:solidFill>
                      <a:srgbClr val="002060"/>
                    </a:solidFill>
                    <a:latin typeface="Times New Roman" panose="02020603050405020304" pitchFamily="18" charset="0"/>
                    <a:cs typeface="Times New Roman" panose="02020603050405020304" pitchFamily="18" charset="0"/>
                  </a:rPr>
                  <a:t>u</a:t>
                </a:r>
                <a:r>
                  <a:rPr lang="zh-CN" altLang="zh-CN" sz="1400" dirty="0">
                    <a:solidFill>
                      <a:srgbClr val="002060"/>
                    </a:solidFill>
                    <a:latin typeface="Times New Roman" panose="02020603050405020304" pitchFamily="18" charset="0"/>
                    <a:cs typeface="Times New Roman" panose="02020603050405020304" pitchFamily="18" charset="0"/>
                  </a:rPr>
                  <a:t>替换主串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中出现的所有与</a:t>
                </a:r>
                <a:r>
                  <a:rPr lang="en-US" altLang="zh-CN" sz="1400" dirty="0">
                    <a:solidFill>
                      <a:srgbClr val="002060"/>
                    </a:solidFill>
                    <a:latin typeface="Times New Roman" panose="02020603050405020304" pitchFamily="18" charset="0"/>
                    <a:cs typeface="Times New Roman" panose="02020603050405020304" pitchFamily="18" charset="0"/>
                  </a:rPr>
                  <a:t>t</a:t>
                </a:r>
                <a:r>
                  <a:rPr lang="zh-CN" altLang="zh-CN" sz="1400" dirty="0">
                    <a:solidFill>
                      <a:srgbClr val="002060"/>
                    </a:solidFill>
                    <a:latin typeface="Times New Roman" panose="02020603050405020304" pitchFamily="18" charset="0"/>
                    <a:cs typeface="Times New Roman" panose="02020603050405020304" pitchFamily="18" charset="0"/>
                  </a:rPr>
                  <a:t>相等的不重叠的子串</a:t>
                </a:r>
              </a:p>
              <a:p>
                <a:pPr marL="0" indent="0">
                  <a:lnSpc>
                    <a:spcPts val="2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StrIndex</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s,t,pos</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zh-CN" sz="1400" dirty="0">
                    <a:solidFill>
                      <a:srgbClr val="002060"/>
                    </a:solidFill>
                    <a:latin typeface="Times New Roman" panose="02020603050405020304" pitchFamily="18" charset="0"/>
                    <a:cs typeface="Times New Roman" panose="02020603050405020304" pitchFamily="18" charset="0"/>
                  </a:rPr>
                  <a:t>：若主串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中存在和串</a:t>
                </a:r>
                <a:r>
                  <a:rPr lang="en-US" altLang="zh-CN" sz="1400" dirty="0">
                    <a:solidFill>
                      <a:srgbClr val="002060"/>
                    </a:solidFill>
                    <a:latin typeface="Times New Roman" panose="02020603050405020304" pitchFamily="18" charset="0"/>
                    <a:cs typeface="Times New Roman" panose="02020603050405020304" pitchFamily="18" charset="0"/>
                  </a:rPr>
                  <a:t>t</a:t>
                </a:r>
                <a:r>
                  <a:rPr lang="zh-CN" altLang="zh-CN" sz="1400" dirty="0">
                    <a:solidFill>
                      <a:srgbClr val="002060"/>
                    </a:solidFill>
                    <a:latin typeface="Times New Roman" panose="02020603050405020304" pitchFamily="18" charset="0"/>
                    <a:cs typeface="Times New Roman" panose="02020603050405020304" pitchFamily="18" charset="0"/>
                  </a:rPr>
                  <a:t>相同的子串，则返回它在主串</a:t>
                </a:r>
                <a:r>
                  <a:rPr lang="en-US" altLang="zh-CN" sz="1400" dirty="0">
                    <a:solidFill>
                      <a:srgbClr val="002060"/>
                    </a:solidFill>
                    <a:latin typeface="Times New Roman" panose="02020603050405020304" pitchFamily="18" charset="0"/>
                    <a:cs typeface="Times New Roman" panose="02020603050405020304" pitchFamily="18" charset="0"/>
                  </a:rPr>
                  <a:t>s</a:t>
                </a:r>
                <a:r>
                  <a:rPr lang="zh-CN" altLang="zh-CN" sz="1400" dirty="0">
                    <a:solidFill>
                      <a:srgbClr val="002060"/>
                    </a:solidFill>
                    <a:latin typeface="Times New Roman" panose="02020603050405020304" pitchFamily="18" charset="0"/>
                    <a:cs typeface="Times New Roman" panose="02020603050405020304" pitchFamily="18" charset="0"/>
                  </a:rPr>
                  <a:t>中第</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zh-CN" altLang="zh-CN" sz="1400" dirty="0">
                    <a:solidFill>
                      <a:srgbClr val="002060"/>
                    </a:solidFill>
                    <a:latin typeface="Times New Roman" panose="02020603050405020304" pitchFamily="18" charset="0"/>
                    <a:cs typeface="Times New Roman" panose="02020603050405020304" pitchFamily="18" charset="0"/>
                  </a:rPr>
                  <a:t>个字符之后第一次出现的位置， 否则返回</a:t>
                </a:r>
                <a:r>
                  <a:rPr lang="en-US" altLang="zh-CN" sz="1400" dirty="0">
                    <a:solidFill>
                      <a:srgbClr val="002060"/>
                    </a:solidFill>
                    <a:latin typeface="Times New Roman" panose="02020603050405020304" pitchFamily="18" charset="0"/>
                    <a:cs typeface="Times New Roman" panose="02020603050405020304" pitchFamily="18" charset="0"/>
                  </a:rPr>
                  <a:t>0</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400" dirty="0">
                    <a:latin typeface="Times New Roman" panose="02020603050405020304" pitchFamily="18" charset="0"/>
                    <a:cs typeface="Times New Roman" panose="02020603050405020304" pitchFamily="18" charset="0"/>
                  </a:rPr>
                  <a:t>}ADT String</a:t>
                </a:r>
                <a:endParaRPr lang="zh-CN" altLang="zh-CN" sz="1400" dirty="0">
                  <a:latin typeface="Times New Roman" panose="02020603050405020304" pitchFamily="18" charset="0"/>
                  <a:cs typeface="Times New Roman" panose="02020603050405020304" pitchFamily="18" charset="0"/>
                </a:endParaRPr>
              </a:p>
              <a:p>
                <a:pPr marL="0" indent="0" defTabSz="685800" eaLnBrk="0" hangingPunct="0">
                  <a:lnSpc>
                    <a:spcPts val="2000"/>
                  </a:lnSpc>
                  <a:spcBef>
                    <a:spcPts val="0"/>
                  </a:spcBef>
                  <a:buNone/>
                </a:pP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4" name="内容占位符 3">
                <a:extLst>
                  <a:ext uri="{FF2B5EF4-FFF2-40B4-BE49-F238E27FC236}">
                    <a16:creationId xmlns:a16="http://schemas.microsoft.com/office/drawing/2014/main" xmlns="" id="{DE0BACB9-2923-47AF-875D-C5C782548029}"/>
                  </a:ext>
                </a:extLst>
              </p:cNvPr>
              <p:cNvSpPr>
                <a:spLocks noGrp="1" noRot="1" noChangeAspect="1" noMove="1" noResize="1" noEditPoints="1" noAdjustHandles="1" noChangeArrowheads="1" noChangeShapeType="1" noTextEdit="1"/>
              </p:cNvSpPr>
              <p:nvPr>
                <p:ph sz="quarter" idx="11"/>
              </p:nvPr>
            </p:nvSpPr>
            <p:spPr>
              <a:xfrm>
                <a:off x="755576" y="674385"/>
                <a:ext cx="8208912" cy="1512168"/>
              </a:xfrm>
              <a:blipFill rotWithShape="0">
                <a:blip r:embed="rId2"/>
                <a:stretch>
                  <a:fillRect l="-520" t="-403" b="-193548"/>
                </a:stretch>
              </a:blipFill>
            </p:spPr>
            <p:txBody>
              <a:bodyPr/>
              <a:lstStyle/>
              <a:p>
                <a:r>
                  <a:rPr lang="zh-CN" altLang="en-US">
                    <a:noFill/>
                  </a:rPr>
                  <a:t> </a:t>
                </a:r>
              </a:p>
            </p:txBody>
          </p:sp>
        </mc:Fallback>
      </mc:AlternateContent>
      <p:sp>
        <p:nvSpPr>
          <p:cNvPr id="5" name="文本框 4"/>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串的抽象数据类型定义</a:t>
            </a:r>
          </a:p>
        </p:txBody>
      </p:sp>
    </p:spTree>
    <p:extLst>
      <p:ext uri="{BB962C8B-B14F-4D97-AF65-F5344CB8AC3E}">
        <p14:creationId xmlns:p14="http://schemas.microsoft.com/office/powerpoint/2010/main" val="3143751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Effect transition="in" filter="fade">
                                      <p:cBhvr>
                                        <p:cTn id="56" dur="1000"/>
                                        <p:tgtEl>
                                          <p:spTgt spid="4">
                                            <p:txEl>
                                              <p:pRg st="7" end="7"/>
                                            </p:txEl>
                                          </p:spTgt>
                                        </p:tgtEl>
                                      </p:cBhvr>
                                    </p:animEffect>
                                    <p:anim calcmode="lin" valueType="num">
                                      <p:cBhvr>
                                        <p:cTn id="5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xEl>
                                              <p:pRg st="8" end="8"/>
                                            </p:txEl>
                                          </p:spTgt>
                                        </p:tgtEl>
                                        <p:attrNameLst>
                                          <p:attrName>style.visibility</p:attrName>
                                        </p:attrNameLst>
                                      </p:cBhvr>
                                      <p:to>
                                        <p:strVal val="visible"/>
                                      </p:to>
                                    </p:set>
                                    <p:animEffect transition="in" filter="fade">
                                      <p:cBhvr>
                                        <p:cTn id="63" dur="1000"/>
                                        <p:tgtEl>
                                          <p:spTgt spid="4">
                                            <p:txEl>
                                              <p:pRg st="8" end="8"/>
                                            </p:txEl>
                                          </p:spTgt>
                                        </p:tgtEl>
                                      </p:cBhvr>
                                    </p:animEffect>
                                    <p:anim calcmode="lin" valueType="num">
                                      <p:cBhvr>
                                        <p:cTn id="6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
                                            <p:txEl>
                                              <p:pRg st="9" end="9"/>
                                            </p:txEl>
                                          </p:spTgt>
                                        </p:tgtEl>
                                        <p:attrNameLst>
                                          <p:attrName>style.visibility</p:attrName>
                                        </p:attrNameLst>
                                      </p:cBhvr>
                                      <p:to>
                                        <p:strVal val="visible"/>
                                      </p:to>
                                    </p:set>
                                    <p:animEffect transition="in" filter="fade">
                                      <p:cBhvr>
                                        <p:cTn id="70" dur="1000"/>
                                        <p:tgtEl>
                                          <p:spTgt spid="4">
                                            <p:txEl>
                                              <p:pRg st="9" end="9"/>
                                            </p:txEl>
                                          </p:spTgt>
                                        </p:tgtEl>
                                      </p:cBhvr>
                                    </p:animEffect>
                                    <p:anim calcmode="lin" valueType="num">
                                      <p:cBhvr>
                                        <p:cTn id="7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
                                            <p:txEl>
                                              <p:pRg st="10" end="10"/>
                                            </p:txEl>
                                          </p:spTgt>
                                        </p:tgtEl>
                                        <p:attrNameLst>
                                          <p:attrName>style.visibility</p:attrName>
                                        </p:attrNameLst>
                                      </p:cBhvr>
                                      <p:to>
                                        <p:strVal val="visible"/>
                                      </p:to>
                                    </p:set>
                                    <p:animEffect transition="in" filter="fade">
                                      <p:cBhvr>
                                        <p:cTn id="77" dur="1000"/>
                                        <p:tgtEl>
                                          <p:spTgt spid="4">
                                            <p:txEl>
                                              <p:pRg st="10" end="10"/>
                                            </p:txEl>
                                          </p:spTgt>
                                        </p:tgtEl>
                                      </p:cBhvr>
                                    </p:animEffect>
                                    <p:anim calcmode="lin" valueType="num">
                                      <p:cBhvr>
                                        <p:cTn id="78"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4">
                                            <p:txEl>
                                              <p:pRg st="11" end="11"/>
                                            </p:txEl>
                                          </p:spTgt>
                                        </p:tgtEl>
                                        <p:attrNameLst>
                                          <p:attrName>style.visibility</p:attrName>
                                        </p:attrNameLst>
                                      </p:cBhvr>
                                      <p:to>
                                        <p:strVal val="visible"/>
                                      </p:to>
                                    </p:set>
                                    <p:animEffect transition="in" filter="fade">
                                      <p:cBhvr>
                                        <p:cTn id="84" dur="1000"/>
                                        <p:tgtEl>
                                          <p:spTgt spid="4">
                                            <p:txEl>
                                              <p:pRg st="11" end="11"/>
                                            </p:txEl>
                                          </p:spTgt>
                                        </p:tgtEl>
                                      </p:cBhvr>
                                    </p:animEffect>
                                    <p:anim calcmode="lin" valueType="num">
                                      <p:cBhvr>
                                        <p:cTn id="85"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4">
                                            <p:txEl>
                                              <p:pRg st="12" end="12"/>
                                            </p:txEl>
                                          </p:spTgt>
                                        </p:tgtEl>
                                        <p:attrNameLst>
                                          <p:attrName>style.visibility</p:attrName>
                                        </p:attrNameLst>
                                      </p:cBhvr>
                                      <p:to>
                                        <p:strVal val="visible"/>
                                      </p:to>
                                    </p:set>
                                    <p:animEffect transition="in" filter="fade">
                                      <p:cBhvr>
                                        <p:cTn id="91" dur="1000"/>
                                        <p:tgtEl>
                                          <p:spTgt spid="4">
                                            <p:txEl>
                                              <p:pRg st="12" end="12"/>
                                            </p:txEl>
                                          </p:spTgt>
                                        </p:tgtEl>
                                      </p:cBhvr>
                                    </p:animEffect>
                                    <p:anim calcmode="lin" valueType="num">
                                      <p:cBhvr>
                                        <p:cTn id="9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4">
                                            <p:txEl>
                                              <p:pRg st="13" end="13"/>
                                            </p:txEl>
                                          </p:spTgt>
                                        </p:tgtEl>
                                        <p:attrNameLst>
                                          <p:attrName>style.visibility</p:attrName>
                                        </p:attrNameLst>
                                      </p:cBhvr>
                                      <p:to>
                                        <p:strVal val="visible"/>
                                      </p:to>
                                    </p:set>
                                    <p:animEffect transition="in" filter="fade">
                                      <p:cBhvr>
                                        <p:cTn id="98" dur="1000"/>
                                        <p:tgtEl>
                                          <p:spTgt spid="4">
                                            <p:txEl>
                                              <p:pRg st="13" end="13"/>
                                            </p:txEl>
                                          </p:spTgt>
                                        </p:tgtEl>
                                      </p:cBhvr>
                                    </p:animEffect>
                                    <p:anim calcmode="lin" valueType="num">
                                      <p:cBhvr>
                                        <p:cTn id="9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4">
                                            <p:txEl>
                                              <p:pRg st="14" end="14"/>
                                            </p:txEl>
                                          </p:spTgt>
                                        </p:tgtEl>
                                        <p:attrNameLst>
                                          <p:attrName>style.visibility</p:attrName>
                                        </p:attrNameLst>
                                      </p:cBhvr>
                                      <p:to>
                                        <p:strVal val="visible"/>
                                      </p:to>
                                    </p:set>
                                    <p:animEffect transition="in" filter="fade">
                                      <p:cBhvr>
                                        <p:cTn id="105" dur="1000"/>
                                        <p:tgtEl>
                                          <p:spTgt spid="4">
                                            <p:txEl>
                                              <p:pRg st="14" end="14"/>
                                            </p:txEl>
                                          </p:spTgt>
                                        </p:tgtEl>
                                      </p:cBhvr>
                                    </p:animEffect>
                                    <p:anim calcmode="lin" valueType="num">
                                      <p:cBhvr>
                                        <p:cTn id="106"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
                                            <p:txEl>
                                              <p:pRg st="15" end="15"/>
                                            </p:txEl>
                                          </p:spTgt>
                                        </p:tgtEl>
                                        <p:attrNameLst>
                                          <p:attrName>style.visibility</p:attrName>
                                        </p:attrNameLst>
                                      </p:cBhvr>
                                      <p:to>
                                        <p:strVal val="visible"/>
                                      </p:to>
                                    </p:set>
                                    <p:animEffect transition="in" filter="fade">
                                      <p:cBhvr>
                                        <p:cTn id="112" dur="1000"/>
                                        <p:tgtEl>
                                          <p:spTgt spid="4">
                                            <p:txEl>
                                              <p:pRg st="15" end="15"/>
                                            </p:txEl>
                                          </p:spTgt>
                                        </p:tgtEl>
                                      </p:cBhvr>
                                    </p:animEffect>
                                    <p:anim calcmode="lin" valueType="num">
                                      <p:cBhvr>
                                        <p:cTn id="113"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14"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1064124"/>
            <a:ext cx="8784976" cy="787546"/>
          </a:xfrm>
        </p:spPr>
        <p:txBody>
          <a:bodyPr/>
          <a:lstStyle/>
          <a:p>
            <a:pPr marL="0" indent="0">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求子串的过程即为复制字符序列的过程，将串</a:t>
            </a:r>
            <a:r>
              <a:rPr lang="en-US" altLang="zh-CN" sz="1600" dirty="0">
                <a:latin typeface="Times New Roman" panose="02020603050405020304" pitchFamily="18" charset="0"/>
                <a:cs typeface="Times New Roman" panose="02020603050405020304" pitchFamily="18" charset="0"/>
              </a:rPr>
              <a:t>s</a:t>
            </a:r>
            <a:r>
              <a:rPr lang="zh-CN" altLang="zh-CN" sz="1600" dirty="0">
                <a:latin typeface="Times New Roman" panose="02020603050405020304" pitchFamily="18" charset="0"/>
                <a:cs typeface="Times New Roman" panose="02020603050405020304" pitchFamily="18" charset="0"/>
              </a:rPr>
              <a:t>中的第</a:t>
            </a:r>
            <a:r>
              <a:rPr lang="en-US" altLang="zh-CN" sz="1600" dirty="0" err="1">
                <a:latin typeface="Times New Roman" panose="02020603050405020304" pitchFamily="18" charset="0"/>
                <a:cs typeface="Times New Roman" panose="02020603050405020304" pitchFamily="18" charset="0"/>
              </a:rPr>
              <a:t>pos</a:t>
            </a:r>
            <a:r>
              <a:rPr lang="zh-CN" altLang="zh-CN" sz="1600" dirty="0">
                <a:latin typeface="Times New Roman" panose="02020603050405020304" pitchFamily="18" charset="0"/>
                <a:cs typeface="Times New Roman" panose="02020603050405020304" pitchFamily="18" charset="0"/>
              </a:rPr>
              <a:t>个字符开始的连续的</a:t>
            </a:r>
            <a:r>
              <a:rPr lang="en-US" altLang="zh-CN" sz="1600" dirty="0" err="1">
                <a:latin typeface="Times New Roman" panose="02020603050405020304" pitchFamily="18" charset="0"/>
                <a:cs typeface="Times New Roman" panose="02020603050405020304" pitchFamily="18" charset="0"/>
              </a:rPr>
              <a:t>len</a:t>
            </a:r>
            <a:r>
              <a:rPr lang="zh-CN" altLang="zh-CN" sz="1600" dirty="0">
                <a:latin typeface="Times New Roman" panose="02020603050405020304" pitchFamily="18" charset="0"/>
                <a:cs typeface="Times New Roman" panose="02020603050405020304" pitchFamily="18" charset="0"/>
              </a:rPr>
              <a:t>个字符复制到串</a:t>
            </a:r>
            <a:r>
              <a:rPr lang="en-US" altLang="zh-CN" sz="1600" dirty="0">
                <a:latin typeface="Times New Roman" panose="02020603050405020304" pitchFamily="18" charset="0"/>
                <a:cs typeface="Times New Roman" panose="02020603050405020304" pitchFamily="18" charset="0"/>
              </a:rPr>
              <a:t>sub</a:t>
            </a:r>
            <a:r>
              <a:rPr lang="zh-CN" altLang="zh-CN" sz="1600" dirty="0">
                <a:latin typeface="Times New Roman" panose="02020603050405020304" pitchFamily="18" charset="0"/>
                <a:cs typeface="Times New Roman" panose="02020603050405020304" pitchFamily="18" charset="0"/>
              </a:rPr>
              <a:t>中。</a:t>
            </a:r>
          </a:p>
          <a:p>
            <a:endParaRPr lang="zh-CN" altLang="en-US" dirty="0"/>
          </a:p>
        </p:txBody>
      </p:sp>
      <p:sp>
        <p:nvSpPr>
          <p:cNvPr id="4" name="文本框 3"/>
          <p:cNvSpPr txBox="1"/>
          <p:nvPr/>
        </p:nvSpPr>
        <p:spPr>
          <a:xfrm>
            <a:off x="395536" y="1779662"/>
            <a:ext cx="8064896" cy="258532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  </a:t>
            </a:r>
            <a:r>
              <a:rPr lang="en-US" altLang="zh-CN" dirty="0">
                <a:solidFill>
                  <a:srgbClr val="002060"/>
                </a:solidFill>
                <a:latin typeface="Times New Roman" panose="02020603050405020304" pitchFamily="18" charset="0"/>
                <a:cs typeface="Times New Roman" panose="02020603050405020304" pitchFamily="18" charset="0"/>
              </a:rPr>
              <a:t>void </a:t>
            </a:r>
            <a:r>
              <a:rPr lang="en-US" altLang="zh-CN" dirty="0" err="1">
                <a:solidFill>
                  <a:srgbClr val="002060"/>
                </a:solidFill>
                <a:latin typeface="Times New Roman" panose="02020603050405020304" pitchFamily="18" charset="0"/>
                <a:cs typeface="Times New Roman" panose="02020603050405020304" pitchFamily="18" charset="0"/>
              </a:rPr>
              <a:t>SubString</a:t>
            </a:r>
            <a:r>
              <a:rPr lang="en-US" altLang="zh-CN" dirty="0">
                <a:solidFill>
                  <a:srgbClr val="002060"/>
                </a:solidFill>
                <a:latin typeface="Times New Roman" panose="02020603050405020304" pitchFamily="18" charset="0"/>
                <a:cs typeface="Times New Roman" panose="02020603050405020304" pitchFamily="18" charset="0"/>
              </a:rPr>
              <a:t>(String &amp;</a:t>
            </a:r>
            <a:r>
              <a:rPr lang="en-US" altLang="zh-CN" dirty="0" err="1">
                <a:solidFill>
                  <a:srgbClr val="002060"/>
                </a:solidFill>
                <a:latin typeface="Times New Roman" panose="02020603050405020304" pitchFamily="18" charset="0"/>
                <a:cs typeface="Times New Roman" panose="02020603050405020304" pitchFamily="18" charset="0"/>
              </a:rPr>
              <a:t>sub,String</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s,int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pos,int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len</a:t>
            </a:r>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a:t>
            </a:r>
            <a:r>
              <a:rPr lang="en-US" altLang="zh-CN" dirty="0" err="1">
                <a:solidFill>
                  <a:srgbClr val="002060"/>
                </a:solidFill>
                <a:latin typeface="Times New Roman" panose="02020603050405020304" pitchFamily="18" charset="0"/>
                <a:cs typeface="Times New Roman" panose="02020603050405020304" pitchFamily="18" charset="0"/>
              </a:rPr>
              <a:t>pos</a:t>
            </a:r>
            <a:r>
              <a:rPr lang="en-US" altLang="zh-CN" dirty="0">
                <a:solidFill>
                  <a:srgbClr val="002060"/>
                </a:solidFill>
                <a:latin typeface="Times New Roman" panose="02020603050405020304" pitchFamily="18" charset="0"/>
                <a:cs typeface="Times New Roman" panose="02020603050405020304" pitchFamily="18" charset="0"/>
              </a:rPr>
              <a:t>&lt;1 || </a:t>
            </a:r>
            <a:r>
              <a:rPr lang="en-US" altLang="zh-CN" dirty="0" err="1">
                <a:solidFill>
                  <a:srgbClr val="002060"/>
                </a:solidFill>
                <a:latin typeface="Times New Roman" panose="02020603050405020304" pitchFamily="18" charset="0"/>
                <a:cs typeface="Times New Roman" panose="02020603050405020304" pitchFamily="18" charset="0"/>
              </a:rPr>
              <a:t>pos</a:t>
            </a:r>
            <a:r>
              <a:rPr lang="en-US" altLang="zh-CN" dirty="0">
                <a:solidFill>
                  <a:srgbClr val="002060"/>
                </a:solidFill>
                <a:latin typeface="Times New Roman" panose="02020603050405020304" pitchFamily="18" charset="0"/>
                <a:cs typeface="Times New Roman" panose="02020603050405020304" pitchFamily="18" charset="0"/>
              </a:rPr>
              <a:t>&gt;</a:t>
            </a:r>
            <a:r>
              <a:rPr lang="en-US" altLang="zh-CN" dirty="0" err="1">
                <a:solidFill>
                  <a:srgbClr val="002060"/>
                </a:solidFill>
                <a:latin typeface="Times New Roman" panose="02020603050405020304" pitchFamily="18" charset="0"/>
                <a:cs typeface="Times New Roman" panose="02020603050405020304" pitchFamily="18" charset="0"/>
              </a:rPr>
              <a:t>strlength</a:t>
            </a:r>
            <a:r>
              <a:rPr lang="en-US" altLang="zh-CN" dirty="0">
                <a:solidFill>
                  <a:srgbClr val="002060"/>
                </a:solidFill>
                <a:latin typeface="Times New Roman" panose="02020603050405020304" pitchFamily="18" charset="0"/>
                <a:cs typeface="Times New Roman" panose="02020603050405020304" pitchFamily="18" charset="0"/>
              </a:rPr>
              <a:t>(s) || </a:t>
            </a:r>
            <a:r>
              <a:rPr lang="en-US" altLang="zh-CN" dirty="0" err="1">
                <a:solidFill>
                  <a:srgbClr val="002060"/>
                </a:solidFill>
                <a:latin typeface="Times New Roman" panose="02020603050405020304" pitchFamily="18" charset="0"/>
                <a:cs typeface="Times New Roman" panose="02020603050405020304" pitchFamily="18" charset="0"/>
              </a:rPr>
              <a:t>len</a:t>
            </a:r>
            <a:r>
              <a:rPr lang="en-US" altLang="zh-CN" dirty="0">
                <a:solidFill>
                  <a:srgbClr val="002060"/>
                </a:solidFill>
                <a:latin typeface="Times New Roman" panose="02020603050405020304" pitchFamily="18" charset="0"/>
                <a:cs typeface="Times New Roman" panose="02020603050405020304" pitchFamily="18" charset="0"/>
              </a:rPr>
              <a:t>&lt;0||pos+len-1&gt;</a:t>
            </a:r>
            <a:r>
              <a:rPr lang="en-US" altLang="zh-CN" dirty="0" err="1">
                <a:solidFill>
                  <a:srgbClr val="002060"/>
                </a:solidFill>
                <a:latin typeface="Times New Roman" panose="02020603050405020304" pitchFamily="18" charset="0"/>
                <a:cs typeface="Times New Roman" panose="02020603050405020304" pitchFamily="18" charset="0"/>
              </a:rPr>
              <a:t>StrLength</a:t>
            </a:r>
            <a:r>
              <a:rPr lang="en-US" altLang="zh-CN" dirty="0">
                <a:solidFill>
                  <a:srgbClr val="002060"/>
                </a:solidFill>
                <a:latin typeface="Times New Roman" panose="02020603050405020304" pitchFamily="18" charset="0"/>
                <a:cs typeface="Times New Roman" panose="02020603050405020304" pitchFamily="18" charset="0"/>
              </a:rPr>
              <a:t>(s))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sub=’\0’;                    //</a:t>
            </a:r>
            <a:r>
              <a:rPr lang="zh-CN" altLang="zh-CN" dirty="0">
                <a:solidFill>
                  <a:srgbClr val="002060"/>
                </a:solidFill>
                <a:latin typeface="Times New Roman" panose="02020603050405020304" pitchFamily="18" charset="0"/>
                <a:cs typeface="Times New Roman" panose="02020603050405020304" pitchFamily="18" charset="0"/>
              </a:rPr>
              <a:t>参数不正确时</a:t>
            </a:r>
            <a:r>
              <a:rPr lang="en-US" altLang="zh-CN" dirty="0">
                <a:solidFill>
                  <a:srgbClr val="002060"/>
                </a:solidFill>
                <a:latin typeface="Times New Roman" panose="02020603050405020304" pitchFamily="18" charset="0"/>
                <a:cs typeface="Times New Roman" panose="02020603050405020304" pitchFamily="18" charset="0"/>
              </a:rPr>
              <a:t>sub</a:t>
            </a:r>
            <a:r>
              <a:rPr lang="zh-CN" altLang="zh-CN" dirty="0">
                <a:solidFill>
                  <a:srgbClr val="002060"/>
                </a:solidFill>
                <a:latin typeface="Times New Roman" panose="02020603050405020304" pitchFamily="18" charset="0"/>
                <a:cs typeface="Times New Roman" panose="02020603050405020304" pitchFamily="18" charset="0"/>
              </a:rPr>
              <a:t>为空串</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else{</a:t>
            </a:r>
            <a:endParaRPr lang="zh-CN"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              for(</a:t>
            </a:r>
            <a:r>
              <a:rPr lang="en-US" altLang="zh-CN" dirty="0" err="1">
                <a:solidFill>
                  <a:srgbClr val="C00000"/>
                </a:solidFill>
                <a:latin typeface="Times New Roman" panose="02020603050405020304" pitchFamily="18" charset="0"/>
                <a:cs typeface="Times New Roman" panose="02020603050405020304" pitchFamily="18" charset="0"/>
              </a:rPr>
              <a:t>int</a:t>
            </a:r>
            <a:r>
              <a:rPr lang="en-US" altLang="zh-CN" dirty="0">
                <a:solidFill>
                  <a:srgbClr val="C00000"/>
                </a:solidFill>
                <a:latin typeface="Times New Roman" panose="02020603050405020304" pitchFamily="18" charset="0"/>
                <a:cs typeface="Times New Roman" panose="02020603050405020304" pitchFamily="18" charset="0"/>
              </a:rPr>
              <a:t> </a:t>
            </a:r>
            <a:r>
              <a:rPr lang="en-US" altLang="zh-CN" dirty="0" err="1">
                <a:solidFill>
                  <a:srgbClr val="C00000"/>
                </a:solidFill>
                <a:latin typeface="Times New Roman" panose="02020603050405020304" pitchFamily="18" charset="0"/>
                <a:cs typeface="Times New Roman" panose="02020603050405020304" pitchFamily="18" charset="0"/>
              </a:rPr>
              <a:t>i</a:t>
            </a:r>
            <a:r>
              <a:rPr lang="en-US" altLang="zh-CN" dirty="0">
                <a:solidFill>
                  <a:srgbClr val="C00000"/>
                </a:solidFill>
                <a:latin typeface="Times New Roman" panose="02020603050405020304" pitchFamily="18" charset="0"/>
                <a:cs typeface="Times New Roman" panose="02020603050405020304" pitchFamily="18" charset="0"/>
              </a:rPr>
              <a:t>=pos-1;i&lt;pos+len-1;i++)   //</a:t>
            </a:r>
            <a:r>
              <a:rPr lang="zh-CN" altLang="zh-CN" dirty="0">
                <a:solidFill>
                  <a:srgbClr val="C00000"/>
                </a:solidFill>
                <a:latin typeface="Times New Roman" panose="02020603050405020304" pitchFamily="18" charset="0"/>
                <a:cs typeface="Times New Roman" panose="02020603050405020304" pitchFamily="18" charset="0"/>
              </a:rPr>
              <a:t>将</a:t>
            </a:r>
            <a:r>
              <a:rPr lang="en-US" altLang="zh-CN" dirty="0">
                <a:solidFill>
                  <a:srgbClr val="C00000"/>
                </a:solidFill>
                <a:latin typeface="Times New Roman" panose="02020603050405020304" pitchFamily="18" charset="0"/>
                <a:cs typeface="Times New Roman" panose="02020603050405020304" pitchFamily="18" charset="0"/>
              </a:rPr>
              <a:t>s[pos-1..pos+len-2]</a:t>
            </a:r>
            <a:r>
              <a:rPr lang="zh-CN" altLang="zh-CN" dirty="0">
                <a:solidFill>
                  <a:srgbClr val="C00000"/>
                </a:solidFill>
                <a:latin typeface="Times New Roman" panose="02020603050405020304" pitchFamily="18" charset="0"/>
                <a:cs typeface="Times New Roman" panose="02020603050405020304" pitchFamily="18" charset="0"/>
              </a:rPr>
              <a:t>复制给</a:t>
            </a:r>
            <a:r>
              <a:rPr lang="en-US" altLang="zh-CN" dirty="0">
                <a:solidFill>
                  <a:srgbClr val="C00000"/>
                </a:solidFill>
                <a:latin typeface="Times New Roman" panose="02020603050405020304" pitchFamily="18" charset="0"/>
                <a:cs typeface="Times New Roman" panose="02020603050405020304" pitchFamily="18" charset="0"/>
              </a:rPr>
              <a:t>sub</a:t>
            </a:r>
            <a:endParaRPr lang="zh-CN"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                  sub[i-pos+1]=s[</a:t>
            </a:r>
            <a:r>
              <a:rPr lang="en-US" altLang="zh-CN" dirty="0" err="1">
                <a:solidFill>
                  <a:srgbClr val="C00000"/>
                </a:solidFill>
                <a:latin typeface="Times New Roman" panose="02020603050405020304" pitchFamily="18" charset="0"/>
                <a:cs typeface="Times New Roman" panose="02020603050405020304" pitchFamily="18" charset="0"/>
              </a:rPr>
              <a:t>i</a:t>
            </a:r>
            <a:r>
              <a:rPr lang="en-US" altLang="zh-CN" dirty="0">
                <a:solidFill>
                  <a:srgbClr val="C00000"/>
                </a:solidFill>
                <a:latin typeface="Times New Roman" panose="02020603050405020304" pitchFamily="18" charset="0"/>
                <a:cs typeface="Times New Roman" panose="02020603050405020304" pitchFamily="18" charset="0"/>
              </a:rPr>
              <a:t>];</a:t>
            </a:r>
            <a:endParaRPr lang="zh-CN"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       }</a:t>
            </a:r>
            <a:endParaRPr lang="zh-CN"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  }</a:t>
            </a:r>
            <a:endParaRPr lang="zh-CN" altLang="zh-CN" dirty="0">
              <a:solidFill>
                <a:srgbClr val="C00000"/>
              </a:solidFill>
              <a:latin typeface="Times New Roman" panose="02020603050405020304" pitchFamily="18" charset="0"/>
              <a:cs typeface="Times New Roman" panose="02020603050405020304" pitchFamily="18" charset="0"/>
            </a:endParaRPr>
          </a:p>
          <a:p>
            <a:endParaRPr lang="zh-CN" altLang="en-US" dirty="0"/>
          </a:p>
        </p:txBody>
      </p:sp>
      <p:sp>
        <p:nvSpPr>
          <p:cNvPr id="6" name="文本框 5"/>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求子串</a:t>
            </a:r>
          </a:p>
        </p:txBody>
      </p:sp>
    </p:spTree>
    <p:extLst>
      <p:ext uri="{BB962C8B-B14F-4D97-AF65-F5344CB8AC3E}">
        <p14:creationId xmlns:p14="http://schemas.microsoft.com/office/powerpoint/2010/main" val="1578324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1000"/>
                                        <p:tgtEl>
                                          <p:spTgt spid="4">
                                            <p:txEl>
                                              <p:pRg st="1" end="1"/>
                                            </p:txEl>
                                          </p:spTgt>
                                        </p:tgtEl>
                                      </p:cBhvr>
                                    </p:animEffect>
                                    <p:anim calcmode="lin" valueType="num">
                                      <p:cBhvr>
                                        <p:cTn id="2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1000"/>
                                        <p:tgtEl>
                                          <p:spTgt spid="4">
                                            <p:txEl>
                                              <p:pRg st="2" end="2"/>
                                            </p:txEl>
                                          </p:spTgt>
                                        </p:tgtEl>
                                      </p:cBhvr>
                                    </p:animEffect>
                                    <p:anim calcmode="lin" valueType="num">
                                      <p:cBhvr>
                                        <p:cTn id="2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tgtEl>
                                          <p:spTgt spid="4">
                                            <p:txEl>
                                              <p:pRg st="3" end="3"/>
                                            </p:txEl>
                                          </p:spTgt>
                                        </p:tgtEl>
                                      </p:cBhvr>
                                    </p:animEffect>
                                    <p:anim calcmode="lin" valueType="num">
                                      <p:cBhvr>
                                        <p:cTn id="3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1000"/>
                                        <p:tgtEl>
                                          <p:spTgt spid="4">
                                            <p:txEl>
                                              <p:pRg st="4" end="4"/>
                                            </p:txEl>
                                          </p:spTgt>
                                        </p:tgtEl>
                                      </p:cBhvr>
                                    </p:animEffect>
                                    <p:anim calcmode="lin" valueType="num">
                                      <p:cBhvr>
                                        <p:cTn id="3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fade">
                                      <p:cBhvr>
                                        <p:cTn id="47" dur="1000"/>
                                        <p:tgtEl>
                                          <p:spTgt spid="4">
                                            <p:txEl>
                                              <p:pRg st="6" end="6"/>
                                            </p:txEl>
                                          </p:spTgt>
                                        </p:tgtEl>
                                      </p:cBhvr>
                                    </p:animEffect>
                                    <p:anim calcmode="lin" valueType="num">
                                      <p:cBhvr>
                                        <p:cTn id="4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Effect transition="in" filter="fade">
                                      <p:cBhvr>
                                        <p:cTn id="52" dur="1000"/>
                                        <p:tgtEl>
                                          <p:spTgt spid="4">
                                            <p:txEl>
                                              <p:pRg st="7" end="7"/>
                                            </p:txEl>
                                          </p:spTgt>
                                        </p:tgtEl>
                                      </p:cBhvr>
                                    </p:animEffect>
                                    <p:anim calcmode="lin" valueType="num">
                                      <p:cBhvr>
                                        <p:cTn id="5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04869"/>
            <a:ext cx="8784976" cy="787546"/>
          </a:xfrm>
        </p:spPr>
        <p:txBody>
          <a:bodyPr/>
          <a:lstStyle/>
          <a:p>
            <a:pPr marL="0" indent="0">
              <a:lnSpc>
                <a:spcPts val="2200"/>
              </a:lnSpc>
              <a:spcBef>
                <a:spcPts val="0"/>
              </a:spcBef>
              <a:buNone/>
            </a:pPr>
            <a:r>
              <a:rPr lang="en-US" altLang="zh-CN" sz="1800" dirty="0">
                <a:latin typeface="隶书" panose="02010509060101010101" pitchFamily="49" charset="-122"/>
                <a:ea typeface="隶书" panose="02010509060101010101" pitchFamily="49" charset="-122"/>
              </a:rPr>
              <a:t>   </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在主串中取从第</a:t>
            </a:r>
            <a:r>
              <a:rPr lang="en-US" altLang="zh-CN" sz="1600" dirty="0" err="1">
                <a:latin typeface="Times New Roman" panose="02020603050405020304" pitchFamily="18" charset="0"/>
                <a:cs typeface="Times New Roman" panose="02020603050405020304" pitchFamily="18" charset="0"/>
              </a:rPr>
              <a:t>pos</a:t>
            </a:r>
            <a:r>
              <a:rPr lang="zh-CN" altLang="zh-CN" sz="1600" dirty="0">
                <a:latin typeface="Times New Roman" panose="02020603050405020304" pitchFamily="18" charset="0"/>
                <a:cs typeface="Times New Roman" panose="02020603050405020304" pitchFamily="18" charset="0"/>
              </a:rPr>
              <a:t>个字符起、长度与串</a:t>
            </a:r>
            <a:r>
              <a:rPr lang="en-US" altLang="zh-CN" sz="1600" dirty="0">
                <a:latin typeface="Times New Roman" panose="02020603050405020304" pitchFamily="18" charset="0"/>
                <a:cs typeface="Times New Roman" panose="02020603050405020304" pitchFamily="18" charset="0"/>
              </a:rPr>
              <a:t>t</a:t>
            </a:r>
            <a:r>
              <a:rPr lang="zh-CN" altLang="zh-CN" sz="1600" dirty="0">
                <a:latin typeface="Times New Roman" panose="02020603050405020304" pitchFamily="18" charset="0"/>
                <a:cs typeface="Times New Roman" panose="02020603050405020304" pitchFamily="18" charset="0"/>
              </a:rPr>
              <a:t>相等的子串和</a:t>
            </a:r>
            <a:r>
              <a:rPr lang="en-US" altLang="zh-CN" sz="1600" dirty="0">
                <a:latin typeface="Times New Roman" panose="02020603050405020304" pitchFamily="18" charset="0"/>
                <a:cs typeface="Times New Roman" panose="02020603050405020304" pitchFamily="18" charset="0"/>
              </a:rPr>
              <a:t>t</a:t>
            </a:r>
            <a:r>
              <a:rPr lang="zh-CN" altLang="zh-CN" sz="1600" dirty="0">
                <a:latin typeface="Times New Roman" panose="02020603050405020304" pitchFamily="18" charset="0"/>
                <a:cs typeface="Times New Roman" panose="02020603050405020304" pitchFamily="18" charset="0"/>
              </a:rPr>
              <a:t>比较，若相等，则返回</a:t>
            </a:r>
            <a:r>
              <a:rPr lang="en-US" altLang="zh-CN" sz="1600" dirty="0" err="1">
                <a:latin typeface="Times New Roman" panose="02020603050405020304" pitchFamily="18" charset="0"/>
                <a:cs typeface="Times New Roman" panose="02020603050405020304" pitchFamily="18" charset="0"/>
              </a:rPr>
              <a:t>pos</a:t>
            </a:r>
            <a:r>
              <a:rPr lang="zh-CN" altLang="zh-CN" sz="1600" dirty="0">
                <a:latin typeface="Times New Roman" panose="02020603050405020304" pitchFamily="18" charset="0"/>
                <a:cs typeface="Times New Roman" panose="02020603050405020304" pitchFamily="18" charset="0"/>
              </a:rPr>
              <a:t>，否则值增</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直至</a:t>
            </a:r>
            <a:r>
              <a:rPr lang="en-US" altLang="zh-CN" sz="1600" dirty="0">
                <a:latin typeface="Times New Roman" panose="02020603050405020304" pitchFamily="18" charset="0"/>
                <a:cs typeface="Times New Roman" panose="02020603050405020304" pitchFamily="18" charset="0"/>
              </a:rPr>
              <a:t>s</a:t>
            </a:r>
            <a:r>
              <a:rPr lang="zh-CN" altLang="zh-CN" sz="1600" dirty="0">
                <a:latin typeface="Times New Roman" panose="02020603050405020304" pitchFamily="18" charset="0"/>
                <a:cs typeface="Times New Roman" panose="02020603050405020304" pitchFamily="18" charset="0"/>
              </a:rPr>
              <a:t>中不存在和串</a:t>
            </a:r>
            <a:r>
              <a:rPr lang="en-US" altLang="zh-CN" sz="1600" dirty="0">
                <a:latin typeface="Times New Roman" panose="02020603050405020304" pitchFamily="18" charset="0"/>
                <a:cs typeface="Times New Roman" panose="02020603050405020304" pitchFamily="18" charset="0"/>
              </a:rPr>
              <a:t>t</a:t>
            </a:r>
            <a:r>
              <a:rPr lang="zh-CN" altLang="zh-CN" sz="1600" dirty="0">
                <a:latin typeface="Times New Roman" panose="02020603050405020304" pitchFamily="18" charset="0"/>
                <a:cs typeface="Times New Roman" panose="02020603050405020304" pitchFamily="18" charset="0"/>
              </a:rPr>
              <a:t>相等的子串为止，此时返回</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a:t>
            </a:r>
          </a:p>
          <a:p>
            <a:pPr marL="0" indent="0" algn="just">
              <a:lnSpc>
                <a:spcPts val="2200"/>
              </a:lnSpc>
              <a:spcBef>
                <a:spcPts val="0"/>
              </a:spcBef>
              <a:buNone/>
            </a:pPr>
            <a:endParaRPr lang="zh-CN" altLang="en-US" sz="1800" dirty="0">
              <a:latin typeface="隶书" panose="02010509060101010101" pitchFamily="49" charset="-122"/>
              <a:ea typeface="隶书" panose="02010509060101010101" pitchFamily="49" charset="-122"/>
            </a:endParaRPr>
          </a:p>
        </p:txBody>
      </p:sp>
      <p:sp>
        <p:nvSpPr>
          <p:cNvPr id="4" name="文本框 3"/>
          <p:cNvSpPr txBox="1"/>
          <p:nvPr/>
        </p:nvSpPr>
        <p:spPr>
          <a:xfrm>
            <a:off x="827584" y="1692415"/>
            <a:ext cx="8136904" cy="3323987"/>
          </a:xfrm>
          <a:prstGeom prst="rect">
            <a:avLst/>
          </a:prstGeom>
          <a:noFill/>
        </p:spPr>
        <p:txBody>
          <a:bodyPr wrap="square" rtlCol="0">
            <a:spAutoFit/>
          </a:bodyPr>
          <a:lstStyle/>
          <a:p>
            <a:r>
              <a:rPr lang="en-US" altLang="zh-CN" sz="1400" dirty="0" err="1">
                <a:solidFill>
                  <a:srgbClr val="002060"/>
                </a:solidFill>
                <a:latin typeface="Times New Roman" panose="02020603050405020304" pitchFamily="18" charset="0"/>
                <a:cs typeface="Times New Roman" panose="02020603050405020304" pitchFamily="18" charset="0"/>
              </a:rPr>
              <a:t>int</a:t>
            </a: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StrIndex</a:t>
            </a:r>
            <a:r>
              <a:rPr lang="en-US" altLang="zh-CN" sz="1400" dirty="0">
                <a:solidFill>
                  <a:srgbClr val="002060"/>
                </a:solidFill>
                <a:latin typeface="Times New Roman" panose="02020603050405020304" pitchFamily="18" charset="0"/>
                <a:cs typeface="Times New Roman" panose="02020603050405020304" pitchFamily="18" charset="0"/>
              </a:rPr>
              <a:t>(String s, String t, </a:t>
            </a:r>
            <a:r>
              <a:rPr lang="en-US" altLang="zh-CN" sz="1400" dirty="0" err="1">
                <a:solidFill>
                  <a:srgbClr val="002060"/>
                </a:solidFill>
                <a:latin typeface="Times New Roman" panose="02020603050405020304" pitchFamily="18" charset="0"/>
                <a:cs typeface="Times New Roman" panose="02020603050405020304" pitchFamily="18" charset="0"/>
              </a:rPr>
              <a:t>int</a:t>
            </a: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String sub;</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if(</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en-US" altLang="zh-CN" sz="1400" dirty="0">
                <a:solidFill>
                  <a:srgbClr val="002060"/>
                </a:solidFill>
                <a:latin typeface="Times New Roman" panose="02020603050405020304" pitchFamily="18" charset="0"/>
                <a:cs typeface="Times New Roman" panose="02020603050405020304" pitchFamily="18" charset="0"/>
              </a:rPr>
              <a:t>&gt;0){</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int</a:t>
            </a:r>
            <a:r>
              <a:rPr lang="en-US" altLang="zh-CN" sz="1400" dirty="0">
                <a:solidFill>
                  <a:srgbClr val="002060"/>
                </a:solidFill>
                <a:latin typeface="Times New Roman" panose="02020603050405020304" pitchFamily="18" charset="0"/>
                <a:cs typeface="Times New Roman" panose="02020603050405020304" pitchFamily="18" charset="0"/>
              </a:rPr>
              <a:t> n=</a:t>
            </a:r>
            <a:r>
              <a:rPr lang="en-US" altLang="zh-CN" sz="1400" dirty="0" err="1">
                <a:solidFill>
                  <a:srgbClr val="002060"/>
                </a:solidFill>
                <a:latin typeface="Times New Roman" panose="02020603050405020304" pitchFamily="18" charset="0"/>
                <a:cs typeface="Times New Roman" panose="02020603050405020304" pitchFamily="18" charset="0"/>
              </a:rPr>
              <a:t>StrLength</a:t>
            </a:r>
            <a:r>
              <a:rPr lang="en-US" altLang="zh-CN" sz="1400" dirty="0">
                <a:solidFill>
                  <a:srgbClr val="002060"/>
                </a:solidFill>
                <a:latin typeface="Times New Roman" panose="02020603050405020304" pitchFamily="18" charset="0"/>
                <a:cs typeface="Times New Roman" panose="02020603050405020304" pitchFamily="18" charset="0"/>
              </a:rPr>
              <a:t>(s);</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int</a:t>
            </a:r>
            <a:r>
              <a:rPr lang="en-US" altLang="zh-CN" sz="1400" dirty="0">
                <a:solidFill>
                  <a:srgbClr val="002060"/>
                </a:solidFill>
                <a:latin typeface="Times New Roman" panose="02020603050405020304" pitchFamily="18" charset="0"/>
                <a:cs typeface="Times New Roman" panose="02020603050405020304" pitchFamily="18" charset="0"/>
              </a:rPr>
              <a:t> m=</a:t>
            </a:r>
            <a:r>
              <a:rPr lang="en-US" altLang="zh-CN" sz="1400" dirty="0" err="1">
                <a:solidFill>
                  <a:srgbClr val="002060"/>
                </a:solidFill>
                <a:latin typeface="Times New Roman" panose="02020603050405020304" pitchFamily="18" charset="0"/>
                <a:cs typeface="Times New Roman" panose="02020603050405020304" pitchFamily="18" charset="0"/>
              </a:rPr>
              <a:t>StrLength</a:t>
            </a:r>
            <a:r>
              <a:rPr lang="en-US" altLang="zh-CN" sz="1400" dirty="0">
                <a:solidFill>
                  <a:srgbClr val="002060"/>
                </a:solidFill>
                <a:latin typeface="Times New Roman" panose="02020603050405020304" pitchFamily="18" charset="0"/>
                <a:cs typeface="Times New Roman" panose="02020603050405020304" pitchFamily="18" charset="0"/>
              </a:rPr>
              <a:t>(t),</a:t>
            </a:r>
            <a:r>
              <a:rPr lang="en-US" altLang="zh-CN" sz="1400" dirty="0" err="1">
                <a:solidFill>
                  <a:srgbClr val="002060"/>
                </a:solidFill>
                <a:latin typeface="Times New Roman" panose="02020603050405020304" pitchFamily="18" charset="0"/>
                <a:cs typeface="Times New Roman" panose="02020603050405020304" pitchFamily="18" charset="0"/>
              </a:rPr>
              <a:t>i</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while(</a:t>
            </a:r>
            <a:r>
              <a:rPr lang="en-US" altLang="zh-CN" sz="1400" dirty="0" err="1">
                <a:solidFill>
                  <a:srgbClr val="002060"/>
                </a:solidFill>
                <a:latin typeface="Times New Roman" panose="02020603050405020304" pitchFamily="18" charset="0"/>
                <a:cs typeface="Times New Roman" panose="02020603050405020304" pitchFamily="18" charset="0"/>
              </a:rPr>
              <a:t>i</a:t>
            </a:r>
            <a:r>
              <a:rPr lang="en-US" altLang="zh-CN" sz="1400" dirty="0">
                <a:solidFill>
                  <a:srgbClr val="002060"/>
                </a:solidFill>
                <a:latin typeface="Times New Roman" panose="02020603050405020304" pitchFamily="18" charset="0"/>
                <a:cs typeface="Times New Roman" panose="02020603050405020304" pitchFamily="18" charset="0"/>
              </a:rPr>
              <a:t>&lt;=n-m+1){</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SubString</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sub,s,i,m</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if(</a:t>
            </a:r>
            <a:r>
              <a:rPr lang="en-US" altLang="zh-CN" sz="1400" dirty="0" err="1">
                <a:solidFill>
                  <a:srgbClr val="002060"/>
                </a:solidFill>
                <a:latin typeface="Times New Roman" panose="02020603050405020304" pitchFamily="18" charset="0"/>
                <a:cs typeface="Times New Roman" panose="02020603050405020304" pitchFamily="18" charset="0"/>
              </a:rPr>
              <a:t>StrCompare</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sub,t</a:t>
            </a:r>
            <a:r>
              <a:rPr lang="en-US" altLang="zh-CN" sz="1400" dirty="0">
                <a:solidFill>
                  <a:srgbClr val="002060"/>
                </a:solidFill>
                <a:latin typeface="Times New Roman" panose="02020603050405020304" pitchFamily="18" charset="0"/>
                <a:cs typeface="Times New Roman" panose="02020603050405020304" pitchFamily="18" charset="0"/>
              </a:rPr>
              <a:t>)!=0)</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i</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else  return </a:t>
            </a:r>
            <a:r>
              <a:rPr lang="en-US" altLang="zh-CN" sz="1400" dirty="0" err="1">
                <a:solidFill>
                  <a:srgbClr val="002060"/>
                </a:solidFill>
                <a:latin typeface="Times New Roman" panose="02020603050405020304" pitchFamily="18" charset="0"/>
                <a:cs typeface="Times New Roman" panose="02020603050405020304" pitchFamily="18" charset="0"/>
              </a:rPr>
              <a:t>i</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返回子串在主串中的位置</a:t>
            </a:r>
          </a:p>
          <a:p>
            <a:r>
              <a:rPr lang="en-US" altLang="zh-CN" sz="1400" dirty="0">
                <a:solidFill>
                  <a:srgbClr val="002060"/>
                </a:solidFill>
                <a:latin typeface="Times New Roman" panose="02020603050405020304" pitchFamily="18" charset="0"/>
                <a:cs typeface="Times New Roman" panose="02020603050405020304" pitchFamily="18" charset="0"/>
              </a:rPr>
              <a:t>         } </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 </a:t>
            </a:r>
            <a:endParaRPr lang="zh-CN" altLang="zh-CN" sz="1400" dirty="0">
              <a:solidFill>
                <a:srgbClr val="002060"/>
              </a:solidFill>
              <a:latin typeface="Times New Roman" panose="02020603050405020304" pitchFamily="18" charset="0"/>
              <a:cs typeface="Times New Roman" panose="02020603050405020304" pitchFamily="18" charset="0"/>
            </a:endParaRPr>
          </a:p>
          <a:p>
            <a:r>
              <a:rPr lang="en-US" altLang="zh-CN" sz="1400" dirty="0">
                <a:solidFill>
                  <a:srgbClr val="002060"/>
                </a:solidFill>
                <a:latin typeface="Times New Roman" panose="02020603050405020304" pitchFamily="18" charset="0"/>
                <a:cs typeface="Times New Roman" panose="02020603050405020304" pitchFamily="18" charset="0"/>
              </a:rPr>
              <a:t>     return 0;                        //s</a:t>
            </a:r>
            <a:r>
              <a:rPr lang="zh-CN" altLang="zh-CN" sz="1400" dirty="0">
                <a:solidFill>
                  <a:srgbClr val="002060"/>
                </a:solidFill>
                <a:latin typeface="Times New Roman" panose="02020603050405020304" pitchFamily="18" charset="0"/>
                <a:cs typeface="Times New Roman" panose="02020603050405020304" pitchFamily="18" charset="0"/>
              </a:rPr>
              <a:t>中不存在与</a:t>
            </a:r>
            <a:r>
              <a:rPr lang="en-US" altLang="zh-CN" sz="1400" dirty="0">
                <a:solidFill>
                  <a:srgbClr val="002060"/>
                </a:solidFill>
                <a:latin typeface="Times New Roman" panose="02020603050405020304" pitchFamily="18" charset="0"/>
                <a:cs typeface="Times New Roman" panose="02020603050405020304" pitchFamily="18" charset="0"/>
              </a:rPr>
              <a:t>t</a:t>
            </a:r>
            <a:r>
              <a:rPr lang="zh-CN" altLang="zh-CN" sz="1400" dirty="0">
                <a:solidFill>
                  <a:srgbClr val="002060"/>
                </a:solidFill>
                <a:latin typeface="Times New Roman" panose="02020603050405020304" pitchFamily="18" charset="0"/>
                <a:cs typeface="Times New Roman" panose="02020603050405020304" pitchFamily="18" charset="0"/>
              </a:rPr>
              <a:t>相等的子串</a:t>
            </a:r>
          </a:p>
          <a:p>
            <a:r>
              <a:rPr lang="en-US" altLang="zh-CN" sz="1400" dirty="0">
                <a:solidFill>
                  <a:srgbClr val="002060"/>
                </a:solidFill>
                <a:latin typeface="Times New Roman" panose="02020603050405020304" pitchFamily="18" charset="0"/>
                <a:cs typeface="Times New Roman" panose="02020603050405020304" pitchFamily="18" charset="0"/>
              </a:rPr>
              <a:t>} </a:t>
            </a:r>
            <a:endParaRPr lang="zh-CN" altLang="zh-CN" sz="1400" dirty="0">
              <a:solidFill>
                <a:srgbClr val="002060"/>
              </a:solidFill>
              <a:latin typeface="Times New Roman" panose="02020603050405020304" pitchFamily="18" charset="0"/>
              <a:cs typeface="Times New Roman" panose="02020603050405020304" pitchFamily="18" charset="0"/>
            </a:endParaRPr>
          </a:p>
          <a:p>
            <a:endParaRPr lang="zh-CN" altLang="en-US" sz="1400" dirty="0"/>
          </a:p>
        </p:txBody>
      </p:sp>
      <p:sp>
        <p:nvSpPr>
          <p:cNvPr id="5" name="文本框 4"/>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串定位</a:t>
            </a:r>
          </a:p>
        </p:txBody>
      </p:sp>
    </p:spTree>
    <p:extLst>
      <p:ext uri="{BB962C8B-B14F-4D97-AF65-F5344CB8AC3E}">
        <p14:creationId xmlns:p14="http://schemas.microsoft.com/office/powerpoint/2010/main" val="37284815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1000"/>
                                        <p:tgtEl>
                                          <p:spTgt spid="4">
                                            <p:txEl>
                                              <p:pRg st="1" end="1"/>
                                            </p:txEl>
                                          </p:spTgt>
                                        </p:tgtEl>
                                      </p:cBhvr>
                                    </p:animEffect>
                                    <p:anim calcmode="lin" valueType="num">
                                      <p:cBhvr>
                                        <p:cTn id="2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1000"/>
                                        <p:tgtEl>
                                          <p:spTgt spid="4">
                                            <p:txEl>
                                              <p:pRg st="2" end="2"/>
                                            </p:txEl>
                                          </p:spTgt>
                                        </p:tgtEl>
                                      </p:cBhvr>
                                    </p:animEffect>
                                    <p:anim calcmode="lin" valueType="num">
                                      <p:cBhvr>
                                        <p:cTn id="2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Effect transition="in" filter="fade">
                                      <p:cBhvr>
                                        <p:cTn id="34" dur="1000"/>
                                        <p:tgtEl>
                                          <p:spTgt spid="4">
                                            <p:txEl>
                                              <p:pRg st="3" end="3"/>
                                            </p:txEl>
                                          </p:spTgt>
                                        </p:tgtEl>
                                      </p:cBhvr>
                                    </p:animEffect>
                                    <p:anim calcmode="lin" valueType="num">
                                      <p:cBhvr>
                                        <p:cTn id="3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animEffect transition="in" filter="fade">
                                      <p:cBhvr>
                                        <p:cTn id="41" dur="1000"/>
                                        <p:tgtEl>
                                          <p:spTgt spid="4">
                                            <p:txEl>
                                              <p:pRg st="4" end="4"/>
                                            </p:txEl>
                                          </p:spTgt>
                                        </p:tgtEl>
                                      </p:cBhvr>
                                    </p:animEffect>
                                    <p:anim calcmode="lin" valueType="num">
                                      <p:cBhvr>
                                        <p:cTn id="4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
                                            <p:txEl>
                                              <p:pRg st="5" end="5"/>
                                            </p:txEl>
                                          </p:spTgt>
                                        </p:tgtEl>
                                        <p:attrNameLst>
                                          <p:attrName>style.visibility</p:attrName>
                                        </p:attrNameLst>
                                      </p:cBhvr>
                                      <p:to>
                                        <p:strVal val="visible"/>
                                      </p:to>
                                    </p:set>
                                    <p:animEffect transition="in" filter="fade">
                                      <p:cBhvr>
                                        <p:cTn id="48" dur="1000"/>
                                        <p:tgtEl>
                                          <p:spTgt spid="4">
                                            <p:txEl>
                                              <p:pRg st="5" end="5"/>
                                            </p:txEl>
                                          </p:spTgt>
                                        </p:tgtEl>
                                      </p:cBhvr>
                                    </p:animEffect>
                                    <p:anim calcmode="lin" valueType="num">
                                      <p:cBhvr>
                                        <p:cTn id="4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animEffect transition="in" filter="fade">
                                      <p:cBhvr>
                                        <p:cTn id="55" dur="1000"/>
                                        <p:tgtEl>
                                          <p:spTgt spid="4">
                                            <p:txEl>
                                              <p:pRg st="6" end="6"/>
                                            </p:txEl>
                                          </p:spTgt>
                                        </p:tgtEl>
                                      </p:cBhvr>
                                    </p:animEffect>
                                    <p:anim calcmode="lin" valueType="num">
                                      <p:cBhvr>
                                        <p:cTn id="5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
                                            <p:txEl>
                                              <p:pRg st="7" end="7"/>
                                            </p:txEl>
                                          </p:spTgt>
                                        </p:tgtEl>
                                        <p:attrNameLst>
                                          <p:attrName>style.visibility</p:attrName>
                                        </p:attrNameLst>
                                      </p:cBhvr>
                                      <p:to>
                                        <p:strVal val="visible"/>
                                      </p:to>
                                    </p:set>
                                    <p:animEffect transition="in" filter="fade">
                                      <p:cBhvr>
                                        <p:cTn id="62" dur="1000"/>
                                        <p:tgtEl>
                                          <p:spTgt spid="4">
                                            <p:txEl>
                                              <p:pRg st="7" end="7"/>
                                            </p:txEl>
                                          </p:spTgt>
                                        </p:tgtEl>
                                      </p:cBhvr>
                                    </p:animEffect>
                                    <p:anim calcmode="lin" valueType="num">
                                      <p:cBhvr>
                                        <p:cTn id="6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4">
                                            <p:txEl>
                                              <p:pRg st="8" end="8"/>
                                            </p:txEl>
                                          </p:spTgt>
                                        </p:tgtEl>
                                        <p:attrNameLst>
                                          <p:attrName>style.visibility</p:attrName>
                                        </p:attrNameLst>
                                      </p:cBhvr>
                                      <p:to>
                                        <p:strVal val="visible"/>
                                      </p:to>
                                    </p:set>
                                    <p:animEffect transition="in" filter="fade">
                                      <p:cBhvr>
                                        <p:cTn id="69" dur="1000"/>
                                        <p:tgtEl>
                                          <p:spTgt spid="4">
                                            <p:txEl>
                                              <p:pRg st="8" end="8"/>
                                            </p:txEl>
                                          </p:spTgt>
                                        </p:tgtEl>
                                      </p:cBhvr>
                                    </p:animEffect>
                                    <p:anim calcmode="lin" valueType="num">
                                      <p:cBhvr>
                                        <p:cTn id="7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4">
                                            <p:txEl>
                                              <p:pRg st="9" end="9"/>
                                            </p:txEl>
                                          </p:spTgt>
                                        </p:tgtEl>
                                        <p:attrNameLst>
                                          <p:attrName>style.visibility</p:attrName>
                                        </p:attrNameLst>
                                      </p:cBhvr>
                                      <p:to>
                                        <p:strVal val="visible"/>
                                      </p:to>
                                    </p:set>
                                    <p:animEffect transition="in" filter="fade">
                                      <p:cBhvr>
                                        <p:cTn id="76" dur="1000"/>
                                        <p:tgtEl>
                                          <p:spTgt spid="4">
                                            <p:txEl>
                                              <p:pRg st="9" end="9"/>
                                            </p:txEl>
                                          </p:spTgt>
                                        </p:tgtEl>
                                      </p:cBhvr>
                                    </p:animEffect>
                                    <p:anim calcmode="lin" valueType="num">
                                      <p:cBhvr>
                                        <p:cTn id="7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4">
                                            <p:txEl>
                                              <p:pRg st="10" end="10"/>
                                            </p:txEl>
                                          </p:spTgt>
                                        </p:tgtEl>
                                        <p:attrNameLst>
                                          <p:attrName>style.visibility</p:attrName>
                                        </p:attrNameLst>
                                      </p:cBhvr>
                                      <p:to>
                                        <p:strVal val="visible"/>
                                      </p:to>
                                    </p:set>
                                    <p:animEffect transition="in" filter="fade">
                                      <p:cBhvr>
                                        <p:cTn id="81" dur="1000"/>
                                        <p:tgtEl>
                                          <p:spTgt spid="4">
                                            <p:txEl>
                                              <p:pRg st="10" end="10"/>
                                            </p:txEl>
                                          </p:spTgt>
                                        </p:tgtEl>
                                      </p:cBhvr>
                                    </p:animEffect>
                                    <p:anim calcmode="lin" valueType="num">
                                      <p:cBhvr>
                                        <p:cTn id="8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4">
                                            <p:txEl>
                                              <p:pRg st="11" end="11"/>
                                            </p:txEl>
                                          </p:spTgt>
                                        </p:tgtEl>
                                        <p:attrNameLst>
                                          <p:attrName>style.visibility</p:attrName>
                                        </p:attrNameLst>
                                      </p:cBhvr>
                                      <p:to>
                                        <p:strVal val="visible"/>
                                      </p:to>
                                    </p:set>
                                    <p:animEffect transition="in" filter="fade">
                                      <p:cBhvr>
                                        <p:cTn id="88" dur="1000"/>
                                        <p:tgtEl>
                                          <p:spTgt spid="4">
                                            <p:txEl>
                                              <p:pRg st="11" end="11"/>
                                            </p:txEl>
                                          </p:spTgt>
                                        </p:tgtEl>
                                      </p:cBhvr>
                                    </p:animEffect>
                                    <p:anim calcmode="lin" valueType="num">
                                      <p:cBhvr>
                                        <p:cTn id="8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90"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4">
                                            <p:txEl>
                                              <p:pRg st="12" end="12"/>
                                            </p:txEl>
                                          </p:spTgt>
                                        </p:tgtEl>
                                        <p:attrNameLst>
                                          <p:attrName>style.visibility</p:attrName>
                                        </p:attrNameLst>
                                      </p:cBhvr>
                                      <p:to>
                                        <p:strVal val="visible"/>
                                      </p:to>
                                    </p:set>
                                    <p:animEffect transition="in" filter="fade">
                                      <p:cBhvr>
                                        <p:cTn id="93" dur="1000"/>
                                        <p:tgtEl>
                                          <p:spTgt spid="4">
                                            <p:txEl>
                                              <p:pRg st="12" end="12"/>
                                            </p:txEl>
                                          </p:spTgt>
                                        </p:tgtEl>
                                      </p:cBhvr>
                                    </p:animEffect>
                                    <p:anim calcmode="lin" valueType="num">
                                      <p:cBhvr>
                                        <p:cTn id="9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4">
                                            <p:txEl>
                                              <p:pRg st="13" end="13"/>
                                            </p:txEl>
                                          </p:spTgt>
                                        </p:tgtEl>
                                        <p:attrNameLst>
                                          <p:attrName>style.visibility</p:attrName>
                                        </p:attrNameLst>
                                      </p:cBhvr>
                                      <p:to>
                                        <p:strVal val="visible"/>
                                      </p:to>
                                    </p:set>
                                    <p:animEffect transition="in" filter="fade">
                                      <p:cBhvr>
                                        <p:cTn id="98" dur="1000"/>
                                        <p:tgtEl>
                                          <p:spTgt spid="4">
                                            <p:txEl>
                                              <p:pRg st="13" end="13"/>
                                            </p:txEl>
                                          </p:spTgt>
                                        </p:tgtEl>
                                      </p:cBhvr>
                                    </p:animEffect>
                                    <p:anim calcmode="lin" valueType="num">
                                      <p:cBhvr>
                                        <p:cTn id="9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串的存储结构</a:t>
            </a:r>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文本框 1"/>
          <p:cNvSpPr txBox="1"/>
          <p:nvPr/>
        </p:nvSpPr>
        <p:spPr>
          <a:xfrm>
            <a:off x="179512" y="4299942"/>
            <a:ext cx="3456384" cy="843558"/>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361039951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539552" y="1851670"/>
            <a:ext cx="8352928" cy="1579634"/>
          </a:xfrm>
        </p:spPr>
        <p:txBody>
          <a:bodyPr/>
          <a:lstStyle/>
          <a:p>
            <a:pPr marL="0" indent="0">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定长顺序存储表示，也称为静态存储分配的顺序表。它用一组地址连续的存储单元且大小固定的数组来存放串中的字符序列。 </a:t>
            </a: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algn="just"/>
            <a:endParaRPr lang="zh-CN" altLang="en-US" dirty="0"/>
          </a:p>
        </p:txBody>
      </p:sp>
      <p:sp>
        <p:nvSpPr>
          <p:cNvPr id="4" name="文本框 3"/>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定长顺序存储表示</a:t>
            </a:r>
          </a:p>
        </p:txBody>
      </p:sp>
    </p:spTree>
    <p:extLst>
      <p:ext uri="{BB962C8B-B14F-4D97-AF65-F5344CB8AC3E}">
        <p14:creationId xmlns:p14="http://schemas.microsoft.com/office/powerpoint/2010/main" val="38638854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3568" y="987574"/>
            <a:ext cx="8352928" cy="4031873"/>
          </a:xfrm>
          <a:prstGeom prst="rect">
            <a:avLst/>
          </a:prstGeom>
          <a:noFill/>
        </p:spPr>
        <p:txBody>
          <a:bodyPr wrap="square" rtlCol="0">
            <a:spAutoFit/>
          </a:bodyPr>
          <a:lstStyle/>
          <a:p>
            <a:r>
              <a:rPr lang="en-US" altLang="zh-CN" sz="1400" dirty="0"/>
              <a:t>#define </a:t>
            </a:r>
            <a:r>
              <a:rPr lang="en-US" altLang="zh-CN" sz="1400" dirty="0" err="1"/>
              <a:t>MaxStrLen</a:t>
            </a:r>
            <a:r>
              <a:rPr lang="en-US" altLang="zh-CN" sz="1400" dirty="0"/>
              <a:t> 255                      //</a:t>
            </a:r>
            <a:r>
              <a:rPr lang="zh-CN" altLang="zh-CN" sz="1400" dirty="0"/>
              <a:t>串的最大长度</a:t>
            </a:r>
          </a:p>
          <a:p>
            <a:r>
              <a:rPr lang="en-US" altLang="zh-CN" sz="1400" dirty="0" err="1"/>
              <a:t>typedef</a:t>
            </a:r>
            <a:r>
              <a:rPr lang="en-US" altLang="zh-CN" sz="1400" dirty="0"/>
              <a:t> unsigned char </a:t>
            </a:r>
            <a:r>
              <a:rPr lang="en-US" altLang="zh-CN" sz="1400" dirty="0" err="1"/>
              <a:t>SString</a:t>
            </a:r>
            <a:r>
              <a:rPr lang="en-US" altLang="zh-CN" sz="1400" dirty="0"/>
              <a:t>[MaxStrLen+1];    //0</a:t>
            </a:r>
            <a:r>
              <a:rPr lang="zh-CN" altLang="zh-CN" sz="1400" dirty="0"/>
              <a:t>号单元存放串的长度</a:t>
            </a:r>
          </a:p>
          <a:p>
            <a:r>
              <a:rPr lang="en-US" altLang="zh-CN" sz="1400" dirty="0"/>
              <a:t>class String{</a:t>
            </a:r>
            <a:endParaRPr lang="zh-CN" altLang="zh-CN" sz="1400" dirty="0"/>
          </a:p>
          <a:p>
            <a:r>
              <a:rPr lang="en-US" altLang="zh-CN" sz="1400" dirty="0">
                <a:solidFill>
                  <a:srgbClr val="002060"/>
                </a:solidFill>
              </a:rPr>
              <a:t>   private:</a:t>
            </a:r>
            <a:endParaRPr lang="zh-CN" altLang="zh-CN" sz="1400" dirty="0">
              <a:solidFill>
                <a:srgbClr val="002060"/>
              </a:solidFill>
            </a:endParaRPr>
          </a:p>
          <a:p>
            <a:r>
              <a:rPr lang="en-US" altLang="zh-CN" sz="1400" dirty="0">
                <a:solidFill>
                  <a:srgbClr val="002060"/>
                </a:solidFill>
              </a:rPr>
              <a:t>     </a:t>
            </a:r>
            <a:r>
              <a:rPr lang="en-US" altLang="zh-CN" sz="1400" dirty="0" err="1">
                <a:solidFill>
                  <a:srgbClr val="002060"/>
                </a:solidFill>
              </a:rPr>
              <a:t>SString</a:t>
            </a:r>
            <a:r>
              <a:rPr lang="en-US" altLang="zh-CN" sz="1400" dirty="0">
                <a:solidFill>
                  <a:srgbClr val="002060"/>
                </a:solidFill>
              </a:rPr>
              <a:t> s;</a:t>
            </a:r>
            <a:endParaRPr lang="zh-CN" altLang="zh-CN" sz="1400" dirty="0">
              <a:solidFill>
                <a:srgbClr val="002060"/>
              </a:solidFill>
            </a:endParaRPr>
          </a:p>
          <a:p>
            <a:r>
              <a:rPr lang="en-US" altLang="zh-CN" sz="1400" dirty="0"/>
              <a:t>   </a:t>
            </a:r>
            <a:r>
              <a:rPr lang="en-US" altLang="zh-CN" sz="1400" dirty="0">
                <a:solidFill>
                  <a:srgbClr val="C00000"/>
                </a:solidFill>
              </a:rPr>
              <a:t>public:</a:t>
            </a:r>
            <a:endParaRPr lang="zh-CN" altLang="zh-CN" sz="1400" dirty="0">
              <a:solidFill>
                <a:srgbClr val="C00000"/>
              </a:solidFill>
            </a:endParaRPr>
          </a:p>
          <a:p>
            <a:r>
              <a:rPr lang="en-US" altLang="zh-CN" sz="1400" dirty="0">
                <a:solidFill>
                  <a:srgbClr val="C00000"/>
                </a:solidFill>
              </a:rPr>
              <a:t>      String(){s[0]=0;s[1]=’\0’;}             //</a:t>
            </a:r>
            <a:r>
              <a:rPr lang="zh-CN" altLang="zh-CN" sz="1400" dirty="0">
                <a:solidFill>
                  <a:srgbClr val="C00000"/>
                </a:solidFill>
              </a:rPr>
              <a:t>创建空串</a:t>
            </a:r>
          </a:p>
          <a:p>
            <a:r>
              <a:rPr lang="en-US" altLang="zh-CN" sz="1400" dirty="0">
                <a:solidFill>
                  <a:srgbClr val="C00000"/>
                </a:solidFill>
              </a:rPr>
              <a:t>      ~String(){delete []s;}                 //</a:t>
            </a:r>
            <a:r>
              <a:rPr lang="zh-CN" altLang="zh-CN" sz="1400" dirty="0">
                <a:solidFill>
                  <a:srgbClr val="C00000"/>
                </a:solidFill>
              </a:rPr>
              <a:t>销毁串</a:t>
            </a:r>
            <a:r>
              <a:rPr lang="en-US" altLang="zh-CN" sz="1400" dirty="0">
                <a:solidFill>
                  <a:srgbClr val="C00000"/>
                </a:solidFill>
              </a:rPr>
              <a:t>s</a:t>
            </a:r>
            <a:endParaRPr lang="zh-CN" altLang="zh-CN" sz="1400" dirty="0">
              <a:solidFill>
                <a:srgbClr val="C00000"/>
              </a:solidFill>
            </a:endParaRPr>
          </a:p>
          <a:p>
            <a:r>
              <a:rPr lang="en-US" altLang="zh-CN" sz="1400" dirty="0">
                <a:solidFill>
                  <a:srgbClr val="C00000"/>
                </a:solidFill>
              </a:rPr>
              <a:t>      void </a:t>
            </a:r>
            <a:r>
              <a:rPr lang="en-US" altLang="zh-CN" sz="1400" dirty="0" err="1">
                <a:solidFill>
                  <a:srgbClr val="C00000"/>
                </a:solidFill>
              </a:rPr>
              <a:t>StrAssign</a:t>
            </a:r>
            <a:r>
              <a:rPr lang="en-US" altLang="zh-CN" sz="1400" dirty="0">
                <a:solidFill>
                  <a:srgbClr val="C00000"/>
                </a:solidFill>
              </a:rPr>
              <a:t>(char *</a:t>
            </a:r>
            <a:r>
              <a:rPr lang="en-US" altLang="zh-CN" sz="1400" dirty="0" err="1">
                <a:solidFill>
                  <a:srgbClr val="C00000"/>
                </a:solidFill>
              </a:rPr>
              <a:t>str</a:t>
            </a:r>
            <a:r>
              <a:rPr lang="en-US" altLang="zh-CN" sz="1400" dirty="0">
                <a:solidFill>
                  <a:srgbClr val="C00000"/>
                </a:solidFill>
              </a:rPr>
              <a:t>);             //</a:t>
            </a:r>
            <a:r>
              <a:rPr lang="zh-CN" altLang="zh-CN" sz="1400" dirty="0">
                <a:solidFill>
                  <a:srgbClr val="C00000"/>
                </a:solidFill>
              </a:rPr>
              <a:t>串赋值</a:t>
            </a:r>
          </a:p>
          <a:p>
            <a:r>
              <a:rPr lang="en-US" altLang="zh-CN" sz="1400" dirty="0">
                <a:solidFill>
                  <a:srgbClr val="C00000"/>
                </a:solidFill>
              </a:rPr>
              <a:t>      void </a:t>
            </a:r>
            <a:r>
              <a:rPr lang="en-US" altLang="zh-CN" sz="1400" dirty="0" err="1">
                <a:solidFill>
                  <a:srgbClr val="C00000"/>
                </a:solidFill>
              </a:rPr>
              <a:t>StrCopy</a:t>
            </a:r>
            <a:r>
              <a:rPr lang="en-US" altLang="zh-CN" sz="1400" dirty="0">
                <a:solidFill>
                  <a:srgbClr val="C00000"/>
                </a:solidFill>
              </a:rPr>
              <a:t>(</a:t>
            </a:r>
            <a:r>
              <a:rPr lang="en-US" altLang="zh-CN" sz="1400" dirty="0" err="1">
                <a:solidFill>
                  <a:srgbClr val="C00000"/>
                </a:solidFill>
              </a:rPr>
              <a:t>SString</a:t>
            </a:r>
            <a:r>
              <a:rPr lang="en-US" altLang="zh-CN" sz="1400" dirty="0">
                <a:solidFill>
                  <a:srgbClr val="C00000"/>
                </a:solidFill>
              </a:rPr>
              <a:t> t);              //</a:t>
            </a:r>
            <a:r>
              <a:rPr lang="zh-CN" altLang="zh-CN" sz="1400" dirty="0">
                <a:solidFill>
                  <a:srgbClr val="C00000"/>
                </a:solidFill>
              </a:rPr>
              <a:t>串拷贝</a:t>
            </a:r>
          </a:p>
          <a:p>
            <a:r>
              <a:rPr lang="en-US" altLang="zh-CN" sz="1400" dirty="0">
                <a:solidFill>
                  <a:srgbClr val="C00000"/>
                </a:solidFill>
              </a:rPr>
              <a:t>      </a:t>
            </a:r>
            <a:r>
              <a:rPr lang="en-US" altLang="zh-CN" sz="1400" dirty="0" err="1">
                <a:solidFill>
                  <a:srgbClr val="C00000"/>
                </a:solidFill>
              </a:rPr>
              <a:t>int</a:t>
            </a:r>
            <a:r>
              <a:rPr lang="en-US" altLang="zh-CN" sz="1400" dirty="0">
                <a:solidFill>
                  <a:srgbClr val="C00000"/>
                </a:solidFill>
              </a:rPr>
              <a:t> </a:t>
            </a:r>
            <a:r>
              <a:rPr lang="en-US" altLang="zh-CN" sz="1400" dirty="0" err="1">
                <a:solidFill>
                  <a:srgbClr val="C00000"/>
                </a:solidFill>
              </a:rPr>
              <a:t>StrLength</a:t>
            </a:r>
            <a:r>
              <a:rPr lang="en-US" altLang="zh-CN" sz="1400" dirty="0">
                <a:solidFill>
                  <a:srgbClr val="C00000"/>
                </a:solidFill>
              </a:rPr>
              <a:t>(){return s[0];}           //</a:t>
            </a:r>
            <a:r>
              <a:rPr lang="zh-CN" altLang="zh-CN" sz="1400" dirty="0">
                <a:solidFill>
                  <a:srgbClr val="C00000"/>
                </a:solidFill>
              </a:rPr>
              <a:t>返回串的长度</a:t>
            </a:r>
          </a:p>
          <a:p>
            <a:r>
              <a:rPr lang="en-US" altLang="zh-CN" sz="1400" dirty="0">
                <a:solidFill>
                  <a:srgbClr val="C00000"/>
                </a:solidFill>
              </a:rPr>
              <a:t>      </a:t>
            </a:r>
            <a:r>
              <a:rPr lang="en-US" altLang="zh-CN" sz="1400" dirty="0" err="1">
                <a:solidFill>
                  <a:srgbClr val="C00000"/>
                </a:solidFill>
              </a:rPr>
              <a:t>int</a:t>
            </a:r>
            <a:r>
              <a:rPr lang="en-US" altLang="zh-CN" sz="1400" dirty="0">
                <a:solidFill>
                  <a:srgbClr val="C00000"/>
                </a:solidFill>
              </a:rPr>
              <a:t> </a:t>
            </a:r>
            <a:r>
              <a:rPr lang="en-US" altLang="zh-CN" sz="1400" dirty="0" err="1">
                <a:solidFill>
                  <a:srgbClr val="C00000"/>
                </a:solidFill>
              </a:rPr>
              <a:t>StrCompare</a:t>
            </a:r>
            <a:r>
              <a:rPr lang="en-US" altLang="zh-CN" sz="1400" dirty="0">
                <a:solidFill>
                  <a:srgbClr val="C00000"/>
                </a:solidFill>
              </a:rPr>
              <a:t>(</a:t>
            </a:r>
            <a:r>
              <a:rPr lang="en-US" altLang="zh-CN" sz="1400" dirty="0" err="1">
                <a:solidFill>
                  <a:srgbClr val="C00000"/>
                </a:solidFill>
              </a:rPr>
              <a:t>SString</a:t>
            </a:r>
            <a:r>
              <a:rPr lang="en-US" altLang="zh-CN" sz="1400" dirty="0">
                <a:solidFill>
                  <a:srgbClr val="C00000"/>
                </a:solidFill>
              </a:rPr>
              <a:t> t); //</a:t>
            </a:r>
            <a:r>
              <a:rPr lang="zh-CN" altLang="zh-CN" sz="1400" dirty="0">
                <a:solidFill>
                  <a:srgbClr val="C00000"/>
                </a:solidFill>
              </a:rPr>
              <a:t>串的比较，若</a:t>
            </a:r>
            <a:r>
              <a:rPr lang="en-US" altLang="zh-CN" sz="1400" dirty="0">
                <a:solidFill>
                  <a:srgbClr val="C00000"/>
                </a:solidFill>
              </a:rPr>
              <a:t>s==t</a:t>
            </a:r>
            <a:r>
              <a:rPr lang="zh-CN" altLang="zh-CN" sz="1400" dirty="0">
                <a:solidFill>
                  <a:srgbClr val="C00000"/>
                </a:solidFill>
              </a:rPr>
              <a:t>，则返回</a:t>
            </a:r>
            <a:r>
              <a:rPr lang="en-US" altLang="zh-CN" sz="1400" dirty="0">
                <a:solidFill>
                  <a:srgbClr val="C00000"/>
                </a:solidFill>
              </a:rPr>
              <a:t>0</a:t>
            </a:r>
            <a:r>
              <a:rPr lang="zh-CN" altLang="zh-CN" sz="1400" dirty="0">
                <a:solidFill>
                  <a:srgbClr val="C00000"/>
                </a:solidFill>
              </a:rPr>
              <a:t>；若</a:t>
            </a:r>
            <a:r>
              <a:rPr lang="en-US" altLang="zh-CN" sz="1400" dirty="0">
                <a:solidFill>
                  <a:srgbClr val="C00000"/>
                </a:solidFill>
              </a:rPr>
              <a:t>s&gt;t</a:t>
            </a:r>
            <a:r>
              <a:rPr lang="zh-CN" altLang="zh-CN" sz="1400" dirty="0">
                <a:solidFill>
                  <a:srgbClr val="C00000"/>
                </a:solidFill>
              </a:rPr>
              <a:t>，则返回值</a:t>
            </a:r>
            <a:r>
              <a:rPr lang="en-US" altLang="zh-CN" sz="1400" dirty="0">
                <a:solidFill>
                  <a:srgbClr val="C00000"/>
                </a:solidFill>
              </a:rPr>
              <a:t>1</a:t>
            </a:r>
            <a:r>
              <a:rPr lang="zh-CN" altLang="zh-CN" sz="1400" dirty="0">
                <a:solidFill>
                  <a:srgbClr val="C00000"/>
                </a:solidFill>
              </a:rPr>
              <a:t>；否则返回值</a:t>
            </a:r>
            <a:r>
              <a:rPr lang="en-US" altLang="zh-CN" sz="1400" dirty="0">
                <a:solidFill>
                  <a:srgbClr val="C00000"/>
                </a:solidFill>
              </a:rPr>
              <a:t>-1</a:t>
            </a:r>
            <a:endParaRPr lang="zh-CN" altLang="zh-CN" sz="1400" dirty="0">
              <a:solidFill>
                <a:srgbClr val="C00000"/>
              </a:solidFill>
            </a:endParaRPr>
          </a:p>
          <a:p>
            <a:r>
              <a:rPr lang="en-US" altLang="zh-CN" sz="1400" dirty="0">
                <a:solidFill>
                  <a:srgbClr val="C00000"/>
                </a:solidFill>
              </a:rPr>
              <a:t>      </a:t>
            </a:r>
            <a:r>
              <a:rPr lang="en-US" altLang="zh-CN" sz="1400" dirty="0" err="1">
                <a:solidFill>
                  <a:srgbClr val="C00000"/>
                </a:solidFill>
              </a:rPr>
              <a:t>int</a:t>
            </a:r>
            <a:r>
              <a:rPr lang="en-US" altLang="zh-CN" sz="1400" dirty="0">
                <a:solidFill>
                  <a:srgbClr val="C00000"/>
                </a:solidFill>
              </a:rPr>
              <a:t> </a:t>
            </a:r>
            <a:r>
              <a:rPr lang="en-US" altLang="zh-CN" sz="1400" dirty="0" err="1">
                <a:solidFill>
                  <a:srgbClr val="C00000"/>
                </a:solidFill>
              </a:rPr>
              <a:t>StrConcat</a:t>
            </a:r>
            <a:r>
              <a:rPr lang="en-US" altLang="zh-CN" sz="1400" dirty="0">
                <a:solidFill>
                  <a:srgbClr val="C00000"/>
                </a:solidFill>
              </a:rPr>
              <a:t>(</a:t>
            </a:r>
            <a:r>
              <a:rPr lang="en-US" altLang="zh-CN" sz="1400" dirty="0" err="1">
                <a:solidFill>
                  <a:srgbClr val="C00000"/>
                </a:solidFill>
              </a:rPr>
              <a:t>SString</a:t>
            </a:r>
            <a:r>
              <a:rPr lang="en-US" altLang="zh-CN" sz="1400" dirty="0">
                <a:solidFill>
                  <a:srgbClr val="C00000"/>
                </a:solidFill>
              </a:rPr>
              <a:t> s1,SString s2);    //</a:t>
            </a:r>
            <a:r>
              <a:rPr lang="zh-CN" altLang="zh-CN" sz="1400" dirty="0">
                <a:solidFill>
                  <a:srgbClr val="C00000"/>
                </a:solidFill>
              </a:rPr>
              <a:t>两个串</a:t>
            </a:r>
            <a:r>
              <a:rPr lang="en-US" altLang="zh-CN" sz="1400" dirty="0">
                <a:solidFill>
                  <a:srgbClr val="C00000"/>
                </a:solidFill>
              </a:rPr>
              <a:t>s1</a:t>
            </a:r>
            <a:r>
              <a:rPr lang="zh-CN" altLang="zh-CN" sz="1400" dirty="0">
                <a:solidFill>
                  <a:srgbClr val="C00000"/>
                </a:solidFill>
              </a:rPr>
              <a:t>和</a:t>
            </a:r>
            <a:r>
              <a:rPr lang="en-US" altLang="zh-CN" sz="1400" dirty="0">
                <a:solidFill>
                  <a:srgbClr val="C00000"/>
                </a:solidFill>
              </a:rPr>
              <a:t>s2</a:t>
            </a:r>
            <a:r>
              <a:rPr lang="zh-CN" altLang="zh-CN" sz="1400" dirty="0">
                <a:solidFill>
                  <a:srgbClr val="C00000"/>
                </a:solidFill>
              </a:rPr>
              <a:t>的连接</a:t>
            </a:r>
          </a:p>
          <a:p>
            <a:r>
              <a:rPr lang="en-US" altLang="zh-CN" sz="1400" dirty="0">
                <a:solidFill>
                  <a:srgbClr val="C00000"/>
                </a:solidFill>
              </a:rPr>
              <a:t>      void </a:t>
            </a:r>
            <a:r>
              <a:rPr lang="en-US" altLang="zh-CN" sz="1400" dirty="0" err="1">
                <a:solidFill>
                  <a:srgbClr val="C00000"/>
                </a:solidFill>
              </a:rPr>
              <a:t>StrInsert</a:t>
            </a:r>
            <a:r>
              <a:rPr lang="en-US" altLang="zh-CN" sz="1400" dirty="0">
                <a:solidFill>
                  <a:srgbClr val="C00000"/>
                </a:solidFill>
              </a:rPr>
              <a:t>(</a:t>
            </a:r>
            <a:r>
              <a:rPr lang="en-US" altLang="zh-CN" sz="1400" dirty="0" err="1">
                <a:solidFill>
                  <a:srgbClr val="C00000"/>
                </a:solidFill>
              </a:rPr>
              <a:t>int</a:t>
            </a:r>
            <a:r>
              <a:rPr lang="en-US" altLang="zh-CN" sz="1400" dirty="0">
                <a:solidFill>
                  <a:srgbClr val="C00000"/>
                </a:solidFill>
              </a:rPr>
              <a:t> </a:t>
            </a:r>
            <a:r>
              <a:rPr lang="en-US" altLang="zh-CN" sz="1400" dirty="0" err="1">
                <a:solidFill>
                  <a:srgbClr val="C00000"/>
                </a:solidFill>
              </a:rPr>
              <a:t>pos,SString</a:t>
            </a:r>
            <a:r>
              <a:rPr lang="en-US" altLang="zh-CN" sz="1400" dirty="0">
                <a:solidFill>
                  <a:srgbClr val="C00000"/>
                </a:solidFill>
              </a:rPr>
              <a:t> t);        //</a:t>
            </a:r>
            <a:r>
              <a:rPr lang="zh-CN" altLang="zh-CN" sz="1400" dirty="0">
                <a:solidFill>
                  <a:srgbClr val="C00000"/>
                </a:solidFill>
              </a:rPr>
              <a:t>在第</a:t>
            </a:r>
            <a:r>
              <a:rPr lang="en-US" altLang="zh-CN" sz="1400" dirty="0" err="1">
                <a:solidFill>
                  <a:srgbClr val="C00000"/>
                </a:solidFill>
              </a:rPr>
              <a:t>pos</a:t>
            </a:r>
            <a:r>
              <a:rPr lang="zh-CN" altLang="zh-CN" sz="1400" dirty="0">
                <a:solidFill>
                  <a:srgbClr val="C00000"/>
                </a:solidFill>
              </a:rPr>
              <a:t>个字符前插入串</a:t>
            </a:r>
            <a:r>
              <a:rPr lang="en-US" altLang="zh-CN" sz="1400" dirty="0">
                <a:solidFill>
                  <a:srgbClr val="C00000"/>
                </a:solidFill>
              </a:rPr>
              <a:t>t</a:t>
            </a:r>
            <a:endParaRPr lang="zh-CN" altLang="zh-CN" sz="1400" dirty="0">
              <a:solidFill>
                <a:srgbClr val="C00000"/>
              </a:solidFill>
            </a:endParaRPr>
          </a:p>
          <a:p>
            <a:r>
              <a:rPr lang="en-US" altLang="zh-CN" sz="1400" dirty="0">
                <a:solidFill>
                  <a:srgbClr val="C00000"/>
                </a:solidFill>
              </a:rPr>
              <a:t>      void </a:t>
            </a:r>
            <a:r>
              <a:rPr lang="en-US" altLang="zh-CN" sz="1400" dirty="0" err="1">
                <a:solidFill>
                  <a:srgbClr val="C00000"/>
                </a:solidFill>
              </a:rPr>
              <a:t>StrDelete</a:t>
            </a:r>
            <a:r>
              <a:rPr lang="en-US" altLang="zh-CN" sz="1400" dirty="0">
                <a:solidFill>
                  <a:srgbClr val="C00000"/>
                </a:solidFill>
              </a:rPr>
              <a:t>(</a:t>
            </a:r>
            <a:r>
              <a:rPr lang="en-US" altLang="zh-CN" sz="1400" dirty="0" err="1">
                <a:solidFill>
                  <a:srgbClr val="C00000"/>
                </a:solidFill>
              </a:rPr>
              <a:t>int</a:t>
            </a:r>
            <a:r>
              <a:rPr lang="en-US" altLang="zh-CN" sz="1400" dirty="0">
                <a:solidFill>
                  <a:srgbClr val="C00000"/>
                </a:solidFill>
              </a:rPr>
              <a:t> </a:t>
            </a:r>
            <a:r>
              <a:rPr lang="en-US" altLang="zh-CN" sz="1400" dirty="0" err="1">
                <a:solidFill>
                  <a:srgbClr val="C00000"/>
                </a:solidFill>
              </a:rPr>
              <a:t>pos,int</a:t>
            </a:r>
            <a:r>
              <a:rPr lang="en-US" altLang="zh-CN" sz="1400" dirty="0">
                <a:solidFill>
                  <a:srgbClr val="C00000"/>
                </a:solidFill>
              </a:rPr>
              <a:t> </a:t>
            </a:r>
            <a:r>
              <a:rPr lang="en-US" altLang="zh-CN" sz="1400" dirty="0" err="1">
                <a:solidFill>
                  <a:srgbClr val="C00000"/>
                </a:solidFill>
              </a:rPr>
              <a:t>len</a:t>
            </a:r>
            <a:r>
              <a:rPr lang="en-US" altLang="zh-CN" sz="1400" dirty="0">
                <a:solidFill>
                  <a:srgbClr val="C00000"/>
                </a:solidFill>
              </a:rPr>
              <a:t>)</a:t>
            </a:r>
            <a:r>
              <a:rPr lang="zh-CN" altLang="zh-CN" sz="1400" dirty="0">
                <a:solidFill>
                  <a:srgbClr val="C00000"/>
                </a:solidFill>
              </a:rPr>
              <a:t>；</a:t>
            </a:r>
            <a:r>
              <a:rPr lang="en-US" altLang="zh-CN" sz="1400" dirty="0">
                <a:solidFill>
                  <a:srgbClr val="C00000"/>
                </a:solidFill>
              </a:rPr>
              <a:t>       //</a:t>
            </a:r>
            <a:r>
              <a:rPr lang="zh-CN" altLang="zh-CN" sz="1400" dirty="0">
                <a:solidFill>
                  <a:srgbClr val="C00000"/>
                </a:solidFill>
              </a:rPr>
              <a:t>删除第</a:t>
            </a:r>
            <a:r>
              <a:rPr lang="en-US" altLang="zh-CN" sz="1400" dirty="0" err="1">
                <a:solidFill>
                  <a:srgbClr val="C00000"/>
                </a:solidFill>
              </a:rPr>
              <a:t>pos</a:t>
            </a:r>
            <a:r>
              <a:rPr lang="zh-CN" altLang="zh-CN" sz="1400" dirty="0">
                <a:solidFill>
                  <a:srgbClr val="C00000"/>
                </a:solidFill>
              </a:rPr>
              <a:t>个字符开始长度为</a:t>
            </a:r>
            <a:r>
              <a:rPr lang="en-US" altLang="zh-CN" sz="1400" dirty="0" err="1">
                <a:solidFill>
                  <a:srgbClr val="C00000"/>
                </a:solidFill>
              </a:rPr>
              <a:t>len</a:t>
            </a:r>
            <a:r>
              <a:rPr lang="zh-CN" altLang="zh-CN" sz="1400" dirty="0">
                <a:solidFill>
                  <a:srgbClr val="C00000"/>
                </a:solidFill>
              </a:rPr>
              <a:t>的子串</a:t>
            </a:r>
          </a:p>
          <a:p>
            <a:r>
              <a:rPr lang="en-US" altLang="zh-CN" sz="1400" dirty="0">
                <a:solidFill>
                  <a:srgbClr val="C00000"/>
                </a:solidFill>
              </a:rPr>
              <a:t>      void </a:t>
            </a:r>
            <a:r>
              <a:rPr lang="en-US" altLang="zh-CN" sz="1400" dirty="0" err="1">
                <a:solidFill>
                  <a:srgbClr val="C00000"/>
                </a:solidFill>
              </a:rPr>
              <a:t>StrReplace</a:t>
            </a:r>
            <a:r>
              <a:rPr lang="en-US" altLang="zh-CN" sz="1400" dirty="0">
                <a:solidFill>
                  <a:srgbClr val="C00000"/>
                </a:solidFill>
              </a:rPr>
              <a:t>(</a:t>
            </a:r>
            <a:r>
              <a:rPr lang="en-US" altLang="zh-CN" sz="1400" dirty="0" err="1">
                <a:solidFill>
                  <a:srgbClr val="C00000"/>
                </a:solidFill>
              </a:rPr>
              <a:t>int</a:t>
            </a:r>
            <a:r>
              <a:rPr lang="en-US" altLang="zh-CN" sz="1400" dirty="0">
                <a:solidFill>
                  <a:srgbClr val="C00000"/>
                </a:solidFill>
              </a:rPr>
              <a:t> </a:t>
            </a:r>
            <a:r>
              <a:rPr lang="en-US" altLang="zh-CN" sz="1400" dirty="0" err="1">
                <a:solidFill>
                  <a:srgbClr val="C00000"/>
                </a:solidFill>
              </a:rPr>
              <a:t>pos,int</a:t>
            </a:r>
            <a:r>
              <a:rPr lang="en-US" altLang="zh-CN" sz="1400" dirty="0">
                <a:solidFill>
                  <a:srgbClr val="C00000"/>
                </a:solidFill>
              </a:rPr>
              <a:t> </a:t>
            </a:r>
            <a:r>
              <a:rPr lang="en-US" altLang="zh-CN" sz="1400" dirty="0" err="1">
                <a:solidFill>
                  <a:srgbClr val="C00000"/>
                </a:solidFill>
              </a:rPr>
              <a:t>len,SString</a:t>
            </a:r>
            <a:r>
              <a:rPr lang="en-US" altLang="zh-CN" sz="1400" dirty="0">
                <a:solidFill>
                  <a:srgbClr val="C00000"/>
                </a:solidFill>
              </a:rPr>
              <a:t> t); //</a:t>
            </a:r>
            <a:r>
              <a:rPr lang="zh-CN" altLang="zh-CN" sz="1400" dirty="0">
                <a:solidFill>
                  <a:srgbClr val="C00000"/>
                </a:solidFill>
              </a:rPr>
              <a:t>将第</a:t>
            </a:r>
            <a:r>
              <a:rPr lang="en-US" altLang="zh-CN" sz="1400" dirty="0" err="1">
                <a:solidFill>
                  <a:srgbClr val="C00000"/>
                </a:solidFill>
              </a:rPr>
              <a:t>pos</a:t>
            </a:r>
            <a:r>
              <a:rPr lang="zh-CN" altLang="zh-CN" sz="1400" dirty="0">
                <a:solidFill>
                  <a:srgbClr val="C00000"/>
                </a:solidFill>
              </a:rPr>
              <a:t>字符开始的</a:t>
            </a:r>
            <a:r>
              <a:rPr lang="en-US" altLang="zh-CN" sz="1400" dirty="0" err="1">
                <a:solidFill>
                  <a:srgbClr val="C00000"/>
                </a:solidFill>
              </a:rPr>
              <a:t>len</a:t>
            </a:r>
            <a:r>
              <a:rPr lang="zh-CN" altLang="zh-CN" sz="1400" dirty="0">
                <a:solidFill>
                  <a:srgbClr val="C00000"/>
                </a:solidFill>
              </a:rPr>
              <a:t>个字符子串用串</a:t>
            </a:r>
            <a:r>
              <a:rPr lang="en-US" altLang="zh-CN" sz="1400" dirty="0">
                <a:solidFill>
                  <a:srgbClr val="C00000"/>
                </a:solidFill>
              </a:rPr>
              <a:t>t</a:t>
            </a:r>
            <a:r>
              <a:rPr lang="zh-CN" altLang="zh-CN" sz="1400" dirty="0">
                <a:solidFill>
                  <a:srgbClr val="C00000"/>
                </a:solidFill>
              </a:rPr>
              <a:t>替换</a:t>
            </a:r>
          </a:p>
          <a:p>
            <a:r>
              <a:rPr lang="en-US" altLang="zh-CN" sz="1400" dirty="0"/>
              <a:t>};</a:t>
            </a:r>
            <a:endParaRPr lang="zh-CN" altLang="zh-CN" sz="1400" dirty="0"/>
          </a:p>
          <a:p>
            <a:endParaRPr lang="zh-CN" altLang="en-US" dirty="0"/>
          </a:p>
        </p:txBody>
      </p:sp>
      <p:sp>
        <p:nvSpPr>
          <p:cNvPr id="5" name="文本框 4"/>
          <p:cNvSpPr txBox="1"/>
          <p:nvPr/>
        </p:nvSpPr>
        <p:spPr>
          <a:xfrm>
            <a:off x="611380" y="115457"/>
            <a:ext cx="30245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定长顺序存储表示类定义</a:t>
            </a:r>
          </a:p>
        </p:txBody>
      </p:sp>
    </p:spTree>
    <p:extLst>
      <p:ext uri="{BB962C8B-B14F-4D97-AF65-F5344CB8AC3E}">
        <p14:creationId xmlns:p14="http://schemas.microsoft.com/office/powerpoint/2010/main" val="37003622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additive="base">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1000"/>
                                        <p:tgtEl>
                                          <p:spTgt spid="4">
                                            <p:txEl>
                                              <p:pRg st="3" end="3"/>
                                            </p:txEl>
                                          </p:spTgt>
                                        </p:tgtEl>
                                      </p:cBhvr>
                                    </p:animEffect>
                                    <p:anim calcmode="lin" valueType="num">
                                      <p:cBhvr>
                                        <p:cTn id="2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fade">
                                      <p:cBhvr>
                                        <p:cTn id="32" dur="1000"/>
                                        <p:tgtEl>
                                          <p:spTgt spid="4">
                                            <p:txEl>
                                              <p:pRg st="4" end="4"/>
                                            </p:txEl>
                                          </p:spTgt>
                                        </p:tgtEl>
                                      </p:cBhvr>
                                    </p:animEffect>
                                    <p:anim calcmode="lin" valueType="num">
                                      <p:cBhvr>
                                        <p:cTn id="3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 calcmode="lin" valueType="num">
                                      <p:cBhvr additive="base">
                                        <p:cTn id="3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animEffect transition="in" filter="fade">
                                      <p:cBhvr>
                                        <p:cTn id="45" dur="1000"/>
                                        <p:tgtEl>
                                          <p:spTgt spid="4">
                                            <p:txEl>
                                              <p:pRg st="6" end="6"/>
                                            </p:txEl>
                                          </p:spTgt>
                                        </p:tgtEl>
                                      </p:cBhvr>
                                    </p:animEffect>
                                    <p:anim calcmode="lin" valueType="num">
                                      <p:cBhvr>
                                        <p:cTn id="4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 calcmode="lin" valueType="num">
                                      <p:cBhvr additive="base">
                                        <p:cTn id="52"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4">
                                            <p:txEl>
                                              <p:pRg st="8" end="8"/>
                                            </p:txEl>
                                          </p:spTgt>
                                        </p:tgtEl>
                                        <p:attrNameLst>
                                          <p:attrName>style.visibility</p:attrName>
                                        </p:attrNameLst>
                                      </p:cBhvr>
                                      <p:to>
                                        <p:strVal val="visible"/>
                                      </p:to>
                                    </p:set>
                                    <p:animEffect transition="in" filter="fade">
                                      <p:cBhvr>
                                        <p:cTn id="58" dur="1000"/>
                                        <p:tgtEl>
                                          <p:spTgt spid="4">
                                            <p:txEl>
                                              <p:pRg st="8" end="8"/>
                                            </p:txEl>
                                          </p:spTgt>
                                        </p:tgtEl>
                                      </p:cBhvr>
                                    </p:animEffect>
                                    <p:anim calcmode="lin" valueType="num">
                                      <p:cBhvr>
                                        <p:cTn id="5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4">
                                            <p:txEl>
                                              <p:pRg st="9" end="9"/>
                                            </p:txEl>
                                          </p:spTgt>
                                        </p:tgtEl>
                                        <p:attrNameLst>
                                          <p:attrName>style.visibility</p:attrName>
                                        </p:attrNameLst>
                                      </p:cBhvr>
                                      <p:to>
                                        <p:strVal val="visible"/>
                                      </p:to>
                                    </p:set>
                                    <p:animEffect transition="in" filter="fade">
                                      <p:cBhvr>
                                        <p:cTn id="65" dur="1000"/>
                                        <p:tgtEl>
                                          <p:spTgt spid="4">
                                            <p:txEl>
                                              <p:pRg st="9" end="9"/>
                                            </p:txEl>
                                          </p:spTgt>
                                        </p:tgtEl>
                                      </p:cBhvr>
                                    </p:animEffect>
                                    <p:anim calcmode="lin" valueType="num">
                                      <p:cBhvr>
                                        <p:cTn id="6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4">
                                            <p:txEl>
                                              <p:pRg st="10" end="10"/>
                                            </p:txEl>
                                          </p:spTgt>
                                        </p:tgtEl>
                                        <p:attrNameLst>
                                          <p:attrName>style.visibility</p:attrName>
                                        </p:attrNameLst>
                                      </p:cBhvr>
                                      <p:to>
                                        <p:strVal val="visible"/>
                                      </p:to>
                                    </p:set>
                                    <p:animEffect transition="in" filter="fade">
                                      <p:cBhvr>
                                        <p:cTn id="72" dur="1000"/>
                                        <p:tgtEl>
                                          <p:spTgt spid="4">
                                            <p:txEl>
                                              <p:pRg st="10" end="10"/>
                                            </p:txEl>
                                          </p:spTgt>
                                        </p:tgtEl>
                                      </p:cBhvr>
                                    </p:animEffect>
                                    <p:anim calcmode="lin" valueType="num">
                                      <p:cBhvr>
                                        <p:cTn id="7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4">
                                            <p:txEl>
                                              <p:pRg st="11" end="11"/>
                                            </p:txEl>
                                          </p:spTgt>
                                        </p:tgtEl>
                                        <p:attrNameLst>
                                          <p:attrName>style.visibility</p:attrName>
                                        </p:attrNameLst>
                                      </p:cBhvr>
                                      <p:to>
                                        <p:strVal val="visible"/>
                                      </p:to>
                                    </p:set>
                                    <p:animEffect transition="in" filter="fade">
                                      <p:cBhvr>
                                        <p:cTn id="79" dur="1000"/>
                                        <p:tgtEl>
                                          <p:spTgt spid="4">
                                            <p:txEl>
                                              <p:pRg st="11" end="11"/>
                                            </p:txEl>
                                          </p:spTgt>
                                        </p:tgtEl>
                                      </p:cBhvr>
                                    </p:animEffect>
                                    <p:anim calcmode="lin" valueType="num">
                                      <p:cBhvr>
                                        <p:cTn id="80"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4">
                                            <p:txEl>
                                              <p:pRg st="12" end="12"/>
                                            </p:txEl>
                                          </p:spTgt>
                                        </p:tgtEl>
                                        <p:attrNameLst>
                                          <p:attrName>style.visibility</p:attrName>
                                        </p:attrNameLst>
                                      </p:cBhvr>
                                      <p:to>
                                        <p:strVal val="visible"/>
                                      </p:to>
                                    </p:set>
                                    <p:animEffect transition="in" filter="fade">
                                      <p:cBhvr>
                                        <p:cTn id="86" dur="1000"/>
                                        <p:tgtEl>
                                          <p:spTgt spid="4">
                                            <p:txEl>
                                              <p:pRg st="12" end="12"/>
                                            </p:txEl>
                                          </p:spTgt>
                                        </p:tgtEl>
                                      </p:cBhvr>
                                    </p:animEffect>
                                    <p:anim calcmode="lin" valueType="num">
                                      <p:cBhvr>
                                        <p:cTn id="87"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4">
                                            <p:txEl>
                                              <p:pRg st="13" end="13"/>
                                            </p:txEl>
                                          </p:spTgt>
                                        </p:tgtEl>
                                        <p:attrNameLst>
                                          <p:attrName>style.visibility</p:attrName>
                                        </p:attrNameLst>
                                      </p:cBhvr>
                                      <p:to>
                                        <p:strVal val="visible"/>
                                      </p:to>
                                    </p:set>
                                    <p:animEffect transition="in" filter="fade">
                                      <p:cBhvr>
                                        <p:cTn id="91" dur="1000"/>
                                        <p:tgtEl>
                                          <p:spTgt spid="4">
                                            <p:txEl>
                                              <p:pRg st="13" end="13"/>
                                            </p:txEl>
                                          </p:spTgt>
                                        </p:tgtEl>
                                      </p:cBhvr>
                                    </p:animEffect>
                                    <p:anim calcmode="lin" valueType="num">
                                      <p:cBhvr>
                                        <p:cTn id="92"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14" end="14"/>
                                            </p:txEl>
                                          </p:spTgt>
                                        </p:tgtEl>
                                        <p:attrNameLst>
                                          <p:attrName>style.visibility</p:attrName>
                                        </p:attrNameLst>
                                      </p:cBhvr>
                                      <p:to>
                                        <p:strVal val="visible"/>
                                      </p:to>
                                    </p:set>
                                    <p:animEffect transition="in" filter="fade">
                                      <p:cBhvr>
                                        <p:cTn id="98" dur="1000"/>
                                        <p:tgtEl>
                                          <p:spTgt spid="4">
                                            <p:txEl>
                                              <p:pRg st="14" end="14"/>
                                            </p:txEl>
                                          </p:spTgt>
                                        </p:tgtEl>
                                      </p:cBhvr>
                                    </p:animEffect>
                                    <p:anim calcmode="lin" valueType="num">
                                      <p:cBhvr>
                                        <p:cTn id="99"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15" end="15"/>
                                            </p:txEl>
                                          </p:spTgt>
                                        </p:tgtEl>
                                        <p:attrNameLst>
                                          <p:attrName>style.visibility</p:attrName>
                                        </p:attrNameLst>
                                      </p:cBhvr>
                                      <p:to>
                                        <p:strVal val="visible"/>
                                      </p:to>
                                    </p:set>
                                    <p:animEffect transition="in" filter="fade">
                                      <p:cBhvr>
                                        <p:cTn id="105" dur="1000"/>
                                        <p:tgtEl>
                                          <p:spTgt spid="4">
                                            <p:txEl>
                                              <p:pRg st="15" end="15"/>
                                            </p:txEl>
                                          </p:spTgt>
                                        </p:tgtEl>
                                      </p:cBhvr>
                                    </p:animEffect>
                                    <p:anim calcmode="lin" valueType="num">
                                      <p:cBhvr>
                                        <p:cTn id="106"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16" end="16"/>
                                            </p:txEl>
                                          </p:spTgt>
                                        </p:tgtEl>
                                        <p:attrNameLst>
                                          <p:attrName>style.visibility</p:attrName>
                                        </p:attrNameLst>
                                      </p:cBhvr>
                                      <p:to>
                                        <p:strVal val="visible"/>
                                      </p:to>
                                    </p:set>
                                    <p:animEffect transition="in" filter="fade">
                                      <p:cBhvr>
                                        <p:cTn id="110" dur="1000"/>
                                        <p:tgtEl>
                                          <p:spTgt spid="4">
                                            <p:txEl>
                                              <p:pRg st="16" end="16"/>
                                            </p:txEl>
                                          </p:spTgt>
                                        </p:tgtEl>
                                      </p:cBhvr>
                                    </p:animEffect>
                                    <p:anim calcmode="lin" valueType="num">
                                      <p:cBhvr>
                                        <p:cTn id="111"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705843" y="1131590"/>
            <a:ext cx="7137400" cy="3507876"/>
          </a:xfrm>
        </p:spPr>
        <p:txBody>
          <a:bodyPr/>
          <a:lstStyle/>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String::</a:t>
            </a:r>
            <a:r>
              <a:rPr lang="en-US" altLang="zh-CN" sz="1800" dirty="0" err="1">
                <a:solidFill>
                  <a:srgbClr val="002060"/>
                </a:solidFill>
                <a:latin typeface="Times New Roman" panose="02020603050405020304" pitchFamily="18" charset="0"/>
                <a:cs typeface="Times New Roman" panose="02020603050405020304" pitchFamily="18" charset="0"/>
              </a:rPr>
              <a:t>StrAssign</a:t>
            </a:r>
            <a:r>
              <a:rPr lang="en-US" altLang="zh-CN" sz="1800" dirty="0">
                <a:solidFill>
                  <a:srgbClr val="002060"/>
                </a:solidFill>
                <a:latin typeface="Times New Roman" panose="02020603050405020304" pitchFamily="18" charset="0"/>
                <a:cs typeface="Times New Roman" panose="02020603050405020304" pitchFamily="18" charset="0"/>
              </a:rPr>
              <a:t>(char *</a:t>
            </a:r>
            <a:r>
              <a:rPr lang="en-US" altLang="zh-CN" sz="1800" dirty="0" err="1">
                <a:solidFill>
                  <a:srgbClr val="002060"/>
                </a:solidFill>
                <a:latin typeface="Times New Roman" panose="02020603050405020304" pitchFamily="18" charset="0"/>
                <a:cs typeface="Times New Roman" panose="02020603050405020304" pitchFamily="18" charset="0"/>
              </a:rPr>
              <a:t>str</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=0;str[</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]!=’\0’;i++)</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s[i+1]=</a:t>
            </a:r>
            <a:r>
              <a:rPr lang="en-US" altLang="zh-CN" sz="1800" dirty="0" err="1">
                <a:solidFill>
                  <a:srgbClr val="002060"/>
                </a:solidFill>
                <a:latin typeface="Times New Roman" panose="02020603050405020304" pitchFamily="18" charset="0"/>
                <a:cs typeface="Times New Roman" panose="02020603050405020304" pitchFamily="18" charset="0"/>
              </a:rPr>
              <a:t>str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s[0]=</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4" name="文本框 3"/>
          <p:cNvSpPr txBox="1"/>
          <p:nvPr/>
        </p:nvSpPr>
        <p:spPr>
          <a:xfrm>
            <a:off x="611560" y="123478"/>
            <a:ext cx="1008292" cy="400110"/>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000" dirty="0"/>
              <a:t>串赋值</a:t>
            </a:r>
          </a:p>
        </p:txBody>
      </p:sp>
    </p:spTree>
    <p:extLst>
      <p:ext uri="{BB962C8B-B14F-4D97-AF65-F5344CB8AC3E}">
        <p14:creationId xmlns:p14="http://schemas.microsoft.com/office/powerpoint/2010/main" val="5833173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6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将串</a:t>
            </a:r>
            <a:r>
              <a:rPr lang="en-US" altLang="zh-CN" sz="1600" dirty="0">
                <a:solidFill>
                  <a:srgbClr val="C00000"/>
                </a:solidFill>
                <a:latin typeface="Times New Roman" panose="02020603050405020304" pitchFamily="18" charset="0"/>
                <a:cs typeface="Times New Roman" panose="02020603050405020304" pitchFamily="18" charset="0"/>
              </a:rPr>
              <a:t>t</a:t>
            </a:r>
            <a:r>
              <a:rPr lang="zh-CN" altLang="zh-CN" sz="1600" dirty="0">
                <a:solidFill>
                  <a:srgbClr val="C00000"/>
                </a:solidFill>
                <a:latin typeface="Times New Roman" panose="02020603050405020304" pitchFamily="18" charset="0"/>
                <a:cs typeface="Times New Roman" panose="02020603050405020304" pitchFamily="18" charset="0"/>
              </a:rPr>
              <a:t>拷贝给私有成员</a:t>
            </a:r>
            <a:r>
              <a:rPr lang="en-US" altLang="zh-CN" sz="1600" dirty="0">
                <a:solidFill>
                  <a:srgbClr val="C00000"/>
                </a:solidFill>
                <a:latin typeface="Times New Roman" panose="02020603050405020304" pitchFamily="18" charset="0"/>
                <a:cs typeface="Times New Roman" panose="02020603050405020304" pitchFamily="18" charset="0"/>
              </a:rPr>
              <a:t>s</a:t>
            </a:r>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void String::</a:t>
            </a:r>
            <a:r>
              <a:rPr lang="en-US" altLang="zh-CN" sz="1800" dirty="0" err="1">
                <a:latin typeface="Times New Roman" panose="02020603050405020304" pitchFamily="18" charset="0"/>
                <a:cs typeface="Times New Roman" panose="02020603050405020304" pitchFamily="18" charset="0"/>
              </a:rPr>
              <a:t>StrCopy</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SString</a:t>
            </a:r>
            <a:r>
              <a:rPr lang="en-US" altLang="zh-CN" sz="1800" dirty="0">
                <a:latin typeface="Times New Roman" panose="02020603050405020304" pitchFamily="18" charset="0"/>
                <a:cs typeface="Times New Roman" panose="02020603050405020304" pitchFamily="18" charset="0"/>
              </a:rPr>
              <a:t> t){</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s[0]=t[0];</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for(</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=1;i&lt;=t[0];</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s[</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endParaRPr lang="zh-CN" altLang="en-US" dirty="0"/>
          </a:p>
        </p:txBody>
      </p:sp>
      <p:sp>
        <p:nvSpPr>
          <p:cNvPr id="4" name="文本框 3"/>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串拷贝</a:t>
            </a:r>
          </a:p>
        </p:txBody>
      </p:sp>
    </p:spTree>
    <p:extLst>
      <p:ext uri="{BB962C8B-B14F-4D97-AF65-F5344CB8AC3E}">
        <p14:creationId xmlns:p14="http://schemas.microsoft.com/office/powerpoint/2010/main" val="8470951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12968" cy="3507876"/>
              </a:xfrm>
            </p:spPr>
            <p:txBody>
              <a:bodyPr/>
              <a:lstStyle/>
              <a:p>
                <a:pPr marL="0" indent="0">
                  <a:lnSpc>
                    <a:spcPts val="22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判断两个串</a:t>
                </a:r>
                <a:r>
                  <a:rPr lang="en-US" altLang="zh-CN" sz="1600" dirty="0">
                    <a:solidFill>
                      <a:srgbClr val="C00000"/>
                    </a:solidFill>
                    <a:latin typeface="Times New Roman" panose="02020603050405020304" pitchFamily="18" charset="0"/>
                    <a:cs typeface="Times New Roman" panose="02020603050405020304" pitchFamily="18" charset="0"/>
                  </a:rPr>
                  <a:t>s</a:t>
                </a:r>
                <a:r>
                  <a:rPr lang="zh-CN" altLang="zh-CN" sz="1600" dirty="0">
                    <a:solidFill>
                      <a:srgbClr val="C00000"/>
                    </a:solidFill>
                    <a:latin typeface="Times New Roman" panose="02020603050405020304" pitchFamily="18" charset="0"/>
                    <a:cs typeface="Times New Roman" panose="02020603050405020304" pitchFamily="18" charset="0"/>
                  </a:rPr>
                  <a:t>和</a:t>
                </a:r>
                <a:r>
                  <a:rPr lang="en-US" altLang="zh-CN" sz="1600" dirty="0">
                    <a:solidFill>
                      <a:srgbClr val="C00000"/>
                    </a:solidFill>
                    <a:latin typeface="Times New Roman" panose="02020603050405020304" pitchFamily="18" charset="0"/>
                    <a:cs typeface="Times New Roman" panose="02020603050405020304" pitchFamily="18" charset="0"/>
                  </a:rPr>
                  <a:t>t</a:t>
                </a:r>
                <a:r>
                  <a:rPr lang="zh-CN" altLang="zh-CN" sz="1600" dirty="0">
                    <a:solidFill>
                      <a:srgbClr val="C00000"/>
                    </a:solidFill>
                    <a:latin typeface="Times New Roman" panose="02020603050405020304" pitchFamily="18" charset="0"/>
                    <a:cs typeface="Times New Roman" panose="02020603050405020304" pitchFamily="18" charset="0"/>
                  </a:rPr>
                  <a:t>是否相等，若</a:t>
                </a:r>
                <a:r>
                  <a:rPr lang="en-US" altLang="zh-CN" sz="1600" dirty="0">
                    <a:solidFill>
                      <a:srgbClr val="C00000"/>
                    </a:solidFill>
                    <a:latin typeface="Times New Roman" panose="02020603050405020304" pitchFamily="18" charset="0"/>
                    <a:cs typeface="Times New Roman" panose="02020603050405020304" pitchFamily="18" charset="0"/>
                  </a:rPr>
                  <a:t>s==t</a:t>
                </a:r>
                <a:r>
                  <a:rPr lang="zh-CN" altLang="zh-CN" sz="1600" dirty="0">
                    <a:solidFill>
                      <a:srgbClr val="C00000"/>
                    </a:solidFill>
                    <a:latin typeface="Times New Roman" panose="02020603050405020304" pitchFamily="18" charset="0"/>
                    <a:cs typeface="Times New Roman" panose="02020603050405020304" pitchFamily="18" charset="0"/>
                  </a:rPr>
                  <a:t>，则返回</a:t>
                </a:r>
                <a:r>
                  <a:rPr lang="en-US" altLang="zh-CN" sz="1600" dirty="0">
                    <a:solidFill>
                      <a:srgbClr val="C00000"/>
                    </a:solidFill>
                    <a:latin typeface="Times New Roman" panose="02020603050405020304" pitchFamily="18" charset="0"/>
                    <a:cs typeface="Times New Roman" panose="02020603050405020304" pitchFamily="18" charset="0"/>
                  </a:rPr>
                  <a:t>0</a:t>
                </a:r>
                <a:r>
                  <a:rPr lang="zh-CN" altLang="zh-CN" sz="1600" dirty="0">
                    <a:solidFill>
                      <a:srgbClr val="C00000"/>
                    </a:solidFill>
                    <a:latin typeface="Times New Roman" panose="02020603050405020304" pitchFamily="18" charset="0"/>
                    <a:cs typeface="Times New Roman" panose="02020603050405020304" pitchFamily="18" charset="0"/>
                  </a:rPr>
                  <a:t>；若</a:t>
                </a:r>
                <a:r>
                  <a:rPr lang="en-US" altLang="zh-CN" sz="1600" dirty="0">
                    <a:solidFill>
                      <a:srgbClr val="C00000"/>
                    </a:solidFill>
                    <a:latin typeface="Times New Roman" panose="02020603050405020304" pitchFamily="18" charset="0"/>
                    <a:cs typeface="Times New Roman" panose="02020603050405020304" pitchFamily="18" charset="0"/>
                  </a:rPr>
                  <a:t>s&gt;t</a:t>
                </a:r>
                <a:r>
                  <a:rPr lang="zh-CN" altLang="zh-CN" sz="1600" dirty="0">
                    <a:solidFill>
                      <a:srgbClr val="C00000"/>
                    </a:solidFill>
                    <a:latin typeface="Times New Roman" panose="02020603050405020304" pitchFamily="18" charset="0"/>
                    <a:cs typeface="Times New Roman" panose="02020603050405020304" pitchFamily="18" charset="0"/>
                  </a:rPr>
                  <a:t>，则返回值</a:t>
                </a:r>
                <a:r>
                  <a:rPr lang="en-US" altLang="zh-CN" sz="1600" dirty="0">
                    <a:solidFill>
                      <a:srgbClr val="C00000"/>
                    </a:solidFill>
                    <a:latin typeface="Times New Roman" panose="02020603050405020304" pitchFamily="18" charset="0"/>
                    <a:cs typeface="Times New Roman" panose="02020603050405020304" pitchFamily="18" charset="0"/>
                  </a:rPr>
                  <a:t>1</a:t>
                </a:r>
                <a:r>
                  <a:rPr lang="zh-CN" altLang="zh-CN" sz="1600" dirty="0">
                    <a:solidFill>
                      <a:srgbClr val="C00000"/>
                    </a:solidFill>
                    <a:latin typeface="Times New Roman" panose="02020603050405020304" pitchFamily="18" charset="0"/>
                    <a:cs typeface="Times New Roman" panose="02020603050405020304" pitchFamily="18" charset="0"/>
                  </a:rPr>
                  <a:t>；否则返回值</a:t>
                </a:r>
                <a:r>
                  <a:rPr lang="en-US" altLang="zh-CN" sz="1600" dirty="0">
                    <a:solidFill>
                      <a:srgbClr val="C00000"/>
                    </a:solidFill>
                    <a:latin typeface="Times New Roman" panose="02020603050405020304" pitchFamily="18" charset="0"/>
                    <a:cs typeface="Times New Roman" panose="02020603050405020304" pitchFamily="18" charset="0"/>
                  </a:rPr>
                  <a:t>-1</a:t>
                </a:r>
                <a:r>
                  <a:rPr lang="zh-CN" altLang="en-US" sz="1600" dirty="0">
                    <a:solidFill>
                      <a:srgbClr val="C00000"/>
                    </a:solidFill>
                    <a:latin typeface="Times New Roman" panose="02020603050405020304" pitchFamily="18" charset="0"/>
                    <a:cs typeface="Times New Roman" panose="02020603050405020304" pitchFamily="18" charset="0"/>
                  </a:rPr>
                  <a:t>。</a:t>
                </a:r>
                <a:endParaRPr lang="en-US" altLang="zh-CN" sz="1600" dirty="0">
                  <a:solidFill>
                    <a:srgbClr val="C0000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串比较的过程是从</a:t>
                </a:r>
                <a:r>
                  <a:rPr lang="en-US" altLang="zh-CN" sz="1600" dirty="0">
                    <a:latin typeface="Times New Roman" panose="02020603050405020304" pitchFamily="18" charset="0"/>
                    <a:cs typeface="Times New Roman" panose="02020603050405020304" pitchFamily="18" charset="0"/>
                  </a:rPr>
                  <a:t>s</a:t>
                </a:r>
                <a:r>
                  <a:rPr lang="zh-CN" altLang="zh-CN" sz="1600" dirty="0">
                    <a:latin typeface="Times New Roman" panose="02020603050405020304" pitchFamily="18" charset="0"/>
                    <a:cs typeface="Times New Roman" panose="02020603050405020304" pitchFamily="18" charset="0"/>
                  </a:rPr>
                  <a:t>的第</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zh-CN"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1)</m:t>
                    </m:r>
                  </m:oMath>
                </a14:m>
                <a:r>
                  <a:rPr lang="zh-CN" altLang="zh-CN" sz="1600" dirty="0">
                    <a:latin typeface="Times New Roman" panose="02020603050405020304" pitchFamily="18" charset="0"/>
                    <a:cs typeface="Times New Roman" panose="02020603050405020304" pitchFamily="18" charset="0"/>
                  </a:rPr>
                  <a:t>个字符开始依次与</a:t>
                </a:r>
                <a:r>
                  <a:rPr lang="en-US" altLang="zh-CN" sz="1600" dirty="0">
                    <a:latin typeface="Times New Roman" panose="02020603050405020304" pitchFamily="18" charset="0"/>
                    <a:cs typeface="Times New Roman" panose="02020603050405020304" pitchFamily="18" charset="0"/>
                  </a:rPr>
                  <a:t>t</a:t>
                </a:r>
                <a:r>
                  <a:rPr lang="zh-CN" altLang="zh-CN" sz="1600" dirty="0">
                    <a:latin typeface="Times New Roman" panose="02020603050405020304" pitchFamily="18" charset="0"/>
                    <a:cs typeface="Times New Roman" panose="02020603050405020304" pitchFamily="18" charset="0"/>
                  </a:rPr>
                  <a:t>的第</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zh-CN"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1)</m:t>
                    </m:r>
                  </m:oMath>
                </a14:m>
                <a:r>
                  <a:rPr lang="zh-CN" altLang="zh-CN" sz="1600" dirty="0">
                    <a:latin typeface="Times New Roman" panose="02020603050405020304" pitchFamily="18" charset="0"/>
                    <a:cs typeface="Times New Roman" panose="02020603050405020304" pitchFamily="18" charset="0"/>
                  </a:rPr>
                  <a:t>个字符进行比较，若</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]&gt;</m:t>
                    </m:r>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，则返回值</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]&lt;</m:t>
                    </m:r>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，则返回</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，则继续比较下一个字符，直到某一字符串的结束标记（如“终止符”）为止，若均相等，则返回</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a:t>
                </a:r>
              </a:p>
              <a:p>
                <a:pPr marL="0" indent="0" algn="just">
                  <a:lnSpc>
                    <a:spcPts val="24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int</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String::</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StrCompare</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SString</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t){                //s</a:t>
                </a:r>
                <a:r>
                  <a:rPr lang="zh-CN"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为类私有成员</a:t>
                </a:r>
              </a:p>
              <a:p>
                <a:pPr marL="0" indent="0" algn="just">
                  <a:lnSpc>
                    <a:spcPts val="2400"/>
                  </a:lnSpc>
                  <a:spcBef>
                    <a:spcPts val="0"/>
                  </a:spcBef>
                  <a:buNone/>
                </a:pP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for(</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int</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=1;i&lt;=s[0]||</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&lt;=t[0];</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gn="just">
                  <a:lnSpc>
                    <a:spcPts val="2400"/>
                  </a:lnSpc>
                  <a:spcBef>
                    <a:spcPts val="0"/>
                  </a:spcBef>
                  <a:buNone/>
                </a:pP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if(s[</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]&gt;t[</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return 1;</a:t>
                </a:r>
                <a:endParaRPr lang="zh-CN"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gn="just">
                  <a:lnSpc>
                    <a:spcPts val="2400"/>
                  </a:lnSpc>
                  <a:spcBef>
                    <a:spcPts val="0"/>
                  </a:spcBef>
                  <a:buNone/>
                </a:pP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else if(s[</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]&lt;t[</a:t>
                </a:r>
                <a:r>
                  <a:rPr lang="en-US" altLang="zh-CN" sz="18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return -1;</a:t>
                </a:r>
                <a:endParaRPr lang="zh-CN"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gn="just">
                  <a:lnSpc>
                    <a:spcPts val="2400"/>
                  </a:lnSpc>
                  <a:spcBef>
                    <a:spcPts val="0"/>
                  </a:spcBef>
                  <a:buNone/>
                </a:pP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return 0;</a:t>
                </a:r>
              </a:p>
              <a:p>
                <a:pPr marL="0" indent="0" algn="just">
                  <a:lnSpc>
                    <a:spcPts val="2400"/>
                  </a:lnSpc>
                  <a:spcBef>
                    <a:spcPts val="0"/>
                  </a:spcBef>
                  <a:buNone/>
                </a:pPr>
                <a:r>
                  <a:rPr lang="en-US"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a:t>
                </a:r>
                <a:endParaRPr lang="zh-CN" altLang="zh-CN" sz="18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12968" cy="3507876"/>
              </a:xfrm>
              <a:blipFill>
                <a:blip r:embed="rId2"/>
                <a:stretch>
                  <a:fillRect l="-629" t="-870"/>
                </a:stretch>
              </a:blipFill>
            </p:spPr>
            <p:txBody>
              <a:bodyPr/>
              <a:lstStyle/>
              <a:p>
                <a:r>
                  <a:rPr lang="zh-CN" altLang="en-US">
                    <a:noFill/>
                  </a:rPr>
                  <a:t> </a:t>
                </a:r>
              </a:p>
            </p:txBody>
          </p:sp>
        </mc:Fallback>
      </mc:AlternateContent>
      <p:sp>
        <p:nvSpPr>
          <p:cNvPr id="4" name="文本框 3"/>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串比较</a:t>
            </a:r>
          </a:p>
        </p:txBody>
      </p:sp>
    </p:spTree>
    <p:extLst>
      <p:ext uri="{BB962C8B-B14F-4D97-AF65-F5344CB8AC3E}">
        <p14:creationId xmlns:p14="http://schemas.microsoft.com/office/powerpoint/2010/main" val="29002558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15566"/>
            <a:ext cx="8856984" cy="2304256"/>
          </a:xfrm>
        </p:spPr>
        <p:txBody>
          <a:bodyPr/>
          <a:lstStyle/>
          <a:p>
            <a:pPr marL="0" indent="0">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串连接的过程是用私有成员</a:t>
            </a:r>
            <a:r>
              <a:rPr lang="en-US" altLang="zh-CN" sz="1600" dirty="0">
                <a:latin typeface="Times New Roman" panose="02020603050405020304" pitchFamily="18" charset="0"/>
                <a:cs typeface="Times New Roman" panose="02020603050405020304" pitchFamily="18" charset="0"/>
              </a:rPr>
              <a:t>s</a:t>
            </a:r>
            <a:r>
              <a:rPr lang="zh-CN" altLang="zh-CN" sz="1600" dirty="0">
                <a:latin typeface="Times New Roman" panose="02020603050405020304" pitchFamily="18" charset="0"/>
                <a:cs typeface="Times New Roman" panose="02020603050405020304" pitchFamily="18" charset="0"/>
              </a:rPr>
              <a:t>返回</a:t>
            </a:r>
            <a:r>
              <a:rPr lang="en-US" altLang="zh-CN" sz="1600" dirty="0">
                <a:latin typeface="Times New Roman" panose="02020603050405020304" pitchFamily="18" charset="0"/>
                <a:cs typeface="Times New Roman" panose="02020603050405020304" pitchFamily="18" charset="0"/>
              </a:rPr>
              <a:t>s1</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s2</a:t>
            </a:r>
            <a:r>
              <a:rPr lang="zh-CN" altLang="zh-CN" sz="1600" dirty="0">
                <a:latin typeface="Times New Roman" panose="02020603050405020304" pitchFamily="18" charset="0"/>
                <a:cs typeface="Times New Roman" panose="02020603050405020304" pitchFamily="18" charset="0"/>
              </a:rPr>
              <a:t>连接成的新串</a:t>
            </a:r>
            <a:r>
              <a:rPr lang="zh-CN" altLang="en-US" sz="1600" dirty="0">
                <a:latin typeface="Times New Roman" panose="02020603050405020304" pitchFamily="18" charset="0"/>
                <a:cs typeface="Times New Roman" panose="02020603050405020304" pitchFamily="18" charset="0"/>
              </a:rPr>
              <a:t>（假设</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的空间至少够存放</a:t>
            </a:r>
            <a:r>
              <a:rPr lang="en-US" altLang="zh-CN" sz="1600" dirty="0">
                <a:latin typeface="Times New Roman" panose="02020603050405020304" pitchFamily="18" charset="0"/>
                <a:cs typeface="Times New Roman" panose="02020603050405020304" pitchFamily="18" charset="0"/>
              </a:rPr>
              <a:t>s1</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。根据串</a:t>
            </a:r>
            <a:r>
              <a:rPr lang="en-US" altLang="zh-CN" sz="1600" dirty="0">
                <a:latin typeface="Times New Roman" panose="02020603050405020304" pitchFamily="18" charset="0"/>
                <a:cs typeface="Times New Roman" panose="02020603050405020304" pitchFamily="18" charset="0"/>
              </a:rPr>
              <a:t>s1</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s2</a:t>
            </a:r>
            <a:r>
              <a:rPr lang="zh-CN" altLang="zh-CN" sz="1600" dirty="0">
                <a:latin typeface="Times New Roman" panose="02020603050405020304" pitchFamily="18" charset="0"/>
                <a:cs typeface="Times New Roman" panose="02020603050405020304" pitchFamily="18" charset="0"/>
              </a:rPr>
              <a:t>长度的不同情况，串</a:t>
            </a:r>
            <a:r>
              <a:rPr lang="en-US" altLang="zh-CN" sz="1600" dirty="0">
                <a:latin typeface="Times New Roman" panose="02020603050405020304" pitchFamily="18" charset="0"/>
                <a:cs typeface="Times New Roman" panose="02020603050405020304" pitchFamily="18" charset="0"/>
              </a:rPr>
              <a:t>s</a:t>
            </a:r>
            <a:r>
              <a:rPr lang="zh-CN" altLang="zh-CN" sz="1600" dirty="0">
                <a:latin typeface="Times New Roman" panose="02020603050405020304" pitchFamily="18" charset="0"/>
                <a:cs typeface="Times New Roman" panose="02020603050405020304" pitchFamily="18" charset="0"/>
              </a:rPr>
              <a:t>的值可以分为三种情况：</a:t>
            </a:r>
          </a:p>
          <a:p>
            <a:pPr marL="0" indent="0">
              <a:lnSpc>
                <a:spcPts val="25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solidFill>
                  <a:srgbClr val="C00000"/>
                </a:solidFill>
                <a:latin typeface="Times New Roman" panose="02020603050405020304" pitchFamily="18" charset="0"/>
                <a:cs typeface="Times New Roman" panose="02020603050405020304" pitchFamily="18" charset="0"/>
              </a:rPr>
              <a:t>（</a:t>
            </a:r>
            <a:r>
              <a:rPr lang="en-US" altLang="zh-CN" sz="1600" dirty="0">
                <a:solidFill>
                  <a:srgbClr val="C00000"/>
                </a:solidFill>
                <a:latin typeface="Times New Roman" panose="02020603050405020304" pitchFamily="18" charset="0"/>
                <a:cs typeface="Times New Roman" panose="02020603050405020304" pitchFamily="18" charset="0"/>
              </a:rPr>
              <a:t>1</a:t>
            </a:r>
            <a:r>
              <a:rPr lang="zh-CN" altLang="zh-CN" sz="1600" dirty="0">
                <a:solidFill>
                  <a:srgbClr val="C00000"/>
                </a:solidFill>
                <a:latin typeface="Times New Roman" panose="02020603050405020304" pitchFamily="18" charset="0"/>
                <a:cs typeface="Times New Roman" panose="02020603050405020304" pitchFamily="18" charset="0"/>
              </a:rPr>
              <a:t>）若</a:t>
            </a:r>
            <a:r>
              <a:rPr lang="en-US" altLang="zh-CN" sz="1600" dirty="0">
                <a:solidFill>
                  <a:srgbClr val="C00000"/>
                </a:solidFill>
                <a:latin typeface="Times New Roman" panose="02020603050405020304" pitchFamily="18" charset="0"/>
                <a:cs typeface="Times New Roman" panose="02020603050405020304" pitchFamily="18" charset="0"/>
              </a:rPr>
              <a:t>s1[0]+s2[0]&lt;=</a:t>
            </a:r>
            <a:r>
              <a:rPr lang="en-US" altLang="zh-CN" sz="1600" dirty="0" err="1">
                <a:solidFill>
                  <a:srgbClr val="C00000"/>
                </a:solidFill>
                <a:latin typeface="Times New Roman" panose="02020603050405020304" pitchFamily="18" charset="0"/>
                <a:cs typeface="Times New Roman" panose="02020603050405020304" pitchFamily="18" charset="0"/>
              </a:rPr>
              <a:t>MaxStrLen</a:t>
            </a:r>
            <a:r>
              <a:rPr lang="zh-CN" altLang="zh-CN" sz="1600" dirty="0">
                <a:solidFill>
                  <a:srgbClr val="C00000"/>
                </a:solidFill>
                <a:latin typeface="Times New Roman" panose="02020603050405020304" pitchFamily="18" charset="0"/>
                <a:cs typeface="Times New Roman" panose="02020603050405020304" pitchFamily="18" charset="0"/>
              </a:rPr>
              <a:t>，则</a:t>
            </a:r>
            <a:r>
              <a:rPr lang="en-US" altLang="zh-CN" sz="1600" dirty="0">
                <a:solidFill>
                  <a:srgbClr val="C00000"/>
                </a:solidFill>
                <a:latin typeface="Times New Roman" panose="02020603050405020304" pitchFamily="18" charset="0"/>
                <a:cs typeface="Times New Roman" panose="02020603050405020304" pitchFamily="18" charset="0"/>
              </a:rPr>
              <a:t>s</a:t>
            </a:r>
            <a:r>
              <a:rPr lang="zh-CN" altLang="zh-CN" sz="1600" dirty="0">
                <a:solidFill>
                  <a:srgbClr val="C00000"/>
                </a:solidFill>
                <a:latin typeface="Times New Roman" panose="02020603050405020304" pitchFamily="18" charset="0"/>
                <a:cs typeface="Times New Roman" panose="02020603050405020304" pitchFamily="18" charset="0"/>
              </a:rPr>
              <a:t>为</a:t>
            </a:r>
            <a:r>
              <a:rPr lang="en-US" altLang="zh-CN" sz="1600" dirty="0">
                <a:solidFill>
                  <a:srgbClr val="C00000"/>
                </a:solidFill>
                <a:latin typeface="Times New Roman" panose="02020603050405020304" pitchFamily="18" charset="0"/>
                <a:cs typeface="Times New Roman" panose="02020603050405020304" pitchFamily="18" charset="0"/>
              </a:rPr>
              <a:t>s1</a:t>
            </a:r>
            <a:r>
              <a:rPr lang="zh-CN" altLang="zh-CN" sz="1600" dirty="0">
                <a:solidFill>
                  <a:srgbClr val="C00000"/>
                </a:solidFill>
                <a:latin typeface="Times New Roman" panose="02020603050405020304" pitchFamily="18" charset="0"/>
                <a:cs typeface="Times New Roman" panose="02020603050405020304" pitchFamily="18" charset="0"/>
              </a:rPr>
              <a:t>和</a:t>
            </a:r>
            <a:r>
              <a:rPr lang="en-US" altLang="zh-CN" sz="1600" dirty="0">
                <a:solidFill>
                  <a:srgbClr val="C00000"/>
                </a:solidFill>
                <a:latin typeface="Times New Roman" panose="02020603050405020304" pitchFamily="18" charset="0"/>
                <a:cs typeface="Times New Roman" panose="02020603050405020304" pitchFamily="18" charset="0"/>
              </a:rPr>
              <a:t>s2</a:t>
            </a:r>
            <a:r>
              <a:rPr lang="zh-CN" altLang="zh-CN" sz="1600" dirty="0">
                <a:solidFill>
                  <a:srgbClr val="C00000"/>
                </a:solidFill>
                <a:latin typeface="Times New Roman" panose="02020603050405020304" pitchFamily="18" charset="0"/>
                <a:cs typeface="Times New Roman" panose="02020603050405020304" pitchFamily="18" charset="0"/>
              </a:rPr>
              <a:t>连接的正常结果；</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2</a:t>
            </a:r>
            <a:r>
              <a:rPr lang="zh-CN" altLang="zh-CN" sz="1600" dirty="0">
                <a:solidFill>
                  <a:srgbClr val="002060"/>
                </a:solidFill>
                <a:latin typeface="Times New Roman" panose="02020603050405020304" pitchFamily="18" charset="0"/>
                <a:cs typeface="Times New Roman" panose="02020603050405020304" pitchFamily="18" charset="0"/>
              </a:rPr>
              <a:t>）若</a:t>
            </a:r>
            <a:r>
              <a:rPr lang="en-US" altLang="zh-CN" sz="1600" dirty="0">
                <a:solidFill>
                  <a:srgbClr val="002060"/>
                </a:solidFill>
                <a:latin typeface="Times New Roman" panose="02020603050405020304" pitchFamily="18" charset="0"/>
                <a:cs typeface="Times New Roman" panose="02020603050405020304" pitchFamily="18" charset="0"/>
              </a:rPr>
              <a:t>s1[0]&lt;</a:t>
            </a:r>
            <a:r>
              <a:rPr lang="en-US" altLang="zh-CN" sz="1600" dirty="0" err="1">
                <a:solidFill>
                  <a:srgbClr val="002060"/>
                </a:solidFill>
                <a:latin typeface="Times New Roman" panose="02020603050405020304" pitchFamily="18" charset="0"/>
                <a:cs typeface="Times New Roman" panose="02020603050405020304" pitchFamily="18" charset="0"/>
              </a:rPr>
              <a:t>MaxStrLen</a:t>
            </a:r>
            <a:r>
              <a:rPr lang="zh-CN" altLang="zh-CN" sz="1600" dirty="0">
                <a:solidFill>
                  <a:srgbClr val="002060"/>
                </a:solidFill>
                <a:latin typeface="Times New Roman" panose="02020603050405020304" pitchFamily="18" charset="0"/>
                <a:cs typeface="Times New Roman" panose="02020603050405020304" pitchFamily="18" charset="0"/>
              </a:rPr>
              <a:t>，但</a:t>
            </a:r>
            <a:r>
              <a:rPr lang="en-US" altLang="zh-CN" sz="1600" dirty="0">
                <a:solidFill>
                  <a:srgbClr val="002060"/>
                </a:solidFill>
                <a:latin typeface="Times New Roman" panose="02020603050405020304" pitchFamily="18" charset="0"/>
                <a:cs typeface="Times New Roman" panose="02020603050405020304" pitchFamily="18" charset="0"/>
              </a:rPr>
              <a:t>s1[0]+s2[0]&gt;</a:t>
            </a:r>
            <a:r>
              <a:rPr lang="en-US" altLang="zh-CN" sz="1600" dirty="0" err="1">
                <a:solidFill>
                  <a:srgbClr val="002060"/>
                </a:solidFill>
                <a:latin typeface="Times New Roman" panose="02020603050405020304" pitchFamily="18" charset="0"/>
                <a:cs typeface="Times New Roman" panose="02020603050405020304" pitchFamily="18" charset="0"/>
              </a:rPr>
              <a:t>MaxStrLen</a:t>
            </a:r>
            <a:r>
              <a:rPr lang="zh-CN" altLang="zh-CN" sz="1600" dirty="0">
                <a:solidFill>
                  <a:srgbClr val="002060"/>
                </a:solidFill>
                <a:latin typeface="Times New Roman" panose="02020603050405020304" pitchFamily="18" charset="0"/>
                <a:cs typeface="Times New Roman" panose="02020603050405020304" pitchFamily="18" charset="0"/>
              </a:rPr>
              <a:t>，则将串</a:t>
            </a:r>
            <a:r>
              <a:rPr lang="en-US" altLang="zh-CN" sz="1600" dirty="0">
                <a:solidFill>
                  <a:srgbClr val="002060"/>
                </a:solidFill>
                <a:latin typeface="Times New Roman" panose="02020603050405020304" pitchFamily="18" charset="0"/>
                <a:cs typeface="Times New Roman" panose="02020603050405020304" pitchFamily="18" charset="0"/>
              </a:rPr>
              <a:t>s2</a:t>
            </a:r>
            <a:r>
              <a:rPr lang="zh-CN" altLang="zh-CN" sz="1600" dirty="0">
                <a:solidFill>
                  <a:srgbClr val="002060"/>
                </a:solidFill>
                <a:latin typeface="Times New Roman" panose="02020603050405020304" pitchFamily="18" charset="0"/>
                <a:cs typeface="Times New Roman" panose="02020603050405020304" pitchFamily="18" charset="0"/>
              </a:rPr>
              <a:t>截断，</a:t>
            </a:r>
            <a:r>
              <a:rPr lang="en-US" altLang="zh-CN" sz="1600" dirty="0">
                <a:solidFill>
                  <a:srgbClr val="002060"/>
                </a:solidFill>
                <a:latin typeface="Times New Roman" panose="02020603050405020304" pitchFamily="18" charset="0"/>
                <a:cs typeface="Times New Roman" panose="02020603050405020304" pitchFamily="18" charset="0"/>
              </a:rPr>
              <a:t>s</a:t>
            </a:r>
            <a:r>
              <a:rPr lang="zh-CN" altLang="zh-CN" sz="1600" dirty="0">
                <a:solidFill>
                  <a:srgbClr val="002060"/>
                </a:solidFill>
                <a:latin typeface="Times New Roman" panose="02020603050405020304" pitchFamily="18" charset="0"/>
                <a:cs typeface="Times New Roman" panose="02020603050405020304" pitchFamily="18" charset="0"/>
              </a:rPr>
              <a:t>只包含串</a:t>
            </a:r>
            <a:r>
              <a:rPr lang="en-US" altLang="zh-CN" sz="1600" dirty="0">
                <a:solidFill>
                  <a:srgbClr val="002060"/>
                </a:solidFill>
                <a:latin typeface="Times New Roman" panose="02020603050405020304" pitchFamily="18" charset="0"/>
                <a:cs typeface="Times New Roman" panose="02020603050405020304" pitchFamily="18" charset="0"/>
              </a:rPr>
              <a:t>s2</a:t>
            </a:r>
            <a:r>
              <a:rPr lang="zh-CN" altLang="zh-CN" sz="1600" dirty="0">
                <a:solidFill>
                  <a:srgbClr val="002060"/>
                </a:solidFill>
                <a:latin typeface="Times New Roman" panose="02020603050405020304" pitchFamily="18" charset="0"/>
                <a:cs typeface="Times New Roman" panose="02020603050405020304" pitchFamily="18" charset="0"/>
              </a:rPr>
              <a:t>的前面部分；</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7030A0"/>
                </a:solidFill>
                <a:latin typeface="Times New Roman" panose="02020603050405020304" pitchFamily="18" charset="0"/>
                <a:cs typeface="Times New Roman" panose="02020603050405020304" pitchFamily="18" charset="0"/>
              </a:rPr>
              <a:t>（</a:t>
            </a:r>
            <a:r>
              <a:rPr lang="en-US" altLang="zh-CN" sz="1600" dirty="0">
                <a:solidFill>
                  <a:srgbClr val="7030A0"/>
                </a:solidFill>
                <a:latin typeface="Times New Roman" panose="02020603050405020304" pitchFamily="18" charset="0"/>
                <a:cs typeface="Times New Roman" panose="02020603050405020304" pitchFamily="18" charset="0"/>
              </a:rPr>
              <a:t>3</a:t>
            </a:r>
            <a:r>
              <a:rPr lang="zh-CN" altLang="zh-CN" sz="1600" dirty="0">
                <a:solidFill>
                  <a:srgbClr val="7030A0"/>
                </a:solidFill>
                <a:latin typeface="Times New Roman" panose="02020603050405020304" pitchFamily="18" charset="0"/>
                <a:cs typeface="Times New Roman" panose="02020603050405020304" pitchFamily="18" charset="0"/>
              </a:rPr>
              <a:t>）若</a:t>
            </a:r>
            <a:r>
              <a:rPr lang="en-US" altLang="zh-CN" sz="1600" dirty="0">
                <a:solidFill>
                  <a:srgbClr val="7030A0"/>
                </a:solidFill>
                <a:latin typeface="Times New Roman" panose="02020603050405020304" pitchFamily="18" charset="0"/>
                <a:cs typeface="Times New Roman" panose="02020603050405020304" pitchFamily="18" charset="0"/>
              </a:rPr>
              <a:t>s1[0]=</a:t>
            </a:r>
            <a:r>
              <a:rPr lang="en-US" altLang="zh-CN" sz="1600" dirty="0" err="1">
                <a:solidFill>
                  <a:srgbClr val="7030A0"/>
                </a:solidFill>
                <a:latin typeface="Times New Roman" panose="02020603050405020304" pitchFamily="18" charset="0"/>
                <a:cs typeface="Times New Roman" panose="02020603050405020304" pitchFamily="18" charset="0"/>
              </a:rPr>
              <a:t>MaxStrLen</a:t>
            </a:r>
            <a:r>
              <a:rPr lang="zh-CN" altLang="zh-CN" sz="1600" dirty="0">
                <a:solidFill>
                  <a:srgbClr val="7030A0"/>
                </a:solidFill>
                <a:latin typeface="Times New Roman" panose="02020603050405020304" pitchFamily="18" charset="0"/>
                <a:cs typeface="Times New Roman" panose="02020603050405020304" pitchFamily="18" charset="0"/>
              </a:rPr>
              <a:t>，则串</a:t>
            </a:r>
            <a:r>
              <a:rPr lang="en-US" altLang="zh-CN" sz="1600" dirty="0">
                <a:solidFill>
                  <a:srgbClr val="7030A0"/>
                </a:solidFill>
                <a:latin typeface="Times New Roman" panose="02020603050405020304" pitchFamily="18" charset="0"/>
                <a:cs typeface="Times New Roman" panose="02020603050405020304" pitchFamily="18" charset="0"/>
              </a:rPr>
              <a:t>s</a:t>
            </a:r>
            <a:r>
              <a:rPr lang="zh-CN" altLang="zh-CN" sz="1600" dirty="0">
                <a:solidFill>
                  <a:srgbClr val="7030A0"/>
                </a:solidFill>
                <a:latin typeface="Times New Roman" panose="02020603050405020304" pitchFamily="18" charset="0"/>
                <a:cs typeface="Times New Roman" panose="02020603050405020304" pitchFamily="18" charset="0"/>
              </a:rPr>
              <a:t>仅为串</a:t>
            </a:r>
            <a:r>
              <a:rPr lang="en-US" altLang="zh-CN" sz="1600" dirty="0">
                <a:solidFill>
                  <a:srgbClr val="7030A0"/>
                </a:solidFill>
                <a:latin typeface="Times New Roman" panose="02020603050405020304" pitchFamily="18" charset="0"/>
                <a:cs typeface="Times New Roman" panose="02020603050405020304" pitchFamily="18" charset="0"/>
              </a:rPr>
              <a:t>s1</a:t>
            </a:r>
            <a:r>
              <a:rPr lang="zh-CN" altLang="zh-CN" sz="1600" dirty="0">
                <a:solidFill>
                  <a:srgbClr val="7030A0"/>
                </a:solidFill>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串连接操作的示意图</a:t>
            </a:r>
            <a:r>
              <a:rPr lang="zh-CN" altLang="en-US" sz="1600" dirty="0">
                <a:latin typeface="Times New Roman" panose="02020603050405020304" pitchFamily="18" charset="0"/>
                <a:cs typeface="Times New Roman" panose="02020603050405020304" pitchFamily="18" charset="0"/>
              </a:rPr>
              <a:t>如下：</a:t>
            </a:r>
            <a:endParaRPr lang="zh-CN" altLang="zh-CN" sz="1600" dirty="0">
              <a:latin typeface="Times New Roman" panose="02020603050405020304" pitchFamily="18" charset="0"/>
              <a:cs typeface="Times New Roman" panose="02020603050405020304" pitchFamily="18" charset="0"/>
            </a:endParaRPr>
          </a:p>
          <a:p>
            <a:pPr marL="0" indent="0">
              <a:buNone/>
            </a:pPr>
            <a:endParaRPr lang="zh-CN" altLang="en-US" sz="1800" dirty="0">
              <a:latin typeface="隶书" panose="02010509060101010101" pitchFamily="49" charset="-122"/>
              <a:ea typeface="隶书" panose="02010509060101010101" pitchFamily="49" charset="-122"/>
            </a:endParaRPr>
          </a:p>
        </p:txBody>
      </p:sp>
      <p:pic>
        <p:nvPicPr>
          <p:cNvPr id="4" name="图片 3"/>
          <p:cNvPicPr>
            <a:picLocks noChangeAspect="1"/>
          </p:cNvPicPr>
          <p:nvPr/>
        </p:nvPicPr>
        <p:blipFill>
          <a:blip r:embed="rId2"/>
          <a:stretch>
            <a:fillRect/>
          </a:stretch>
        </p:blipFill>
        <p:spPr>
          <a:xfrm>
            <a:off x="971600" y="3219822"/>
            <a:ext cx="7294233" cy="1654113"/>
          </a:xfrm>
          <a:prstGeom prst="rect">
            <a:avLst/>
          </a:prstGeom>
        </p:spPr>
      </p:pic>
      <p:sp>
        <p:nvSpPr>
          <p:cNvPr id="5" name="椭圆 4"/>
          <p:cNvSpPr/>
          <p:nvPr/>
        </p:nvSpPr>
        <p:spPr>
          <a:xfrm>
            <a:off x="1151467" y="3219822"/>
            <a:ext cx="2196397" cy="129614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a:off x="2051720" y="1779662"/>
            <a:ext cx="72008" cy="144016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3563888" y="3435846"/>
            <a:ext cx="2016224" cy="108012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3923928" y="2114545"/>
            <a:ext cx="144016" cy="139227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724128" y="3363838"/>
            <a:ext cx="2088232" cy="115212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a:cxnSpLocks/>
          </p:cNvCxnSpPr>
          <p:nvPr/>
        </p:nvCxnSpPr>
        <p:spPr>
          <a:xfrm>
            <a:off x="4139952" y="2427734"/>
            <a:ext cx="2088232" cy="103326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串连接</a:t>
            </a:r>
          </a:p>
        </p:txBody>
      </p:sp>
    </p:spTree>
    <p:extLst>
      <p:ext uri="{BB962C8B-B14F-4D97-AF65-F5344CB8AC3E}">
        <p14:creationId xmlns:p14="http://schemas.microsoft.com/office/powerpoint/2010/main" val="10142776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1000"/>
                                        <p:tgtEl>
                                          <p:spTgt spid="3">
                                            <p:txEl>
                                              <p:pRg st="2" end="2"/>
                                            </p:txEl>
                                          </p:spTgt>
                                        </p:tgtEl>
                                      </p:cBhvr>
                                    </p:animEffect>
                                    <p:anim calcmode="lin" valueType="num">
                                      <p:cBhvr>
                                        <p:cTn id="3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fade">
                                      <p:cBhvr>
                                        <p:cTn id="51" dur="1000"/>
                                        <p:tgtEl>
                                          <p:spTgt spid="3">
                                            <p:txEl>
                                              <p:pRg st="3" end="3"/>
                                            </p:txEl>
                                          </p:spTgt>
                                        </p:tgtEl>
                                      </p:cBhvr>
                                    </p:animEffect>
                                    <p:anim calcmode="lin" valueType="num">
                                      <p:cBhvr>
                                        <p:cTn id="5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anim calcmode="lin" valueType="num">
                                      <p:cBhvr>
                                        <p:cTn id="59" dur="1000" fill="hold"/>
                                        <p:tgtEl>
                                          <p:spTgt spid="13"/>
                                        </p:tgtEl>
                                        <p:attrNameLst>
                                          <p:attrName>ppt_x</p:attrName>
                                        </p:attrNameLst>
                                      </p:cBhvr>
                                      <p:tavLst>
                                        <p:tav tm="0">
                                          <p:val>
                                            <p:strVal val="#ppt_x"/>
                                          </p:val>
                                        </p:tav>
                                        <p:tav tm="100000">
                                          <p:val>
                                            <p:strVal val="#ppt_x"/>
                                          </p:val>
                                        </p:tav>
                                      </p:tavLst>
                                    </p:anim>
                                    <p:anim calcmode="lin" valueType="num">
                                      <p:cBhvr>
                                        <p:cTn id="60" dur="1000" fill="hold"/>
                                        <p:tgtEl>
                                          <p:spTgt spid="1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5536" y="915566"/>
            <a:ext cx="5760640" cy="4185761"/>
          </a:xfrm>
          <a:prstGeom prst="rect">
            <a:avLst/>
          </a:prstGeom>
          <a:noFill/>
        </p:spPr>
        <p:txBody>
          <a:bodyPr wrap="square" rtlCol="0">
            <a:spAutoFit/>
          </a:bodyPr>
          <a:lstStyle/>
          <a:p>
            <a:r>
              <a:rPr lang="en-US" altLang="zh-CN" sz="1400" dirty="0" err="1"/>
              <a:t>int</a:t>
            </a:r>
            <a:r>
              <a:rPr lang="en-US" altLang="zh-CN" sz="1400" dirty="0"/>
              <a:t> String::</a:t>
            </a:r>
            <a:r>
              <a:rPr lang="en-US" altLang="zh-CN" sz="1400" dirty="0" err="1"/>
              <a:t>StrConcat</a:t>
            </a:r>
            <a:r>
              <a:rPr lang="en-US" altLang="zh-CN" sz="1400" dirty="0"/>
              <a:t>(</a:t>
            </a:r>
            <a:r>
              <a:rPr lang="en-US" altLang="zh-CN" sz="1400" dirty="0" err="1"/>
              <a:t>SString</a:t>
            </a:r>
            <a:r>
              <a:rPr lang="en-US" altLang="zh-CN" sz="1400" dirty="0"/>
              <a:t> s1,SString s2){</a:t>
            </a:r>
            <a:endParaRPr lang="zh-CN" altLang="zh-CN" sz="1400" dirty="0"/>
          </a:p>
          <a:p>
            <a:r>
              <a:rPr lang="en-US" altLang="zh-CN" sz="1400" dirty="0"/>
              <a:t>    //</a:t>
            </a:r>
            <a:r>
              <a:rPr lang="zh-CN" altLang="zh-CN" sz="1400" dirty="0"/>
              <a:t>用</a:t>
            </a:r>
            <a:r>
              <a:rPr lang="en-US" altLang="zh-CN" sz="1400" dirty="0"/>
              <a:t>s</a:t>
            </a:r>
            <a:r>
              <a:rPr lang="zh-CN" altLang="zh-CN" sz="1400" dirty="0"/>
              <a:t>返回由</a:t>
            </a:r>
            <a:r>
              <a:rPr lang="en-US" altLang="zh-CN" sz="1400" dirty="0"/>
              <a:t>s1</a:t>
            </a:r>
            <a:r>
              <a:rPr lang="zh-CN" altLang="zh-CN" sz="1400" dirty="0"/>
              <a:t>和</a:t>
            </a:r>
            <a:r>
              <a:rPr lang="en-US" altLang="zh-CN" sz="1400" dirty="0"/>
              <a:t>s2</a:t>
            </a:r>
            <a:r>
              <a:rPr lang="zh-CN" altLang="zh-CN" sz="1400" dirty="0"/>
              <a:t>连接而成的新串。若未截断，返回</a:t>
            </a:r>
            <a:r>
              <a:rPr lang="en-US" altLang="zh-CN" sz="1400" dirty="0"/>
              <a:t>1</a:t>
            </a:r>
            <a:r>
              <a:rPr lang="zh-CN" altLang="zh-CN" sz="1400" dirty="0"/>
              <a:t>，否则返回</a:t>
            </a:r>
            <a:r>
              <a:rPr lang="en-US" altLang="zh-CN" sz="1400" dirty="0"/>
              <a:t>0</a:t>
            </a:r>
            <a:r>
              <a:rPr lang="zh-CN" altLang="zh-CN" sz="1400" dirty="0"/>
              <a:t>。</a:t>
            </a:r>
          </a:p>
          <a:p>
            <a:r>
              <a:rPr lang="en-US" altLang="zh-CN" sz="1400" dirty="0"/>
              <a:t>    </a:t>
            </a:r>
            <a:r>
              <a:rPr lang="en-US" altLang="zh-CN" sz="1400" dirty="0" err="1"/>
              <a:t>int</a:t>
            </a:r>
            <a:r>
              <a:rPr lang="en-US" altLang="zh-CN" sz="1400" dirty="0"/>
              <a:t> flag=0,i=0;</a:t>
            </a:r>
            <a:endParaRPr lang="zh-CN" altLang="zh-CN" sz="1400" dirty="0"/>
          </a:p>
          <a:p>
            <a:r>
              <a:rPr lang="en-US" altLang="zh-CN" sz="1400" dirty="0"/>
              <a:t>    </a:t>
            </a:r>
            <a:r>
              <a:rPr lang="en-US" altLang="zh-CN" sz="1400" dirty="0">
                <a:solidFill>
                  <a:srgbClr val="C00000"/>
                </a:solidFill>
              </a:rPr>
              <a:t>if(s1[0]+s2[0]&lt;= </a:t>
            </a:r>
            <a:r>
              <a:rPr lang="en-US" altLang="zh-CN" sz="1400" dirty="0" err="1">
                <a:solidFill>
                  <a:srgbClr val="C00000"/>
                </a:solidFill>
              </a:rPr>
              <a:t>MaxStrLen</a:t>
            </a:r>
            <a:r>
              <a:rPr lang="en-US" altLang="zh-CN" sz="1400" dirty="0">
                <a:solidFill>
                  <a:srgbClr val="C00000"/>
                </a:solidFill>
              </a:rPr>
              <a:t>){      //</a:t>
            </a:r>
            <a:r>
              <a:rPr lang="zh-CN" altLang="zh-CN" sz="1400" dirty="0">
                <a:solidFill>
                  <a:srgbClr val="C00000"/>
                </a:solidFill>
              </a:rPr>
              <a:t>未截断</a:t>
            </a:r>
          </a:p>
          <a:p>
            <a:r>
              <a:rPr lang="en-US" altLang="zh-CN" sz="1400" dirty="0">
                <a:solidFill>
                  <a:srgbClr val="C00000"/>
                </a:solidFill>
              </a:rPr>
              <a:t>        for(</a:t>
            </a:r>
            <a:r>
              <a:rPr lang="en-US" altLang="zh-CN" sz="1400" dirty="0" err="1">
                <a:solidFill>
                  <a:srgbClr val="C00000"/>
                </a:solidFill>
              </a:rPr>
              <a:t>i</a:t>
            </a:r>
            <a:r>
              <a:rPr lang="en-US" altLang="zh-CN" sz="1400" dirty="0">
                <a:solidFill>
                  <a:srgbClr val="C00000"/>
                </a:solidFill>
              </a:rPr>
              <a:t>=1;i&lt;=s1[0];</a:t>
            </a:r>
            <a:r>
              <a:rPr lang="en-US" altLang="zh-CN" sz="1400" dirty="0" err="1">
                <a:solidFill>
                  <a:srgbClr val="C00000"/>
                </a:solidFill>
              </a:rPr>
              <a:t>i</a:t>
            </a:r>
            <a:r>
              <a:rPr lang="en-US" altLang="zh-CN" sz="1400" dirty="0">
                <a:solidFill>
                  <a:srgbClr val="C00000"/>
                </a:solidFill>
              </a:rPr>
              <a:t>++)</a:t>
            </a:r>
            <a:endParaRPr lang="zh-CN" altLang="zh-CN" sz="1400" dirty="0">
              <a:solidFill>
                <a:srgbClr val="C00000"/>
              </a:solidFill>
            </a:endParaRPr>
          </a:p>
          <a:p>
            <a:r>
              <a:rPr lang="en-US" altLang="zh-CN" sz="1400" dirty="0">
                <a:solidFill>
                  <a:srgbClr val="C00000"/>
                </a:solidFill>
              </a:rPr>
              <a:t>            s[</a:t>
            </a:r>
            <a:r>
              <a:rPr lang="en-US" altLang="zh-CN" sz="1400" dirty="0" err="1">
                <a:solidFill>
                  <a:srgbClr val="C00000"/>
                </a:solidFill>
              </a:rPr>
              <a:t>i</a:t>
            </a:r>
            <a:r>
              <a:rPr lang="en-US" altLang="zh-CN" sz="1400" dirty="0">
                <a:solidFill>
                  <a:srgbClr val="C00000"/>
                </a:solidFill>
              </a:rPr>
              <a:t>]=s1[</a:t>
            </a:r>
            <a:r>
              <a:rPr lang="en-US" altLang="zh-CN" sz="1400" dirty="0" err="1">
                <a:solidFill>
                  <a:srgbClr val="C00000"/>
                </a:solidFill>
              </a:rPr>
              <a:t>i</a:t>
            </a:r>
            <a:r>
              <a:rPr lang="en-US" altLang="zh-CN" sz="1400" dirty="0">
                <a:solidFill>
                  <a:srgbClr val="C00000"/>
                </a:solidFill>
              </a:rPr>
              <a:t>];</a:t>
            </a:r>
            <a:endParaRPr lang="zh-CN" altLang="zh-CN" sz="1400" dirty="0">
              <a:solidFill>
                <a:srgbClr val="C00000"/>
              </a:solidFill>
            </a:endParaRPr>
          </a:p>
          <a:p>
            <a:r>
              <a:rPr lang="en-US" altLang="zh-CN" sz="1400" dirty="0">
                <a:solidFill>
                  <a:srgbClr val="C00000"/>
                </a:solidFill>
              </a:rPr>
              <a:t>        for(</a:t>
            </a:r>
            <a:r>
              <a:rPr lang="en-US" altLang="zh-CN" sz="1400" dirty="0" err="1">
                <a:solidFill>
                  <a:srgbClr val="C00000"/>
                </a:solidFill>
              </a:rPr>
              <a:t>i</a:t>
            </a:r>
            <a:r>
              <a:rPr lang="en-US" altLang="zh-CN" sz="1400" dirty="0">
                <a:solidFill>
                  <a:srgbClr val="C00000"/>
                </a:solidFill>
              </a:rPr>
              <a:t>=s1[0]+1;i&lt;=s1[0]+s2[0];</a:t>
            </a:r>
            <a:r>
              <a:rPr lang="en-US" altLang="zh-CN" sz="1400" dirty="0" err="1">
                <a:solidFill>
                  <a:srgbClr val="C00000"/>
                </a:solidFill>
              </a:rPr>
              <a:t>i</a:t>
            </a:r>
            <a:r>
              <a:rPr lang="en-US" altLang="zh-CN" sz="1400" dirty="0">
                <a:solidFill>
                  <a:srgbClr val="C00000"/>
                </a:solidFill>
              </a:rPr>
              <a:t>++)</a:t>
            </a:r>
            <a:endParaRPr lang="zh-CN" altLang="zh-CN" sz="1400" dirty="0">
              <a:solidFill>
                <a:srgbClr val="C00000"/>
              </a:solidFill>
            </a:endParaRPr>
          </a:p>
          <a:p>
            <a:r>
              <a:rPr lang="en-US" altLang="zh-CN" sz="1400" dirty="0">
                <a:solidFill>
                  <a:srgbClr val="C00000"/>
                </a:solidFill>
              </a:rPr>
              <a:t>            s[</a:t>
            </a:r>
            <a:r>
              <a:rPr lang="en-US" altLang="zh-CN" sz="1400" dirty="0" err="1">
                <a:solidFill>
                  <a:srgbClr val="C00000"/>
                </a:solidFill>
              </a:rPr>
              <a:t>i</a:t>
            </a:r>
            <a:r>
              <a:rPr lang="en-US" altLang="zh-CN" sz="1400" dirty="0">
                <a:solidFill>
                  <a:srgbClr val="C00000"/>
                </a:solidFill>
              </a:rPr>
              <a:t>]=s2[i-s1[0]];</a:t>
            </a:r>
            <a:endParaRPr lang="zh-CN" altLang="zh-CN" sz="1400" dirty="0">
              <a:solidFill>
                <a:srgbClr val="C00000"/>
              </a:solidFill>
            </a:endParaRPr>
          </a:p>
          <a:p>
            <a:r>
              <a:rPr lang="en-US" altLang="zh-CN" sz="1400" dirty="0">
                <a:solidFill>
                  <a:srgbClr val="C00000"/>
                </a:solidFill>
              </a:rPr>
              <a:t>        s[0]=s1[0]+s2[0];</a:t>
            </a:r>
            <a:endParaRPr lang="zh-CN" altLang="zh-CN" sz="1400" dirty="0">
              <a:solidFill>
                <a:srgbClr val="C00000"/>
              </a:solidFill>
            </a:endParaRPr>
          </a:p>
          <a:p>
            <a:r>
              <a:rPr lang="en-US" altLang="zh-CN" sz="1400" dirty="0">
                <a:solidFill>
                  <a:srgbClr val="C00000"/>
                </a:solidFill>
              </a:rPr>
              <a:t>        flag=1;</a:t>
            </a:r>
            <a:endParaRPr lang="zh-CN" altLang="zh-CN" sz="1400" dirty="0">
              <a:solidFill>
                <a:srgbClr val="C00000"/>
              </a:solidFill>
            </a:endParaRPr>
          </a:p>
          <a:p>
            <a:r>
              <a:rPr lang="en-US" altLang="zh-CN" sz="1400" dirty="0">
                <a:solidFill>
                  <a:srgbClr val="C00000"/>
                </a:solidFill>
              </a:rPr>
              <a:t>    }</a:t>
            </a:r>
            <a:endParaRPr lang="zh-CN" altLang="zh-CN" sz="1400" dirty="0">
              <a:solidFill>
                <a:srgbClr val="C00000"/>
              </a:solidFill>
            </a:endParaRPr>
          </a:p>
          <a:p>
            <a:r>
              <a:rPr lang="en-US" altLang="zh-CN" sz="1400" dirty="0"/>
              <a:t>    </a:t>
            </a:r>
            <a:r>
              <a:rPr lang="en-US" altLang="zh-CN" sz="1400" dirty="0">
                <a:solidFill>
                  <a:srgbClr val="002060"/>
                </a:solidFill>
              </a:rPr>
              <a:t>else if(s1[0]&lt;</a:t>
            </a:r>
            <a:r>
              <a:rPr lang="en-US" altLang="zh-CN" sz="1400" dirty="0" err="1">
                <a:solidFill>
                  <a:srgbClr val="002060"/>
                </a:solidFill>
              </a:rPr>
              <a:t>MaxStrLen</a:t>
            </a:r>
            <a:r>
              <a:rPr lang="en-US" altLang="zh-CN" sz="1400" dirty="0">
                <a:solidFill>
                  <a:srgbClr val="002060"/>
                </a:solidFill>
              </a:rPr>
              <a:t>){          //</a:t>
            </a:r>
            <a:r>
              <a:rPr lang="zh-CN" altLang="zh-CN" sz="1400" dirty="0">
                <a:solidFill>
                  <a:srgbClr val="002060"/>
                </a:solidFill>
              </a:rPr>
              <a:t>截断</a:t>
            </a:r>
          </a:p>
          <a:p>
            <a:r>
              <a:rPr lang="en-US" altLang="zh-CN" sz="1400" dirty="0">
                <a:solidFill>
                  <a:srgbClr val="002060"/>
                </a:solidFill>
              </a:rPr>
              <a:t>        for(</a:t>
            </a:r>
            <a:r>
              <a:rPr lang="en-US" altLang="zh-CN" sz="1400" dirty="0" err="1">
                <a:solidFill>
                  <a:srgbClr val="002060"/>
                </a:solidFill>
              </a:rPr>
              <a:t>i</a:t>
            </a:r>
            <a:r>
              <a:rPr lang="en-US" altLang="zh-CN" sz="1400" dirty="0">
                <a:solidFill>
                  <a:srgbClr val="002060"/>
                </a:solidFill>
              </a:rPr>
              <a:t>=1;i&lt;=s1[0];</a:t>
            </a:r>
            <a:r>
              <a:rPr lang="en-US" altLang="zh-CN" sz="1400" dirty="0" err="1">
                <a:solidFill>
                  <a:srgbClr val="002060"/>
                </a:solidFill>
              </a:rPr>
              <a:t>i</a:t>
            </a:r>
            <a:r>
              <a:rPr lang="en-US" altLang="zh-CN" sz="1400" dirty="0">
                <a:solidFill>
                  <a:srgbClr val="002060"/>
                </a:solidFill>
              </a:rPr>
              <a:t>++)</a:t>
            </a:r>
            <a:endParaRPr lang="zh-CN" altLang="zh-CN" sz="1400" dirty="0">
              <a:solidFill>
                <a:srgbClr val="002060"/>
              </a:solidFill>
            </a:endParaRPr>
          </a:p>
          <a:p>
            <a:r>
              <a:rPr lang="en-US" altLang="zh-CN" sz="1400" dirty="0">
                <a:solidFill>
                  <a:srgbClr val="002060"/>
                </a:solidFill>
              </a:rPr>
              <a:t>             s[</a:t>
            </a:r>
            <a:r>
              <a:rPr lang="en-US" altLang="zh-CN" sz="1400" dirty="0" err="1">
                <a:solidFill>
                  <a:srgbClr val="002060"/>
                </a:solidFill>
              </a:rPr>
              <a:t>i</a:t>
            </a:r>
            <a:r>
              <a:rPr lang="en-US" altLang="zh-CN" sz="1400" dirty="0">
                <a:solidFill>
                  <a:srgbClr val="002060"/>
                </a:solidFill>
              </a:rPr>
              <a:t>]=s1[</a:t>
            </a:r>
            <a:r>
              <a:rPr lang="en-US" altLang="zh-CN" sz="1400" dirty="0" err="1">
                <a:solidFill>
                  <a:srgbClr val="002060"/>
                </a:solidFill>
              </a:rPr>
              <a:t>i</a:t>
            </a:r>
            <a:r>
              <a:rPr lang="en-US" altLang="zh-CN" sz="1400" dirty="0">
                <a:solidFill>
                  <a:srgbClr val="002060"/>
                </a:solidFill>
              </a:rPr>
              <a:t>];</a:t>
            </a:r>
            <a:endParaRPr lang="zh-CN" altLang="zh-CN" sz="1400" dirty="0">
              <a:solidFill>
                <a:srgbClr val="002060"/>
              </a:solidFill>
            </a:endParaRPr>
          </a:p>
          <a:p>
            <a:r>
              <a:rPr lang="en-US" altLang="zh-CN" sz="1400" dirty="0">
                <a:solidFill>
                  <a:srgbClr val="002060"/>
                </a:solidFill>
              </a:rPr>
              <a:t>        for(</a:t>
            </a:r>
            <a:r>
              <a:rPr lang="en-US" altLang="zh-CN" sz="1400" dirty="0" err="1">
                <a:solidFill>
                  <a:srgbClr val="002060"/>
                </a:solidFill>
              </a:rPr>
              <a:t>i</a:t>
            </a:r>
            <a:r>
              <a:rPr lang="en-US" altLang="zh-CN" sz="1400" dirty="0">
                <a:solidFill>
                  <a:srgbClr val="002060"/>
                </a:solidFill>
              </a:rPr>
              <a:t>=s1[0]+1;i&lt;=</a:t>
            </a:r>
            <a:r>
              <a:rPr lang="en-US" altLang="zh-CN" sz="1400" dirty="0" err="1">
                <a:solidFill>
                  <a:srgbClr val="002060"/>
                </a:solidFill>
              </a:rPr>
              <a:t>MaxStrLen;i</a:t>
            </a:r>
            <a:r>
              <a:rPr lang="en-US" altLang="zh-CN" sz="1400" dirty="0">
                <a:solidFill>
                  <a:srgbClr val="002060"/>
                </a:solidFill>
              </a:rPr>
              <a:t>++)</a:t>
            </a:r>
            <a:endParaRPr lang="zh-CN" altLang="zh-CN" sz="1400" dirty="0">
              <a:solidFill>
                <a:srgbClr val="002060"/>
              </a:solidFill>
            </a:endParaRPr>
          </a:p>
          <a:p>
            <a:r>
              <a:rPr lang="en-US" altLang="zh-CN" sz="1400" dirty="0">
                <a:solidFill>
                  <a:srgbClr val="002060"/>
                </a:solidFill>
              </a:rPr>
              <a:t>             s[</a:t>
            </a:r>
            <a:r>
              <a:rPr lang="en-US" altLang="zh-CN" sz="1400" dirty="0" err="1">
                <a:solidFill>
                  <a:srgbClr val="002060"/>
                </a:solidFill>
              </a:rPr>
              <a:t>i</a:t>
            </a:r>
            <a:r>
              <a:rPr lang="en-US" altLang="zh-CN" sz="1400" dirty="0">
                <a:solidFill>
                  <a:srgbClr val="002060"/>
                </a:solidFill>
              </a:rPr>
              <a:t>]=s2[i-s1[0]];</a:t>
            </a:r>
            <a:endParaRPr lang="zh-CN" altLang="zh-CN" sz="1400" dirty="0">
              <a:solidFill>
                <a:srgbClr val="002060"/>
              </a:solidFill>
            </a:endParaRPr>
          </a:p>
          <a:p>
            <a:r>
              <a:rPr lang="en-US" altLang="zh-CN" sz="1400" dirty="0">
                <a:solidFill>
                  <a:srgbClr val="002060"/>
                </a:solidFill>
              </a:rPr>
              <a:t>        s[0]=</a:t>
            </a:r>
            <a:r>
              <a:rPr lang="en-US" altLang="zh-CN" sz="1400" dirty="0" err="1">
                <a:solidFill>
                  <a:srgbClr val="002060"/>
                </a:solidFill>
              </a:rPr>
              <a:t>MaxStrLen</a:t>
            </a:r>
            <a:r>
              <a:rPr lang="en-US" altLang="zh-CN" sz="1400" dirty="0">
                <a:solidFill>
                  <a:srgbClr val="002060"/>
                </a:solidFill>
              </a:rPr>
              <a:t>;</a:t>
            </a:r>
            <a:endParaRPr lang="zh-CN" altLang="zh-CN" sz="1400" dirty="0">
              <a:solidFill>
                <a:srgbClr val="002060"/>
              </a:solidFill>
            </a:endParaRPr>
          </a:p>
          <a:p>
            <a:r>
              <a:rPr lang="en-US" altLang="zh-CN" sz="1400" dirty="0">
                <a:solidFill>
                  <a:srgbClr val="002060"/>
                </a:solidFill>
              </a:rPr>
              <a:t>        flag=0;</a:t>
            </a:r>
            <a:endParaRPr lang="zh-CN" altLang="zh-CN" sz="1400" dirty="0">
              <a:solidFill>
                <a:srgbClr val="002060"/>
              </a:solidFill>
            </a:endParaRPr>
          </a:p>
          <a:p>
            <a:r>
              <a:rPr lang="en-US" altLang="zh-CN" sz="1400" dirty="0">
                <a:solidFill>
                  <a:srgbClr val="002060"/>
                </a:solidFill>
              </a:rPr>
              <a:t>    }</a:t>
            </a:r>
            <a:endParaRPr lang="zh-CN" altLang="zh-CN" sz="1400" dirty="0">
              <a:solidFill>
                <a:srgbClr val="002060"/>
              </a:solidFill>
            </a:endParaRPr>
          </a:p>
        </p:txBody>
      </p:sp>
      <p:sp>
        <p:nvSpPr>
          <p:cNvPr id="5" name="文本框 4"/>
          <p:cNvSpPr txBox="1"/>
          <p:nvPr/>
        </p:nvSpPr>
        <p:spPr>
          <a:xfrm>
            <a:off x="4860032" y="1635646"/>
            <a:ext cx="2808312" cy="1815882"/>
          </a:xfrm>
          <a:prstGeom prst="rect">
            <a:avLst/>
          </a:prstGeom>
          <a:solidFill>
            <a:schemeClr val="accent2"/>
          </a:solidFill>
        </p:spPr>
        <p:txBody>
          <a:bodyPr wrap="square" rtlCol="0">
            <a:spAutoFit/>
          </a:bodyPr>
          <a:lstStyle/>
          <a:p>
            <a:r>
              <a:rPr lang="en-US" altLang="zh-CN" sz="1400" dirty="0"/>
              <a:t>    </a:t>
            </a:r>
            <a:r>
              <a:rPr lang="en-US" altLang="zh-CN" sz="1400" dirty="0">
                <a:solidFill>
                  <a:srgbClr val="7030A0"/>
                </a:solidFill>
              </a:rPr>
              <a:t>else{</a:t>
            </a:r>
            <a:endParaRPr lang="zh-CN" altLang="zh-CN" sz="1400" dirty="0">
              <a:solidFill>
                <a:srgbClr val="7030A0"/>
              </a:solidFill>
            </a:endParaRPr>
          </a:p>
          <a:p>
            <a:r>
              <a:rPr lang="en-US" altLang="zh-CN" sz="1400" dirty="0">
                <a:solidFill>
                  <a:srgbClr val="7030A0"/>
                </a:solidFill>
              </a:rPr>
              <a:t>        for(</a:t>
            </a:r>
            <a:r>
              <a:rPr lang="en-US" altLang="zh-CN" sz="1400" dirty="0" err="1">
                <a:solidFill>
                  <a:srgbClr val="7030A0"/>
                </a:solidFill>
              </a:rPr>
              <a:t>i</a:t>
            </a:r>
            <a:r>
              <a:rPr lang="en-US" altLang="zh-CN" sz="1400" dirty="0">
                <a:solidFill>
                  <a:srgbClr val="7030A0"/>
                </a:solidFill>
              </a:rPr>
              <a:t>=1;i&lt;=s1[0];</a:t>
            </a:r>
            <a:r>
              <a:rPr lang="en-US" altLang="zh-CN" sz="1400" dirty="0" err="1">
                <a:solidFill>
                  <a:srgbClr val="7030A0"/>
                </a:solidFill>
              </a:rPr>
              <a:t>i</a:t>
            </a:r>
            <a:r>
              <a:rPr lang="en-US" altLang="zh-CN" sz="1400" dirty="0">
                <a:solidFill>
                  <a:srgbClr val="7030A0"/>
                </a:solidFill>
              </a:rPr>
              <a:t>++)</a:t>
            </a:r>
            <a:endParaRPr lang="zh-CN" altLang="zh-CN" sz="1400" dirty="0">
              <a:solidFill>
                <a:srgbClr val="7030A0"/>
              </a:solidFill>
            </a:endParaRPr>
          </a:p>
          <a:p>
            <a:r>
              <a:rPr lang="en-US" altLang="zh-CN" sz="1400" dirty="0">
                <a:solidFill>
                  <a:srgbClr val="7030A0"/>
                </a:solidFill>
              </a:rPr>
              <a:t>           s[</a:t>
            </a:r>
            <a:r>
              <a:rPr lang="en-US" altLang="zh-CN" sz="1400" dirty="0" err="1">
                <a:solidFill>
                  <a:srgbClr val="7030A0"/>
                </a:solidFill>
              </a:rPr>
              <a:t>i</a:t>
            </a:r>
            <a:r>
              <a:rPr lang="en-US" altLang="zh-CN" sz="1400" dirty="0">
                <a:solidFill>
                  <a:srgbClr val="7030A0"/>
                </a:solidFill>
              </a:rPr>
              <a:t>]=s1[</a:t>
            </a:r>
            <a:r>
              <a:rPr lang="en-US" altLang="zh-CN" sz="1400" dirty="0" err="1">
                <a:solidFill>
                  <a:srgbClr val="7030A0"/>
                </a:solidFill>
              </a:rPr>
              <a:t>i</a:t>
            </a:r>
            <a:r>
              <a:rPr lang="en-US" altLang="zh-CN" sz="1400" dirty="0">
                <a:solidFill>
                  <a:srgbClr val="7030A0"/>
                </a:solidFill>
              </a:rPr>
              <a:t>];</a:t>
            </a:r>
            <a:endParaRPr lang="zh-CN" altLang="zh-CN" sz="1400" dirty="0">
              <a:solidFill>
                <a:srgbClr val="7030A0"/>
              </a:solidFill>
            </a:endParaRPr>
          </a:p>
          <a:p>
            <a:r>
              <a:rPr lang="en-US" altLang="zh-CN" sz="1400" dirty="0">
                <a:solidFill>
                  <a:srgbClr val="7030A0"/>
                </a:solidFill>
              </a:rPr>
              <a:t>        s[0]=s1[0];</a:t>
            </a:r>
            <a:endParaRPr lang="zh-CN" altLang="zh-CN" sz="1400" dirty="0">
              <a:solidFill>
                <a:srgbClr val="7030A0"/>
              </a:solidFill>
            </a:endParaRPr>
          </a:p>
          <a:p>
            <a:r>
              <a:rPr lang="en-US" altLang="zh-CN" sz="1400" dirty="0">
                <a:solidFill>
                  <a:srgbClr val="7030A0"/>
                </a:solidFill>
              </a:rPr>
              <a:t>        flag=0;</a:t>
            </a:r>
            <a:endParaRPr lang="zh-CN" altLang="zh-CN" sz="1400" dirty="0">
              <a:solidFill>
                <a:srgbClr val="7030A0"/>
              </a:solidFill>
            </a:endParaRPr>
          </a:p>
          <a:p>
            <a:r>
              <a:rPr lang="en-US" altLang="zh-CN" sz="1400" dirty="0">
                <a:solidFill>
                  <a:srgbClr val="7030A0"/>
                </a:solidFill>
              </a:rPr>
              <a:t>    }</a:t>
            </a:r>
            <a:endParaRPr lang="zh-CN" altLang="zh-CN" sz="1400" dirty="0">
              <a:solidFill>
                <a:srgbClr val="7030A0"/>
              </a:solidFill>
            </a:endParaRPr>
          </a:p>
          <a:p>
            <a:r>
              <a:rPr lang="en-US" altLang="zh-CN" sz="1400" dirty="0"/>
              <a:t>    return flag;</a:t>
            </a:r>
            <a:endParaRPr lang="zh-CN" altLang="zh-CN" sz="1400" dirty="0"/>
          </a:p>
          <a:p>
            <a:r>
              <a:rPr lang="en-US" altLang="zh-CN" sz="1400" dirty="0"/>
              <a:t>}</a:t>
            </a:r>
            <a:endParaRPr lang="zh-CN" altLang="en-US" dirty="0"/>
          </a:p>
        </p:txBody>
      </p:sp>
      <p:sp>
        <p:nvSpPr>
          <p:cNvPr id="6" name="文本框 5"/>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串连接算法</a:t>
            </a:r>
          </a:p>
        </p:txBody>
      </p:sp>
      <p:sp>
        <p:nvSpPr>
          <p:cNvPr id="2" name="椭圆 1">
            <a:extLst>
              <a:ext uri="{FF2B5EF4-FFF2-40B4-BE49-F238E27FC236}">
                <a16:creationId xmlns:a16="http://schemas.microsoft.com/office/drawing/2014/main" id="{D9A1592C-D0F1-AFD2-CD56-BE8D633CB601}"/>
              </a:ext>
            </a:extLst>
          </p:cNvPr>
          <p:cNvSpPr/>
          <p:nvPr/>
        </p:nvSpPr>
        <p:spPr>
          <a:xfrm>
            <a:off x="5436096" y="3939902"/>
            <a:ext cx="1368152" cy="6480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可以优化吗？</a:t>
            </a:r>
          </a:p>
        </p:txBody>
      </p:sp>
    </p:spTree>
    <p:extLst>
      <p:ext uri="{BB962C8B-B14F-4D97-AF65-F5344CB8AC3E}">
        <p14:creationId xmlns:p14="http://schemas.microsoft.com/office/powerpoint/2010/main" val="28423118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fade">
                                      <p:cBhvr>
                                        <p:cTn id="38" dur="1000"/>
                                        <p:tgtEl>
                                          <p:spTgt spid="4">
                                            <p:txEl>
                                              <p:pRg st="5" end="5"/>
                                            </p:txEl>
                                          </p:spTgt>
                                        </p:tgtEl>
                                      </p:cBhvr>
                                    </p:animEffect>
                                    <p:anim calcmode="lin" valueType="num">
                                      <p:cBhvr>
                                        <p:cTn id="3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anim calcmode="lin" valueType="num">
                                      <p:cBhvr additive="base">
                                        <p:cTn id="4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Effect transition="in" filter="fade">
                                      <p:cBhvr>
                                        <p:cTn id="55" dur="1000"/>
                                        <p:tgtEl>
                                          <p:spTgt spid="4">
                                            <p:txEl>
                                              <p:pRg st="8" end="8"/>
                                            </p:txEl>
                                          </p:spTgt>
                                        </p:tgtEl>
                                      </p:cBhvr>
                                    </p:animEffect>
                                    <p:anim calcmode="lin" valueType="num">
                                      <p:cBhvr>
                                        <p:cTn id="5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
                                            <p:txEl>
                                              <p:pRg st="9" end="9"/>
                                            </p:txEl>
                                          </p:spTgt>
                                        </p:tgtEl>
                                        <p:attrNameLst>
                                          <p:attrName>style.visibility</p:attrName>
                                        </p:attrNameLst>
                                      </p:cBhvr>
                                      <p:to>
                                        <p:strVal val="visible"/>
                                      </p:to>
                                    </p:set>
                                    <p:animEffect transition="in" filter="fade">
                                      <p:cBhvr>
                                        <p:cTn id="62" dur="1000"/>
                                        <p:tgtEl>
                                          <p:spTgt spid="4">
                                            <p:txEl>
                                              <p:pRg st="9" end="9"/>
                                            </p:txEl>
                                          </p:spTgt>
                                        </p:tgtEl>
                                      </p:cBhvr>
                                    </p:animEffect>
                                    <p:anim calcmode="lin" valueType="num">
                                      <p:cBhvr>
                                        <p:cTn id="6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Effect transition="in" filter="fade">
                                      <p:cBhvr>
                                        <p:cTn id="67" dur="1000"/>
                                        <p:tgtEl>
                                          <p:spTgt spid="4">
                                            <p:txEl>
                                              <p:pRg st="10" end="10"/>
                                            </p:txEl>
                                          </p:spTgt>
                                        </p:tgtEl>
                                      </p:cBhvr>
                                    </p:animEffect>
                                    <p:anim calcmode="lin" valueType="num">
                                      <p:cBhvr>
                                        <p:cTn id="68"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9"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4">
                                            <p:txEl>
                                              <p:pRg st="11" end="11"/>
                                            </p:txEl>
                                          </p:spTgt>
                                        </p:tgtEl>
                                        <p:attrNameLst>
                                          <p:attrName>style.visibility</p:attrName>
                                        </p:attrNameLst>
                                      </p:cBhvr>
                                      <p:to>
                                        <p:strVal val="visible"/>
                                      </p:to>
                                    </p:set>
                                    <p:animEffect transition="in" filter="fade">
                                      <p:cBhvr>
                                        <p:cTn id="74" dur="1000"/>
                                        <p:tgtEl>
                                          <p:spTgt spid="4">
                                            <p:txEl>
                                              <p:pRg st="11" end="11"/>
                                            </p:txEl>
                                          </p:spTgt>
                                        </p:tgtEl>
                                      </p:cBhvr>
                                    </p:animEffect>
                                    <p:anim calcmode="lin" valueType="num">
                                      <p:cBhvr>
                                        <p:cTn id="75"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6"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4">
                                            <p:txEl>
                                              <p:pRg st="12" end="12"/>
                                            </p:txEl>
                                          </p:spTgt>
                                        </p:tgtEl>
                                        <p:attrNameLst>
                                          <p:attrName>style.visibility</p:attrName>
                                        </p:attrNameLst>
                                      </p:cBhvr>
                                      <p:to>
                                        <p:strVal val="visible"/>
                                      </p:to>
                                    </p:set>
                                    <p:animEffect transition="in" filter="fade">
                                      <p:cBhvr>
                                        <p:cTn id="81" dur="1000"/>
                                        <p:tgtEl>
                                          <p:spTgt spid="4">
                                            <p:txEl>
                                              <p:pRg st="12" end="12"/>
                                            </p:txEl>
                                          </p:spTgt>
                                        </p:tgtEl>
                                      </p:cBhvr>
                                    </p:animEffect>
                                    <p:anim calcmode="lin" valueType="num">
                                      <p:cBhvr>
                                        <p:cTn id="8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4">
                                            <p:txEl>
                                              <p:pRg st="13" end="13"/>
                                            </p:txEl>
                                          </p:spTgt>
                                        </p:tgtEl>
                                        <p:attrNameLst>
                                          <p:attrName>style.visibility</p:attrName>
                                        </p:attrNameLst>
                                      </p:cBhvr>
                                      <p:to>
                                        <p:strVal val="visible"/>
                                      </p:to>
                                    </p:set>
                                    <p:animEffect transition="in" filter="fade">
                                      <p:cBhvr>
                                        <p:cTn id="86" dur="1000"/>
                                        <p:tgtEl>
                                          <p:spTgt spid="4">
                                            <p:txEl>
                                              <p:pRg st="13" end="13"/>
                                            </p:txEl>
                                          </p:spTgt>
                                        </p:tgtEl>
                                      </p:cBhvr>
                                    </p:animEffect>
                                    <p:anim calcmode="lin" valueType="num">
                                      <p:cBhvr>
                                        <p:cTn id="87"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4">
                                            <p:txEl>
                                              <p:pRg st="14" end="14"/>
                                            </p:txEl>
                                          </p:spTgt>
                                        </p:tgtEl>
                                        <p:attrNameLst>
                                          <p:attrName>style.visibility</p:attrName>
                                        </p:attrNameLst>
                                      </p:cBhvr>
                                      <p:to>
                                        <p:strVal val="visible"/>
                                      </p:to>
                                    </p:set>
                                    <p:animEffect transition="in" filter="fade">
                                      <p:cBhvr>
                                        <p:cTn id="93" dur="1000"/>
                                        <p:tgtEl>
                                          <p:spTgt spid="4">
                                            <p:txEl>
                                              <p:pRg st="14" end="14"/>
                                            </p:txEl>
                                          </p:spTgt>
                                        </p:tgtEl>
                                      </p:cBhvr>
                                    </p:animEffect>
                                    <p:anim calcmode="lin" valueType="num">
                                      <p:cBhvr>
                                        <p:cTn id="94"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4">
                                            <p:txEl>
                                              <p:pRg st="15" end="15"/>
                                            </p:txEl>
                                          </p:spTgt>
                                        </p:tgtEl>
                                        <p:attrNameLst>
                                          <p:attrName>style.visibility</p:attrName>
                                        </p:attrNameLst>
                                      </p:cBhvr>
                                      <p:to>
                                        <p:strVal val="visible"/>
                                      </p:to>
                                    </p:set>
                                    <p:animEffect transition="in" filter="fade">
                                      <p:cBhvr>
                                        <p:cTn id="98" dur="1000"/>
                                        <p:tgtEl>
                                          <p:spTgt spid="4">
                                            <p:txEl>
                                              <p:pRg st="15" end="15"/>
                                            </p:txEl>
                                          </p:spTgt>
                                        </p:tgtEl>
                                      </p:cBhvr>
                                    </p:animEffect>
                                    <p:anim calcmode="lin" valueType="num">
                                      <p:cBhvr>
                                        <p:cTn id="99"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16" end="16"/>
                                            </p:txEl>
                                          </p:spTgt>
                                        </p:tgtEl>
                                        <p:attrNameLst>
                                          <p:attrName>style.visibility</p:attrName>
                                        </p:attrNameLst>
                                      </p:cBhvr>
                                      <p:to>
                                        <p:strVal val="visible"/>
                                      </p:to>
                                    </p:set>
                                    <p:animEffect transition="in" filter="fade">
                                      <p:cBhvr>
                                        <p:cTn id="105" dur="1000"/>
                                        <p:tgtEl>
                                          <p:spTgt spid="4">
                                            <p:txEl>
                                              <p:pRg st="16" end="16"/>
                                            </p:txEl>
                                          </p:spTgt>
                                        </p:tgtEl>
                                      </p:cBhvr>
                                    </p:animEffect>
                                    <p:anim calcmode="lin" valueType="num">
                                      <p:cBhvr>
                                        <p:cTn id="106"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16" end="16"/>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17" end="17"/>
                                            </p:txEl>
                                          </p:spTgt>
                                        </p:tgtEl>
                                        <p:attrNameLst>
                                          <p:attrName>style.visibility</p:attrName>
                                        </p:attrNameLst>
                                      </p:cBhvr>
                                      <p:to>
                                        <p:strVal val="visible"/>
                                      </p:to>
                                    </p:set>
                                    <p:animEffect transition="in" filter="fade">
                                      <p:cBhvr>
                                        <p:cTn id="110" dur="1000"/>
                                        <p:tgtEl>
                                          <p:spTgt spid="4">
                                            <p:txEl>
                                              <p:pRg st="17" end="17"/>
                                            </p:txEl>
                                          </p:spTgt>
                                        </p:tgtEl>
                                      </p:cBhvr>
                                    </p:animEffect>
                                    <p:anim calcmode="lin" valueType="num">
                                      <p:cBhvr>
                                        <p:cTn id="111" dur="1000" fill="hold"/>
                                        <p:tgtEl>
                                          <p:spTgt spid="4">
                                            <p:txEl>
                                              <p:pRg st="17" end="17"/>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17" end="17"/>
                                            </p:txEl>
                                          </p:spTgt>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4">
                                            <p:txEl>
                                              <p:pRg st="18" end="18"/>
                                            </p:txEl>
                                          </p:spTgt>
                                        </p:tgtEl>
                                        <p:attrNameLst>
                                          <p:attrName>style.visibility</p:attrName>
                                        </p:attrNameLst>
                                      </p:cBhvr>
                                      <p:to>
                                        <p:strVal val="visible"/>
                                      </p:to>
                                    </p:set>
                                    <p:animEffect transition="in" filter="fade">
                                      <p:cBhvr>
                                        <p:cTn id="115" dur="1000"/>
                                        <p:tgtEl>
                                          <p:spTgt spid="4">
                                            <p:txEl>
                                              <p:pRg st="18" end="18"/>
                                            </p:txEl>
                                          </p:spTgt>
                                        </p:tgtEl>
                                      </p:cBhvr>
                                    </p:animEffect>
                                    <p:anim calcmode="lin" valueType="num">
                                      <p:cBhvr>
                                        <p:cTn id="116" dur="1000" fill="hold"/>
                                        <p:tgtEl>
                                          <p:spTgt spid="4">
                                            <p:txEl>
                                              <p:pRg st="18" end="18"/>
                                            </p:txEl>
                                          </p:spTgt>
                                        </p:tgtEl>
                                        <p:attrNameLst>
                                          <p:attrName>ppt_x</p:attrName>
                                        </p:attrNameLst>
                                      </p:cBhvr>
                                      <p:tavLst>
                                        <p:tav tm="0">
                                          <p:val>
                                            <p:strVal val="#ppt_x"/>
                                          </p:val>
                                        </p:tav>
                                        <p:tav tm="100000">
                                          <p:val>
                                            <p:strVal val="#ppt_x"/>
                                          </p:val>
                                        </p:tav>
                                      </p:tavLst>
                                    </p:anim>
                                    <p:anim calcmode="lin" valueType="num">
                                      <p:cBhvr>
                                        <p:cTn id="117" dur="1000" fill="hold"/>
                                        <p:tgtEl>
                                          <p:spTgt spid="4">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grpId="0" nodeType="clickEffect">
                                  <p:stCondLst>
                                    <p:cond delay="0"/>
                                  </p:stCondLst>
                                  <p:childTnLst>
                                    <p:set>
                                      <p:cBhvr>
                                        <p:cTn id="121" dur="1" fill="hold">
                                          <p:stCondLst>
                                            <p:cond delay="0"/>
                                          </p:stCondLst>
                                        </p:cTn>
                                        <p:tgtEl>
                                          <p:spTgt spid="5"/>
                                        </p:tgtEl>
                                        <p:attrNameLst>
                                          <p:attrName>style.visibility</p:attrName>
                                        </p:attrNameLst>
                                      </p:cBhvr>
                                      <p:to>
                                        <p:strVal val="visible"/>
                                      </p:to>
                                    </p:set>
                                    <p:animEffect transition="in" filter="fade">
                                      <p:cBhvr>
                                        <p:cTn id="122" dur="1000"/>
                                        <p:tgtEl>
                                          <p:spTgt spid="5"/>
                                        </p:tgtEl>
                                      </p:cBhvr>
                                    </p:animEffect>
                                    <p:anim calcmode="lin" valueType="num">
                                      <p:cBhvr>
                                        <p:cTn id="123" dur="1000" fill="hold"/>
                                        <p:tgtEl>
                                          <p:spTgt spid="5"/>
                                        </p:tgtEl>
                                        <p:attrNameLst>
                                          <p:attrName>ppt_x</p:attrName>
                                        </p:attrNameLst>
                                      </p:cBhvr>
                                      <p:tavLst>
                                        <p:tav tm="0">
                                          <p:val>
                                            <p:strVal val="#ppt_x"/>
                                          </p:val>
                                        </p:tav>
                                        <p:tav tm="100000">
                                          <p:val>
                                            <p:strVal val="#ppt_x"/>
                                          </p:val>
                                        </p:tav>
                                      </p:tavLst>
                                    </p:anim>
                                    <p:anim calcmode="lin" valueType="num">
                                      <p:cBhvr>
                                        <p:cTn id="1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nodeType="clickEffect">
                                  <p:stCondLst>
                                    <p:cond delay="0"/>
                                  </p:stCondLst>
                                  <p:childTnLst>
                                    <p:set>
                                      <p:cBhvr>
                                        <p:cTn id="128" dur="1" fill="hold">
                                          <p:stCondLst>
                                            <p:cond delay="0"/>
                                          </p:stCondLst>
                                        </p:cTn>
                                        <p:tgtEl>
                                          <p:spTgt spid="5">
                                            <p:txEl>
                                              <p:pRg st="0" end="0"/>
                                            </p:txEl>
                                          </p:spTgt>
                                        </p:tgtEl>
                                        <p:attrNameLst>
                                          <p:attrName>style.visibility</p:attrName>
                                        </p:attrNameLst>
                                      </p:cBhvr>
                                      <p:to>
                                        <p:strVal val="visible"/>
                                      </p:to>
                                    </p:set>
                                    <p:animEffect transition="in" filter="fade">
                                      <p:cBhvr>
                                        <p:cTn id="129" dur="1000"/>
                                        <p:tgtEl>
                                          <p:spTgt spid="5">
                                            <p:txEl>
                                              <p:pRg st="0" end="0"/>
                                            </p:txEl>
                                          </p:spTgt>
                                        </p:tgtEl>
                                      </p:cBhvr>
                                    </p:animEffect>
                                    <p:anim calcmode="lin" valueType="num">
                                      <p:cBhvr>
                                        <p:cTn id="13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31"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42" presetClass="entr" presetSubtype="0" fill="hold" nodeType="clickEffect">
                                  <p:stCondLst>
                                    <p:cond delay="0"/>
                                  </p:stCondLst>
                                  <p:childTnLst>
                                    <p:set>
                                      <p:cBhvr>
                                        <p:cTn id="135" dur="1" fill="hold">
                                          <p:stCondLst>
                                            <p:cond delay="0"/>
                                          </p:stCondLst>
                                        </p:cTn>
                                        <p:tgtEl>
                                          <p:spTgt spid="5">
                                            <p:txEl>
                                              <p:pRg st="1" end="1"/>
                                            </p:txEl>
                                          </p:spTgt>
                                        </p:tgtEl>
                                        <p:attrNameLst>
                                          <p:attrName>style.visibility</p:attrName>
                                        </p:attrNameLst>
                                      </p:cBhvr>
                                      <p:to>
                                        <p:strVal val="visible"/>
                                      </p:to>
                                    </p:set>
                                    <p:animEffect transition="in" filter="fade">
                                      <p:cBhvr>
                                        <p:cTn id="136" dur="1000"/>
                                        <p:tgtEl>
                                          <p:spTgt spid="5">
                                            <p:txEl>
                                              <p:pRg st="1" end="1"/>
                                            </p:txEl>
                                          </p:spTgt>
                                        </p:tgtEl>
                                      </p:cBhvr>
                                    </p:animEffect>
                                    <p:anim calcmode="lin" valueType="num">
                                      <p:cBhvr>
                                        <p:cTn id="13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38"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5">
                                            <p:txEl>
                                              <p:pRg st="2" end="2"/>
                                            </p:txEl>
                                          </p:spTgt>
                                        </p:tgtEl>
                                        <p:attrNameLst>
                                          <p:attrName>style.visibility</p:attrName>
                                        </p:attrNameLst>
                                      </p:cBhvr>
                                      <p:to>
                                        <p:strVal val="visible"/>
                                      </p:to>
                                    </p:set>
                                    <p:animEffect transition="in" filter="fade">
                                      <p:cBhvr>
                                        <p:cTn id="141" dur="1000"/>
                                        <p:tgtEl>
                                          <p:spTgt spid="5">
                                            <p:txEl>
                                              <p:pRg st="2" end="2"/>
                                            </p:txEl>
                                          </p:spTgt>
                                        </p:tgtEl>
                                      </p:cBhvr>
                                    </p:animEffect>
                                    <p:anim calcmode="lin" valueType="num">
                                      <p:cBhvr>
                                        <p:cTn id="14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5">
                                            <p:txEl>
                                              <p:pRg st="3" end="3"/>
                                            </p:txEl>
                                          </p:spTgt>
                                        </p:tgtEl>
                                        <p:attrNameLst>
                                          <p:attrName>style.visibility</p:attrName>
                                        </p:attrNameLst>
                                      </p:cBhvr>
                                      <p:to>
                                        <p:strVal val="visible"/>
                                      </p:to>
                                    </p:set>
                                    <p:animEffect transition="in" filter="fade">
                                      <p:cBhvr>
                                        <p:cTn id="148" dur="1000"/>
                                        <p:tgtEl>
                                          <p:spTgt spid="5">
                                            <p:txEl>
                                              <p:pRg st="3" end="3"/>
                                            </p:txEl>
                                          </p:spTgt>
                                        </p:tgtEl>
                                      </p:cBhvr>
                                    </p:animEffect>
                                    <p:anim calcmode="lin" valueType="num">
                                      <p:cBhvr>
                                        <p:cTn id="14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50"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1" presetID="42" presetClass="entr" presetSubtype="0" fill="hold" nodeType="withEffect">
                                  <p:stCondLst>
                                    <p:cond delay="0"/>
                                  </p:stCondLst>
                                  <p:childTnLst>
                                    <p:set>
                                      <p:cBhvr>
                                        <p:cTn id="152" dur="1" fill="hold">
                                          <p:stCondLst>
                                            <p:cond delay="0"/>
                                          </p:stCondLst>
                                        </p:cTn>
                                        <p:tgtEl>
                                          <p:spTgt spid="5">
                                            <p:txEl>
                                              <p:pRg st="4" end="4"/>
                                            </p:txEl>
                                          </p:spTgt>
                                        </p:tgtEl>
                                        <p:attrNameLst>
                                          <p:attrName>style.visibility</p:attrName>
                                        </p:attrNameLst>
                                      </p:cBhvr>
                                      <p:to>
                                        <p:strVal val="visible"/>
                                      </p:to>
                                    </p:set>
                                    <p:animEffect transition="in" filter="fade">
                                      <p:cBhvr>
                                        <p:cTn id="153" dur="1000"/>
                                        <p:tgtEl>
                                          <p:spTgt spid="5">
                                            <p:txEl>
                                              <p:pRg st="4" end="4"/>
                                            </p:txEl>
                                          </p:spTgt>
                                        </p:tgtEl>
                                      </p:cBhvr>
                                    </p:animEffect>
                                    <p:anim calcmode="lin" valueType="num">
                                      <p:cBhvr>
                                        <p:cTn id="154"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55"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0"/>
                                  </p:stCondLst>
                                  <p:childTnLst>
                                    <p:set>
                                      <p:cBhvr>
                                        <p:cTn id="157" dur="1" fill="hold">
                                          <p:stCondLst>
                                            <p:cond delay="0"/>
                                          </p:stCondLst>
                                        </p:cTn>
                                        <p:tgtEl>
                                          <p:spTgt spid="5">
                                            <p:txEl>
                                              <p:pRg st="5" end="5"/>
                                            </p:txEl>
                                          </p:spTgt>
                                        </p:tgtEl>
                                        <p:attrNameLst>
                                          <p:attrName>style.visibility</p:attrName>
                                        </p:attrNameLst>
                                      </p:cBhvr>
                                      <p:to>
                                        <p:strVal val="visible"/>
                                      </p:to>
                                    </p:set>
                                    <p:animEffect transition="in" filter="fade">
                                      <p:cBhvr>
                                        <p:cTn id="158" dur="1000"/>
                                        <p:tgtEl>
                                          <p:spTgt spid="5">
                                            <p:txEl>
                                              <p:pRg st="5" end="5"/>
                                            </p:txEl>
                                          </p:spTgt>
                                        </p:tgtEl>
                                      </p:cBhvr>
                                    </p:animEffect>
                                    <p:anim calcmode="lin" valueType="num">
                                      <p:cBhvr>
                                        <p:cTn id="159"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60"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42" presetClass="entr" presetSubtype="0" fill="hold" nodeType="clickEffect">
                                  <p:stCondLst>
                                    <p:cond delay="0"/>
                                  </p:stCondLst>
                                  <p:childTnLst>
                                    <p:set>
                                      <p:cBhvr>
                                        <p:cTn id="164" dur="1" fill="hold">
                                          <p:stCondLst>
                                            <p:cond delay="0"/>
                                          </p:stCondLst>
                                        </p:cTn>
                                        <p:tgtEl>
                                          <p:spTgt spid="5">
                                            <p:txEl>
                                              <p:pRg st="6" end="6"/>
                                            </p:txEl>
                                          </p:spTgt>
                                        </p:tgtEl>
                                        <p:attrNameLst>
                                          <p:attrName>style.visibility</p:attrName>
                                        </p:attrNameLst>
                                      </p:cBhvr>
                                      <p:to>
                                        <p:strVal val="visible"/>
                                      </p:to>
                                    </p:set>
                                    <p:animEffect transition="in" filter="fade">
                                      <p:cBhvr>
                                        <p:cTn id="165" dur="1000"/>
                                        <p:tgtEl>
                                          <p:spTgt spid="5">
                                            <p:txEl>
                                              <p:pRg st="6" end="6"/>
                                            </p:txEl>
                                          </p:spTgt>
                                        </p:tgtEl>
                                      </p:cBhvr>
                                    </p:animEffect>
                                    <p:anim calcmode="lin" valueType="num">
                                      <p:cBhvr>
                                        <p:cTn id="16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67"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9" dur="1" fill="hold">
                                          <p:stCondLst>
                                            <p:cond delay="0"/>
                                          </p:stCondLst>
                                        </p:cTn>
                                        <p:tgtEl>
                                          <p:spTgt spid="5">
                                            <p:txEl>
                                              <p:pRg st="7" end="7"/>
                                            </p:txEl>
                                          </p:spTgt>
                                        </p:tgtEl>
                                        <p:attrNameLst>
                                          <p:attrName>style.visibility</p:attrName>
                                        </p:attrNameLst>
                                      </p:cBhvr>
                                      <p:to>
                                        <p:strVal val="visible"/>
                                      </p:to>
                                    </p:set>
                                    <p:animEffect transition="in" filter="fade">
                                      <p:cBhvr>
                                        <p:cTn id="170" dur="1000"/>
                                        <p:tgtEl>
                                          <p:spTgt spid="5">
                                            <p:txEl>
                                              <p:pRg st="7" end="7"/>
                                            </p:txEl>
                                          </p:spTgt>
                                        </p:tgtEl>
                                      </p:cBhvr>
                                    </p:animEffect>
                                    <p:anim calcmode="lin" valueType="num">
                                      <p:cBhvr>
                                        <p:cTn id="171"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72"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1219594"/>
          </a:xfrm>
        </p:spPr>
        <p:txBody>
          <a:bodyPr/>
          <a:lstStyle/>
          <a:p>
            <a:pPr marL="0" indent="0">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    堆分配存储表示用一组地址连续的存储单元存放串字符序列</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它们的存储空间可以在程序执行过程中动态分配。</a:t>
            </a:r>
          </a:p>
        </p:txBody>
      </p:sp>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堆分配存储表示</a:t>
            </a:r>
          </a:p>
        </p:txBody>
      </p:sp>
    </p:spTree>
    <p:extLst>
      <p:ext uri="{BB962C8B-B14F-4D97-AF65-F5344CB8AC3E}">
        <p14:creationId xmlns:p14="http://schemas.microsoft.com/office/powerpoint/2010/main" val="2346891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9512" y="619185"/>
            <a:ext cx="9036496" cy="4524315"/>
          </a:xfrm>
          <a:prstGeom prst="rect">
            <a:avLst/>
          </a:prstGeom>
          <a:noFill/>
        </p:spPr>
        <p:txBody>
          <a:bodyPr wrap="square" rtlCol="0">
            <a:spAutoFit/>
          </a:bodyPr>
          <a:lstStyle/>
          <a:p>
            <a:r>
              <a:rPr lang="en-US" altLang="zh-CN" sz="1600" dirty="0"/>
              <a:t>class </a:t>
            </a:r>
            <a:r>
              <a:rPr lang="en-US" altLang="zh-CN" sz="1600" dirty="0" err="1"/>
              <a:t>HString</a:t>
            </a:r>
            <a:r>
              <a:rPr lang="en-US" altLang="zh-CN" sz="1600" dirty="0"/>
              <a:t>{</a:t>
            </a:r>
            <a:endParaRPr lang="zh-CN" altLang="zh-CN" sz="1600" dirty="0"/>
          </a:p>
          <a:p>
            <a:r>
              <a:rPr lang="en-US" altLang="zh-CN" sz="1600" dirty="0"/>
              <a:t>   </a:t>
            </a:r>
            <a:r>
              <a:rPr lang="en-US" altLang="zh-CN" sz="1600" dirty="0">
                <a:solidFill>
                  <a:srgbClr val="FF0000"/>
                </a:solidFill>
              </a:rPr>
              <a:t>private:</a:t>
            </a:r>
            <a:endParaRPr lang="zh-CN" altLang="zh-CN" sz="1600" dirty="0">
              <a:solidFill>
                <a:srgbClr val="FF0000"/>
              </a:solidFill>
            </a:endParaRPr>
          </a:p>
          <a:p>
            <a:r>
              <a:rPr lang="en-US" altLang="zh-CN" sz="1600" dirty="0">
                <a:solidFill>
                  <a:srgbClr val="FF0000"/>
                </a:solidFill>
              </a:rPr>
              <a:t>     char *</a:t>
            </a:r>
            <a:r>
              <a:rPr lang="en-US" altLang="zh-CN" sz="1600" dirty="0" err="1">
                <a:solidFill>
                  <a:srgbClr val="FF0000"/>
                </a:solidFill>
              </a:rPr>
              <a:t>ch</a:t>
            </a:r>
            <a:r>
              <a:rPr lang="en-US" altLang="zh-CN" sz="1600" dirty="0">
                <a:solidFill>
                  <a:srgbClr val="FF0000"/>
                </a:solidFill>
              </a:rPr>
              <a:t>;</a:t>
            </a:r>
            <a:endParaRPr lang="zh-CN" altLang="zh-CN" sz="1600" dirty="0">
              <a:solidFill>
                <a:srgbClr val="FF0000"/>
              </a:solidFill>
            </a:endParaRPr>
          </a:p>
          <a:p>
            <a:r>
              <a:rPr lang="en-US" altLang="zh-CN" sz="1600" dirty="0">
                <a:solidFill>
                  <a:srgbClr val="FF0000"/>
                </a:solidFill>
              </a:rPr>
              <a:t>     int length;</a:t>
            </a:r>
            <a:endParaRPr lang="zh-CN" altLang="zh-CN" sz="1600" dirty="0">
              <a:solidFill>
                <a:srgbClr val="FF0000"/>
              </a:solidFill>
            </a:endParaRPr>
          </a:p>
          <a:p>
            <a:r>
              <a:rPr lang="en-US" altLang="zh-CN" sz="1600" dirty="0"/>
              <a:t>   public:</a:t>
            </a:r>
            <a:endParaRPr lang="zh-CN" altLang="zh-CN" sz="1600" dirty="0"/>
          </a:p>
          <a:p>
            <a:r>
              <a:rPr lang="en-US" altLang="zh-CN" sz="1600" dirty="0"/>
              <a:t>     </a:t>
            </a:r>
            <a:r>
              <a:rPr lang="en-US" altLang="zh-CN" sz="1600" dirty="0" err="1"/>
              <a:t>HString</a:t>
            </a:r>
            <a:r>
              <a:rPr lang="en-US" altLang="zh-CN" sz="1600" dirty="0"/>
              <a:t>(){</a:t>
            </a:r>
            <a:r>
              <a:rPr lang="en-US" altLang="zh-CN" sz="1600" dirty="0" err="1"/>
              <a:t>ch</a:t>
            </a:r>
            <a:r>
              <a:rPr lang="en-US" altLang="zh-CN" sz="1600" dirty="0"/>
              <a:t>=</a:t>
            </a:r>
            <a:r>
              <a:rPr lang="en-US" altLang="zh-CN" sz="1600" dirty="0" err="1"/>
              <a:t>NULL;length</a:t>
            </a:r>
            <a:r>
              <a:rPr lang="en-US" altLang="zh-CN" sz="1600" dirty="0"/>
              <a:t>=0;}              //</a:t>
            </a:r>
            <a:r>
              <a:rPr lang="zh-CN" altLang="zh-CN" sz="1600" dirty="0"/>
              <a:t>创建空串</a:t>
            </a:r>
          </a:p>
          <a:p>
            <a:r>
              <a:rPr lang="en-US" altLang="zh-CN" sz="1600" dirty="0"/>
              <a:t>     ~</a:t>
            </a:r>
            <a:r>
              <a:rPr lang="en-US" altLang="zh-CN" sz="1600" dirty="0" err="1"/>
              <a:t>HString</a:t>
            </a:r>
            <a:r>
              <a:rPr lang="en-US" altLang="zh-CN" sz="1600" dirty="0"/>
              <a:t>(){delete </a:t>
            </a:r>
            <a:r>
              <a:rPr lang="en-US" altLang="zh-CN" sz="1600" dirty="0" err="1"/>
              <a:t>ch</a:t>
            </a:r>
            <a:r>
              <a:rPr lang="en-US" altLang="zh-CN" sz="1600" dirty="0"/>
              <a:t>;}                     //</a:t>
            </a:r>
            <a:r>
              <a:rPr lang="zh-CN" altLang="zh-CN" sz="1600" dirty="0"/>
              <a:t>销毁串</a:t>
            </a:r>
            <a:r>
              <a:rPr lang="en-US" altLang="zh-CN" sz="1600" dirty="0"/>
              <a:t>s</a:t>
            </a:r>
            <a:endParaRPr lang="zh-CN" altLang="zh-CN" sz="1600" dirty="0"/>
          </a:p>
          <a:p>
            <a:r>
              <a:rPr lang="en-US" altLang="zh-CN" sz="1600" dirty="0"/>
              <a:t>     void </a:t>
            </a:r>
            <a:r>
              <a:rPr lang="en-US" altLang="zh-CN" sz="1600" dirty="0" err="1"/>
              <a:t>StrAssign</a:t>
            </a:r>
            <a:r>
              <a:rPr lang="en-US" altLang="zh-CN" sz="1600" dirty="0"/>
              <a:t>(</a:t>
            </a:r>
            <a:r>
              <a:rPr lang="en-US" altLang="zh-CN" sz="1600" dirty="0" err="1"/>
              <a:t>HString</a:t>
            </a:r>
            <a:r>
              <a:rPr lang="en-US" altLang="zh-CN" sz="1600" dirty="0"/>
              <a:t> &amp;</a:t>
            </a:r>
            <a:r>
              <a:rPr lang="en-US" altLang="zh-CN" sz="1600" dirty="0" err="1"/>
              <a:t>s,char</a:t>
            </a:r>
            <a:r>
              <a:rPr lang="en-US" altLang="zh-CN" sz="1600" dirty="0"/>
              <a:t> *</a:t>
            </a:r>
            <a:r>
              <a:rPr lang="en-US" altLang="zh-CN" sz="1600" dirty="0" err="1"/>
              <a:t>str</a:t>
            </a:r>
            <a:r>
              <a:rPr lang="en-US" altLang="zh-CN" sz="1600" dirty="0"/>
              <a:t>);         //</a:t>
            </a:r>
            <a:r>
              <a:rPr lang="zh-CN" altLang="zh-CN" sz="1600" dirty="0"/>
              <a:t>串赋值</a:t>
            </a:r>
          </a:p>
          <a:p>
            <a:r>
              <a:rPr lang="en-US" altLang="zh-CN" sz="1600" dirty="0"/>
              <a:t>     void </a:t>
            </a:r>
            <a:r>
              <a:rPr lang="en-US" altLang="zh-CN" sz="1600" dirty="0" err="1"/>
              <a:t>StrCopy</a:t>
            </a:r>
            <a:r>
              <a:rPr lang="en-US" altLang="zh-CN" sz="1600" dirty="0"/>
              <a:t>(</a:t>
            </a:r>
            <a:r>
              <a:rPr lang="en-US" altLang="zh-CN" sz="1600" dirty="0" err="1"/>
              <a:t>HString</a:t>
            </a:r>
            <a:r>
              <a:rPr lang="en-US" altLang="zh-CN" sz="1600" dirty="0"/>
              <a:t> &amp;</a:t>
            </a:r>
            <a:r>
              <a:rPr lang="en-US" altLang="zh-CN" sz="1600" dirty="0" err="1"/>
              <a:t>s,HString</a:t>
            </a:r>
            <a:r>
              <a:rPr lang="en-US" altLang="zh-CN" sz="1600" dirty="0"/>
              <a:t> t);          //</a:t>
            </a:r>
            <a:r>
              <a:rPr lang="zh-CN" altLang="zh-CN" sz="1600" dirty="0"/>
              <a:t>把串</a:t>
            </a:r>
            <a:r>
              <a:rPr lang="en-US" altLang="zh-CN" sz="1600" dirty="0"/>
              <a:t>t</a:t>
            </a:r>
            <a:r>
              <a:rPr lang="zh-CN" altLang="zh-CN" sz="1600" dirty="0"/>
              <a:t>拷贝给</a:t>
            </a:r>
            <a:r>
              <a:rPr lang="en-US" altLang="zh-CN" sz="1600" dirty="0"/>
              <a:t>s</a:t>
            </a:r>
            <a:endParaRPr lang="zh-CN" altLang="zh-CN" sz="1600" dirty="0"/>
          </a:p>
          <a:p>
            <a:r>
              <a:rPr lang="en-US" altLang="zh-CN" sz="1600" dirty="0"/>
              <a:t>     </a:t>
            </a:r>
            <a:r>
              <a:rPr lang="en-US" altLang="zh-CN" sz="1600" dirty="0" err="1"/>
              <a:t>int</a:t>
            </a:r>
            <a:r>
              <a:rPr lang="en-US" altLang="zh-CN" sz="1600" dirty="0"/>
              <a:t> </a:t>
            </a:r>
            <a:r>
              <a:rPr lang="en-US" altLang="zh-CN" sz="1600" dirty="0" err="1"/>
              <a:t>StrLength</a:t>
            </a:r>
            <a:r>
              <a:rPr lang="en-US" altLang="zh-CN" sz="1600" dirty="0"/>
              <a:t>(</a:t>
            </a:r>
            <a:r>
              <a:rPr lang="en-US" altLang="zh-CN" sz="1600" dirty="0" err="1"/>
              <a:t>HString</a:t>
            </a:r>
            <a:r>
              <a:rPr lang="en-US" altLang="zh-CN" sz="1600" dirty="0"/>
              <a:t> s){return </a:t>
            </a:r>
            <a:r>
              <a:rPr lang="en-US" altLang="zh-CN" sz="1600" dirty="0" err="1"/>
              <a:t>s.length</a:t>
            </a:r>
            <a:r>
              <a:rPr lang="en-US" altLang="zh-CN" sz="1600" dirty="0"/>
              <a:t>;}      //</a:t>
            </a:r>
            <a:r>
              <a:rPr lang="zh-CN" altLang="zh-CN" sz="1600" dirty="0"/>
              <a:t>返回串的长度</a:t>
            </a:r>
          </a:p>
          <a:p>
            <a:r>
              <a:rPr lang="en-US" altLang="zh-CN" sz="1600" dirty="0"/>
              <a:t>     </a:t>
            </a:r>
            <a:r>
              <a:rPr lang="en-US" altLang="zh-CN" sz="1600" dirty="0" err="1"/>
              <a:t>int</a:t>
            </a:r>
            <a:r>
              <a:rPr lang="en-US" altLang="zh-CN" sz="1600" dirty="0"/>
              <a:t> </a:t>
            </a:r>
            <a:r>
              <a:rPr lang="en-US" altLang="zh-CN" sz="1600" dirty="0" err="1"/>
              <a:t>StrCompare</a:t>
            </a:r>
            <a:r>
              <a:rPr lang="en-US" altLang="zh-CN" sz="1600" dirty="0"/>
              <a:t>(</a:t>
            </a:r>
            <a:r>
              <a:rPr lang="en-US" altLang="zh-CN" sz="1600" dirty="0" err="1"/>
              <a:t>HString</a:t>
            </a:r>
            <a:r>
              <a:rPr lang="en-US" altLang="zh-CN" sz="1600" dirty="0"/>
              <a:t> </a:t>
            </a:r>
            <a:r>
              <a:rPr lang="en-US" altLang="zh-CN" sz="1600" dirty="0" err="1"/>
              <a:t>s,HString</a:t>
            </a:r>
            <a:r>
              <a:rPr lang="en-US" altLang="zh-CN" sz="1600" dirty="0"/>
              <a:t> t</a:t>
            </a:r>
            <a:r>
              <a:rPr lang="en-US" altLang="zh-CN" sz="1200" dirty="0"/>
              <a:t>);  //</a:t>
            </a:r>
            <a:r>
              <a:rPr lang="zh-CN" altLang="zh-CN" sz="1200" dirty="0"/>
              <a:t>串的比较，若</a:t>
            </a:r>
            <a:r>
              <a:rPr lang="en-US" altLang="zh-CN" sz="1200" dirty="0"/>
              <a:t>s==t</a:t>
            </a:r>
            <a:r>
              <a:rPr lang="zh-CN" altLang="zh-CN" sz="1200" dirty="0"/>
              <a:t>，则返回</a:t>
            </a:r>
            <a:r>
              <a:rPr lang="en-US" altLang="zh-CN" sz="1200" dirty="0"/>
              <a:t>0</a:t>
            </a:r>
            <a:r>
              <a:rPr lang="zh-CN" altLang="zh-CN" sz="1200" dirty="0"/>
              <a:t>；若</a:t>
            </a:r>
            <a:r>
              <a:rPr lang="en-US" altLang="zh-CN" sz="1200" dirty="0"/>
              <a:t>s&gt;t</a:t>
            </a:r>
            <a:r>
              <a:rPr lang="zh-CN" altLang="zh-CN" sz="1200" dirty="0"/>
              <a:t>，则返回值</a:t>
            </a:r>
            <a:r>
              <a:rPr lang="en-US" altLang="zh-CN" sz="1200" dirty="0"/>
              <a:t>&gt;0</a:t>
            </a:r>
            <a:r>
              <a:rPr lang="zh-CN" altLang="zh-CN" sz="1200" dirty="0"/>
              <a:t>；否则返回值</a:t>
            </a:r>
            <a:r>
              <a:rPr lang="en-US" altLang="zh-CN" sz="1200" dirty="0"/>
              <a:t>&lt;0</a:t>
            </a:r>
            <a:endParaRPr lang="zh-CN" altLang="zh-CN" sz="1200" dirty="0"/>
          </a:p>
          <a:p>
            <a:r>
              <a:rPr lang="en-US" altLang="zh-CN" sz="1600" dirty="0"/>
              <a:t>     void </a:t>
            </a:r>
            <a:r>
              <a:rPr lang="en-US" altLang="zh-CN" sz="1600" dirty="0" err="1"/>
              <a:t>StrConcat</a:t>
            </a:r>
            <a:r>
              <a:rPr lang="en-US" altLang="zh-CN" sz="1600" dirty="0"/>
              <a:t>(</a:t>
            </a:r>
            <a:r>
              <a:rPr lang="en-US" altLang="zh-CN" sz="1600" dirty="0" err="1"/>
              <a:t>HString</a:t>
            </a:r>
            <a:r>
              <a:rPr lang="en-US" altLang="zh-CN" sz="1600" dirty="0"/>
              <a:t> &amp;</a:t>
            </a:r>
            <a:r>
              <a:rPr lang="en-US" altLang="zh-CN" sz="1600" dirty="0" err="1"/>
              <a:t>s,HString</a:t>
            </a:r>
            <a:r>
              <a:rPr lang="en-US" altLang="zh-CN" sz="1600" dirty="0"/>
              <a:t> s1,HString s2); //</a:t>
            </a:r>
            <a:r>
              <a:rPr lang="zh-CN" altLang="zh-CN" sz="1600" dirty="0"/>
              <a:t>两个串</a:t>
            </a:r>
            <a:r>
              <a:rPr lang="en-US" altLang="zh-CN" sz="1600" dirty="0"/>
              <a:t>s1</a:t>
            </a:r>
            <a:r>
              <a:rPr lang="zh-CN" altLang="zh-CN" sz="1600" dirty="0"/>
              <a:t>和</a:t>
            </a:r>
            <a:r>
              <a:rPr lang="en-US" altLang="zh-CN" sz="1600" dirty="0"/>
              <a:t>s2</a:t>
            </a:r>
            <a:r>
              <a:rPr lang="zh-CN" altLang="zh-CN" sz="1600" dirty="0"/>
              <a:t>的连接</a:t>
            </a:r>
          </a:p>
          <a:p>
            <a:r>
              <a:rPr lang="en-US" altLang="zh-CN" sz="1600" dirty="0"/>
              <a:t>     void </a:t>
            </a:r>
            <a:r>
              <a:rPr lang="en-US" altLang="zh-CN" sz="1600" dirty="0" err="1"/>
              <a:t>SubString</a:t>
            </a:r>
            <a:r>
              <a:rPr lang="en-US" altLang="zh-CN" sz="1600" dirty="0"/>
              <a:t>(</a:t>
            </a:r>
            <a:r>
              <a:rPr lang="en-US" altLang="zh-CN" sz="1600" dirty="0" err="1"/>
              <a:t>HString</a:t>
            </a:r>
            <a:r>
              <a:rPr lang="en-US" altLang="zh-CN" sz="1600" dirty="0"/>
              <a:t> &amp;</a:t>
            </a:r>
            <a:r>
              <a:rPr lang="en-US" altLang="zh-CN" sz="1600" dirty="0" err="1"/>
              <a:t>sub,HString</a:t>
            </a:r>
            <a:r>
              <a:rPr lang="en-US" altLang="zh-CN" sz="1600" dirty="0"/>
              <a:t> </a:t>
            </a:r>
            <a:r>
              <a:rPr lang="en-US" altLang="zh-CN" sz="1600" dirty="0" err="1"/>
              <a:t>s,int</a:t>
            </a:r>
            <a:r>
              <a:rPr lang="en-US" altLang="zh-CN" sz="1600" dirty="0"/>
              <a:t> </a:t>
            </a:r>
            <a:r>
              <a:rPr lang="en-US" altLang="zh-CN" sz="1600" dirty="0" err="1"/>
              <a:t>pos</a:t>
            </a:r>
            <a:r>
              <a:rPr lang="en-US" altLang="zh-CN" sz="1600" dirty="0"/>
              <a:t>, </a:t>
            </a:r>
            <a:r>
              <a:rPr lang="en-US" altLang="zh-CN" sz="1600" dirty="0" err="1"/>
              <a:t>int</a:t>
            </a:r>
            <a:r>
              <a:rPr lang="en-US" altLang="zh-CN" sz="1600" dirty="0"/>
              <a:t> </a:t>
            </a:r>
            <a:r>
              <a:rPr lang="en-US" altLang="zh-CN" sz="1600" dirty="0" err="1"/>
              <a:t>len</a:t>
            </a:r>
            <a:r>
              <a:rPr lang="en-US" altLang="zh-CN" sz="1600" dirty="0"/>
              <a:t>); </a:t>
            </a:r>
            <a:r>
              <a:rPr lang="en-US" altLang="zh-CN" sz="1200" dirty="0"/>
              <a:t>//</a:t>
            </a:r>
            <a:r>
              <a:rPr lang="zh-CN" altLang="zh-CN" sz="1200" dirty="0"/>
              <a:t>用</a:t>
            </a:r>
            <a:r>
              <a:rPr lang="en-US" altLang="zh-CN" sz="1200" dirty="0"/>
              <a:t>sub</a:t>
            </a:r>
            <a:r>
              <a:rPr lang="zh-CN" altLang="zh-CN" sz="1200" dirty="0"/>
              <a:t>返回串</a:t>
            </a:r>
            <a:r>
              <a:rPr lang="en-US" altLang="zh-CN" sz="1200" dirty="0"/>
              <a:t>s</a:t>
            </a:r>
            <a:r>
              <a:rPr lang="zh-CN" altLang="zh-CN" sz="1200" dirty="0"/>
              <a:t>中第</a:t>
            </a:r>
            <a:r>
              <a:rPr lang="en-US" altLang="zh-CN" sz="1200" dirty="0" err="1"/>
              <a:t>pos</a:t>
            </a:r>
            <a:r>
              <a:rPr lang="zh-CN" altLang="zh-CN" sz="1200" dirty="0"/>
              <a:t>个字符开始长度为</a:t>
            </a:r>
            <a:r>
              <a:rPr lang="en-US" altLang="zh-CN" sz="1200" dirty="0" err="1"/>
              <a:t>len</a:t>
            </a:r>
            <a:r>
              <a:rPr lang="zh-CN" altLang="zh-CN" sz="1200" dirty="0"/>
              <a:t>的子串</a:t>
            </a:r>
          </a:p>
          <a:p>
            <a:r>
              <a:rPr lang="en-US" altLang="zh-CN" sz="1600" dirty="0"/>
              <a:t>     void </a:t>
            </a:r>
            <a:r>
              <a:rPr lang="en-US" altLang="zh-CN" sz="1600" dirty="0" err="1"/>
              <a:t>StrInsert</a:t>
            </a:r>
            <a:r>
              <a:rPr lang="en-US" altLang="zh-CN" sz="1600" dirty="0"/>
              <a:t>(</a:t>
            </a:r>
            <a:r>
              <a:rPr lang="en-US" altLang="zh-CN" sz="1600" dirty="0" err="1"/>
              <a:t>HString</a:t>
            </a:r>
            <a:r>
              <a:rPr lang="en-US" altLang="zh-CN" sz="1600" dirty="0"/>
              <a:t> &amp;</a:t>
            </a:r>
            <a:r>
              <a:rPr lang="en-US" altLang="zh-CN" sz="1600" dirty="0" err="1"/>
              <a:t>s,int</a:t>
            </a:r>
            <a:r>
              <a:rPr lang="en-US" altLang="zh-CN" sz="1600" dirty="0"/>
              <a:t> </a:t>
            </a:r>
            <a:r>
              <a:rPr lang="en-US" altLang="zh-CN" sz="1600" dirty="0" err="1"/>
              <a:t>pos,HString</a:t>
            </a:r>
            <a:r>
              <a:rPr lang="en-US" altLang="zh-CN" sz="1600" dirty="0"/>
              <a:t> t);   //</a:t>
            </a:r>
            <a:r>
              <a:rPr lang="zh-CN" altLang="zh-CN" sz="1600" dirty="0"/>
              <a:t>在串</a:t>
            </a:r>
            <a:r>
              <a:rPr lang="en-US" altLang="zh-CN" sz="1600" dirty="0"/>
              <a:t>s</a:t>
            </a:r>
            <a:r>
              <a:rPr lang="zh-CN" altLang="zh-CN" sz="1600" dirty="0"/>
              <a:t>的第</a:t>
            </a:r>
            <a:r>
              <a:rPr lang="en-US" altLang="zh-CN" sz="1600" dirty="0" err="1"/>
              <a:t>pos</a:t>
            </a:r>
            <a:r>
              <a:rPr lang="zh-CN" altLang="zh-CN" sz="1600" dirty="0"/>
              <a:t>个字符前插入串</a:t>
            </a:r>
            <a:r>
              <a:rPr lang="en-US" altLang="zh-CN" sz="1600" dirty="0"/>
              <a:t>t</a:t>
            </a:r>
            <a:endParaRPr lang="zh-CN" altLang="zh-CN" sz="1600" dirty="0"/>
          </a:p>
          <a:p>
            <a:r>
              <a:rPr lang="en-US" altLang="zh-CN" sz="1600" dirty="0"/>
              <a:t>     void </a:t>
            </a:r>
            <a:r>
              <a:rPr lang="en-US" altLang="zh-CN" sz="1600" dirty="0" err="1"/>
              <a:t>StrDelete</a:t>
            </a:r>
            <a:r>
              <a:rPr lang="en-US" altLang="zh-CN" sz="1600" dirty="0"/>
              <a:t>(</a:t>
            </a:r>
            <a:r>
              <a:rPr lang="en-US" altLang="zh-CN" sz="1600" dirty="0" err="1"/>
              <a:t>HString</a:t>
            </a:r>
            <a:r>
              <a:rPr lang="en-US" altLang="zh-CN" sz="1600" dirty="0"/>
              <a:t> &amp;</a:t>
            </a:r>
            <a:r>
              <a:rPr lang="en-US" altLang="zh-CN" sz="1600" dirty="0" err="1"/>
              <a:t>s,int</a:t>
            </a:r>
            <a:r>
              <a:rPr lang="en-US" altLang="zh-CN" sz="1600" dirty="0"/>
              <a:t> </a:t>
            </a:r>
            <a:r>
              <a:rPr lang="en-US" altLang="zh-CN" sz="1600" dirty="0" err="1"/>
              <a:t>pos,int</a:t>
            </a:r>
            <a:r>
              <a:rPr lang="en-US" altLang="zh-CN" sz="1600" dirty="0"/>
              <a:t> </a:t>
            </a:r>
            <a:r>
              <a:rPr lang="en-US" altLang="zh-CN" sz="1600" dirty="0" err="1"/>
              <a:t>len</a:t>
            </a:r>
            <a:r>
              <a:rPr lang="en-US" altLang="zh-CN" sz="1600" dirty="0"/>
              <a:t>)</a:t>
            </a:r>
            <a:r>
              <a:rPr lang="zh-CN" altLang="zh-CN" sz="1600" dirty="0"/>
              <a:t>；</a:t>
            </a:r>
            <a:r>
              <a:rPr lang="en-US" altLang="zh-CN" sz="1600" dirty="0"/>
              <a:t>//</a:t>
            </a:r>
            <a:r>
              <a:rPr lang="zh-CN" altLang="zh-CN" sz="1600" dirty="0"/>
              <a:t>删除串</a:t>
            </a:r>
            <a:r>
              <a:rPr lang="en-US" altLang="zh-CN" sz="1600" dirty="0"/>
              <a:t>s</a:t>
            </a:r>
            <a:r>
              <a:rPr lang="zh-CN" altLang="zh-CN" sz="1600" dirty="0"/>
              <a:t>中第</a:t>
            </a:r>
            <a:r>
              <a:rPr lang="en-US" altLang="zh-CN" sz="1600" dirty="0" err="1"/>
              <a:t>pos</a:t>
            </a:r>
            <a:r>
              <a:rPr lang="zh-CN" altLang="zh-CN" sz="1600" dirty="0"/>
              <a:t>个字符开始长度为</a:t>
            </a:r>
            <a:r>
              <a:rPr lang="en-US" altLang="zh-CN" sz="1600" dirty="0" err="1"/>
              <a:t>len</a:t>
            </a:r>
            <a:r>
              <a:rPr lang="zh-CN" altLang="zh-CN" sz="1600" dirty="0"/>
              <a:t>的子串</a:t>
            </a:r>
          </a:p>
          <a:p>
            <a:r>
              <a:rPr lang="en-US" altLang="zh-CN" sz="1600" dirty="0"/>
              <a:t>     void </a:t>
            </a:r>
            <a:r>
              <a:rPr lang="en-US" altLang="zh-CN" sz="1600" dirty="0" err="1"/>
              <a:t>StrReplace</a:t>
            </a:r>
            <a:r>
              <a:rPr lang="en-US" altLang="zh-CN" sz="1600" dirty="0"/>
              <a:t>(</a:t>
            </a:r>
            <a:r>
              <a:rPr lang="en-US" altLang="zh-CN" sz="1600" dirty="0" err="1"/>
              <a:t>HString</a:t>
            </a:r>
            <a:r>
              <a:rPr lang="en-US" altLang="zh-CN" sz="1600" dirty="0"/>
              <a:t> &amp;</a:t>
            </a:r>
            <a:r>
              <a:rPr lang="en-US" altLang="zh-CN" sz="1600" dirty="0" err="1"/>
              <a:t>s,int</a:t>
            </a:r>
            <a:r>
              <a:rPr lang="en-US" altLang="zh-CN" sz="1600" dirty="0"/>
              <a:t> </a:t>
            </a:r>
            <a:r>
              <a:rPr lang="en-US" altLang="zh-CN" sz="1600" dirty="0" err="1"/>
              <a:t>pos,int</a:t>
            </a:r>
            <a:r>
              <a:rPr lang="en-US" altLang="zh-CN" sz="1600" dirty="0"/>
              <a:t> </a:t>
            </a:r>
            <a:r>
              <a:rPr lang="en-US" altLang="zh-CN" sz="1600" dirty="0" err="1"/>
              <a:t>len,HString</a:t>
            </a:r>
            <a:r>
              <a:rPr lang="en-US" altLang="zh-CN" sz="1600" dirty="0"/>
              <a:t> t); </a:t>
            </a:r>
            <a:r>
              <a:rPr lang="en-US" altLang="zh-CN" sz="1200" dirty="0"/>
              <a:t>//</a:t>
            </a:r>
            <a:r>
              <a:rPr lang="zh-CN" altLang="zh-CN" sz="1200" dirty="0"/>
              <a:t>将</a:t>
            </a:r>
            <a:r>
              <a:rPr lang="en-US" altLang="zh-CN" sz="1200" dirty="0"/>
              <a:t>s</a:t>
            </a:r>
            <a:r>
              <a:rPr lang="zh-CN" altLang="zh-CN" sz="1200" dirty="0"/>
              <a:t>中第</a:t>
            </a:r>
            <a:r>
              <a:rPr lang="en-US" altLang="zh-CN" sz="1200" dirty="0" err="1"/>
              <a:t>pos</a:t>
            </a:r>
            <a:r>
              <a:rPr lang="zh-CN" altLang="zh-CN" sz="1200" dirty="0"/>
              <a:t>字符开始的</a:t>
            </a:r>
            <a:r>
              <a:rPr lang="en-US" altLang="zh-CN" sz="1200" dirty="0" err="1"/>
              <a:t>len</a:t>
            </a:r>
            <a:r>
              <a:rPr lang="zh-CN" altLang="zh-CN" sz="1200" dirty="0"/>
              <a:t>个字符子串用串</a:t>
            </a:r>
            <a:r>
              <a:rPr lang="en-US" altLang="zh-CN" sz="1200" dirty="0"/>
              <a:t>t</a:t>
            </a:r>
            <a:r>
              <a:rPr lang="zh-CN" altLang="zh-CN" sz="1200" dirty="0"/>
              <a:t>替换</a:t>
            </a:r>
            <a:endParaRPr lang="zh-CN" altLang="zh-CN" sz="1600" dirty="0"/>
          </a:p>
          <a:p>
            <a:r>
              <a:rPr lang="en-US" altLang="zh-CN" sz="1600" dirty="0"/>
              <a:t>};</a:t>
            </a:r>
            <a:endParaRPr lang="zh-CN" altLang="zh-CN" sz="1600" dirty="0"/>
          </a:p>
          <a:p>
            <a:endParaRPr lang="zh-CN" altLang="en-US" sz="1600" dirty="0"/>
          </a:p>
        </p:txBody>
      </p:sp>
      <p:sp>
        <p:nvSpPr>
          <p:cNvPr id="6" name="文本框 5"/>
          <p:cNvSpPr txBox="1"/>
          <p:nvPr/>
        </p:nvSpPr>
        <p:spPr>
          <a:xfrm>
            <a:off x="5652120" y="1203598"/>
            <a:ext cx="2304256" cy="369332"/>
          </a:xfrm>
          <a:prstGeom prst="rect">
            <a:avLst/>
          </a:prstGeom>
          <a:noFill/>
        </p:spPr>
        <p:txBody>
          <a:bodyPr wrap="square" rtlCol="0">
            <a:spAutoFit/>
          </a:bodyPr>
          <a:lstStyle/>
          <a:p>
            <a:r>
              <a:rPr lang="zh-CN" altLang="en-US" dirty="0">
                <a:solidFill>
                  <a:srgbClr val="FF0000"/>
                </a:solidFill>
                <a:latin typeface="新宋体" panose="02010609030101010101" pitchFamily="49" charset="-122"/>
                <a:ea typeface="新宋体" panose="02010609030101010101" pitchFamily="49" charset="-122"/>
                <a:hlinkClick r:id="rId2" action="ppaction://hlinkfile"/>
              </a:rPr>
              <a:t>堆分配表示实现链接</a:t>
            </a:r>
            <a:endParaRPr lang="zh-CN" altLang="en-US" dirty="0">
              <a:solidFill>
                <a:srgbClr val="FF0000"/>
              </a:solidFill>
              <a:latin typeface="新宋体" panose="02010609030101010101" pitchFamily="49" charset="-122"/>
              <a:ea typeface="新宋体" panose="02010609030101010101" pitchFamily="49" charset="-122"/>
            </a:endParaRPr>
          </a:p>
        </p:txBody>
      </p:sp>
      <p:sp>
        <p:nvSpPr>
          <p:cNvPr id="5" name="文本框 4"/>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堆分配存储表示类定义</a:t>
            </a:r>
          </a:p>
        </p:txBody>
      </p:sp>
    </p:spTree>
    <p:extLst>
      <p:ext uri="{BB962C8B-B14F-4D97-AF65-F5344CB8AC3E}">
        <p14:creationId xmlns:p14="http://schemas.microsoft.com/office/powerpoint/2010/main" val="5573307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1000"/>
                                        <p:tgtEl>
                                          <p:spTgt spid="4">
                                            <p:txEl>
                                              <p:pRg st="5" end="5"/>
                                            </p:txEl>
                                          </p:spTgt>
                                        </p:tgtEl>
                                      </p:cBhvr>
                                    </p:animEffect>
                                    <p:anim calcmode="lin" valueType="num">
                                      <p:cBhvr>
                                        <p:cTn id="3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1000"/>
                                        <p:tgtEl>
                                          <p:spTgt spid="4">
                                            <p:txEl>
                                              <p:pRg st="6" end="6"/>
                                            </p:txEl>
                                          </p:spTgt>
                                        </p:tgtEl>
                                      </p:cBhvr>
                                    </p:animEffect>
                                    <p:anim calcmode="lin" valueType="num">
                                      <p:cBhvr>
                                        <p:cTn id="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fade">
                                      <p:cBhvr>
                                        <p:cTn id="49" dur="1000"/>
                                        <p:tgtEl>
                                          <p:spTgt spid="4">
                                            <p:txEl>
                                              <p:pRg st="7" end="7"/>
                                            </p:txEl>
                                          </p:spTgt>
                                        </p:tgtEl>
                                      </p:cBhvr>
                                    </p:animEffect>
                                    <p:anim calcmode="lin" valueType="num">
                                      <p:cBhvr>
                                        <p:cTn id="5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Effect transition="in" filter="fade">
                                      <p:cBhvr>
                                        <p:cTn id="56" dur="1000"/>
                                        <p:tgtEl>
                                          <p:spTgt spid="4">
                                            <p:txEl>
                                              <p:pRg st="8" end="8"/>
                                            </p:txEl>
                                          </p:spTgt>
                                        </p:tgtEl>
                                      </p:cBhvr>
                                    </p:animEffect>
                                    <p:anim calcmode="lin" valueType="num">
                                      <p:cBhvr>
                                        <p:cTn id="5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4">
                                            <p:txEl>
                                              <p:pRg st="9" end="9"/>
                                            </p:txEl>
                                          </p:spTgt>
                                        </p:tgtEl>
                                        <p:attrNameLst>
                                          <p:attrName>style.visibility</p:attrName>
                                        </p:attrNameLst>
                                      </p:cBhvr>
                                      <p:to>
                                        <p:strVal val="visible"/>
                                      </p:to>
                                    </p:set>
                                    <p:animEffect transition="in" filter="fade">
                                      <p:cBhvr>
                                        <p:cTn id="63" dur="1000"/>
                                        <p:tgtEl>
                                          <p:spTgt spid="4">
                                            <p:txEl>
                                              <p:pRg st="9" end="9"/>
                                            </p:txEl>
                                          </p:spTgt>
                                        </p:tgtEl>
                                      </p:cBhvr>
                                    </p:animEffect>
                                    <p:anim calcmode="lin" valueType="num">
                                      <p:cBhvr>
                                        <p:cTn id="6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10" end="10"/>
                                            </p:txEl>
                                          </p:spTgt>
                                        </p:tgtEl>
                                        <p:attrNameLst>
                                          <p:attrName>style.visibility</p:attrName>
                                        </p:attrNameLst>
                                      </p:cBhvr>
                                      <p:to>
                                        <p:strVal val="visible"/>
                                      </p:to>
                                    </p:set>
                                    <p:animEffect transition="in" filter="fade">
                                      <p:cBhvr>
                                        <p:cTn id="70" dur="1000"/>
                                        <p:tgtEl>
                                          <p:spTgt spid="4">
                                            <p:txEl>
                                              <p:pRg st="10" end="10"/>
                                            </p:txEl>
                                          </p:spTgt>
                                        </p:tgtEl>
                                      </p:cBhvr>
                                    </p:animEffect>
                                    <p:anim calcmode="lin" valueType="num">
                                      <p:cBhvr>
                                        <p:cTn id="71"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4">
                                            <p:txEl>
                                              <p:pRg st="11" end="11"/>
                                            </p:txEl>
                                          </p:spTgt>
                                        </p:tgtEl>
                                        <p:attrNameLst>
                                          <p:attrName>style.visibility</p:attrName>
                                        </p:attrNameLst>
                                      </p:cBhvr>
                                      <p:to>
                                        <p:strVal val="visible"/>
                                      </p:to>
                                    </p:set>
                                    <p:animEffect transition="in" filter="fade">
                                      <p:cBhvr>
                                        <p:cTn id="77" dur="1000"/>
                                        <p:tgtEl>
                                          <p:spTgt spid="4">
                                            <p:txEl>
                                              <p:pRg st="11" end="11"/>
                                            </p:txEl>
                                          </p:spTgt>
                                        </p:tgtEl>
                                      </p:cBhvr>
                                    </p:animEffect>
                                    <p:anim calcmode="lin" valueType="num">
                                      <p:cBhvr>
                                        <p:cTn id="78"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4">
                                            <p:txEl>
                                              <p:pRg st="12" end="12"/>
                                            </p:txEl>
                                          </p:spTgt>
                                        </p:tgtEl>
                                        <p:attrNameLst>
                                          <p:attrName>style.visibility</p:attrName>
                                        </p:attrNameLst>
                                      </p:cBhvr>
                                      <p:to>
                                        <p:strVal val="visible"/>
                                      </p:to>
                                    </p:set>
                                    <p:animEffect transition="in" filter="fade">
                                      <p:cBhvr>
                                        <p:cTn id="84" dur="1000"/>
                                        <p:tgtEl>
                                          <p:spTgt spid="4">
                                            <p:txEl>
                                              <p:pRg st="12" end="12"/>
                                            </p:txEl>
                                          </p:spTgt>
                                        </p:tgtEl>
                                      </p:cBhvr>
                                    </p:animEffect>
                                    <p:anim calcmode="lin" valueType="num">
                                      <p:cBhvr>
                                        <p:cTn id="85"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13" end="13"/>
                                            </p:txEl>
                                          </p:spTgt>
                                        </p:tgtEl>
                                        <p:attrNameLst>
                                          <p:attrName>style.visibility</p:attrName>
                                        </p:attrNameLst>
                                      </p:cBhvr>
                                      <p:to>
                                        <p:strVal val="visible"/>
                                      </p:to>
                                    </p:set>
                                    <p:animEffect transition="in" filter="fade">
                                      <p:cBhvr>
                                        <p:cTn id="91" dur="1000"/>
                                        <p:tgtEl>
                                          <p:spTgt spid="4">
                                            <p:txEl>
                                              <p:pRg st="13" end="13"/>
                                            </p:txEl>
                                          </p:spTgt>
                                        </p:tgtEl>
                                      </p:cBhvr>
                                    </p:animEffect>
                                    <p:anim calcmode="lin" valueType="num">
                                      <p:cBhvr>
                                        <p:cTn id="92"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14" end="14"/>
                                            </p:txEl>
                                          </p:spTgt>
                                        </p:tgtEl>
                                        <p:attrNameLst>
                                          <p:attrName>style.visibility</p:attrName>
                                        </p:attrNameLst>
                                      </p:cBhvr>
                                      <p:to>
                                        <p:strVal val="visible"/>
                                      </p:to>
                                    </p:set>
                                    <p:animEffect transition="in" filter="fade">
                                      <p:cBhvr>
                                        <p:cTn id="98" dur="1000"/>
                                        <p:tgtEl>
                                          <p:spTgt spid="4">
                                            <p:txEl>
                                              <p:pRg st="14" end="14"/>
                                            </p:txEl>
                                          </p:spTgt>
                                        </p:tgtEl>
                                      </p:cBhvr>
                                    </p:animEffect>
                                    <p:anim calcmode="lin" valueType="num">
                                      <p:cBhvr>
                                        <p:cTn id="99"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15" end="15"/>
                                            </p:txEl>
                                          </p:spTgt>
                                        </p:tgtEl>
                                        <p:attrNameLst>
                                          <p:attrName>style.visibility</p:attrName>
                                        </p:attrNameLst>
                                      </p:cBhvr>
                                      <p:to>
                                        <p:strVal val="visible"/>
                                      </p:to>
                                    </p:set>
                                    <p:animEffect transition="in" filter="fade">
                                      <p:cBhvr>
                                        <p:cTn id="105" dur="1000"/>
                                        <p:tgtEl>
                                          <p:spTgt spid="4">
                                            <p:txEl>
                                              <p:pRg st="15" end="15"/>
                                            </p:txEl>
                                          </p:spTgt>
                                        </p:tgtEl>
                                      </p:cBhvr>
                                    </p:animEffect>
                                    <p:anim calcmode="lin" valueType="num">
                                      <p:cBhvr>
                                        <p:cTn id="106"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16" end="16"/>
                                            </p:txEl>
                                          </p:spTgt>
                                        </p:tgtEl>
                                        <p:attrNameLst>
                                          <p:attrName>style.visibility</p:attrName>
                                        </p:attrNameLst>
                                      </p:cBhvr>
                                      <p:to>
                                        <p:strVal val="visible"/>
                                      </p:to>
                                    </p:set>
                                    <p:animEffect transition="in" filter="fade">
                                      <p:cBhvr>
                                        <p:cTn id="110" dur="1000"/>
                                        <p:tgtEl>
                                          <p:spTgt spid="4">
                                            <p:txEl>
                                              <p:pRg st="16" end="16"/>
                                            </p:txEl>
                                          </p:spTgt>
                                        </p:tgtEl>
                                      </p:cBhvr>
                                    </p:animEffect>
                                    <p:anim calcmode="lin" valueType="num">
                                      <p:cBhvr>
                                        <p:cTn id="111"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grpId="0" nodeType="clickEffect">
                                  <p:stCondLst>
                                    <p:cond delay="0"/>
                                  </p:stCondLst>
                                  <p:childTnLst>
                                    <p:set>
                                      <p:cBhvr>
                                        <p:cTn id="116" dur="1" fill="hold">
                                          <p:stCondLst>
                                            <p:cond delay="0"/>
                                          </p:stCondLst>
                                        </p:cTn>
                                        <p:tgtEl>
                                          <p:spTgt spid="6"/>
                                        </p:tgtEl>
                                        <p:attrNameLst>
                                          <p:attrName>style.visibility</p:attrName>
                                        </p:attrNameLst>
                                      </p:cBhvr>
                                      <p:to>
                                        <p:strVal val="visible"/>
                                      </p:to>
                                    </p:set>
                                    <p:animEffect transition="in" filter="fade">
                                      <p:cBhvr>
                                        <p:cTn id="117" dur="1000"/>
                                        <p:tgtEl>
                                          <p:spTgt spid="6"/>
                                        </p:tgtEl>
                                      </p:cBhvr>
                                    </p:animEffect>
                                    <p:anim calcmode="lin" valueType="num">
                                      <p:cBhvr>
                                        <p:cTn id="118" dur="1000" fill="hold"/>
                                        <p:tgtEl>
                                          <p:spTgt spid="6"/>
                                        </p:tgtEl>
                                        <p:attrNameLst>
                                          <p:attrName>ppt_x</p:attrName>
                                        </p:attrNameLst>
                                      </p:cBhvr>
                                      <p:tavLst>
                                        <p:tav tm="0">
                                          <p:val>
                                            <p:strVal val="#ppt_x"/>
                                          </p:val>
                                        </p:tav>
                                        <p:tav tm="100000">
                                          <p:val>
                                            <p:strVal val="#ppt_x"/>
                                          </p:val>
                                        </p:tav>
                                      </p:tavLst>
                                    </p:anim>
                                    <p:anim calcmode="lin" valueType="num">
                                      <p:cBhvr>
                                        <p:cTn id="1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05258"/>
            <a:ext cx="8784976" cy="1219594"/>
          </a:xfrm>
        </p:spPr>
        <p:txBody>
          <a:bodyPr/>
          <a:lstStyle/>
          <a:p>
            <a:pPr marL="0" indent="0" algn="just">
              <a:lnSpc>
                <a:spcPts val="2200"/>
              </a:lnSpc>
              <a:spcBef>
                <a:spcPts val="0"/>
              </a:spcBef>
              <a:buNone/>
            </a:pPr>
            <a:r>
              <a:rPr lang="en-US" altLang="zh-CN" sz="1800"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cs typeface="Times New Roman" panose="02020603050405020304" pitchFamily="18" charset="0"/>
              </a:rPr>
              <a:t>串的链式存储表示（也称为链串）与线性表的链式存储相似，有所不同的是链串中每个结点中的数据元素可以存储一个字符，也可以存储多个字符。如图</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分别表示同一个符号串</a:t>
            </a:r>
            <a:r>
              <a:rPr lang="en-US" altLang="zh-CN" sz="1600" dirty="0">
                <a:latin typeface="Times New Roman" panose="02020603050405020304" pitchFamily="18" charset="0"/>
                <a:cs typeface="Times New Roman" panose="02020603050405020304" pitchFamily="18" charset="0"/>
              </a:rPr>
              <a:t>“NANJING UNIVERSITY”</a:t>
            </a:r>
            <a:r>
              <a:rPr lang="zh-CN" altLang="zh-CN" sz="1600" dirty="0">
                <a:latin typeface="Times New Roman" panose="02020603050405020304" pitchFamily="18" charset="0"/>
                <a:cs typeface="Times New Roman" panose="02020603050405020304" pitchFamily="18" charset="0"/>
              </a:rPr>
              <a:t>的结点大小为</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的链式存储结构。如果串长不是结点大小的整数倍，则最后一个结点用</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补满。</a:t>
            </a:r>
          </a:p>
          <a:p>
            <a:endParaRPr lang="zh-CN" altLang="en-US" dirty="0"/>
          </a:p>
        </p:txBody>
      </p:sp>
      <p:sp>
        <p:nvSpPr>
          <p:cNvPr id="4" name="Rectangle 2"/>
          <p:cNvSpPr>
            <a:spLocks noChangeArrowheads="1"/>
          </p:cNvSpPr>
          <p:nvPr/>
        </p:nvSpPr>
        <p:spPr bwMode="auto">
          <a:xfrm>
            <a:off x="1151467" y="2355725"/>
            <a:ext cx="971524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897156854"/>
              </p:ext>
            </p:extLst>
          </p:nvPr>
        </p:nvGraphicFramePr>
        <p:xfrm>
          <a:off x="1151467" y="2130369"/>
          <a:ext cx="6310175" cy="1296144"/>
        </p:xfrm>
        <a:graphic>
          <a:graphicData uri="http://schemas.openxmlformats.org/presentationml/2006/ole">
            <mc:AlternateContent xmlns:mc="http://schemas.openxmlformats.org/markup-compatibility/2006">
              <mc:Choice xmlns:v="urn:schemas-microsoft-com:vml" Requires="v">
                <p:oleObj name="Visio" r:id="rId2" imgW="5469376" imgH="1132912" progId="Visio.Drawing.11">
                  <p:embed/>
                </p:oleObj>
              </mc:Choice>
              <mc:Fallback>
                <p:oleObj name="Visio" r:id="rId2" imgW="5469376" imgH="113291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467" y="2130369"/>
                        <a:ext cx="6310175" cy="1296144"/>
                      </a:xfrm>
                      <a:prstGeom prst="rect">
                        <a:avLst/>
                      </a:prstGeom>
                      <a:noFill/>
                    </p:spPr>
                  </p:pic>
                </p:oleObj>
              </mc:Fallback>
            </mc:AlternateContent>
          </a:graphicData>
        </a:graphic>
      </p:graphicFrame>
      <p:sp>
        <p:nvSpPr>
          <p:cNvPr id="6" name="文本框 5"/>
          <p:cNvSpPr txBox="1"/>
          <p:nvPr/>
        </p:nvSpPr>
        <p:spPr>
          <a:xfrm>
            <a:off x="175832" y="3453733"/>
            <a:ext cx="8748972" cy="1215717"/>
          </a:xfrm>
          <a:prstGeom prst="rect">
            <a:avLst/>
          </a:prstGeom>
          <a:noFill/>
        </p:spPr>
        <p:txBody>
          <a:bodyPr wrap="square" rtlCol="0">
            <a:spAutoFit/>
          </a:bodyPr>
          <a:lstStyle/>
          <a:p>
            <a:pPr defTabSz="685800">
              <a:lnSpc>
                <a:spcPts val="2200"/>
              </a:lnSpc>
              <a:spcBef>
                <a:spcPts val="0"/>
              </a:spcBef>
            </a:pPr>
            <a:r>
              <a:rPr lang="en-US" altLang="zh-CN"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ea typeface="黑体" pitchFamily="49" charset="-122"/>
                <a:cs typeface="Times New Roman" panose="02020603050405020304" pitchFamily="18" charset="0"/>
              </a:rPr>
              <a:t>在串的链式存储表示中，结点的大小选择直接影响着串处理的效率。一般来说，经常进行插入和删除操作的串，常常采用密度（串值所占用的存储空间</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zh-CN" sz="1600" dirty="0">
                <a:latin typeface="Times New Roman" panose="02020603050405020304" pitchFamily="18" charset="0"/>
                <a:ea typeface="黑体" pitchFamily="49" charset="-122"/>
                <a:cs typeface="Times New Roman" panose="02020603050405020304" pitchFamily="18" charset="0"/>
              </a:rPr>
              <a:t>实际分配的存储空间）较小的链表存储；反之采用密度较大的链表存储。本节为了算法方便，采用结点大小为</a:t>
            </a:r>
            <a:r>
              <a:rPr lang="en-US" altLang="zh-CN" sz="1600" dirty="0">
                <a:latin typeface="Times New Roman" panose="02020603050405020304" pitchFamily="18" charset="0"/>
                <a:ea typeface="黑体" pitchFamily="49" charset="-122"/>
                <a:cs typeface="Times New Roman" panose="02020603050405020304" pitchFamily="18" charset="0"/>
              </a:rPr>
              <a:t>1</a:t>
            </a:r>
            <a:r>
              <a:rPr lang="zh-CN" altLang="zh-CN" sz="1600" dirty="0">
                <a:latin typeface="Times New Roman" panose="02020603050405020304" pitchFamily="18" charset="0"/>
                <a:ea typeface="黑体" pitchFamily="49" charset="-122"/>
                <a:cs typeface="Times New Roman" panose="02020603050405020304" pitchFamily="18" charset="0"/>
              </a:rPr>
              <a:t>的链表存储。</a:t>
            </a:r>
          </a:p>
          <a:p>
            <a:endParaRPr lang="zh-CN" altLang="en-US" dirty="0"/>
          </a:p>
        </p:txBody>
      </p:sp>
      <p:sp>
        <p:nvSpPr>
          <p:cNvPr id="7" name="文本框 6"/>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串的链式存储表示</a:t>
            </a:r>
          </a:p>
        </p:txBody>
      </p:sp>
    </p:spTree>
    <p:extLst>
      <p:ext uri="{BB962C8B-B14F-4D97-AF65-F5344CB8AC3E}">
        <p14:creationId xmlns:p14="http://schemas.microsoft.com/office/powerpoint/2010/main" val="5768040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1064124"/>
            <a:ext cx="6408712" cy="3507876"/>
          </a:xfrm>
        </p:spPr>
        <p:txBody>
          <a:bodyPr/>
          <a:lstStyle/>
          <a:p>
            <a:pPr marL="0" indent="0">
              <a:lnSpc>
                <a:spcPts val="2000"/>
              </a:lnSpc>
              <a:spcBef>
                <a:spcPts val="0"/>
              </a:spcBef>
              <a:buNone/>
            </a:pPr>
            <a:r>
              <a:rPr lang="en-US" altLang="zh-CN" sz="1600" dirty="0" err="1">
                <a:latin typeface="Times New Roman" panose="02020603050405020304" pitchFamily="18" charset="0"/>
                <a:cs typeface="Times New Roman" panose="02020603050405020304" pitchFamily="18" charset="0"/>
              </a:rPr>
              <a:t>typedef</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struct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char data;</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SNode</a:t>
            </a:r>
            <a:r>
              <a:rPr lang="en-US" altLang="zh-CN" sz="1600" dirty="0">
                <a:latin typeface="Times New Roman" panose="02020603050405020304" pitchFamily="18" charset="0"/>
                <a:cs typeface="Times New Roman" panose="02020603050405020304" pitchFamily="18" charset="0"/>
              </a:rPr>
              <a:t> *next;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class </a:t>
            </a:r>
            <a:r>
              <a:rPr lang="en-US" altLang="zh-CN" sz="1600" dirty="0" err="1">
                <a:latin typeface="Times New Roman" panose="02020603050405020304" pitchFamily="18" charset="0"/>
                <a:cs typeface="Times New Roman" panose="02020603050405020304" pitchFamily="18" charset="0"/>
              </a:rPr>
              <a:t>LString</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private:</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shead</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public:</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LString</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shead</a:t>
            </a:r>
            <a:r>
              <a:rPr lang="en-US" altLang="zh-CN" sz="1600" dirty="0">
                <a:latin typeface="Times New Roman" panose="02020603050405020304" pitchFamily="18" charset="0"/>
                <a:cs typeface="Times New Roman" panose="02020603050405020304" pitchFamily="18" charset="0"/>
              </a:rPr>
              <a:t>=new </a:t>
            </a:r>
            <a:r>
              <a:rPr lang="en-US" altLang="zh-CN" sz="1600" dirty="0" err="1">
                <a:latin typeface="Times New Roman" panose="02020603050405020304" pitchFamily="18" charset="0"/>
                <a:cs typeface="Times New Roman" panose="02020603050405020304" pitchFamily="18" charset="0"/>
              </a:rPr>
              <a:t>SNode;shead</a:t>
            </a:r>
            <a:r>
              <a:rPr lang="en-US" altLang="zh-CN" sz="1600" dirty="0">
                <a:latin typeface="Times New Roman" panose="02020603050405020304" pitchFamily="18" charset="0"/>
                <a:cs typeface="Times New Roman" panose="02020603050405020304" pitchFamily="18" charset="0"/>
              </a:rPr>
              <a:t>-&gt;next=NULL;}    //</a:t>
            </a:r>
            <a:r>
              <a:rPr lang="zh-CN" altLang="zh-CN" sz="1600" dirty="0">
                <a:latin typeface="Times New Roman" panose="02020603050405020304" pitchFamily="18" charset="0"/>
                <a:cs typeface="Times New Roman" panose="02020603050405020304" pitchFamily="18" charset="0"/>
              </a:rPr>
              <a:t>创建空链串</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LString</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销毁链串</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StrAssign</a:t>
            </a:r>
            <a:r>
              <a:rPr lang="en-US" altLang="zh-CN" sz="1600" dirty="0">
                <a:latin typeface="Times New Roman" panose="02020603050405020304" pitchFamily="18" charset="0"/>
                <a:cs typeface="Times New Roman" panose="02020603050405020304" pitchFamily="18" charset="0"/>
              </a:rPr>
              <a:t>(char *</a:t>
            </a:r>
            <a:r>
              <a:rPr lang="en-US" altLang="zh-CN" sz="1600" dirty="0" err="1">
                <a:latin typeface="Times New Roman" panose="02020603050405020304" pitchFamily="18" charset="0"/>
                <a:cs typeface="Times New Roman" panose="02020603050405020304" pitchFamily="18" charset="0"/>
              </a:rPr>
              <a:t>str</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链串赋值</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StrCopy</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LString</a:t>
            </a:r>
            <a:r>
              <a:rPr lang="en-US" altLang="zh-CN" sz="1600" dirty="0">
                <a:latin typeface="Times New Roman" panose="02020603050405020304" pitchFamily="18" charset="0"/>
                <a:cs typeface="Times New Roman" panose="02020603050405020304" pitchFamily="18" charset="0"/>
              </a:rPr>
              <a:t> t);                 //</a:t>
            </a:r>
            <a:r>
              <a:rPr lang="zh-CN" altLang="zh-CN" sz="1600" dirty="0">
                <a:latin typeface="Times New Roman" panose="02020603050405020304" pitchFamily="18" charset="0"/>
                <a:cs typeface="Times New Roman" panose="02020603050405020304" pitchFamily="18" charset="0"/>
              </a:rPr>
              <a:t>链串拷贝</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StrLength</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返回链串的长度</a:t>
            </a:r>
          </a:p>
          <a:p>
            <a:pPr marL="0" indent="0">
              <a:lnSpc>
                <a:spcPts val="20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311352" y="915566"/>
            <a:ext cx="5832648" cy="3426579"/>
          </a:xfrm>
          <a:prstGeom prst="rect">
            <a:avLst/>
          </a:prstGeom>
          <a:solidFill>
            <a:schemeClr val="accent2"/>
          </a:solidFill>
        </p:spPr>
        <p:txBody>
          <a:bodyPr wrap="square" rtlCol="0">
            <a:spAutoFit/>
          </a:bodyPr>
          <a:lstStyle/>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StrCompare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s,LString</a:t>
            </a:r>
            <a:r>
              <a:rPr lang="en-US" altLang="zh-CN" dirty="0">
                <a:latin typeface="Times New Roman" panose="02020603050405020304" pitchFamily="18" charset="0"/>
                <a:cs typeface="Times New Roman" panose="02020603050405020304" pitchFamily="18" charset="0"/>
              </a:rPr>
              <a:t> t);   </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链串的比较，若相等返回</a:t>
            </a:r>
            <a:r>
              <a:rPr lang="en-US" altLang="zh-CN" dirty="0">
                <a:latin typeface="Times New Roman" panose="02020603050405020304" pitchFamily="18" charset="0"/>
                <a:cs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；否则返回</a:t>
            </a:r>
            <a:r>
              <a:rPr lang="en-US" altLang="zh-CN" dirty="0">
                <a:latin typeface="Times New Roman" panose="02020603050405020304" pitchFamily="18" charset="0"/>
                <a:cs typeface="Times New Roman" panose="02020603050405020304" pitchFamily="18" charset="0"/>
              </a:rPr>
              <a:t>0</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void </a:t>
            </a:r>
            <a:r>
              <a:rPr lang="en-US" altLang="zh-CN" dirty="0" err="1">
                <a:latin typeface="Times New Roman" panose="02020603050405020304" pitchFamily="18" charset="0"/>
                <a:cs typeface="Times New Roman" panose="02020603050405020304" pitchFamily="18" charset="0"/>
              </a:rPr>
              <a:t>StrConcat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s1,LString s2);   </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两个链串</a:t>
            </a:r>
            <a:r>
              <a:rPr lang="en-US" altLang="zh-CN" dirty="0">
                <a:latin typeface="Times New Roman" panose="02020603050405020304" pitchFamily="18" charset="0"/>
                <a:cs typeface="Times New Roman" panose="02020603050405020304" pitchFamily="18" charset="0"/>
              </a:rPr>
              <a:t>s1</a:t>
            </a:r>
            <a:r>
              <a:rPr lang="zh-CN" altLang="zh-CN"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s2</a:t>
            </a:r>
            <a:r>
              <a:rPr lang="zh-CN" altLang="zh-CN" dirty="0">
                <a:latin typeface="Times New Roman" panose="02020603050405020304" pitchFamily="18" charset="0"/>
                <a:cs typeface="Times New Roman" panose="02020603050405020304" pitchFamily="18" charset="0"/>
              </a:rPr>
              <a:t>的连接</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void </a:t>
            </a:r>
            <a:r>
              <a:rPr lang="en-US" altLang="zh-CN" dirty="0" err="1">
                <a:latin typeface="Times New Roman" panose="02020603050405020304" pitchFamily="18" charset="0"/>
                <a:cs typeface="Times New Roman" panose="02020603050405020304" pitchFamily="18" charset="0"/>
              </a:rPr>
              <a:t>SubString</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&amp;sub, </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s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pos</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用</a:t>
            </a:r>
            <a:r>
              <a:rPr lang="en-US" altLang="zh-CN" dirty="0">
                <a:latin typeface="Times New Roman" panose="02020603050405020304" pitchFamily="18" charset="0"/>
                <a:cs typeface="Times New Roman" panose="02020603050405020304" pitchFamily="18" charset="0"/>
              </a:rPr>
              <a:t>sub</a:t>
            </a:r>
            <a:r>
              <a:rPr lang="zh-CN" altLang="zh-CN" dirty="0">
                <a:latin typeface="Times New Roman" panose="02020603050405020304" pitchFamily="18" charset="0"/>
                <a:cs typeface="Times New Roman" panose="02020603050405020304" pitchFamily="18" charset="0"/>
              </a:rPr>
              <a:t>返回链串</a:t>
            </a:r>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中第</a:t>
            </a:r>
            <a:r>
              <a:rPr lang="en-US" altLang="zh-CN" dirty="0" err="1">
                <a:latin typeface="Times New Roman" panose="02020603050405020304" pitchFamily="18" charset="0"/>
                <a:cs typeface="Times New Roman" panose="02020603050405020304" pitchFamily="18" charset="0"/>
              </a:rPr>
              <a:t>pos</a:t>
            </a:r>
            <a:r>
              <a:rPr lang="zh-CN" altLang="zh-CN" dirty="0">
                <a:latin typeface="Times New Roman" panose="02020603050405020304" pitchFamily="18" charset="0"/>
                <a:cs typeface="Times New Roman" panose="02020603050405020304" pitchFamily="18" charset="0"/>
              </a:rPr>
              <a:t>个字符开始长度为</a:t>
            </a:r>
            <a:r>
              <a:rPr lang="en-US" altLang="zh-CN" dirty="0" err="1">
                <a:latin typeface="Times New Roman" panose="02020603050405020304" pitchFamily="18" charset="0"/>
                <a:cs typeface="Times New Roman" panose="02020603050405020304" pitchFamily="18" charset="0"/>
              </a:rPr>
              <a:t>len</a:t>
            </a:r>
            <a:r>
              <a:rPr lang="zh-CN" altLang="zh-CN" dirty="0">
                <a:latin typeface="Times New Roman" panose="02020603050405020304" pitchFamily="18" charset="0"/>
                <a:cs typeface="Times New Roman" panose="02020603050405020304" pitchFamily="18" charset="0"/>
              </a:rPr>
              <a:t>的子串</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void </a:t>
            </a:r>
            <a:r>
              <a:rPr lang="en-US" altLang="zh-CN" dirty="0" err="1">
                <a:latin typeface="Times New Roman" panose="02020603050405020304" pitchFamily="18" charset="0"/>
                <a:cs typeface="Times New Roman" panose="02020603050405020304" pitchFamily="18" charset="0"/>
              </a:rPr>
              <a:t>StrInsert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&amp;</a:t>
            </a:r>
            <a:r>
              <a:rPr lang="en-US" altLang="zh-CN" dirty="0" err="1">
                <a:latin typeface="Times New Roman" panose="02020603050405020304" pitchFamily="18" charset="0"/>
                <a:cs typeface="Times New Roman" panose="02020603050405020304" pitchFamily="18" charset="0"/>
              </a:rPr>
              <a:t>s,int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pos,LString</a:t>
            </a:r>
            <a:r>
              <a:rPr lang="en-US" altLang="zh-CN" dirty="0">
                <a:latin typeface="Times New Roman" panose="02020603050405020304" pitchFamily="18" charset="0"/>
                <a:cs typeface="Times New Roman" panose="02020603050405020304" pitchFamily="18" charset="0"/>
              </a:rPr>
              <a:t> t); </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在链串</a:t>
            </a:r>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的第</a:t>
            </a:r>
            <a:r>
              <a:rPr lang="en-US" altLang="zh-CN" dirty="0" err="1">
                <a:latin typeface="Times New Roman" panose="02020603050405020304" pitchFamily="18" charset="0"/>
                <a:cs typeface="Times New Roman" panose="02020603050405020304" pitchFamily="18" charset="0"/>
              </a:rPr>
              <a:t>pos</a:t>
            </a:r>
            <a:r>
              <a:rPr lang="zh-CN" altLang="zh-CN" dirty="0">
                <a:latin typeface="Times New Roman" panose="02020603050405020304" pitchFamily="18" charset="0"/>
                <a:cs typeface="Times New Roman" panose="02020603050405020304" pitchFamily="18" charset="0"/>
              </a:rPr>
              <a:t>个字符前插入串</a:t>
            </a:r>
            <a:r>
              <a:rPr lang="en-US" altLang="zh-CN" dirty="0">
                <a:latin typeface="Times New Roman" panose="02020603050405020304" pitchFamily="18" charset="0"/>
                <a:cs typeface="Times New Roman" panose="02020603050405020304" pitchFamily="18" charset="0"/>
              </a:rPr>
              <a:t>t</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void </a:t>
            </a:r>
            <a:r>
              <a:rPr lang="en-US" altLang="zh-CN" dirty="0" err="1">
                <a:latin typeface="Times New Roman" panose="02020603050405020304" pitchFamily="18" charset="0"/>
                <a:cs typeface="Times New Roman" panose="02020603050405020304" pitchFamily="18" charset="0"/>
              </a:rPr>
              <a:t>StrDelete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&amp;s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pos,int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删除链串</a:t>
            </a:r>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中第</a:t>
            </a:r>
            <a:r>
              <a:rPr lang="en-US" altLang="zh-CN" dirty="0" err="1">
                <a:latin typeface="Times New Roman" panose="02020603050405020304" pitchFamily="18" charset="0"/>
                <a:cs typeface="Times New Roman" panose="02020603050405020304" pitchFamily="18" charset="0"/>
              </a:rPr>
              <a:t>pos</a:t>
            </a:r>
            <a:r>
              <a:rPr lang="zh-CN" altLang="zh-CN" dirty="0">
                <a:latin typeface="Times New Roman" panose="02020603050405020304" pitchFamily="18" charset="0"/>
                <a:cs typeface="Times New Roman" panose="02020603050405020304" pitchFamily="18" charset="0"/>
              </a:rPr>
              <a:t>个字符开始长度为</a:t>
            </a:r>
            <a:r>
              <a:rPr lang="en-US" altLang="zh-CN" dirty="0" err="1">
                <a:latin typeface="Times New Roman" panose="02020603050405020304" pitchFamily="18" charset="0"/>
                <a:cs typeface="Times New Roman" panose="02020603050405020304" pitchFamily="18" charset="0"/>
              </a:rPr>
              <a:t>len</a:t>
            </a:r>
            <a:r>
              <a:rPr lang="zh-CN" altLang="zh-CN" dirty="0">
                <a:latin typeface="Times New Roman" panose="02020603050405020304" pitchFamily="18" charset="0"/>
                <a:cs typeface="Times New Roman" panose="02020603050405020304" pitchFamily="18" charset="0"/>
              </a:rPr>
              <a:t>的子串</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void </a:t>
            </a:r>
            <a:r>
              <a:rPr lang="en-US" altLang="zh-CN" dirty="0" err="1">
                <a:latin typeface="Times New Roman" panose="02020603050405020304" pitchFamily="18" charset="0"/>
                <a:cs typeface="Times New Roman" panose="02020603050405020304" pitchFamily="18" charset="0"/>
              </a:rPr>
              <a:t>StrReplace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LString</a:t>
            </a:r>
            <a:r>
              <a:rPr lang="en-US" altLang="zh-CN" dirty="0">
                <a:latin typeface="Times New Roman" panose="02020603050405020304" pitchFamily="18" charset="0"/>
                <a:cs typeface="Times New Roman" panose="02020603050405020304" pitchFamily="18" charset="0"/>
              </a:rPr>
              <a:t> &amp;</a:t>
            </a:r>
            <a:r>
              <a:rPr lang="en-US" altLang="zh-CN" dirty="0" err="1">
                <a:latin typeface="Times New Roman" panose="02020603050405020304" pitchFamily="18" charset="0"/>
                <a:cs typeface="Times New Roman" panose="02020603050405020304" pitchFamily="18" charset="0"/>
              </a:rPr>
              <a:t>s,int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pos,int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len,LString</a:t>
            </a:r>
            <a:r>
              <a:rPr lang="en-US" altLang="zh-CN" dirty="0">
                <a:latin typeface="Times New Roman" panose="02020603050405020304" pitchFamily="18" charset="0"/>
                <a:cs typeface="Times New Roman" panose="02020603050405020304" pitchFamily="18" charset="0"/>
              </a:rPr>
              <a:t> t); </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将链串</a:t>
            </a:r>
            <a:r>
              <a:rPr lang="en-US" altLang="zh-CN" dirty="0">
                <a:latin typeface="Times New Roman" panose="02020603050405020304" pitchFamily="18" charset="0"/>
                <a:cs typeface="Times New Roman" panose="02020603050405020304" pitchFamily="18" charset="0"/>
              </a:rPr>
              <a:t>s</a:t>
            </a:r>
            <a:r>
              <a:rPr lang="zh-CN" altLang="zh-CN" dirty="0">
                <a:latin typeface="Times New Roman" panose="02020603050405020304" pitchFamily="18" charset="0"/>
                <a:cs typeface="Times New Roman" panose="02020603050405020304" pitchFamily="18" charset="0"/>
              </a:rPr>
              <a:t>中第</a:t>
            </a:r>
            <a:r>
              <a:rPr lang="en-US" altLang="zh-CN" dirty="0" err="1">
                <a:latin typeface="Times New Roman" panose="02020603050405020304" pitchFamily="18" charset="0"/>
                <a:cs typeface="Times New Roman" panose="02020603050405020304" pitchFamily="18" charset="0"/>
              </a:rPr>
              <a:t>pos</a:t>
            </a:r>
            <a:r>
              <a:rPr lang="zh-CN" altLang="zh-CN" dirty="0">
                <a:latin typeface="Times New Roman" panose="02020603050405020304" pitchFamily="18" charset="0"/>
                <a:cs typeface="Times New Roman" panose="02020603050405020304" pitchFamily="18" charset="0"/>
              </a:rPr>
              <a:t>字符开始的</a:t>
            </a:r>
            <a:r>
              <a:rPr lang="en-US" altLang="zh-CN" dirty="0" err="1">
                <a:latin typeface="Times New Roman" panose="02020603050405020304" pitchFamily="18" charset="0"/>
                <a:cs typeface="Times New Roman" panose="02020603050405020304" pitchFamily="18" charset="0"/>
              </a:rPr>
              <a:t>len</a:t>
            </a:r>
            <a:r>
              <a:rPr lang="zh-CN" altLang="zh-CN" dirty="0">
                <a:latin typeface="Times New Roman" panose="02020603050405020304" pitchFamily="18" charset="0"/>
                <a:cs typeface="Times New Roman" panose="02020603050405020304" pitchFamily="18" charset="0"/>
              </a:rPr>
              <a:t>个字符子串用串</a:t>
            </a:r>
            <a:r>
              <a:rPr lang="en-US" altLang="zh-CN" dirty="0">
                <a:latin typeface="Times New Roman" panose="02020603050405020304" pitchFamily="18" charset="0"/>
                <a:cs typeface="Times New Roman" panose="02020603050405020304" pitchFamily="18" charset="0"/>
              </a:rPr>
              <a:t>t</a:t>
            </a:r>
            <a:r>
              <a:rPr lang="zh-CN" altLang="zh-CN" dirty="0">
                <a:latin typeface="Times New Roman" panose="02020603050405020304" pitchFamily="18" charset="0"/>
                <a:cs typeface="Times New Roman" panose="02020603050405020304" pitchFamily="18" charset="0"/>
              </a:rPr>
              <a:t>替换</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endParaRPr lang="zh-CN" altLang="en-US" dirty="0"/>
          </a:p>
        </p:txBody>
      </p:sp>
      <p:sp>
        <p:nvSpPr>
          <p:cNvPr id="5" name="文本框 4"/>
          <p:cNvSpPr txBox="1"/>
          <p:nvPr/>
        </p:nvSpPr>
        <p:spPr>
          <a:xfrm>
            <a:off x="5220072" y="201220"/>
            <a:ext cx="3024336" cy="369332"/>
          </a:xfrm>
          <a:prstGeom prst="rect">
            <a:avLst/>
          </a:prstGeom>
          <a:noFill/>
        </p:spPr>
        <p:txBody>
          <a:bodyPr wrap="square" rtlCol="0">
            <a:spAutoFit/>
          </a:bodyPr>
          <a:lstStyle/>
          <a:p>
            <a:r>
              <a:rPr lang="zh-CN" altLang="en-US" dirty="0">
                <a:solidFill>
                  <a:srgbClr val="FF0000"/>
                </a:solidFill>
                <a:latin typeface="华文彩云" panose="02010800040101010101" pitchFamily="2" charset="-122"/>
                <a:ea typeface="华文彩云" panose="02010800040101010101" pitchFamily="2" charset="-122"/>
                <a:hlinkClick r:id="rId3" action="ppaction://hlinkfile"/>
              </a:rPr>
              <a:t>链串实现链接</a:t>
            </a:r>
            <a:endParaRPr lang="zh-CN" altLang="en-US" dirty="0">
              <a:solidFill>
                <a:srgbClr val="FF0000"/>
              </a:solidFill>
              <a:latin typeface="华文彩云" panose="02010800040101010101" pitchFamily="2" charset="-122"/>
              <a:ea typeface="华文彩云" panose="02010800040101010101" pitchFamily="2" charset="-122"/>
            </a:endParaRPr>
          </a:p>
        </p:txBody>
      </p:sp>
      <p:sp>
        <p:nvSpPr>
          <p:cNvPr id="6" name="文本框 5"/>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链串的类定义</a:t>
            </a:r>
          </a:p>
        </p:txBody>
      </p:sp>
    </p:spTree>
    <p:extLst>
      <p:ext uri="{BB962C8B-B14F-4D97-AF65-F5344CB8AC3E}">
        <p14:creationId xmlns:p14="http://schemas.microsoft.com/office/powerpoint/2010/main" val="16300199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4"/>
                                        </p:tgtEl>
                                        <p:attrNameLst>
                                          <p:attrName>style.visibility</p:attrName>
                                        </p:attrNameLst>
                                      </p:cBhvr>
                                      <p:to>
                                        <p:strVal val="visible"/>
                                      </p:to>
                                    </p:set>
                                    <p:animEffect transition="in" filter="fade">
                                      <p:cBhvr>
                                        <p:cTn id="98" dur="1000"/>
                                        <p:tgtEl>
                                          <p:spTgt spid="4"/>
                                        </p:tgtEl>
                                      </p:cBhvr>
                                    </p:animEffect>
                                    <p:anim calcmode="lin" valueType="num">
                                      <p:cBhvr>
                                        <p:cTn id="99" dur="1000" fill="hold"/>
                                        <p:tgtEl>
                                          <p:spTgt spid="4"/>
                                        </p:tgtEl>
                                        <p:attrNameLst>
                                          <p:attrName>ppt_x</p:attrName>
                                        </p:attrNameLst>
                                      </p:cBhvr>
                                      <p:tavLst>
                                        <p:tav tm="0">
                                          <p:val>
                                            <p:strVal val="#ppt_x"/>
                                          </p:val>
                                        </p:tav>
                                        <p:tav tm="100000">
                                          <p:val>
                                            <p:strVal val="#ppt_x"/>
                                          </p:val>
                                        </p:tav>
                                      </p:tavLst>
                                    </p:anim>
                                    <p:anim calcmode="lin" valueType="num">
                                      <p:cBhvr>
                                        <p:cTn id="10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0" end="0"/>
                                            </p:txEl>
                                          </p:spTgt>
                                        </p:tgtEl>
                                        <p:attrNameLst>
                                          <p:attrName>style.visibility</p:attrName>
                                        </p:attrNameLst>
                                      </p:cBhvr>
                                      <p:to>
                                        <p:strVal val="visible"/>
                                      </p:to>
                                    </p:set>
                                    <p:animEffect transition="in" filter="fade">
                                      <p:cBhvr>
                                        <p:cTn id="105" dur="1000"/>
                                        <p:tgtEl>
                                          <p:spTgt spid="4">
                                            <p:txEl>
                                              <p:pRg st="0" end="0"/>
                                            </p:txEl>
                                          </p:spTgt>
                                        </p:tgtEl>
                                      </p:cBhvr>
                                    </p:animEffect>
                                    <p:anim calcmode="lin" valueType="num">
                                      <p:cBhvr>
                                        <p:cTn id="10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1" end="1"/>
                                            </p:txEl>
                                          </p:spTgt>
                                        </p:tgtEl>
                                        <p:attrNameLst>
                                          <p:attrName>style.visibility</p:attrName>
                                        </p:attrNameLst>
                                      </p:cBhvr>
                                      <p:to>
                                        <p:strVal val="visible"/>
                                      </p:to>
                                    </p:set>
                                    <p:animEffect transition="in" filter="fade">
                                      <p:cBhvr>
                                        <p:cTn id="110" dur="1000"/>
                                        <p:tgtEl>
                                          <p:spTgt spid="4">
                                            <p:txEl>
                                              <p:pRg st="1" end="1"/>
                                            </p:txEl>
                                          </p:spTgt>
                                        </p:tgtEl>
                                      </p:cBhvr>
                                    </p:animEffect>
                                    <p:anim calcmode="lin" valueType="num">
                                      <p:cBhvr>
                                        <p:cTn id="11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4">
                                            <p:txEl>
                                              <p:pRg st="2" end="2"/>
                                            </p:txEl>
                                          </p:spTgt>
                                        </p:tgtEl>
                                        <p:attrNameLst>
                                          <p:attrName>style.visibility</p:attrName>
                                        </p:attrNameLst>
                                      </p:cBhvr>
                                      <p:to>
                                        <p:strVal val="visible"/>
                                      </p:to>
                                    </p:set>
                                    <p:animEffect transition="in" filter="fade">
                                      <p:cBhvr>
                                        <p:cTn id="117" dur="1000"/>
                                        <p:tgtEl>
                                          <p:spTgt spid="4">
                                            <p:txEl>
                                              <p:pRg st="2" end="2"/>
                                            </p:txEl>
                                          </p:spTgt>
                                        </p:tgtEl>
                                      </p:cBhvr>
                                    </p:animEffect>
                                    <p:anim calcmode="lin" valueType="num">
                                      <p:cBhvr>
                                        <p:cTn id="1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21" dur="1" fill="hold">
                                          <p:stCondLst>
                                            <p:cond delay="0"/>
                                          </p:stCondLst>
                                        </p:cTn>
                                        <p:tgtEl>
                                          <p:spTgt spid="4">
                                            <p:txEl>
                                              <p:pRg st="3" end="3"/>
                                            </p:txEl>
                                          </p:spTgt>
                                        </p:tgtEl>
                                        <p:attrNameLst>
                                          <p:attrName>style.visibility</p:attrName>
                                        </p:attrNameLst>
                                      </p:cBhvr>
                                      <p:to>
                                        <p:strVal val="visible"/>
                                      </p:to>
                                    </p:set>
                                    <p:animEffect transition="in" filter="fade">
                                      <p:cBhvr>
                                        <p:cTn id="122" dur="1000"/>
                                        <p:tgtEl>
                                          <p:spTgt spid="4">
                                            <p:txEl>
                                              <p:pRg st="3" end="3"/>
                                            </p:txEl>
                                          </p:spTgt>
                                        </p:tgtEl>
                                      </p:cBhvr>
                                    </p:animEffect>
                                    <p:anim calcmode="lin" valueType="num">
                                      <p:cBhvr>
                                        <p:cTn id="1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nodeType="clickEffect">
                                  <p:stCondLst>
                                    <p:cond delay="0"/>
                                  </p:stCondLst>
                                  <p:childTnLst>
                                    <p:set>
                                      <p:cBhvr>
                                        <p:cTn id="128" dur="1" fill="hold">
                                          <p:stCondLst>
                                            <p:cond delay="0"/>
                                          </p:stCondLst>
                                        </p:cTn>
                                        <p:tgtEl>
                                          <p:spTgt spid="4">
                                            <p:txEl>
                                              <p:pRg st="4" end="4"/>
                                            </p:txEl>
                                          </p:spTgt>
                                        </p:tgtEl>
                                        <p:attrNameLst>
                                          <p:attrName>style.visibility</p:attrName>
                                        </p:attrNameLst>
                                      </p:cBhvr>
                                      <p:to>
                                        <p:strVal val="visible"/>
                                      </p:to>
                                    </p:set>
                                    <p:animEffect transition="in" filter="fade">
                                      <p:cBhvr>
                                        <p:cTn id="129" dur="1000"/>
                                        <p:tgtEl>
                                          <p:spTgt spid="4">
                                            <p:txEl>
                                              <p:pRg st="4" end="4"/>
                                            </p:txEl>
                                          </p:spTgt>
                                        </p:tgtEl>
                                      </p:cBhvr>
                                    </p:animEffect>
                                    <p:anim calcmode="lin" valueType="num">
                                      <p:cBhvr>
                                        <p:cTn id="1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3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33" dur="1" fill="hold">
                                          <p:stCondLst>
                                            <p:cond delay="0"/>
                                          </p:stCondLst>
                                        </p:cTn>
                                        <p:tgtEl>
                                          <p:spTgt spid="4">
                                            <p:txEl>
                                              <p:pRg st="5" end="5"/>
                                            </p:txEl>
                                          </p:spTgt>
                                        </p:tgtEl>
                                        <p:attrNameLst>
                                          <p:attrName>style.visibility</p:attrName>
                                        </p:attrNameLst>
                                      </p:cBhvr>
                                      <p:to>
                                        <p:strVal val="visible"/>
                                      </p:to>
                                    </p:set>
                                    <p:animEffect transition="in" filter="fade">
                                      <p:cBhvr>
                                        <p:cTn id="134" dur="1000"/>
                                        <p:tgtEl>
                                          <p:spTgt spid="4">
                                            <p:txEl>
                                              <p:pRg st="5" end="5"/>
                                            </p:txEl>
                                          </p:spTgt>
                                        </p:tgtEl>
                                      </p:cBhvr>
                                    </p:animEffect>
                                    <p:anim calcmode="lin" valueType="num">
                                      <p:cBhvr>
                                        <p:cTn id="1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3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4">
                                            <p:txEl>
                                              <p:pRg st="6" end="6"/>
                                            </p:txEl>
                                          </p:spTgt>
                                        </p:tgtEl>
                                        <p:attrNameLst>
                                          <p:attrName>style.visibility</p:attrName>
                                        </p:attrNameLst>
                                      </p:cBhvr>
                                      <p:to>
                                        <p:strVal val="visible"/>
                                      </p:to>
                                    </p:set>
                                    <p:animEffect transition="in" filter="fade">
                                      <p:cBhvr>
                                        <p:cTn id="141" dur="1000"/>
                                        <p:tgtEl>
                                          <p:spTgt spid="4">
                                            <p:txEl>
                                              <p:pRg st="6" end="6"/>
                                            </p:txEl>
                                          </p:spTgt>
                                        </p:tgtEl>
                                      </p:cBhvr>
                                    </p:animEffect>
                                    <p:anim calcmode="lin" valueType="num">
                                      <p:cBhvr>
                                        <p:cTn id="1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4">
                                            <p:txEl>
                                              <p:pRg st="7" end="7"/>
                                            </p:txEl>
                                          </p:spTgt>
                                        </p:tgtEl>
                                        <p:attrNameLst>
                                          <p:attrName>style.visibility</p:attrName>
                                        </p:attrNameLst>
                                      </p:cBhvr>
                                      <p:to>
                                        <p:strVal val="visible"/>
                                      </p:to>
                                    </p:set>
                                    <p:animEffect transition="in" filter="fade">
                                      <p:cBhvr>
                                        <p:cTn id="146" dur="1000"/>
                                        <p:tgtEl>
                                          <p:spTgt spid="4">
                                            <p:txEl>
                                              <p:pRg st="7" end="7"/>
                                            </p:txEl>
                                          </p:spTgt>
                                        </p:tgtEl>
                                      </p:cBhvr>
                                    </p:animEffect>
                                    <p:anim calcmode="lin" valueType="num">
                                      <p:cBhvr>
                                        <p:cTn id="1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4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4">
                                            <p:txEl>
                                              <p:pRg st="8" end="8"/>
                                            </p:txEl>
                                          </p:spTgt>
                                        </p:tgtEl>
                                        <p:attrNameLst>
                                          <p:attrName>style.visibility</p:attrName>
                                        </p:attrNameLst>
                                      </p:cBhvr>
                                      <p:to>
                                        <p:strVal val="visible"/>
                                      </p:to>
                                    </p:set>
                                    <p:animEffect transition="in" filter="fade">
                                      <p:cBhvr>
                                        <p:cTn id="153" dur="1000"/>
                                        <p:tgtEl>
                                          <p:spTgt spid="4">
                                            <p:txEl>
                                              <p:pRg st="8" end="8"/>
                                            </p:txEl>
                                          </p:spTgt>
                                        </p:tgtEl>
                                      </p:cBhvr>
                                    </p:animEffect>
                                    <p:anim calcmode="lin" valueType="num">
                                      <p:cBhvr>
                                        <p:cTn id="15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55"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0"/>
                                  </p:stCondLst>
                                  <p:childTnLst>
                                    <p:set>
                                      <p:cBhvr>
                                        <p:cTn id="157" dur="1" fill="hold">
                                          <p:stCondLst>
                                            <p:cond delay="0"/>
                                          </p:stCondLst>
                                        </p:cTn>
                                        <p:tgtEl>
                                          <p:spTgt spid="4">
                                            <p:txEl>
                                              <p:pRg st="9" end="9"/>
                                            </p:txEl>
                                          </p:spTgt>
                                        </p:tgtEl>
                                        <p:attrNameLst>
                                          <p:attrName>style.visibility</p:attrName>
                                        </p:attrNameLst>
                                      </p:cBhvr>
                                      <p:to>
                                        <p:strVal val="visible"/>
                                      </p:to>
                                    </p:set>
                                    <p:animEffect transition="in" filter="fade">
                                      <p:cBhvr>
                                        <p:cTn id="158" dur="1000"/>
                                        <p:tgtEl>
                                          <p:spTgt spid="4">
                                            <p:txEl>
                                              <p:pRg st="9" end="9"/>
                                            </p:txEl>
                                          </p:spTgt>
                                        </p:tgtEl>
                                      </p:cBhvr>
                                    </p:animEffect>
                                    <p:anim calcmode="lin" valueType="num">
                                      <p:cBhvr>
                                        <p:cTn id="15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60"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42" presetClass="entr" presetSubtype="0" fill="hold" nodeType="clickEffect">
                                  <p:stCondLst>
                                    <p:cond delay="0"/>
                                  </p:stCondLst>
                                  <p:childTnLst>
                                    <p:set>
                                      <p:cBhvr>
                                        <p:cTn id="164" dur="1" fill="hold">
                                          <p:stCondLst>
                                            <p:cond delay="0"/>
                                          </p:stCondLst>
                                        </p:cTn>
                                        <p:tgtEl>
                                          <p:spTgt spid="4">
                                            <p:txEl>
                                              <p:pRg st="10" end="10"/>
                                            </p:txEl>
                                          </p:spTgt>
                                        </p:tgtEl>
                                        <p:attrNameLst>
                                          <p:attrName>style.visibility</p:attrName>
                                        </p:attrNameLst>
                                      </p:cBhvr>
                                      <p:to>
                                        <p:strVal val="visible"/>
                                      </p:to>
                                    </p:set>
                                    <p:animEffect transition="in" filter="fade">
                                      <p:cBhvr>
                                        <p:cTn id="165" dur="1000"/>
                                        <p:tgtEl>
                                          <p:spTgt spid="4">
                                            <p:txEl>
                                              <p:pRg st="10" end="10"/>
                                            </p:txEl>
                                          </p:spTgt>
                                        </p:tgtEl>
                                      </p:cBhvr>
                                    </p:animEffect>
                                    <p:anim calcmode="lin" valueType="num">
                                      <p:cBhvr>
                                        <p:cTn id="16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167"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9" dur="1" fill="hold">
                                          <p:stCondLst>
                                            <p:cond delay="0"/>
                                          </p:stCondLst>
                                        </p:cTn>
                                        <p:tgtEl>
                                          <p:spTgt spid="4">
                                            <p:txEl>
                                              <p:pRg st="11" end="11"/>
                                            </p:txEl>
                                          </p:spTgt>
                                        </p:tgtEl>
                                        <p:attrNameLst>
                                          <p:attrName>style.visibility</p:attrName>
                                        </p:attrNameLst>
                                      </p:cBhvr>
                                      <p:to>
                                        <p:strVal val="visible"/>
                                      </p:to>
                                    </p:set>
                                    <p:animEffect transition="in" filter="fade">
                                      <p:cBhvr>
                                        <p:cTn id="170" dur="1000"/>
                                        <p:tgtEl>
                                          <p:spTgt spid="4">
                                            <p:txEl>
                                              <p:pRg st="11" end="11"/>
                                            </p:txEl>
                                          </p:spTgt>
                                        </p:tgtEl>
                                      </p:cBhvr>
                                    </p:animEffect>
                                    <p:anim calcmode="lin" valueType="num">
                                      <p:cBhvr>
                                        <p:cTn id="171"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172"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74" dur="1" fill="hold">
                                          <p:stCondLst>
                                            <p:cond delay="0"/>
                                          </p:stCondLst>
                                        </p:cTn>
                                        <p:tgtEl>
                                          <p:spTgt spid="4">
                                            <p:txEl>
                                              <p:pRg st="12" end="12"/>
                                            </p:txEl>
                                          </p:spTgt>
                                        </p:tgtEl>
                                        <p:attrNameLst>
                                          <p:attrName>style.visibility</p:attrName>
                                        </p:attrNameLst>
                                      </p:cBhvr>
                                      <p:to>
                                        <p:strVal val="visible"/>
                                      </p:to>
                                    </p:set>
                                    <p:animEffect transition="in" filter="fade">
                                      <p:cBhvr>
                                        <p:cTn id="175" dur="1000"/>
                                        <p:tgtEl>
                                          <p:spTgt spid="4">
                                            <p:txEl>
                                              <p:pRg st="12" end="12"/>
                                            </p:txEl>
                                          </p:spTgt>
                                        </p:tgtEl>
                                      </p:cBhvr>
                                    </p:animEffect>
                                    <p:anim calcmode="lin" valueType="num">
                                      <p:cBhvr>
                                        <p:cTn id="176"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177"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5"/>
                                        </p:tgtEl>
                                        <p:attrNameLst>
                                          <p:attrName>style.visibility</p:attrName>
                                        </p:attrNameLst>
                                      </p:cBhvr>
                                      <p:to>
                                        <p:strVal val="visible"/>
                                      </p:to>
                                    </p:set>
                                    <p:animEffect transition="in" filter="fade">
                                      <p:cBhvr>
                                        <p:cTn id="182" dur="1000"/>
                                        <p:tgtEl>
                                          <p:spTgt spid="5"/>
                                        </p:tgtEl>
                                      </p:cBhvr>
                                    </p:animEffect>
                                    <p:anim calcmode="lin" valueType="num">
                                      <p:cBhvr>
                                        <p:cTn id="183" dur="1000" fill="hold"/>
                                        <p:tgtEl>
                                          <p:spTgt spid="5"/>
                                        </p:tgtEl>
                                        <p:attrNameLst>
                                          <p:attrName>ppt_x</p:attrName>
                                        </p:attrNameLst>
                                      </p:cBhvr>
                                      <p:tavLst>
                                        <p:tav tm="0">
                                          <p:val>
                                            <p:strVal val="#ppt_x"/>
                                          </p:val>
                                        </p:tav>
                                        <p:tav tm="100000">
                                          <p:val>
                                            <p:strVal val="#ppt_x"/>
                                          </p:val>
                                        </p:tav>
                                      </p:tavLst>
                                    </p:anim>
                                    <p:anim calcmode="lin" valueType="num">
                                      <p:cBhvr>
                                        <p:cTn id="18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串的模式匹配</a:t>
            </a:r>
          </a:p>
        </p:txBody>
      </p:sp>
      <p:sp>
        <p:nvSpPr>
          <p:cNvPr id="5" name="文本占位符 4"/>
          <p:cNvSpPr>
            <a:spLocks noGrp="1"/>
          </p:cNvSpPr>
          <p:nvPr>
            <p:ph type="body" sz="quarter" idx="11"/>
          </p:nvPr>
        </p:nvSpPr>
        <p:spPr/>
        <p:txBody>
          <a:bodyPr/>
          <a:lstStyle/>
          <a:p>
            <a:r>
              <a:rPr lang="en-US" altLang="zh-CN" dirty="0"/>
              <a:t>03</a:t>
            </a:r>
            <a:endParaRPr lang="zh-CN" altLang="en-US" dirty="0"/>
          </a:p>
        </p:txBody>
      </p:sp>
      <p:sp>
        <p:nvSpPr>
          <p:cNvPr id="2" name="文本框 1"/>
          <p:cNvSpPr txBox="1"/>
          <p:nvPr/>
        </p:nvSpPr>
        <p:spPr>
          <a:xfrm>
            <a:off x="179512" y="4299942"/>
            <a:ext cx="3456384" cy="843558"/>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86109431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1064124"/>
            <a:ext cx="8712968" cy="2227706"/>
          </a:xfrm>
        </p:spPr>
        <p:txBody>
          <a:bodyPr/>
          <a:lstStyle/>
          <a:p>
            <a:pPr marL="0" indent="0" algn="just">
              <a:lnSpc>
                <a:spcPts val="2300"/>
              </a:lnSpc>
              <a:spcBef>
                <a:spcPts val="0"/>
              </a:spcBef>
              <a:buNone/>
            </a:pPr>
            <a:r>
              <a:rPr lang="zh-CN" altLang="en-US" sz="1600" dirty="0">
                <a:latin typeface="Times New Roman" panose="02020603050405020304" pitchFamily="18" charset="0"/>
                <a:cs typeface="Times New Roman" panose="02020603050405020304" pitchFamily="18" charset="0"/>
              </a:rPr>
              <a:t>设有主串</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和子串</a:t>
            </a:r>
            <a:r>
              <a:rPr lang="en-US" altLang="zh-CN" sz="1600" dirty="0">
                <a:latin typeface="Times New Roman" panose="02020603050405020304" pitchFamily="18" charset="0"/>
                <a:cs typeface="Times New Roman" panose="02020603050405020304" pitchFamily="18" charset="0"/>
              </a:rPr>
              <a:t>t, </a:t>
            </a:r>
            <a:r>
              <a:rPr lang="zh-CN" altLang="en-US" sz="1600" dirty="0">
                <a:latin typeface="Times New Roman" panose="02020603050405020304" pitchFamily="18" charset="0"/>
                <a:cs typeface="Times New Roman" panose="02020603050405020304" pitchFamily="18" charset="0"/>
              </a:rPr>
              <a:t>在主串</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中寻找等于子串</a:t>
            </a:r>
            <a:r>
              <a:rPr lang="en-US" altLang="zh-CN" sz="1600" dirty="0">
                <a:latin typeface="Times New Roman" panose="02020603050405020304" pitchFamily="18" charset="0"/>
                <a:cs typeface="Times New Roman" panose="02020603050405020304" pitchFamily="18" charset="0"/>
              </a:rPr>
              <a:t>t</a:t>
            </a:r>
            <a:r>
              <a:rPr lang="zh-CN" altLang="en-US" sz="1600" dirty="0">
                <a:latin typeface="Times New Roman" panose="02020603050405020304" pitchFamily="18" charset="0"/>
                <a:cs typeface="Times New Roman" panose="02020603050405020304" pitchFamily="18" charset="0"/>
              </a:rPr>
              <a:t>的过程被称为</a:t>
            </a:r>
            <a:r>
              <a:rPr lang="zh-CN" altLang="en-US" sz="1600" dirty="0">
                <a:solidFill>
                  <a:srgbClr val="FF0000"/>
                </a:solidFill>
                <a:latin typeface="Times New Roman" panose="02020603050405020304" pitchFamily="18" charset="0"/>
                <a:cs typeface="Times New Roman" panose="02020603050405020304" pitchFamily="18" charset="0"/>
              </a:rPr>
              <a:t>模式匹配或串匹配</a:t>
            </a:r>
            <a:r>
              <a:rPr lang="zh-CN" altLang="en-US" sz="1600" dirty="0">
                <a:latin typeface="Times New Roman" panose="02020603050405020304" pitchFamily="18" charset="0"/>
                <a:cs typeface="Times New Roman" panose="02020603050405020304" pitchFamily="18" charset="0"/>
              </a:rPr>
              <a:t>。通常把主串</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称为</a:t>
            </a:r>
            <a:r>
              <a:rPr lang="zh-CN" altLang="en-US" sz="1600" dirty="0">
                <a:solidFill>
                  <a:srgbClr val="FF0000"/>
                </a:solidFill>
                <a:latin typeface="Times New Roman" panose="02020603050405020304" pitchFamily="18" charset="0"/>
                <a:cs typeface="Times New Roman" panose="02020603050405020304" pitchFamily="18" charset="0"/>
              </a:rPr>
              <a:t>目标串</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子串</a:t>
            </a:r>
            <a:r>
              <a:rPr lang="en-US" altLang="zh-CN" sz="1600" dirty="0">
                <a:latin typeface="Times New Roman" panose="02020603050405020304" pitchFamily="18" charset="0"/>
                <a:cs typeface="Times New Roman" panose="02020603050405020304" pitchFamily="18" charset="0"/>
              </a:rPr>
              <a:t>t</a:t>
            </a:r>
            <a:r>
              <a:rPr lang="zh-CN" altLang="en-US" sz="1600" dirty="0">
                <a:latin typeface="Times New Roman" panose="02020603050405020304" pitchFamily="18" charset="0"/>
                <a:cs typeface="Times New Roman" panose="02020603050405020304" pitchFamily="18" charset="0"/>
              </a:rPr>
              <a:t>称为</a:t>
            </a:r>
            <a:r>
              <a:rPr lang="zh-CN" altLang="en-US" sz="1600" dirty="0">
                <a:solidFill>
                  <a:srgbClr val="FF0000"/>
                </a:solidFill>
                <a:latin typeface="Times New Roman" panose="02020603050405020304" pitchFamily="18" charset="0"/>
                <a:cs typeface="Times New Roman" panose="02020603050405020304" pitchFamily="18" charset="0"/>
              </a:rPr>
              <a:t>模式串</a:t>
            </a:r>
            <a:r>
              <a:rPr lang="zh-CN" altLang="en-US"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zh-CN" altLang="en-US" sz="1600" dirty="0">
                <a:latin typeface="Times New Roman" panose="02020603050405020304" pitchFamily="18" charset="0"/>
                <a:cs typeface="Times New Roman" panose="02020603050405020304" pitchFamily="18" charset="0"/>
              </a:rPr>
              <a:t>串匹配在文本处理中有着重要的应用。例如</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给定一个需要处理的目标串和一个需要在文本串中搜索的模式串</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经常要查找模式串在目标串中出现的位置和次数等。 </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Brute-Force </a:t>
            </a:r>
            <a:r>
              <a:rPr lang="zh-CN" altLang="en-US" sz="1600" dirty="0">
                <a:latin typeface="Times New Roman" panose="02020603050405020304" pitchFamily="18" charset="0"/>
                <a:cs typeface="Times New Roman" panose="02020603050405020304" pitchFamily="18" charset="0"/>
              </a:rPr>
              <a:t>和 </a:t>
            </a:r>
            <a:r>
              <a:rPr lang="en-US" altLang="zh-CN" sz="1600" dirty="0">
                <a:latin typeface="Times New Roman" panose="02020603050405020304" pitchFamily="18" charset="0"/>
                <a:cs typeface="Times New Roman" panose="02020603050405020304" pitchFamily="18" charset="0"/>
              </a:rPr>
              <a:t>KMP </a:t>
            </a:r>
            <a:r>
              <a:rPr lang="zh-CN" altLang="en-US" sz="1600" dirty="0">
                <a:latin typeface="Times New Roman" panose="02020603050405020304" pitchFamily="18" charset="0"/>
                <a:cs typeface="Times New Roman" panose="02020603050405020304" pitchFamily="18" charset="0"/>
              </a:rPr>
              <a:t>是常用的模式匹配算法</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采用堆式存储分配表示串。</a:t>
            </a: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串的模式匹配</a:t>
            </a:r>
          </a:p>
        </p:txBody>
      </p:sp>
    </p:spTree>
    <p:extLst>
      <p:ext uri="{BB962C8B-B14F-4D97-AF65-F5344CB8AC3E}">
        <p14:creationId xmlns:p14="http://schemas.microsoft.com/office/powerpoint/2010/main" val="27910679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707654"/>
                <a:ext cx="8712968" cy="1651642"/>
              </a:xfrm>
            </p:spPr>
            <p:txBody>
              <a:bodyPr/>
              <a:lstStyle/>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Brute-Force</a:t>
                </a:r>
                <a:r>
                  <a:rPr lang="zh-CN" altLang="zh-CN" sz="1600" dirty="0">
                    <a:latin typeface="Times New Roman" panose="02020603050405020304" pitchFamily="18" charset="0"/>
                    <a:cs typeface="Times New Roman" panose="02020603050405020304" pitchFamily="18" charset="0"/>
                  </a:rPr>
                  <a:t>算法简称为</a:t>
                </a:r>
                <a:r>
                  <a:rPr lang="en-US" altLang="zh-CN" sz="1600" dirty="0">
                    <a:latin typeface="Times New Roman" panose="02020603050405020304" pitchFamily="18" charset="0"/>
                    <a:cs typeface="Times New Roman" panose="02020603050405020304" pitchFamily="18" charset="0"/>
                  </a:rPr>
                  <a:t>BF</a:t>
                </a:r>
                <a:r>
                  <a:rPr lang="zh-CN" altLang="zh-CN" sz="1600" dirty="0">
                    <a:latin typeface="Times New Roman" panose="02020603050405020304" pitchFamily="18" charset="0"/>
                    <a:cs typeface="Times New Roman" panose="02020603050405020304" pitchFamily="18" charset="0"/>
                  </a:rPr>
                  <a:t>算法，其基本思想是从目标串</a:t>
                </a:r>
                <a14:m>
                  <m:oMath xmlns:m="http://schemas.openxmlformats.org/officeDocument/2006/math">
                    <m:r>
                      <m:rPr>
                        <m:sty m:val="p"/>
                      </m:rPr>
                      <a:rPr lang="en-US" altLang="zh-CN" sz="1600">
                        <a:latin typeface="Cambria Math" panose="02040503050406030204" pitchFamily="18" charset="0"/>
                      </a:rPr>
                      <m:t>s</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0</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1</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𝑛</m:t>
                        </m:r>
                        <m:r>
                          <a:rPr lang="en-US" altLang="zh-CN" sz="1600" i="1">
                            <a:latin typeface="Cambria Math" panose="02040503050406030204" pitchFamily="18" charset="0"/>
                          </a:rPr>
                          <m:t>−1</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的第一个字符开始和模式串</a:t>
                </a:r>
                <a14:m>
                  <m:oMath xmlns:m="http://schemas.openxmlformats.org/officeDocument/2006/math">
                    <m:r>
                      <m:rPr>
                        <m:sty m:val="p"/>
                      </m:rPr>
                      <a:rPr lang="en-US" altLang="zh-CN" sz="1600">
                        <a:latin typeface="Cambria Math" panose="02040503050406030204" pitchFamily="18" charset="0"/>
                      </a:rPr>
                      <m:t>t</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0</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1</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𝑚</m:t>
                        </m:r>
                        <m:r>
                          <a:rPr lang="en-US" altLang="zh-CN" sz="1600" i="1">
                            <a:latin typeface="Cambria Math" panose="02040503050406030204" pitchFamily="18" charset="0"/>
                          </a:rPr>
                          <m:t>−1</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中的第一个字符比较，若相等，则继续逐个比较后续字符；否则从目标串</a:t>
                </a:r>
                <a14:m>
                  <m:oMath xmlns:m="http://schemas.openxmlformats.org/officeDocument/2006/math">
                    <m:r>
                      <m:rPr>
                        <m:sty m:val="p"/>
                      </m:rPr>
                      <a:rPr lang="en-US" altLang="zh-CN" sz="1600">
                        <a:latin typeface="Cambria Math" panose="02040503050406030204" pitchFamily="18" charset="0"/>
                      </a:rPr>
                      <m:t>s</m:t>
                    </m:r>
                  </m:oMath>
                </a14:m>
                <a:r>
                  <a:rPr lang="zh-CN" altLang="zh-CN" sz="1600" dirty="0">
                    <a:latin typeface="Times New Roman" panose="02020603050405020304" pitchFamily="18" charset="0"/>
                    <a:cs typeface="Times New Roman" panose="02020603050405020304" pitchFamily="18" charset="0"/>
                  </a:rPr>
                  <a:t>的第二个字符开始重新与模式串</a:t>
                </a:r>
                <a14:m>
                  <m:oMath xmlns:m="http://schemas.openxmlformats.org/officeDocument/2006/math">
                    <m:r>
                      <m:rPr>
                        <m:sty m:val="p"/>
                      </m:rPr>
                      <a:rPr lang="en-US" altLang="zh-CN" sz="1600">
                        <a:latin typeface="Cambria Math" panose="02040503050406030204" pitchFamily="18" charset="0"/>
                      </a:rPr>
                      <m:t>t</m:t>
                    </m:r>
                  </m:oMath>
                </a14:m>
                <a:r>
                  <a:rPr lang="zh-CN" altLang="zh-CN" sz="1600" dirty="0">
                    <a:latin typeface="Times New Roman" panose="02020603050405020304" pitchFamily="18" charset="0"/>
                    <a:cs typeface="Times New Roman" panose="02020603050405020304" pitchFamily="18" charset="0"/>
                  </a:rPr>
                  <a:t>的第一个字符进行比较。依次类推，若目标串</a:t>
                </a:r>
                <a14:m>
                  <m:oMath xmlns:m="http://schemas.openxmlformats.org/officeDocument/2006/math">
                    <m:r>
                      <m:rPr>
                        <m:sty m:val="p"/>
                      </m:rPr>
                      <a:rPr lang="en-US" altLang="zh-CN" sz="1600">
                        <a:latin typeface="Cambria Math" panose="02040503050406030204" pitchFamily="18" charset="0"/>
                      </a:rPr>
                      <m:t>s</m:t>
                    </m:r>
                  </m:oMath>
                </a14:m>
                <a:r>
                  <a:rPr lang="zh-CN" altLang="zh-CN" sz="1600" dirty="0">
                    <a:latin typeface="Times New Roman" panose="02020603050405020304" pitchFamily="18" charset="0"/>
                    <a:cs typeface="Times New Roman" panose="02020603050405020304" pitchFamily="18" charset="0"/>
                  </a:rPr>
                  <a:t>的第</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个字符开始，每个字符依次和模式串</a:t>
                </a:r>
                <a14:m>
                  <m:oMath xmlns:m="http://schemas.openxmlformats.org/officeDocument/2006/math">
                    <m:r>
                      <m:rPr>
                        <m:sty m:val="p"/>
                      </m:rPr>
                      <a:rPr lang="en-US" altLang="zh-CN" sz="1600">
                        <a:latin typeface="Cambria Math" panose="02040503050406030204" pitchFamily="18" charset="0"/>
                      </a:rPr>
                      <m:t>t</m:t>
                    </m:r>
                  </m:oMath>
                </a14:m>
                <a:r>
                  <a:rPr lang="zh-CN" altLang="zh-CN" sz="1600" dirty="0">
                    <a:latin typeface="Times New Roman" panose="02020603050405020304" pitchFamily="18" charset="0"/>
                    <a:cs typeface="Times New Roman" panose="02020603050405020304" pitchFamily="18" charset="0"/>
                  </a:rPr>
                  <a:t>中的对应字符相等，则匹配成功，返回</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；否则，匹配失败，返回</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707654"/>
                <a:ext cx="8712968" cy="1651642"/>
              </a:xfrm>
              <a:blipFill>
                <a:blip r:embed="rId2"/>
                <a:stretch>
                  <a:fillRect l="-629" t="-1845" r="-629"/>
                </a:stretch>
              </a:blipFill>
            </p:spPr>
            <p:txBody>
              <a:bodyPr/>
              <a:lstStyle/>
              <a:p>
                <a:r>
                  <a:rPr lang="zh-CN" altLang="en-US">
                    <a:noFill/>
                  </a:rPr>
                  <a:t> </a:t>
                </a:r>
              </a:p>
            </p:txBody>
          </p:sp>
        </mc:Fallback>
      </mc:AlternateContent>
      <p:sp>
        <p:nvSpPr>
          <p:cNvPr id="5" name="文本框 4"/>
          <p:cNvSpPr txBox="1"/>
          <p:nvPr/>
        </p:nvSpPr>
        <p:spPr>
          <a:xfrm>
            <a:off x="611380" y="115457"/>
            <a:ext cx="194439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Brute-Force</a:t>
            </a:r>
            <a:r>
              <a:rPr lang="zh-CN" altLang="en-US" sz="2000" dirty="0"/>
              <a:t>算法</a:t>
            </a:r>
          </a:p>
        </p:txBody>
      </p:sp>
    </p:spTree>
    <p:extLst>
      <p:ext uri="{BB962C8B-B14F-4D97-AF65-F5344CB8AC3E}">
        <p14:creationId xmlns:p14="http://schemas.microsoft.com/office/powerpoint/2010/main" val="1469510248"/>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3096344" cy="3595858"/>
              </a:xfrm>
            </p:spPr>
            <p:txBody>
              <a:bodyPr/>
              <a:lstStyle/>
              <a:p>
                <a:pPr marL="0" indent="0" algn="just">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已知目标串</a:t>
                </a:r>
                <a14:m>
                  <m:oMath xmlns:m="http://schemas.openxmlformats.org/officeDocument/2006/math">
                    <m:r>
                      <m:rPr>
                        <m:sty m:val="p"/>
                      </m:rPr>
                      <a:rPr lang="en-US" altLang="zh-CN" sz="1600">
                        <a:solidFill>
                          <a:srgbClr val="002060"/>
                        </a:solidFill>
                        <a:latin typeface="Cambria Math" panose="02040503050406030204" pitchFamily="18" charset="0"/>
                      </a:rPr>
                      <m:t>s</m:t>
                    </m:r>
                    <m:r>
                      <a:rPr lang="en-US" altLang="zh-CN" sz="1600">
                        <a:solidFill>
                          <a:srgbClr val="002060"/>
                        </a:solidFill>
                        <a:latin typeface="Cambria Math" panose="02040503050406030204" pitchFamily="18" charset="0"/>
                      </a:rPr>
                      <m:t>=</m:t>
                    </m:r>
                    <m:r>
                      <a:rPr lang="en-US" altLang="zh-CN" sz="1600" i="1" smtClean="0">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𝑎𝑏𝑐𝑎𝑏𝑑𝑒𝑓𝑎𝑒𝑏𝑎𝑎</m:t>
                    </m:r>
                    <m:r>
                      <a:rPr lang="en-US" altLang="zh-CN" sz="1600" i="1" smtClean="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，模式串</a:t>
                </a:r>
                <a14:m>
                  <m:oMath xmlns:m="http://schemas.openxmlformats.org/officeDocument/2006/math">
                    <m:r>
                      <m:rPr>
                        <m:sty m:val="p"/>
                      </m:rPr>
                      <a:rPr lang="en-US" altLang="zh-CN" sz="1600">
                        <a:solidFill>
                          <a:srgbClr val="002060"/>
                        </a:solidFill>
                        <a:latin typeface="Cambria Math" panose="02040503050406030204" pitchFamily="18" charset="0"/>
                      </a:rPr>
                      <m:t>t</m:t>
                    </m:r>
                    <m:r>
                      <a:rPr lang="en-US" altLang="zh-CN" sz="1600">
                        <a:solidFill>
                          <a:srgbClr val="002060"/>
                        </a:solidFill>
                        <a:latin typeface="Cambria Math" panose="02040503050406030204" pitchFamily="18" charset="0"/>
                      </a:rPr>
                      <m:t>=</m:t>
                    </m:r>
                    <m:r>
                      <a:rPr lang="en-US" altLang="zh-CN" sz="1600" i="1" smtClean="0">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𝑎𝑏𝑑𝑒</m:t>
                    </m:r>
                    <m:r>
                      <a:rPr lang="en-US" altLang="zh-CN" sz="1600" i="1" smtClean="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，模式匹配时设立两个指针</a:t>
                </a:r>
                <a14:m>
                  <m:oMath xmlns:m="http://schemas.openxmlformats.org/officeDocument/2006/math">
                    <m:r>
                      <m:rPr>
                        <m:sty m:val="p"/>
                      </m:rPr>
                      <a:rPr lang="en-US" altLang="zh-CN" sz="1600">
                        <a:solidFill>
                          <a:srgbClr val="002060"/>
                        </a:solidFill>
                        <a:latin typeface="Cambria Math" panose="02040503050406030204" pitchFamily="18" charset="0"/>
                      </a:rPr>
                      <m:t>i</m:t>
                    </m:r>
                  </m:oMath>
                </a14:m>
                <a:r>
                  <a:rPr lang="zh-CN" altLang="zh-CN" sz="1600" dirty="0">
                    <a:solidFill>
                      <a:srgbClr val="002060"/>
                    </a:solidFill>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solidFill>
                          <a:srgbClr val="002060"/>
                        </a:solidFill>
                        <a:latin typeface="Cambria Math" panose="02040503050406030204" pitchFamily="18" charset="0"/>
                      </a:rPr>
                      <m:t>j</m:t>
                    </m:r>
                  </m:oMath>
                </a14:m>
                <a:r>
                  <a:rPr lang="zh-CN" altLang="zh-CN" sz="1600" dirty="0">
                    <a:solidFill>
                      <a:srgbClr val="002060"/>
                    </a:solidFill>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solidFill>
                          <a:srgbClr val="002060"/>
                        </a:solidFill>
                        <a:latin typeface="Cambria Math" panose="02040503050406030204" pitchFamily="18" charset="0"/>
                      </a:rPr>
                      <m:t>i</m:t>
                    </m:r>
                  </m:oMath>
                </a14:m>
                <a:r>
                  <a:rPr lang="zh-CN" altLang="zh-CN" sz="1600" dirty="0">
                    <a:solidFill>
                      <a:srgbClr val="002060"/>
                    </a:solidFill>
                    <a:latin typeface="Times New Roman" panose="02020603050405020304" pitchFamily="18" charset="0"/>
                    <a:cs typeface="Times New Roman" panose="02020603050405020304" pitchFamily="18" charset="0"/>
                  </a:rPr>
                  <a:t>指向</a:t>
                </a:r>
                <a14:m>
                  <m:oMath xmlns:m="http://schemas.openxmlformats.org/officeDocument/2006/math">
                    <m:r>
                      <m:rPr>
                        <m:sty m:val="p"/>
                      </m:rPr>
                      <a:rPr lang="en-US" altLang="zh-CN" sz="1600">
                        <a:solidFill>
                          <a:srgbClr val="002060"/>
                        </a:solidFill>
                        <a:latin typeface="Cambria Math" panose="02040503050406030204" pitchFamily="18" charset="0"/>
                      </a:rPr>
                      <m:t>s</m:t>
                    </m:r>
                  </m:oMath>
                </a14:m>
                <a:r>
                  <a:rPr lang="zh-CN" altLang="zh-CN" sz="1600" dirty="0">
                    <a:solidFill>
                      <a:srgbClr val="002060"/>
                    </a:solidFill>
                    <a:latin typeface="Times New Roman" panose="02020603050405020304" pitchFamily="18" charset="0"/>
                    <a:cs typeface="Times New Roman" panose="02020603050405020304" pitchFamily="18" charset="0"/>
                  </a:rPr>
                  <a:t>的当前比较字符位置，</a:t>
                </a:r>
                <a14:m>
                  <m:oMath xmlns:m="http://schemas.openxmlformats.org/officeDocument/2006/math">
                    <m:r>
                      <m:rPr>
                        <m:sty m:val="p"/>
                      </m:rPr>
                      <a:rPr lang="en-US" altLang="zh-CN" sz="1600">
                        <a:solidFill>
                          <a:srgbClr val="002060"/>
                        </a:solidFill>
                        <a:latin typeface="Cambria Math" panose="02040503050406030204" pitchFamily="18" charset="0"/>
                      </a:rPr>
                      <m:t>j</m:t>
                    </m:r>
                  </m:oMath>
                </a14:m>
                <a:r>
                  <a:rPr lang="zh-CN" altLang="zh-CN" sz="1600" dirty="0">
                    <a:solidFill>
                      <a:srgbClr val="002060"/>
                    </a:solidFill>
                    <a:latin typeface="Times New Roman" panose="02020603050405020304" pitchFamily="18" charset="0"/>
                    <a:cs typeface="Times New Roman" panose="02020603050405020304" pitchFamily="18" charset="0"/>
                  </a:rPr>
                  <a:t>指向</a:t>
                </a:r>
                <a14:m>
                  <m:oMath xmlns:m="http://schemas.openxmlformats.org/officeDocument/2006/math">
                    <m:r>
                      <m:rPr>
                        <m:sty m:val="p"/>
                      </m:rPr>
                      <a:rPr lang="en-US" altLang="zh-CN" sz="1600">
                        <a:solidFill>
                          <a:srgbClr val="002060"/>
                        </a:solidFill>
                        <a:latin typeface="Cambria Math" panose="02040503050406030204" pitchFamily="18" charset="0"/>
                      </a:rPr>
                      <m:t>t</m:t>
                    </m:r>
                  </m:oMath>
                </a14:m>
                <a:r>
                  <a:rPr lang="zh-CN" altLang="zh-CN" sz="1600" dirty="0">
                    <a:solidFill>
                      <a:srgbClr val="002060"/>
                    </a:solidFill>
                    <a:latin typeface="Times New Roman" panose="02020603050405020304" pitchFamily="18" charset="0"/>
                    <a:cs typeface="Times New Roman" panose="02020603050405020304" pitchFamily="18" charset="0"/>
                  </a:rPr>
                  <a:t>的当前比较字符位置。其模式匹配过程如图所示</a:t>
                </a:r>
                <a:r>
                  <a:rPr lang="zh-CN" altLang="en-US" sz="1600" dirty="0">
                    <a:solidFill>
                      <a:srgbClr val="002060"/>
                    </a:solidFill>
                    <a:latin typeface="Times New Roman" panose="02020603050405020304" pitchFamily="18" charset="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3096344" cy="3595858"/>
              </a:xfrm>
              <a:blipFill>
                <a:blip r:embed="rId2"/>
                <a:stretch>
                  <a:fillRect l="-1772" r="-8268"/>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3851920" y="635439"/>
            <a:ext cx="3915321" cy="857370"/>
          </a:xfrm>
          <a:prstGeom prst="rect">
            <a:avLst/>
          </a:prstGeom>
        </p:spPr>
      </p:pic>
      <p:pic>
        <p:nvPicPr>
          <p:cNvPr id="6" name="图片 5"/>
          <p:cNvPicPr>
            <a:picLocks noChangeAspect="1"/>
          </p:cNvPicPr>
          <p:nvPr/>
        </p:nvPicPr>
        <p:blipFill>
          <a:blip r:embed="rId4"/>
          <a:stretch>
            <a:fillRect/>
          </a:stretch>
        </p:blipFill>
        <p:spPr>
          <a:xfrm>
            <a:off x="4004341" y="1563638"/>
            <a:ext cx="3762900" cy="838317"/>
          </a:xfrm>
          <a:prstGeom prst="rect">
            <a:avLst/>
          </a:prstGeom>
        </p:spPr>
      </p:pic>
      <p:pic>
        <p:nvPicPr>
          <p:cNvPr id="7" name="图片 6"/>
          <p:cNvPicPr>
            <a:picLocks noChangeAspect="1"/>
          </p:cNvPicPr>
          <p:nvPr/>
        </p:nvPicPr>
        <p:blipFill>
          <a:blip r:embed="rId5"/>
          <a:stretch>
            <a:fillRect/>
          </a:stretch>
        </p:blipFill>
        <p:spPr>
          <a:xfrm>
            <a:off x="3851920" y="2439237"/>
            <a:ext cx="4115374" cy="781159"/>
          </a:xfrm>
          <a:prstGeom prst="rect">
            <a:avLst/>
          </a:prstGeom>
        </p:spPr>
      </p:pic>
      <p:pic>
        <p:nvPicPr>
          <p:cNvPr id="9" name="图片 8"/>
          <p:cNvPicPr>
            <a:picLocks noChangeAspect="1"/>
          </p:cNvPicPr>
          <p:nvPr/>
        </p:nvPicPr>
        <p:blipFill>
          <a:blip r:embed="rId6"/>
          <a:stretch>
            <a:fillRect/>
          </a:stretch>
        </p:blipFill>
        <p:spPr>
          <a:xfrm>
            <a:off x="4067944" y="3294062"/>
            <a:ext cx="4077269" cy="876422"/>
          </a:xfrm>
          <a:prstGeom prst="rect">
            <a:avLst/>
          </a:prstGeom>
        </p:spPr>
      </p:pic>
      <p:sp>
        <p:nvSpPr>
          <p:cNvPr id="10" name="文本框 9"/>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示例</a:t>
            </a:r>
          </a:p>
        </p:txBody>
      </p:sp>
    </p:spTree>
    <p:extLst>
      <p:ext uri="{BB962C8B-B14F-4D97-AF65-F5344CB8AC3E}">
        <p14:creationId xmlns:p14="http://schemas.microsoft.com/office/powerpoint/2010/main" val="4288516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27584" y="843558"/>
            <a:ext cx="7137400" cy="3507876"/>
          </a:xfrm>
        </p:spPr>
        <p:txBody>
          <a:bodyPr/>
          <a:lstStyle/>
          <a:p>
            <a:pPr marL="0" indent="0">
              <a:lnSpc>
                <a:spcPts val="22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BFIndex</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HString</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s,HString</a:t>
            </a:r>
            <a:r>
              <a:rPr lang="en-US" altLang="zh-CN" sz="1800" dirty="0">
                <a:solidFill>
                  <a:srgbClr val="002060"/>
                </a:solidFill>
                <a:latin typeface="Times New Roman" panose="02020603050405020304" pitchFamily="18" charset="0"/>
                <a:cs typeface="Times New Roman" panose="02020603050405020304" pitchFamily="18" charset="0"/>
              </a:rPr>
              <a:t> 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=0,j=0;</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while(</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&lt;</a:t>
            </a:r>
            <a:r>
              <a:rPr lang="en-US" altLang="zh-CN" sz="1800" dirty="0" err="1">
                <a:solidFill>
                  <a:srgbClr val="002060"/>
                </a:solidFill>
                <a:latin typeface="Times New Roman" panose="02020603050405020304" pitchFamily="18" charset="0"/>
                <a:cs typeface="Times New Roman" panose="02020603050405020304" pitchFamily="18" charset="0"/>
              </a:rPr>
              <a:t>s.length</a:t>
            </a:r>
            <a:r>
              <a:rPr lang="en-US" altLang="zh-CN" sz="1800" dirty="0">
                <a:solidFill>
                  <a:srgbClr val="002060"/>
                </a:solidFill>
                <a:latin typeface="Times New Roman" panose="02020603050405020304" pitchFamily="18" charset="0"/>
                <a:cs typeface="Times New Roman" panose="02020603050405020304" pitchFamily="18" charset="0"/>
              </a:rPr>
              <a:t>&amp;&amp;j&lt;</a:t>
            </a:r>
            <a:r>
              <a:rPr lang="en-US" altLang="zh-CN" sz="1800" dirty="0" err="1">
                <a:solidFill>
                  <a:srgbClr val="002060"/>
                </a:solidFill>
                <a:latin typeface="Times New Roman" panose="02020603050405020304" pitchFamily="18" charset="0"/>
                <a:cs typeface="Times New Roman" panose="02020603050405020304" pitchFamily="18" charset="0"/>
              </a:rPr>
              <a:t>t.length</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if(s.ch[</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]==t.ch[j]){         //</a:t>
            </a:r>
            <a:r>
              <a:rPr lang="zh-CN" altLang="zh-CN" sz="1800" dirty="0">
                <a:solidFill>
                  <a:srgbClr val="002060"/>
                </a:solidFill>
                <a:latin typeface="Times New Roman" panose="02020603050405020304" pitchFamily="18" charset="0"/>
                <a:cs typeface="Times New Roman" panose="02020603050405020304" pitchFamily="18" charset="0"/>
              </a:rPr>
              <a:t>继续比较下一字符</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j++</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a:t>
            </a:r>
            <a:r>
              <a:rPr lang="zh-CN" altLang="zh-CN" sz="1800" dirty="0">
                <a:solidFill>
                  <a:srgbClr val="002060"/>
                </a:solidFill>
                <a:latin typeface="Times New Roman" panose="02020603050405020304" pitchFamily="18" charset="0"/>
                <a:cs typeface="Times New Roman" panose="02020603050405020304" pitchFamily="18" charset="0"/>
              </a:rPr>
              <a:t>目标串、模式串回溯重新开始下一次匹配</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=i-j+1;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j=0;</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if(j&gt;=</a:t>
            </a:r>
            <a:r>
              <a:rPr lang="en-US" altLang="zh-CN" sz="1800" dirty="0" err="1">
                <a:solidFill>
                  <a:srgbClr val="002060"/>
                </a:solidFill>
                <a:latin typeface="Times New Roman" panose="02020603050405020304" pitchFamily="18" charset="0"/>
                <a:cs typeface="Times New Roman" panose="02020603050405020304" pitchFamily="18" charset="0"/>
              </a:rPr>
              <a:t>t.length</a:t>
            </a:r>
            <a:r>
              <a:rPr lang="en-US" altLang="zh-CN" sz="1800" dirty="0">
                <a:solidFill>
                  <a:srgbClr val="002060"/>
                </a:solidFill>
                <a:latin typeface="Times New Roman" panose="02020603050405020304" pitchFamily="18" charset="0"/>
                <a:cs typeface="Times New Roman" panose="02020603050405020304" pitchFamily="18" charset="0"/>
              </a:rPr>
              <a:t>)   return </a:t>
            </a:r>
            <a:r>
              <a:rPr lang="en-US" altLang="zh-CN" sz="1800" dirty="0" err="1">
                <a:solidFill>
                  <a:srgbClr val="002060"/>
                </a:solidFill>
                <a:latin typeface="Times New Roman" panose="02020603050405020304" pitchFamily="18" charset="0"/>
                <a:cs typeface="Times New Roman" panose="02020603050405020304" pitchFamily="18" charset="0"/>
              </a:rPr>
              <a:t>i-t.length</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返回匹配的第一个字符的下标</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return -1;                //</a:t>
            </a:r>
            <a:r>
              <a:rPr lang="zh-CN" altLang="zh-CN" sz="1800" dirty="0">
                <a:solidFill>
                  <a:srgbClr val="002060"/>
                </a:solidFill>
                <a:latin typeface="Times New Roman" panose="02020603050405020304" pitchFamily="18" charset="0"/>
                <a:cs typeface="Times New Roman" panose="02020603050405020304" pitchFamily="18" charset="0"/>
              </a:rPr>
              <a:t>匹配不成功</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BF</a:t>
            </a:r>
            <a:r>
              <a:rPr lang="zh-CN" altLang="en-US" sz="2000" dirty="0"/>
              <a:t>算法</a:t>
            </a:r>
          </a:p>
        </p:txBody>
      </p:sp>
    </p:spTree>
    <p:extLst>
      <p:ext uri="{BB962C8B-B14F-4D97-AF65-F5344CB8AC3E}">
        <p14:creationId xmlns:p14="http://schemas.microsoft.com/office/powerpoint/2010/main" val="35997748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3" end="13"/>
                                            </p:txEl>
                                          </p:spTgt>
                                        </p:tgtEl>
                                        <p:attrNameLst>
                                          <p:attrName>style.visibility</p:attrName>
                                        </p:attrNameLst>
                                      </p:cBhvr>
                                      <p:to>
                                        <p:strVal val="visible"/>
                                      </p:to>
                                    </p:set>
                                    <p:animEffect transition="in" filter="fade">
                                      <p:cBhvr>
                                        <p:cTn id="98" dur="1000"/>
                                        <p:tgtEl>
                                          <p:spTgt spid="3">
                                            <p:txEl>
                                              <p:pRg st="13" end="13"/>
                                            </p:txEl>
                                          </p:spTgt>
                                        </p:tgtEl>
                                      </p:cBhvr>
                                    </p:animEffect>
                                    <p:anim calcmode="lin" valueType="num">
                                      <p:cBhvr>
                                        <p:cTn id="9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712968" cy="1867666"/>
          </a:xfrm>
        </p:spPr>
        <p:txBody>
          <a:bodyPr/>
          <a:lstStyle/>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BF</a:t>
            </a:r>
            <a:r>
              <a:rPr lang="zh-CN" altLang="en-US" sz="1600" dirty="0">
                <a:latin typeface="Times New Roman" panose="02020603050405020304" pitchFamily="18" charset="0"/>
                <a:cs typeface="Times New Roman" panose="02020603050405020304" pitchFamily="18" charset="0"/>
              </a:rPr>
              <a:t>算法简单、易于理解</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但目标串指针</a:t>
            </a:r>
            <a:r>
              <a:rPr lang="en-US" altLang="zh-CN" sz="1600" dirty="0" err="1">
                <a:latin typeface="Times New Roman" panose="02020603050405020304" pitchFamily="18" charset="0"/>
                <a:cs typeface="Times New Roman" panose="02020603050405020304" pitchFamily="18" charset="0"/>
              </a:rPr>
              <a:t>i</a:t>
            </a:r>
            <a:r>
              <a:rPr lang="zh-CN" altLang="en-US" sz="1600" dirty="0">
                <a:latin typeface="Times New Roman" panose="02020603050405020304" pitchFamily="18" charset="0"/>
                <a:cs typeface="Times New Roman" panose="02020603050405020304" pitchFamily="18" charset="0"/>
              </a:rPr>
              <a:t>在若干个字符序列比较相等后</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若有一个字符比较不相等</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目标串指针需要回溯</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没有充分利用前面部分匹配的结果</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效率不高。 </a:t>
            </a: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为此</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D.E.Knuth</a:t>
            </a:r>
            <a:r>
              <a:rPr lang="zh-CN"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J.H.Morris</a:t>
            </a:r>
            <a:r>
              <a:rPr lang="zh-CN" altLang="zh-CN" sz="1600" dirty="0">
                <a:latin typeface="Times New Roman" panose="02020603050405020304" pitchFamily="18" charset="0"/>
                <a:cs typeface="Times New Roman" panose="02020603050405020304" pitchFamily="18" charset="0"/>
              </a:rPr>
              <a:t>和</a:t>
            </a:r>
            <a:r>
              <a:rPr lang="en-US" altLang="zh-CN" sz="1600" dirty="0" err="1">
                <a:latin typeface="Times New Roman" panose="02020603050405020304" pitchFamily="18" charset="0"/>
                <a:cs typeface="Times New Roman" panose="02020603050405020304" pitchFamily="18" charset="0"/>
              </a:rPr>
              <a:t>V.R.Pratt</a:t>
            </a:r>
            <a:r>
              <a:rPr lang="zh-CN" altLang="en-US" sz="1600" dirty="0">
                <a:latin typeface="Times New Roman" panose="02020603050405020304" pitchFamily="18" charset="0"/>
                <a:cs typeface="Times New Roman" panose="02020603050405020304" pitchFamily="18" charset="0"/>
              </a:rPr>
              <a:t>共同提出了消除目标串指针回溯</a:t>
            </a:r>
            <a:r>
              <a:rPr lang="en-US" altLang="zh-CN" sz="1600" dirty="0">
                <a:latin typeface="Times New Roman" panose="02020603050405020304" pitchFamily="18" charset="0"/>
                <a:cs typeface="Times New Roman" panose="02020603050405020304" pitchFamily="18" charset="0"/>
              </a:rPr>
              <a:t>Knuth-Morris-Pratt</a:t>
            </a:r>
            <a:r>
              <a:rPr lang="zh-CN" altLang="en-US" sz="1600" dirty="0">
                <a:latin typeface="Times New Roman" panose="02020603050405020304" pitchFamily="18" charset="0"/>
                <a:cs typeface="Times New Roman" panose="02020603050405020304" pitchFamily="18" charset="0"/>
              </a:rPr>
              <a:t>算法</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简称 </a:t>
            </a:r>
            <a:r>
              <a:rPr lang="en-US" altLang="zh-CN" sz="1600" dirty="0">
                <a:latin typeface="Times New Roman" panose="02020603050405020304" pitchFamily="18" charset="0"/>
                <a:cs typeface="Times New Roman" panose="02020603050405020304" pitchFamily="18" charset="0"/>
              </a:rPr>
              <a:t>KMP </a:t>
            </a:r>
            <a:r>
              <a:rPr lang="zh-CN" altLang="en-US" sz="1600" dirty="0">
                <a:latin typeface="Times New Roman" panose="02020603050405020304" pitchFamily="18" charset="0"/>
                <a:cs typeface="Times New Roman" panose="02020603050405020304" pitchFamily="18" charset="0"/>
              </a:rPr>
              <a:t>算法。 其主要思想是在匹配过程中出现字符比较不相等时</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不需要回溯指针</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而是利用已经得到的部分匹配的结果将模式向右移动尽可能多的字符后继续进行比较。</a:t>
            </a:r>
          </a:p>
        </p:txBody>
      </p:sp>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KMP</a:t>
            </a:r>
            <a:r>
              <a:rPr lang="zh-CN" altLang="en-US" sz="2000" dirty="0"/>
              <a:t>算法</a:t>
            </a:r>
          </a:p>
        </p:txBody>
      </p:sp>
    </p:spTree>
    <p:extLst>
      <p:ext uri="{BB962C8B-B14F-4D97-AF65-F5344CB8AC3E}">
        <p14:creationId xmlns:p14="http://schemas.microsoft.com/office/powerpoint/2010/main" val="4250691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1815" y="959740"/>
                <a:ext cx="9036496" cy="1507626"/>
              </a:xfrm>
            </p:spPr>
            <p:txBody>
              <a:bodyPr/>
              <a:lstStyle/>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假设目标串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aaaaabababbba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，模式串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aaaab</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。在进行第一趟匹配时，匹配失败处为</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r>
                      <a:rPr lang="en-US" altLang="zh-CN" sz="1600">
                        <a:latin typeface="Cambria Math" panose="02040503050406030204" pitchFamily="18" charset="0"/>
                        <a:cs typeface="Times New Roman" panose="02020603050405020304" pitchFamily="18" charset="0"/>
                      </a:rPr>
                      <m:t>=4,</m:t>
                    </m:r>
                    <m:r>
                      <m:rPr>
                        <m:sty m:val="p"/>
                      </m:rPr>
                      <a:rPr lang="en-US" altLang="zh-CN" sz="1600">
                        <a:latin typeface="Cambria Math" panose="02040503050406030204" pitchFamily="18" charset="0"/>
                        <a:cs typeface="Times New Roman" panose="02020603050405020304" pitchFamily="18" charset="0"/>
                      </a:rPr>
                      <m:t>j</m:t>
                    </m:r>
                    <m:r>
                      <a:rPr lang="en-US" altLang="zh-CN" sz="1600">
                        <a:latin typeface="Cambria Math" panose="02040503050406030204" pitchFamily="18" charset="0"/>
                        <a:cs typeface="Times New Roman" panose="02020603050405020304" pitchFamily="18" charset="0"/>
                      </a:rPr>
                      <m:t>=4</m:t>
                    </m:r>
                  </m:oMath>
                </a14:m>
                <a:r>
                  <a:rPr lang="zh-CN" altLang="zh-CN" sz="1600" dirty="0">
                    <a:latin typeface="Times New Roman" panose="02020603050405020304" pitchFamily="18" charset="0"/>
                    <a:cs typeface="Times New Roman" panose="02020603050405020304" pitchFamily="18" charset="0"/>
                  </a:rPr>
                  <a:t>，尽管匹配失败，但可以得出信息：</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oMath>
                </a14:m>
                <a:r>
                  <a:rPr lang="zh-CN" altLang="zh-CN" sz="1600" dirty="0">
                    <a:latin typeface="Times New Roman" panose="02020603050405020304" pitchFamily="18" charset="0"/>
                    <a:cs typeface="Times New Roman" panose="02020603050405020304" pitchFamily="18" charset="0"/>
                  </a:rPr>
                  <a:t>的前</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个字符</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0</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2</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3</m:t>
                        </m:r>
                      </m:sub>
                    </m:sSub>
                  </m:oMath>
                </a14:m>
                <a:r>
                  <a:rPr lang="zh-CN" altLang="zh-CN" sz="1600" dirty="0">
                    <a:latin typeface="Times New Roman" panose="02020603050405020304" pitchFamily="18" charset="0"/>
                    <a:cs typeface="Times New Roman" panose="02020603050405020304" pitchFamily="18" charset="0"/>
                  </a:rPr>
                  <a:t>与</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的前</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个字符</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0</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2</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3</m:t>
                        </m:r>
                      </m:sub>
                    </m:sSub>
                  </m:oMath>
                </a14:m>
                <a:r>
                  <a:rPr lang="zh-CN" altLang="zh-CN" sz="1600" dirty="0">
                    <a:latin typeface="Times New Roman" panose="02020603050405020304" pitchFamily="18" charset="0"/>
                    <a:cs typeface="Times New Roman" panose="02020603050405020304" pitchFamily="18" charset="0"/>
                  </a:rPr>
                  <a:t>相同，且从</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中发现，</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0</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2</m:t>
                        </m:r>
                      </m:sub>
                    </m:sSub>
                  </m:oMath>
                </a14:m>
                <a:r>
                  <a:rPr lang="zh-CN" altLang="zh-CN" sz="1600" dirty="0">
                    <a:latin typeface="Times New Roman" panose="02020603050405020304" pitchFamily="18" charset="0"/>
                    <a:cs typeface="Times New Roman" panose="02020603050405020304" pitchFamily="18" charset="0"/>
                  </a:rPr>
                  <a:t>与</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2</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3</m:t>
                        </m:r>
                      </m:sub>
                    </m:sSub>
                  </m:oMath>
                </a14:m>
                <a:r>
                  <a:rPr lang="zh-CN" altLang="zh-CN" sz="1600" dirty="0">
                    <a:latin typeface="Times New Roman" panose="02020603050405020304" pitchFamily="18" charset="0"/>
                    <a:cs typeface="Times New Roman" panose="02020603050405020304" pitchFamily="18" charset="0"/>
                  </a:rPr>
                  <a:t>相同，即</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0</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2</m:t>
                        </m:r>
                      </m:sub>
                    </m:sSub>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2</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3</m:t>
                        </m:r>
                      </m:sub>
                    </m:sSub>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1</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2</m:t>
                        </m:r>
                      </m:sub>
                    </m:sSub>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3</m:t>
                        </m:r>
                      </m:sub>
                    </m:sSub>
                  </m:oMath>
                </a14:m>
                <a:r>
                  <a:rPr lang="zh-CN" altLang="zh-CN" sz="1600" dirty="0">
                    <a:latin typeface="Times New Roman" panose="02020603050405020304" pitchFamily="18" charset="0"/>
                    <a:cs typeface="Times New Roman" panose="02020603050405020304" pitchFamily="18" charset="0"/>
                  </a:rPr>
                  <a:t>。根据</a:t>
                </a:r>
                <a:r>
                  <a:rPr lang="en-US" altLang="zh-CN" sz="1600" dirty="0">
                    <a:latin typeface="Times New Roman" panose="02020603050405020304" pitchFamily="18" charset="0"/>
                    <a:cs typeface="Times New Roman" panose="02020603050405020304" pitchFamily="18" charset="0"/>
                  </a:rPr>
                  <a:t>BF</a:t>
                </a:r>
                <a:r>
                  <a:rPr lang="zh-CN" altLang="zh-CN" sz="1600" dirty="0">
                    <a:latin typeface="Times New Roman" panose="02020603050405020304" pitchFamily="18" charset="0"/>
                    <a:cs typeface="Times New Roman" panose="02020603050405020304" pitchFamily="18" charset="0"/>
                  </a:rPr>
                  <a:t>算法，下一趟应回溯至</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1</m:t>
                        </m:r>
                      </m:sub>
                    </m:sSub>
                  </m:oMath>
                </a14:m>
                <a:r>
                  <a:rPr lang="zh-CN" altLang="zh-CN" sz="1600" dirty="0">
                    <a:latin typeface="Times New Roman" panose="02020603050405020304" pitchFamily="18" charset="0"/>
                    <a:cs typeface="Times New Roman" panose="02020603050405020304" pitchFamily="18" charset="0"/>
                  </a:rPr>
                  <a:t>开始重新匹配，</a:t>
                </a:r>
                <a:r>
                  <a:rPr lang="zh-CN" altLang="zh-CN" sz="1600" dirty="0">
                    <a:solidFill>
                      <a:srgbClr val="FF0000"/>
                    </a:solidFill>
                    <a:latin typeface="Times New Roman" panose="02020603050405020304" pitchFamily="18" charset="0"/>
                    <a:cs typeface="Times New Roman" panose="02020603050405020304" pitchFamily="18" charset="0"/>
                  </a:rPr>
                  <a:t>由于</a:t>
                </a:r>
                <a14:m>
                  <m:oMath xmlns:m="http://schemas.openxmlformats.org/officeDocument/2006/math">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𝑡</m:t>
                        </m:r>
                      </m:e>
                      <m:sub>
                        <m:r>
                          <a:rPr lang="en-US" altLang="zh-CN" sz="1600">
                            <a:solidFill>
                              <a:srgbClr val="FF0000"/>
                            </a:solidFill>
                            <a:latin typeface="Cambria Math" panose="02040503050406030204" pitchFamily="18" charset="0"/>
                            <a:cs typeface="Times New Roman" panose="02020603050405020304" pitchFamily="18" charset="0"/>
                          </a:rPr>
                          <m:t>0</m:t>
                        </m:r>
                      </m:sub>
                    </m:sSub>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𝑡</m:t>
                        </m:r>
                      </m:e>
                      <m:sub>
                        <m:r>
                          <a:rPr lang="en-US" altLang="zh-CN" sz="1600">
                            <a:solidFill>
                              <a:srgbClr val="FF0000"/>
                            </a:solidFill>
                            <a:latin typeface="Cambria Math" panose="02040503050406030204" pitchFamily="18" charset="0"/>
                            <a:cs typeface="Times New Roman" panose="02020603050405020304" pitchFamily="18" charset="0"/>
                          </a:rPr>
                          <m:t>1</m:t>
                        </m:r>
                      </m:sub>
                    </m:sSub>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𝑡</m:t>
                        </m:r>
                      </m:e>
                      <m:sub>
                        <m:r>
                          <a:rPr lang="en-US" altLang="zh-CN" sz="1600">
                            <a:solidFill>
                              <a:srgbClr val="FF0000"/>
                            </a:solidFill>
                            <a:latin typeface="Cambria Math" panose="02040503050406030204" pitchFamily="18" charset="0"/>
                            <a:cs typeface="Times New Roman" panose="02020603050405020304" pitchFamily="18" charset="0"/>
                          </a:rPr>
                          <m:t>2</m:t>
                        </m:r>
                      </m:sub>
                    </m:sSub>
                    <m:r>
                      <a:rPr lang="en-US" altLang="zh-CN" sz="1600">
                        <a:solidFill>
                          <a:srgbClr val="FF0000"/>
                        </a:solidFill>
                        <a:latin typeface="Cambria Math" panose="02040503050406030204" pitchFamily="18" charset="0"/>
                        <a:cs typeface="Times New Roman" panose="02020603050405020304" pitchFamily="18" charset="0"/>
                      </a:rPr>
                      <m:t>=</m:t>
                    </m:r>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𝑠</m:t>
                        </m:r>
                      </m:e>
                      <m:sub>
                        <m:r>
                          <a:rPr lang="en-US" altLang="zh-CN" sz="1600">
                            <a:solidFill>
                              <a:srgbClr val="FF0000"/>
                            </a:solidFill>
                            <a:latin typeface="Cambria Math" panose="02040503050406030204" pitchFamily="18" charset="0"/>
                            <a:cs typeface="Times New Roman" panose="02020603050405020304" pitchFamily="18" charset="0"/>
                          </a:rPr>
                          <m:t>1</m:t>
                        </m:r>
                      </m:sub>
                    </m:sSub>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𝑠</m:t>
                        </m:r>
                      </m:e>
                      <m:sub>
                        <m:r>
                          <a:rPr lang="en-US" altLang="zh-CN" sz="1600">
                            <a:solidFill>
                              <a:srgbClr val="FF0000"/>
                            </a:solidFill>
                            <a:latin typeface="Cambria Math" panose="02040503050406030204" pitchFamily="18" charset="0"/>
                            <a:cs typeface="Times New Roman" panose="02020603050405020304" pitchFamily="18" charset="0"/>
                          </a:rPr>
                          <m:t>2</m:t>
                        </m:r>
                      </m:sub>
                    </m:sSub>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𝑠</m:t>
                        </m:r>
                      </m:e>
                      <m:sub>
                        <m:r>
                          <a:rPr lang="en-US" altLang="zh-CN" sz="1600">
                            <a:solidFill>
                              <a:srgbClr val="FF0000"/>
                            </a:solidFill>
                            <a:latin typeface="Cambria Math" panose="02040503050406030204" pitchFamily="18" charset="0"/>
                            <a:cs typeface="Times New Roman" panose="02020603050405020304" pitchFamily="18" charset="0"/>
                          </a:rPr>
                          <m:t>3</m:t>
                        </m:r>
                      </m:sub>
                    </m:sSub>
                  </m:oMath>
                </a14:m>
                <a:r>
                  <a:rPr lang="zh-CN" altLang="zh-CN" sz="1600" dirty="0">
                    <a:solidFill>
                      <a:srgbClr val="FF0000"/>
                    </a:solidFill>
                    <a:latin typeface="Times New Roman" panose="02020603050405020304" pitchFamily="18" charset="0"/>
                    <a:cs typeface="Times New Roman" panose="02020603050405020304" pitchFamily="18" charset="0"/>
                  </a:rPr>
                  <a:t>，实际上只需从</a:t>
                </a:r>
                <a14:m>
                  <m:oMath xmlns:m="http://schemas.openxmlformats.org/officeDocument/2006/math">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𝑠</m:t>
                        </m:r>
                      </m:e>
                      <m:sub>
                        <m:r>
                          <a:rPr lang="en-US" altLang="zh-CN" sz="1600">
                            <a:solidFill>
                              <a:srgbClr val="FF0000"/>
                            </a:solidFill>
                            <a:latin typeface="Cambria Math" panose="02040503050406030204" pitchFamily="18" charset="0"/>
                            <a:cs typeface="Times New Roman" panose="02020603050405020304" pitchFamily="18" charset="0"/>
                          </a:rPr>
                          <m:t>4</m:t>
                        </m:r>
                      </m:sub>
                    </m:sSub>
                  </m:oMath>
                </a14:m>
                <a:r>
                  <a:rPr lang="zh-CN" altLang="zh-CN" sz="1600" dirty="0">
                    <a:solidFill>
                      <a:srgbClr val="FF0000"/>
                    </a:solidFill>
                    <a:latin typeface="Times New Roman" panose="02020603050405020304" pitchFamily="18" charset="0"/>
                    <a:cs typeface="Times New Roman" panose="02020603050405020304" pitchFamily="18" charset="0"/>
                  </a:rPr>
                  <a:t>与</a:t>
                </a:r>
                <a14:m>
                  <m:oMath xmlns:m="http://schemas.openxmlformats.org/officeDocument/2006/math">
                    <m:sSub>
                      <m:sSubPr>
                        <m:ctrlPr>
                          <a:rPr lang="zh-CN" altLang="zh-CN" sz="1600" i="1">
                            <a:solidFill>
                              <a:srgbClr val="FF0000"/>
                            </a:solidFill>
                            <a:latin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cs typeface="Times New Roman" panose="02020603050405020304" pitchFamily="18" charset="0"/>
                          </a:rPr>
                          <m:t>𝑡</m:t>
                        </m:r>
                      </m:e>
                      <m:sub>
                        <m:r>
                          <a:rPr lang="en-US" altLang="zh-CN" sz="1600">
                            <a:solidFill>
                              <a:srgbClr val="FF0000"/>
                            </a:solidFill>
                            <a:latin typeface="Cambria Math" panose="02040503050406030204" pitchFamily="18" charset="0"/>
                            <a:cs typeface="Times New Roman" panose="02020603050405020304" pitchFamily="18" charset="0"/>
                          </a:rPr>
                          <m:t>3</m:t>
                        </m:r>
                      </m:sub>
                    </m:sSub>
                  </m:oMath>
                </a14:m>
                <a:r>
                  <a:rPr lang="zh-CN" altLang="zh-CN" sz="1600" dirty="0">
                    <a:solidFill>
                      <a:srgbClr val="FF0000"/>
                    </a:solidFill>
                    <a:latin typeface="Times New Roman" panose="02020603050405020304" pitchFamily="18" charset="0"/>
                    <a:cs typeface="Times New Roman" panose="02020603050405020304" pitchFamily="18" charset="0"/>
                  </a:rPr>
                  <a:t>开始比较即可</a:t>
                </a:r>
                <a:r>
                  <a:rPr lang="zh-CN" altLang="zh-CN" sz="1600" dirty="0">
                    <a:latin typeface="Times New Roman" panose="02020603050405020304" pitchFamily="18" charset="0"/>
                    <a:cs typeface="Times New Roman" panose="02020603050405020304" pitchFamily="18" charset="0"/>
                  </a:rPr>
                  <a:t>，如图所示。</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1815" y="959740"/>
                <a:ext cx="9036496" cy="1507626"/>
              </a:xfrm>
              <a:blipFill>
                <a:blip r:embed="rId2"/>
                <a:stretch>
                  <a:fillRect l="-607" t="-1613" r="-607"/>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899592" y="2467366"/>
            <a:ext cx="3134162" cy="924054"/>
          </a:xfrm>
          <a:prstGeom prst="rect">
            <a:avLst/>
          </a:prstGeom>
        </p:spPr>
      </p:pic>
      <p:pic>
        <p:nvPicPr>
          <p:cNvPr id="5" name="图片 4"/>
          <p:cNvPicPr>
            <a:picLocks noChangeAspect="1"/>
          </p:cNvPicPr>
          <p:nvPr/>
        </p:nvPicPr>
        <p:blipFill>
          <a:blip r:embed="rId4"/>
          <a:stretch>
            <a:fillRect/>
          </a:stretch>
        </p:blipFill>
        <p:spPr>
          <a:xfrm>
            <a:off x="4274543" y="2454912"/>
            <a:ext cx="3515216" cy="1009791"/>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179512" y="3651870"/>
                <a:ext cx="8496944" cy="1439048"/>
              </a:xfrm>
              <a:prstGeom prst="rect">
                <a:avLst/>
              </a:prstGeom>
              <a:noFill/>
            </p:spPr>
            <p:txBody>
              <a:bodyPr wrap="square" rtlCol="0">
                <a:spAutoFit/>
              </a:bodyPr>
              <a:lstStyle/>
              <a:p>
                <a:pPr algn="just"/>
                <a:r>
                  <a:rPr lang="en-US" altLang="zh-CN" dirty="0">
                    <a:latin typeface="隶书" panose="02010509060101010101" pitchFamily="49" charset="-122"/>
                    <a:ea typeface="隶书" panose="02010509060101010101" pitchFamily="49" charset="-122"/>
                  </a:rPr>
                  <a:t>  </a:t>
                </a:r>
                <a:r>
                  <a:rPr lang="zh-CN" altLang="zh-CN" sz="1600" dirty="0">
                    <a:latin typeface="Times New Roman" panose="02020603050405020304" pitchFamily="18" charset="0"/>
                    <a:ea typeface="黑体" pitchFamily="49" charset="-122"/>
                    <a:cs typeface="Times New Roman" panose="02020603050405020304" pitchFamily="18" charset="0"/>
                  </a:rPr>
                  <a:t>由上述实例可以看出，为了实现改进算法需要解决如下两个问题：</a:t>
                </a:r>
              </a:p>
              <a:p>
                <a:pPr algn="just"/>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zh-CN" sz="1600" dirty="0">
                    <a:latin typeface="Times New Roman" panose="02020603050405020304" pitchFamily="18" charset="0"/>
                    <a:ea typeface="黑体" pitchFamily="49" charset="-122"/>
                    <a:cs typeface="Times New Roman" panose="02020603050405020304" pitchFamily="18" charset="0"/>
                  </a:rPr>
                  <a:t>（</a:t>
                </a:r>
                <a:r>
                  <a:rPr lang="en-US" altLang="zh-CN" sz="1600" dirty="0">
                    <a:latin typeface="Times New Roman" panose="02020603050405020304" pitchFamily="18" charset="0"/>
                    <a:ea typeface="黑体" pitchFamily="49" charset="-122"/>
                    <a:cs typeface="Times New Roman" panose="02020603050405020304" pitchFamily="18" charset="0"/>
                  </a:rPr>
                  <a:t>1</a:t>
                </a:r>
                <a:r>
                  <a:rPr lang="zh-CN" altLang="zh-CN" sz="1600" dirty="0">
                    <a:latin typeface="Times New Roman" panose="02020603050405020304" pitchFamily="18" charset="0"/>
                    <a:ea typeface="黑体" pitchFamily="49" charset="-122"/>
                    <a:cs typeface="Times New Roman" panose="02020603050405020304" pitchFamily="18" charset="0"/>
                  </a:rPr>
                  <a:t>）如何解决目标串的回溯问题？</a:t>
                </a:r>
              </a:p>
              <a:p>
                <a:pPr algn="just"/>
                <a:r>
                  <a:rPr lang="en-US" altLang="zh-CN" sz="1600" dirty="0">
                    <a:latin typeface="Times New Roman" panose="02020603050405020304" pitchFamily="18" charset="0"/>
                    <a:ea typeface="黑体" pitchFamily="49" charset="-122"/>
                    <a:cs typeface="Times New Roman" panose="02020603050405020304" pitchFamily="18" charset="0"/>
                  </a:rPr>
                  <a:t>  </a:t>
                </a:r>
                <a:r>
                  <a:rPr lang="zh-CN" altLang="zh-CN" sz="1600" dirty="0">
                    <a:latin typeface="Times New Roman" panose="02020603050405020304" pitchFamily="18" charset="0"/>
                    <a:ea typeface="黑体" pitchFamily="49" charset="-122"/>
                    <a:cs typeface="Times New Roman" panose="02020603050405020304" pitchFamily="18" charset="0"/>
                  </a:rPr>
                  <a:t>（</a:t>
                </a:r>
                <a:r>
                  <a:rPr lang="en-US" altLang="zh-CN" sz="1600" dirty="0">
                    <a:latin typeface="Times New Roman" panose="02020603050405020304" pitchFamily="18" charset="0"/>
                    <a:ea typeface="黑体" pitchFamily="49" charset="-122"/>
                    <a:cs typeface="Times New Roman" panose="02020603050405020304" pitchFamily="18" charset="0"/>
                  </a:rPr>
                  <a:t>2</a:t>
                </a:r>
                <a:r>
                  <a:rPr lang="zh-CN" altLang="zh-CN" sz="1600" dirty="0">
                    <a:latin typeface="Times New Roman" panose="02020603050405020304" pitchFamily="18" charset="0"/>
                    <a:ea typeface="黑体" pitchFamily="49" charset="-122"/>
                    <a:cs typeface="Times New Roman" panose="02020603050405020304" pitchFamily="18" charset="0"/>
                  </a:rPr>
                  <a:t>）当匹配过程中产生失配（即</a:t>
                </a:r>
                <a14:m>
                  <m:oMath xmlns:m="http://schemas.openxmlformats.org/officeDocument/2006/math">
                    <m:sSub>
                      <m:sSubPr>
                        <m:ctrlPr>
                          <a:rPr lang="zh-CN" altLang="zh-CN" sz="1600" i="1">
                            <a:latin typeface="Cambria Math" panose="02040503050406030204" pitchFamily="18" charset="0"/>
                            <a:ea typeface="黑体" pitchFamily="49" charset="-122"/>
                            <a:cs typeface="Times New Roman" panose="02020603050405020304" pitchFamily="18" charset="0"/>
                          </a:rPr>
                        </m:ctrlPr>
                      </m:sSubPr>
                      <m:e>
                        <m:r>
                          <a:rPr lang="en-US" altLang="zh-CN" sz="1600">
                            <a:latin typeface="Cambria Math" panose="02040503050406030204" pitchFamily="18" charset="0"/>
                            <a:ea typeface="黑体" pitchFamily="49" charset="-122"/>
                            <a:cs typeface="Times New Roman" panose="02020603050405020304" pitchFamily="18" charset="0"/>
                          </a:rPr>
                          <m:t>𝑠</m:t>
                        </m:r>
                      </m:e>
                      <m:sub>
                        <m:r>
                          <a:rPr lang="en-US" altLang="zh-CN" sz="1600">
                            <a:latin typeface="Cambria Math" panose="02040503050406030204" pitchFamily="18" charset="0"/>
                            <a:ea typeface="黑体" pitchFamily="49" charset="-122"/>
                            <a:cs typeface="Times New Roman" panose="02020603050405020304" pitchFamily="18" charset="0"/>
                          </a:rPr>
                          <m:t>𝑖</m:t>
                        </m:r>
                      </m:sub>
                    </m:sSub>
                    <m:r>
                      <a:rPr lang="en-US" altLang="zh-CN" sz="1600">
                        <a:latin typeface="Cambria Math" panose="02040503050406030204" pitchFamily="18" charset="0"/>
                        <a:ea typeface="黑体" pitchFamily="49" charset="-122"/>
                        <a:cs typeface="Times New Roman" panose="02020603050405020304" pitchFamily="18" charset="0"/>
                      </a:rPr>
                      <m:t>≠</m:t>
                    </m:r>
                    <m:sSub>
                      <m:sSubPr>
                        <m:ctrlPr>
                          <a:rPr lang="zh-CN" altLang="zh-CN" sz="1600" i="1">
                            <a:latin typeface="Cambria Math" panose="02040503050406030204" pitchFamily="18" charset="0"/>
                            <a:ea typeface="黑体" pitchFamily="49" charset="-122"/>
                            <a:cs typeface="Times New Roman" panose="02020603050405020304" pitchFamily="18" charset="0"/>
                          </a:rPr>
                        </m:ctrlPr>
                      </m:sSubPr>
                      <m:e>
                        <m:r>
                          <a:rPr lang="en-US" altLang="zh-CN" sz="1600">
                            <a:latin typeface="Cambria Math" panose="02040503050406030204" pitchFamily="18" charset="0"/>
                            <a:ea typeface="黑体" pitchFamily="49" charset="-122"/>
                            <a:cs typeface="Times New Roman" panose="02020603050405020304" pitchFamily="18" charset="0"/>
                          </a:rPr>
                          <m:t>𝑡</m:t>
                        </m:r>
                      </m:e>
                      <m:sub>
                        <m:r>
                          <a:rPr lang="en-US" altLang="zh-CN" sz="1600">
                            <a:latin typeface="Cambria Math" panose="02040503050406030204" pitchFamily="18" charset="0"/>
                            <a:ea typeface="黑体" pitchFamily="49" charset="-122"/>
                            <a:cs typeface="Times New Roman" panose="02020603050405020304" pitchFamily="18" charset="0"/>
                          </a:rPr>
                          <m:t>𝑗</m:t>
                        </m:r>
                      </m:sub>
                    </m:sSub>
                    <m:r>
                      <a:rPr lang="en-US" altLang="zh-CN" sz="1600">
                        <a:latin typeface="Cambria Math" panose="02040503050406030204" pitchFamily="18" charset="0"/>
                        <a:ea typeface="黑体" pitchFamily="49" charset="-122"/>
                        <a:cs typeface="Times New Roman" panose="02020603050405020304" pitchFamily="18" charset="0"/>
                      </a:rPr>
                      <m:t>)</m:t>
                    </m:r>
                  </m:oMath>
                </a14:m>
                <a:r>
                  <a:rPr lang="zh-CN" altLang="zh-CN" sz="1600" dirty="0">
                    <a:latin typeface="Times New Roman" panose="02020603050405020304" pitchFamily="18" charset="0"/>
                    <a:ea typeface="黑体" pitchFamily="49" charset="-122"/>
                    <a:cs typeface="Times New Roman" panose="02020603050405020304" pitchFamily="18" charset="0"/>
                  </a:rPr>
                  <a:t>时，模式串需</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zh-CN" sz="1600" dirty="0">
                    <a:latin typeface="Times New Roman" panose="02020603050405020304" pitchFamily="18" charset="0"/>
                    <a:ea typeface="黑体" pitchFamily="49" charset="-122"/>
                    <a:cs typeface="Times New Roman" panose="02020603050405020304" pitchFamily="18" charset="0"/>
                  </a:rPr>
                  <a:t>向右移动</a:t>
                </a:r>
                <a:r>
                  <a:rPr lang="en-US" altLang="zh-CN" sz="1600" dirty="0">
                    <a:latin typeface="Times New Roman" panose="02020603050405020304" pitchFamily="18" charset="0"/>
                    <a:ea typeface="黑体" pitchFamily="49" charset="-122"/>
                    <a:cs typeface="Times New Roman" panose="02020603050405020304" pitchFamily="18" charset="0"/>
                  </a:rPr>
                  <a:t>”</a:t>
                </a:r>
                <a:r>
                  <a:rPr lang="zh-CN" altLang="zh-CN" sz="1600" dirty="0">
                    <a:latin typeface="Times New Roman" panose="02020603050405020304" pitchFamily="18" charset="0"/>
                    <a:ea typeface="黑体" pitchFamily="49" charset="-122"/>
                    <a:cs typeface="Times New Roman" panose="02020603050405020304" pitchFamily="18" charset="0"/>
                  </a:rPr>
                  <a:t>多少个字符？即目标串中第</a:t>
                </a:r>
                <a14:m>
                  <m:oMath xmlns:m="http://schemas.openxmlformats.org/officeDocument/2006/math">
                    <m:r>
                      <a:rPr lang="en-US" altLang="zh-CN" sz="1600">
                        <a:latin typeface="Cambria Math" panose="02040503050406030204" pitchFamily="18" charset="0"/>
                        <a:ea typeface="黑体" pitchFamily="49" charset="-122"/>
                        <a:cs typeface="Times New Roman" panose="02020603050405020304" pitchFamily="18" charset="0"/>
                      </a:rPr>
                      <m:t>𝑖</m:t>
                    </m:r>
                  </m:oMath>
                </a14:m>
                <a:r>
                  <a:rPr lang="zh-CN" altLang="zh-CN" sz="1600" dirty="0">
                    <a:latin typeface="Times New Roman" panose="02020603050405020304" pitchFamily="18" charset="0"/>
                    <a:ea typeface="黑体" pitchFamily="49" charset="-122"/>
                    <a:cs typeface="Times New Roman" panose="02020603050405020304" pitchFamily="18" charset="0"/>
                  </a:rPr>
                  <a:t>个字符应与模式串中哪个字符再比较？</a:t>
                </a:r>
                <a:r>
                  <a:rPr lang="en-US" altLang="zh-CN" dirty="0">
                    <a:solidFill>
                      <a:srgbClr val="C00000"/>
                    </a:solidFill>
                    <a:latin typeface="隶书" panose="02010509060101010101" pitchFamily="49" charset="-122"/>
                    <a:ea typeface="隶书" panose="02010509060101010101" pitchFamily="49" charset="-122"/>
                  </a:rPr>
                  <a:t>(</a:t>
                </a:r>
                <a:r>
                  <a:rPr lang="zh-CN" altLang="en-US" dirty="0">
                    <a:solidFill>
                      <a:srgbClr val="C00000"/>
                    </a:solidFill>
                    <a:latin typeface="隶书" panose="02010509060101010101" pitchFamily="49" charset="-122"/>
                    <a:ea typeface="隶书" panose="02010509060101010101" pitchFamily="49" charset="-122"/>
                  </a:rPr>
                  <a:t>详见教材）</a:t>
                </a:r>
                <a:endParaRPr lang="zh-CN" altLang="zh-CN" dirty="0">
                  <a:solidFill>
                    <a:srgbClr val="C00000"/>
                  </a:solidFill>
                  <a:latin typeface="隶书" panose="02010509060101010101" pitchFamily="49" charset="-122"/>
                  <a:ea typeface="隶书" panose="02010509060101010101" pitchFamily="49" charset="-122"/>
                </a:endParaRPr>
              </a:p>
              <a:p>
                <a:pPr algn="just"/>
                <a:endParaRPr lang="zh-CN" altLang="en-US" dirty="0">
                  <a:latin typeface="隶书" panose="02010509060101010101" pitchFamily="49" charset="-122"/>
                  <a:ea typeface="隶书" panose="020105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79512" y="3651870"/>
                <a:ext cx="8496944" cy="1439048"/>
              </a:xfrm>
              <a:prstGeom prst="rect">
                <a:avLst/>
              </a:prstGeom>
              <a:blipFill>
                <a:blip r:embed="rId5"/>
                <a:stretch>
                  <a:fillRect l="-359" r="-430"/>
                </a:stretch>
              </a:blipFill>
            </p:spPr>
            <p:txBody>
              <a:bodyPr/>
              <a:lstStyle/>
              <a:p>
                <a:r>
                  <a:rPr lang="zh-CN" altLang="en-US">
                    <a:noFill/>
                  </a:rPr>
                  <a:t> </a:t>
                </a:r>
              </a:p>
            </p:txBody>
          </p:sp>
        </mc:Fallback>
      </mc:AlternateContent>
      <p:sp>
        <p:nvSpPr>
          <p:cNvPr id="7" name="文本框 6"/>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示例</a:t>
            </a:r>
          </a:p>
        </p:txBody>
      </p:sp>
    </p:spTree>
    <p:extLst>
      <p:ext uri="{BB962C8B-B14F-4D97-AF65-F5344CB8AC3E}">
        <p14:creationId xmlns:p14="http://schemas.microsoft.com/office/powerpoint/2010/main" val="21970258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fade">
                                      <p:cBhvr>
                                        <p:cTn id="28" dur="1000"/>
                                        <p:tgtEl>
                                          <p:spTgt spid="6">
                                            <p:txEl>
                                              <p:pRg st="0" end="0"/>
                                            </p:txEl>
                                          </p:spTgt>
                                        </p:tgtEl>
                                      </p:cBhvr>
                                    </p:animEffect>
                                    <p:anim calcmode="lin" valueType="num">
                                      <p:cBhvr>
                                        <p:cTn id="29"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1000"/>
                                        <p:tgtEl>
                                          <p:spTgt spid="6">
                                            <p:txEl>
                                              <p:pRg st="1" end="1"/>
                                            </p:txEl>
                                          </p:spTgt>
                                        </p:tgtEl>
                                      </p:cBhvr>
                                    </p:animEffect>
                                    <p:anim calcmode="lin" valueType="num">
                                      <p:cBhvr>
                                        <p:cTn id="36"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fade">
                                      <p:cBhvr>
                                        <p:cTn id="42" dur="1000"/>
                                        <p:tgtEl>
                                          <p:spTgt spid="6">
                                            <p:txEl>
                                              <p:pRg st="2" end="2"/>
                                            </p:txEl>
                                          </p:spTgt>
                                        </p:tgtEl>
                                      </p:cBhvr>
                                    </p:animEffect>
                                    <p:anim calcmode="lin" valueType="num">
                                      <p:cBhvr>
                                        <p:cTn id="4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928992" cy="1075578"/>
              </a:xfrm>
            </p:spPr>
            <p:txBody>
              <a:bodyPr/>
              <a:lstStyle/>
              <a:p>
                <a:pPr marL="0"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用数组</a:t>
                </a:r>
                <a:r>
                  <a:rPr lang="en-US" altLang="zh-CN" sz="1600" dirty="0">
                    <a:latin typeface="Times New Roman" panose="02020603050405020304" pitchFamily="18" charset="0"/>
                    <a:cs typeface="Times New Roman" panose="02020603050405020304" pitchFamily="18" charset="0"/>
                  </a:rPr>
                  <a:t>next[j]</a:t>
                </a:r>
                <a:r>
                  <a:rPr lang="zh-CN" altLang="en-US" sz="1600" dirty="0">
                    <a:latin typeface="Times New Roman" panose="02020603050405020304" pitchFamily="18" charset="0"/>
                    <a:cs typeface="Times New Roman" panose="02020603050405020304" pitchFamily="18" charset="0"/>
                  </a:rPr>
                  <a:t>存放模式串</a:t>
                </a:r>
                <a:r>
                  <a:rPr lang="en-US" altLang="zh-CN" sz="1600" dirty="0">
                    <a:latin typeface="Times New Roman" panose="02020603050405020304" pitchFamily="18" charset="0"/>
                    <a:cs typeface="Times New Roman" panose="02020603050405020304" pitchFamily="18" charset="0"/>
                  </a:rPr>
                  <a:t>t</a:t>
                </a:r>
                <a:r>
                  <a:rPr lang="zh-CN" altLang="en-US" sz="1600" dirty="0">
                    <a:latin typeface="Times New Roman" panose="02020603050405020304" pitchFamily="18" charset="0"/>
                    <a:cs typeface="Times New Roman" panose="02020603050405020304" pitchFamily="18" charset="0"/>
                  </a:rPr>
                  <a:t>的部分匹配信息</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表明当模式串中的第</a:t>
                </a:r>
                <a:r>
                  <a:rPr lang="en-US" altLang="zh-CN" sz="1600" dirty="0">
                    <a:latin typeface="Times New Roman" panose="02020603050405020304" pitchFamily="18" charset="0"/>
                    <a:cs typeface="Times New Roman" panose="02020603050405020304" pitchFamily="18" charset="0"/>
                  </a:rPr>
                  <a:t>j</a:t>
                </a:r>
                <a:r>
                  <a:rPr lang="zh-CN" altLang="en-US" sz="1600" dirty="0">
                    <a:latin typeface="Times New Roman" panose="02020603050405020304" pitchFamily="18" charset="0"/>
                    <a:cs typeface="Times New Roman" panose="02020603050405020304" pitchFamily="18" charset="0"/>
                  </a:rPr>
                  <a:t>个字符与目标串中的相应字符不匹配时</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在模式串中需重新和目标串中该字符进行比较的字符的位置。 </a:t>
                </a: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该数组的定义如下：</a:t>
                </a:r>
                <a:endParaRPr lang="en-US" altLang="zh-CN" sz="1600" dirty="0">
                  <a:latin typeface="Times New Roman" panose="02020603050405020304" pitchFamily="18" charset="0"/>
                  <a:cs typeface="Times New Roman" panose="02020603050405020304" pitchFamily="18" charset="0"/>
                </a:endParaRPr>
              </a:p>
              <a:p>
                <a:pPr marL="0" indent="0" algn="just">
                  <a:spcBef>
                    <a:spcPts val="0"/>
                  </a:spcBef>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𝑛𝑒𝑥𝑡</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𝑗</m:t>
                          </m:r>
                        </m:e>
                      </m:d>
                      <m:r>
                        <a:rPr lang="en-U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eqArr>
                            <m:eqArrPr>
                              <m:ctrlPr>
                                <a:rPr lang="zh-CN" altLang="zh-CN" sz="1600" i="1">
                                  <a:latin typeface="Cambria Math" panose="02040503050406030204" pitchFamily="18" charset="0"/>
                                </a:rPr>
                              </m:ctrlPr>
                            </m:eqArrPr>
                            <m:e>
                              <m:r>
                                <a:rPr lang="en-US" altLang="zh-CN" sz="1600" i="1">
                                  <a:latin typeface="Cambria Math" panose="02040503050406030204" pitchFamily="18" charset="0"/>
                                </a:rPr>
                                <m:t>−1                                                                                                                </m:t>
                              </m:r>
                              <m:r>
                                <a:rPr lang="zh-CN" altLang="zh-CN" sz="1600">
                                  <a:latin typeface="Cambria Math" panose="02040503050406030204" pitchFamily="18" charset="0"/>
                                </a:rPr>
                                <m:t>若</m:t>
                              </m:r>
                              <m:r>
                                <a:rPr lang="en-US" altLang="zh-CN" sz="1600" i="1">
                                  <a:latin typeface="Cambria Math" panose="02040503050406030204" pitchFamily="18" charset="0"/>
                                </a:rPr>
                                <m:t>𝑗</m:t>
                              </m:r>
                              <m:r>
                                <a:rPr lang="en-US" altLang="zh-CN" sz="1600" i="1">
                                  <a:latin typeface="Cambria Math" panose="02040503050406030204" pitchFamily="18" charset="0"/>
                                </a:rPr>
                                <m:t>=0</m:t>
                              </m:r>
                              <m:r>
                                <a:rPr lang="zh-CN" altLang="zh-CN" sz="1600">
                                  <a:latin typeface="Cambria Math" panose="02040503050406030204" pitchFamily="18" charset="0"/>
                                </a:rPr>
                                <m:t>时</m:t>
                              </m:r>
                              <m:r>
                                <a:rPr lang="en-US" altLang="zh-CN" sz="1600">
                                  <a:latin typeface="Cambria Math" panose="02040503050406030204" pitchFamily="18" charset="0"/>
                                </a:rPr>
                                <m:t>              </m:t>
                              </m:r>
                            </m:e>
                            <m:e>
                              <m:r>
                                <a:rPr lang="en-US" altLang="zh-CN" sz="1600" i="1">
                                  <a:latin typeface="Cambria Math" panose="02040503050406030204" pitchFamily="18" charset="0"/>
                                </a:rPr>
                                <m:t>𝑚𝑎</m:t>
                              </m:r>
                              <m:func>
                                <m:funcPr>
                                  <m:ctrlPr>
                                    <a:rPr lang="zh-CN" altLang="zh-CN" sz="1600" i="1">
                                      <a:latin typeface="Cambria Math" panose="02040503050406030204" pitchFamily="18" charset="0"/>
                                    </a:rPr>
                                  </m:ctrlPr>
                                </m:funcPr>
                                <m:fName>
                                  <m:r>
                                    <a:rPr lang="en-US" altLang="zh-CN" sz="1600" i="1">
                                      <a:latin typeface="Cambria Math" panose="02040503050406030204" pitchFamily="18" charset="0"/>
                                    </a:rPr>
                                    <m:t>𝑥</m:t>
                                  </m:r>
                                </m:fName>
                                <m:e>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𝑘</m:t>
                                      </m:r>
                                    </m:e>
                                    <m:e>
                                      <m:r>
                                        <a:rPr lang="en-US" altLang="zh-CN" sz="1600" i="1">
                                          <a:latin typeface="Cambria Math" panose="02040503050406030204" pitchFamily="18" charset="0"/>
                                        </a:rPr>
                                        <m:t>0&lt;</m:t>
                                      </m:r>
                                      <m:r>
                                        <a:rPr lang="en-US" altLang="zh-CN" sz="1600" i="1">
                                          <a:latin typeface="Cambria Math" panose="02040503050406030204" pitchFamily="18" charset="0"/>
                                        </a:rPr>
                                        <m:t>𝑘</m:t>
                                      </m:r>
                                      <m:r>
                                        <a:rPr lang="en-US" altLang="zh-CN" sz="1600" i="1">
                                          <a:latin typeface="Cambria Math" panose="02040503050406030204" pitchFamily="18" charset="0"/>
                                        </a:rPr>
                                        <m:t>&lt;</m:t>
                                      </m:r>
                                      <m:r>
                                        <a:rPr lang="en-US" altLang="zh-CN" sz="1600" i="1">
                                          <a:latin typeface="Cambria Math" panose="02040503050406030204" pitchFamily="18" charset="0"/>
                                        </a:rPr>
                                        <m:t>𝑗</m:t>
                                      </m:r>
                                      <m:r>
                                        <a:rPr lang="en-US" altLang="zh-CN" sz="1600" i="1">
                                          <a:latin typeface="Cambria Math" panose="02040503050406030204" pitchFamily="18" charset="0"/>
                                        </a:rPr>
                                        <m:t>,</m:t>
                                      </m:r>
                                      <m:r>
                                        <a:rPr lang="zh-CN" altLang="zh-CN" sz="1600">
                                          <a:latin typeface="Cambria Math" panose="02040503050406030204" pitchFamily="18" charset="0"/>
                                        </a:rPr>
                                        <m:t>且</m:t>
                                      </m:r>
                                      <m:sSub>
                                        <m:sSubPr>
                                          <m:ctrlPr>
                                            <a:rPr lang="zh-CN" altLang="zh-CN" sz="1600" i="1">
                                              <a:latin typeface="Cambria Math" panose="02040503050406030204" pitchFamily="18" charset="0"/>
                                            </a:rPr>
                                          </m:ctrlPr>
                                        </m:sSubPr>
                                        <m:e>
                                          <m:r>
                                            <m:rPr>
                                              <m:nor/>
                                            </m:rPr>
                                            <a:rPr lang="en-US" altLang="zh-CN" sz="1600" i="1"/>
                                            <m:t>t</m:t>
                                          </m:r>
                                        </m:e>
                                        <m:sub>
                                          <m:r>
                                            <m:rPr>
                                              <m:nor/>
                                            </m:rPr>
                                            <a:rPr lang="en-US" altLang="zh-CN" sz="1600" i="1"/>
                                            <m:t>0</m:t>
                                          </m:r>
                                        </m:sub>
                                      </m:sSub>
                                      <m:sSub>
                                        <m:sSubPr>
                                          <m:ctrlPr>
                                            <a:rPr lang="zh-CN" altLang="zh-CN" sz="1600" i="1">
                                              <a:latin typeface="Cambria Math" panose="02040503050406030204" pitchFamily="18" charset="0"/>
                                            </a:rPr>
                                          </m:ctrlPr>
                                        </m:sSubPr>
                                        <m:e>
                                          <m:r>
                                            <m:rPr>
                                              <m:nor/>
                                            </m:rPr>
                                            <a:rPr lang="en-US" altLang="zh-CN" sz="1600" i="1"/>
                                            <m:t>t</m:t>
                                          </m:r>
                                        </m:e>
                                        <m:sub>
                                          <m:r>
                                            <m:rPr>
                                              <m:nor/>
                                            </m:rPr>
                                            <a:rPr lang="en-US" altLang="zh-CN" sz="1600" i="1"/>
                                            <m:t>1</m:t>
                                          </m:r>
                                        </m:sub>
                                      </m:sSub>
                                      <m:r>
                                        <m:rPr>
                                          <m:nor/>
                                        </m:rPr>
                                        <a:rPr lang="en-US" altLang="zh-CN" sz="1600" i="1"/>
                                        <m:t>⋯</m:t>
                                      </m:r>
                                      <m:sSub>
                                        <m:sSubPr>
                                          <m:ctrlPr>
                                            <a:rPr lang="zh-CN" altLang="zh-CN" sz="1600" i="1">
                                              <a:latin typeface="Cambria Math" panose="02040503050406030204" pitchFamily="18" charset="0"/>
                                            </a:rPr>
                                          </m:ctrlPr>
                                        </m:sSubPr>
                                        <m:e>
                                          <m:r>
                                            <m:rPr>
                                              <m:nor/>
                                            </m:rPr>
                                            <a:rPr lang="en-US" altLang="zh-CN" sz="1600" i="1"/>
                                            <m:t>t</m:t>
                                          </m:r>
                                        </m:e>
                                        <m:sub>
                                          <m:r>
                                            <m:rPr>
                                              <m:nor/>
                                            </m:rPr>
                                            <a:rPr lang="en-US" altLang="zh-CN" sz="1600" i="1"/>
                                            <m:t>k</m:t>
                                          </m:r>
                                          <m:r>
                                            <m:rPr>
                                              <m:nor/>
                                            </m:rPr>
                                            <a:rPr lang="en-US" altLang="zh-CN" sz="1600" i="1"/>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m:rPr>
                                              <m:nor/>
                                            </m:rPr>
                                            <a:rPr lang="en-US" altLang="zh-CN" sz="1600" i="1"/>
                                            <m:t>t</m:t>
                                          </m:r>
                                        </m:e>
                                        <m:sub>
                                          <m:r>
                                            <m:rPr>
                                              <m:nor/>
                                            </m:rPr>
                                            <a:rPr lang="en-US" altLang="zh-CN" sz="1600" i="1"/>
                                            <m:t>j</m:t>
                                          </m:r>
                                          <m:r>
                                            <m:rPr>
                                              <m:nor/>
                                            </m:rPr>
                                            <a:rPr lang="en-US" altLang="zh-CN" sz="1600" i="1"/>
                                            <m:t>−</m:t>
                                          </m:r>
                                          <m:r>
                                            <m:rPr>
                                              <m:nor/>
                                            </m:rPr>
                                            <a:rPr lang="en-US" altLang="zh-CN" sz="1600" i="1"/>
                                            <m:t>k</m:t>
                                          </m:r>
                                        </m:sub>
                                      </m:sSub>
                                      <m:sSub>
                                        <m:sSubPr>
                                          <m:ctrlPr>
                                            <a:rPr lang="zh-CN" altLang="zh-CN" sz="1600" i="1">
                                              <a:latin typeface="Cambria Math" panose="02040503050406030204" pitchFamily="18" charset="0"/>
                                            </a:rPr>
                                          </m:ctrlPr>
                                        </m:sSubPr>
                                        <m:e>
                                          <m:r>
                                            <m:rPr>
                                              <m:nor/>
                                            </m:rPr>
                                            <a:rPr lang="en-US" altLang="zh-CN" sz="1600" i="1"/>
                                            <m:t>t</m:t>
                                          </m:r>
                                        </m:e>
                                        <m:sub>
                                          <m:r>
                                            <m:rPr>
                                              <m:nor/>
                                            </m:rPr>
                                            <a:rPr lang="en-US" altLang="zh-CN" sz="1600" i="1"/>
                                            <m:t>j</m:t>
                                          </m:r>
                                          <m:r>
                                            <m:rPr>
                                              <m:nor/>
                                            </m:rPr>
                                            <a:rPr lang="en-US" altLang="zh-CN" sz="1600" i="1"/>
                                            <m:t>−</m:t>
                                          </m:r>
                                          <m:r>
                                            <m:rPr>
                                              <m:nor/>
                                            </m:rPr>
                                            <a:rPr lang="en-US" altLang="zh-CN" sz="1600" i="1"/>
                                            <m:t>k</m:t>
                                          </m:r>
                                          <m:r>
                                            <m:rPr>
                                              <m:nor/>
                                            </m:rPr>
                                            <a:rPr lang="en-US" altLang="zh-CN" sz="1600" i="1"/>
                                            <m:t>+1</m:t>
                                          </m:r>
                                        </m:sub>
                                      </m:sSub>
                                      <m:r>
                                        <m:rPr>
                                          <m:nor/>
                                        </m:rPr>
                                        <a:rPr lang="en-US" altLang="zh-CN" sz="1600" i="1"/>
                                        <m:t>⋯</m:t>
                                      </m:r>
                                      <m:sSub>
                                        <m:sSubPr>
                                          <m:ctrlPr>
                                            <a:rPr lang="zh-CN" altLang="zh-CN" sz="1600" i="1">
                                              <a:latin typeface="Cambria Math" panose="02040503050406030204" pitchFamily="18" charset="0"/>
                                            </a:rPr>
                                          </m:ctrlPr>
                                        </m:sSubPr>
                                        <m:e>
                                          <m:r>
                                            <m:rPr>
                                              <m:nor/>
                                            </m:rPr>
                                            <a:rPr lang="en-US" altLang="zh-CN" sz="1600" i="1"/>
                                            <m:t>t</m:t>
                                          </m:r>
                                        </m:e>
                                        <m:sub>
                                          <m:r>
                                            <m:rPr>
                                              <m:nor/>
                                            </m:rPr>
                                            <a:rPr lang="en-US" altLang="zh-CN" sz="1600" i="1"/>
                                            <m:t>j</m:t>
                                          </m:r>
                                          <m:r>
                                            <m:rPr>
                                              <m:nor/>
                                            </m:rPr>
                                            <a:rPr lang="en-US" altLang="zh-CN" sz="1600" i="1"/>
                                            <m:t>−1</m:t>
                                          </m:r>
                                        </m:sub>
                                      </m:sSub>
                                    </m:e>
                                  </m:d>
                                </m:e>
                              </m:func>
                              <m:r>
                                <a:rPr lang="en-US" altLang="zh-CN" sz="1600" i="1">
                                  <a:latin typeface="Cambria Math" panose="02040503050406030204" pitchFamily="18" charset="0"/>
                                </a:rPr>
                                <m:t>         </m:t>
                              </m:r>
                              <m:r>
                                <a:rPr lang="zh-CN" altLang="zh-CN" sz="1600">
                                  <a:latin typeface="Cambria Math" panose="02040503050406030204" pitchFamily="18" charset="0"/>
                                </a:rPr>
                                <m:t>若集合非空时</m:t>
                              </m:r>
                              <m:r>
                                <a:rPr lang="en-US" altLang="zh-CN" sz="1600">
                                  <a:latin typeface="Cambria Math" panose="02040503050406030204" pitchFamily="18" charset="0"/>
                                </a:rPr>
                                <m:t>       </m:t>
                              </m:r>
                            </m:e>
                            <m:e>
                              <m:r>
                                <a:rPr lang="en-US" altLang="zh-CN" sz="1600" i="1">
                                  <a:latin typeface="Cambria Math" panose="02040503050406030204" pitchFamily="18" charset="0"/>
                                </a:rPr>
                                <m:t>0                                                                                                                      </m:t>
                              </m:r>
                              <m:r>
                                <a:rPr lang="zh-CN" altLang="zh-CN" sz="1600">
                                  <a:latin typeface="Cambria Math" panose="02040503050406030204" pitchFamily="18" charset="0"/>
                                </a:rPr>
                                <m:t>其它情形</m:t>
                              </m:r>
                              <m:r>
                                <a:rPr lang="en-US" altLang="zh-CN" sz="1600">
                                  <a:latin typeface="Cambria Math" panose="02040503050406030204" pitchFamily="18" charset="0"/>
                                </a:rPr>
                                <m:t>                </m:t>
                              </m:r>
                            </m:e>
                          </m:eqArr>
                        </m:e>
                      </m:d>
                    </m:oMath>
                  </m:oMathPara>
                </a14:m>
                <a:endParaRPr lang="zh-CN" altLang="zh-CN" sz="1600" dirty="0"/>
              </a:p>
              <a:p>
                <a:pPr marL="0" indent="0" algn="just">
                  <a:spcBef>
                    <a:spcPts val="0"/>
                  </a:spcBef>
                  <a:buNone/>
                </a:pPr>
                <a:endParaRPr lang="zh-CN" altLang="en-US" sz="16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928992" cy="1075578"/>
              </a:xfrm>
              <a:blipFill>
                <a:blip r:embed="rId2"/>
                <a:stretch>
                  <a:fillRect l="-683" t="-2841" r="-615" b="-138068"/>
                </a:stretch>
              </a:blipFill>
            </p:spPr>
            <p:txBody>
              <a:bodyPr/>
              <a:lstStyle/>
              <a:p>
                <a:r>
                  <a:rPr lang="zh-CN" altLang="en-US">
                    <a:noFill/>
                  </a:rPr>
                  <a:t> </a:t>
                </a:r>
              </a:p>
            </p:txBody>
          </p:sp>
        </mc:Fallback>
      </mc:AlternateContent>
      <p:sp>
        <p:nvSpPr>
          <p:cNvPr id="4" name="文本框 3"/>
          <p:cNvSpPr txBox="1"/>
          <p:nvPr/>
        </p:nvSpPr>
        <p:spPr>
          <a:xfrm>
            <a:off x="611380" y="115457"/>
            <a:ext cx="129632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a:t>
            </a:r>
            <a:r>
              <a:rPr lang="en-US" altLang="zh-CN" sz="2000" dirty="0"/>
              <a:t>next[j]</a:t>
            </a:r>
            <a:endParaRPr lang="zh-CN" altLang="en-US" sz="2000" dirty="0"/>
          </a:p>
        </p:txBody>
      </p:sp>
    </p:spTree>
    <p:extLst>
      <p:ext uri="{BB962C8B-B14F-4D97-AF65-F5344CB8AC3E}">
        <p14:creationId xmlns:p14="http://schemas.microsoft.com/office/powerpoint/2010/main" val="38372837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87574"/>
                <a:ext cx="8784976" cy="1872208"/>
              </a:xfrm>
            </p:spPr>
            <p:txBody>
              <a:bodyPr/>
              <a:lstStyle/>
              <a:p>
                <a:pPr marL="0" indent="0" algn="just">
                  <a:lnSpc>
                    <a:spcPts val="2200"/>
                  </a:lnSpc>
                  <a:spcBef>
                    <a:spcPts val="0"/>
                  </a:spcBef>
                  <a:buNone/>
                </a:pPr>
                <a:r>
                  <a:rPr lang="en-US" altLang="zh-CN" sz="1800" dirty="0">
                    <a:latin typeface="隶书" panose="02010509060101010101" pitchFamily="49" charset="-122"/>
                    <a:ea typeface="隶书" panose="02010509060101010101" pitchFamily="49" charset="-122"/>
                  </a:rPr>
                  <a:t>   </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对于目标串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aaaaabababbba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，模式串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aaaab</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的</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号字符</a:t>
                </a:r>
                <a14:m>
                  <m:oMath xmlns:m="http://schemas.openxmlformats.org/officeDocument/2006/math">
                    <m:r>
                      <a:rPr lang="en-US" altLang="zh-CN" sz="1600">
                        <a:latin typeface="Cambria Math" panose="02040503050406030204" pitchFamily="18" charset="0"/>
                        <a:cs typeface="Times New Roman" panose="02020603050405020304" pitchFamily="18" charset="0"/>
                      </a:rPr>
                      <m:t>𝑎</m:t>
                    </m:r>
                  </m:oMath>
                </a14:m>
                <a:r>
                  <a:rPr lang="zh-CN" altLang="zh-CN" sz="1600" dirty="0">
                    <a:latin typeface="Times New Roman" panose="02020603050405020304" pitchFamily="18" charset="0"/>
                    <a:cs typeface="Times New Roman" panose="02020603050405020304" pitchFamily="18" charset="0"/>
                  </a:rPr>
                  <a:t>，规定</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0</m:t>
                        </m:r>
                      </m:e>
                    </m:d>
                    <m:r>
                      <a:rPr lang="en-US" altLang="zh-CN" sz="1600">
                        <a:latin typeface="Cambria Math" panose="02040503050406030204" pitchFamily="18" charset="0"/>
                        <a:cs typeface="Times New Roman" panose="02020603050405020304" pitchFamily="18" charset="0"/>
                      </a:rPr>
                      <m:t>=−1</m:t>
                    </m:r>
                  </m:oMath>
                </a14:m>
                <a:r>
                  <a:rPr lang="zh-CN" altLang="zh-CN" sz="1600" dirty="0">
                    <a:latin typeface="Times New Roman" panose="02020603050405020304" pitchFamily="18" charset="0"/>
                    <a:cs typeface="Times New Roman" panose="02020603050405020304" pitchFamily="18" charset="0"/>
                  </a:rPr>
                  <a:t>；对于</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号字符</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oMath>
                </a14:m>
                <a:r>
                  <a:rPr lang="zh-CN" altLang="zh-CN" sz="1600" dirty="0">
                    <a:latin typeface="Times New Roman" panose="02020603050405020304" pitchFamily="18" charset="0"/>
                    <a:cs typeface="Times New Roman" panose="02020603050405020304" pitchFamily="18" charset="0"/>
                  </a:rPr>
                  <a:t>，规定</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1</m:t>
                        </m:r>
                      </m:e>
                    </m:d>
                    <m:r>
                      <a:rPr lang="en-US" altLang="zh-CN" sz="1600">
                        <a:latin typeface="Cambria Math" panose="02040503050406030204" pitchFamily="18" charset="0"/>
                        <a:cs typeface="Times New Roman" panose="02020603050405020304" pitchFamily="18" charset="0"/>
                      </a:rPr>
                      <m:t>=0</m:t>
                    </m:r>
                  </m:oMath>
                </a14:m>
                <a:r>
                  <a:rPr lang="zh-CN" altLang="zh-CN" sz="1600" dirty="0">
                    <a:latin typeface="Times New Roman" panose="02020603050405020304" pitchFamily="18" charset="0"/>
                    <a:cs typeface="Times New Roman" panose="02020603050405020304" pitchFamily="18" charset="0"/>
                  </a:rPr>
                  <a:t>；对于</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号字符</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oMath>
                </a14:m>
                <a:r>
                  <a:rPr lang="zh-CN" altLang="zh-CN" sz="1600" dirty="0">
                    <a:latin typeface="Times New Roman" panose="02020603050405020304" pitchFamily="18" charset="0"/>
                    <a:cs typeface="Times New Roman" panose="02020603050405020304" pitchFamily="18" charset="0"/>
                  </a:rPr>
                  <a:t>，前面子串</a:t>
                </a:r>
                <a14:m>
                  <m:oMath xmlns:m="http://schemas.openxmlformats.org/officeDocument/2006/math">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字符与模式串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开头的</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个字符匹配，则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2</m:t>
                        </m:r>
                      </m:e>
                    </m:d>
                    <m:r>
                      <a:rPr lang="en-US" altLang="zh-CN" sz="1600">
                        <a:latin typeface="Cambria Math" panose="02040503050406030204" pitchFamily="18" charset="0"/>
                        <a:cs typeface="Times New Roman" panose="02020603050405020304" pitchFamily="18" charset="0"/>
                      </a:rPr>
                      <m:t>=1</m:t>
                    </m:r>
                  </m:oMath>
                </a14:m>
                <a:r>
                  <a:rPr lang="zh-CN" altLang="zh-CN" sz="1600" dirty="0">
                    <a:latin typeface="Times New Roman" panose="02020603050405020304" pitchFamily="18" charset="0"/>
                    <a:cs typeface="Times New Roman" panose="02020603050405020304" pitchFamily="18" charset="0"/>
                  </a:rPr>
                  <a:t>；对于</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号字符</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a</m:t>
                    </m:r>
                  </m:oMath>
                </a14:m>
                <a:r>
                  <a:rPr lang="zh-CN" altLang="zh-CN" sz="1600" dirty="0">
                    <a:latin typeface="Times New Roman" panose="02020603050405020304" pitchFamily="18" charset="0"/>
                    <a:cs typeface="Times New Roman" panose="02020603050405020304" pitchFamily="18" charset="0"/>
                  </a:rPr>
                  <a:t>，前面子串</a:t>
                </a:r>
                <a14:m>
                  <m:oMath xmlns:m="http://schemas.openxmlformats.org/officeDocument/2006/math">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m:t>
                    </m:r>
                    <m:r>
                      <a:rPr lang="en-US" altLang="zh-CN" sz="1600">
                        <a:latin typeface="Cambria Math" panose="02040503050406030204" pitchFamily="18" charset="0"/>
                        <a:cs typeface="Times New Roman" panose="02020603050405020304" pitchFamily="18" charset="0"/>
                      </a:rPr>
                      <m:t>”</m:t>
                    </m:r>
                    <m:r>
                      <a:rPr lang="zh-CN" altLang="zh-CN" sz="1600">
                        <a:latin typeface="Cambria Math" panose="02040503050406030204" pitchFamily="18" charset="0"/>
                        <a:cs typeface="Times New Roman" panose="02020603050405020304" pitchFamily="18" charset="0"/>
                      </a:rPr>
                      <m:t>和</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与模式串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开头的</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个和</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个字符匹配，则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3</m:t>
                        </m:r>
                      </m:e>
                    </m:d>
                    <m:r>
                      <a:rPr lang="en-US" altLang="zh-CN" sz="1600">
                        <a:latin typeface="Cambria Math" panose="02040503050406030204" pitchFamily="18" charset="0"/>
                        <a:cs typeface="Times New Roman" panose="02020603050405020304" pitchFamily="18" charset="0"/>
                      </a:rPr>
                      <m:t>=2</m:t>
                    </m:r>
                  </m:oMath>
                </a14:m>
                <a:r>
                  <a:rPr lang="zh-CN" altLang="zh-CN" sz="1600" dirty="0">
                    <a:latin typeface="Times New Roman" panose="02020603050405020304" pitchFamily="18" charset="0"/>
                    <a:cs typeface="Times New Roman" panose="02020603050405020304" pitchFamily="18" charset="0"/>
                  </a:rPr>
                  <a:t>；对于</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号字符</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b</m:t>
                    </m:r>
                  </m:oMath>
                </a14:m>
                <a:r>
                  <a:rPr lang="zh-CN" altLang="zh-CN" sz="1600" dirty="0">
                    <a:latin typeface="Times New Roman" panose="02020603050405020304" pitchFamily="18" charset="0"/>
                    <a:cs typeface="Times New Roman" panose="02020603050405020304" pitchFamily="18" charset="0"/>
                  </a:rPr>
                  <a:t>，前面</a:t>
                </a:r>
                <a14:m>
                  <m:oMath xmlns:m="http://schemas.openxmlformats.org/officeDocument/2006/math">
                    <m:r>
                      <a:rPr lang="zh-CN" altLang="zh-CN" sz="1600">
                        <a:latin typeface="Cambria Math" panose="02040503050406030204" pitchFamily="18" charset="0"/>
                        <a:cs typeface="Times New Roman" panose="02020603050405020304" pitchFamily="18" charset="0"/>
                      </a:rPr>
                      <m:t>子串</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aaa</m:t>
                    </m:r>
                    <m:r>
                      <a:rPr lang="en-US" altLang="zh-CN" sz="1600">
                        <a:latin typeface="Cambria Math" panose="02040503050406030204" pitchFamily="18" charset="0"/>
                        <a:cs typeface="Times New Roman" panose="02020603050405020304" pitchFamily="18" charset="0"/>
                      </a:rPr>
                      <m:t>”</m:t>
                    </m:r>
                    <m:r>
                      <a:rPr lang="zh-CN" altLang="zh-CN" sz="160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1600">
                        <a:latin typeface="Cambria Math" panose="02040503050406030204" pitchFamily="18" charset="0"/>
                        <a:cs typeface="Times New Roman" panose="02020603050405020304" pitchFamily="18" charset="0"/>
                      </a:rPr>
                      <m:t>“</m:t>
                    </m:r>
                    <m:r>
                      <m:rPr>
                        <m:sty m:val="p"/>
                      </m:rPr>
                      <a:rPr lang="en-US" altLang="zh-CN" sz="1600">
                        <a:latin typeface="Cambria Math" panose="02040503050406030204" pitchFamily="18" charset="0"/>
                        <a:cs typeface="Times New Roman" panose="02020603050405020304" pitchFamily="18" charset="0"/>
                      </a:rPr>
                      <m:t>a</m:t>
                    </m:r>
                    <m:r>
                      <a:rPr lang="en-US" altLang="zh-CN" sz="1600">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与模式串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开头的</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个和</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个字符匹配，则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4</m:t>
                        </m:r>
                      </m:e>
                    </m:d>
                    <m:r>
                      <a:rPr lang="en-US" altLang="zh-CN" sz="1600">
                        <a:latin typeface="Cambria Math" panose="02040503050406030204" pitchFamily="18" charset="0"/>
                        <a:cs typeface="Times New Roman" panose="02020603050405020304" pitchFamily="18" charset="0"/>
                      </a:rPr>
                      <m:t>=3</m:t>
                    </m:r>
                  </m:oMath>
                </a14:m>
                <a:r>
                  <a:rPr lang="zh-CN" altLang="zh-CN" sz="1600" dirty="0">
                    <a:latin typeface="Times New Roman" panose="02020603050405020304" pitchFamily="18" charset="0"/>
                    <a:cs typeface="Times New Roman" panose="02020603050405020304" pitchFamily="18" charset="0"/>
                  </a:rPr>
                  <a:t>。模式串</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对应的</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oMath>
                </a14:m>
                <a:r>
                  <a:rPr lang="zh-CN" altLang="zh-CN" sz="1600" dirty="0">
                    <a:latin typeface="Times New Roman" panose="02020603050405020304" pitchFamily="18" charset="0"/>
                    <a:cs typeface="Times New Roman" panose="02020603050405020304" pitchFamily="18" charset="0"/>
                  </a:rPr>
                  <a:t>数组如</a:t>
                </a:r>
                <a:r>
                  <a:rPr lang="zh-CN" altLang="en-US" sz="1600" dirty="0">
                    <a:latin typeface="Times New Roman" panose="02020603050405020304" pitchFamily="18" charset="0"/>
                    <a:cs typeface="Times New Roman" panose="02020603050405020304" pitchFamily="18" charset="0"/>
                  </a:rPr>
                  <a:t>下</a:t>
                </a:r>
                <a:r>
                  <a:rPr lang="zh-CN" altLang="zh-CN" sz="1600" dirty="0">
                    <a:latin typeface="Times New Roman" panose="02020603050405020304" pitchFamily="18" charset="0"/>
                    <a:cs typeface="Times New Roman" panose="02020603050405020304" pitchFamily="18" charset="0"/>
                  </a:rPr>
                  <a:t>表所示。</a:t>
                </a: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87574"/>
                <a:ext cx="8784976" cy="1872208"/>
              </a:xfrm>
              <a:blipFill>
                <a:blip r:embed="rId2"/>
                <a:stretch>
                  <a:fillRect l="-624" t="-1629" r="-55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043608" y="2644259"/>
            <a:ext cx="6935168" cy="1057423"/>
          </a:xfrm>
          <a:prstGeom prst="rect">
            <a:avLst/>
          </a:prstGeom>
        </p:spPr>
      </p:pic>
      <p:sp>
        <p:nvSpPr>
          <p:cNvPr id="5" name="文本框 4"/>
          <p:cNvSpPr txBox="1"/>
          <p:nvPr/>
        </p:nvSpPr>
        <p:spPr>
          <a:xfrm>
            <a:off x="611380" y="115457"/>
            <a:ext cx="129632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a:t>
            </a:r>
            <a:r>
              <a:rPr lang="en-US" altLang="zh-CN" sz="2000" dirty="0"/>
              <a:t>next[j]</a:t>
            </a:r>
            <a:endParaRPr lang="zh-CN" altLang="en-US" sz="2000" dirty="0"/>
          </a:p>
        </p:txBody>
      </p:sp>
    </p:spTree>
    <p:extLst>
      <p:ext uri="{BB962C8B-B14F-4D97-AF65-F5344CB8AC3E}">
        <p14:creationId xmlns:p14="http://schemas.microsoft.com/office/powerpoint/2010/main" val="35135638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856984" cy="2371722"/>
              </a:xfrm>
            </p:spPr>
            <p:txBody>
              <a:bodyPr/>
              <a:lstStyle/>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设目标串为</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s</m:t>
                    </m:r>
                  </m:oMath>
                </a14:m>
                <a:r>
                  <a:rPr lang="zh-CN" altLang="zh-CN" sz="1600" dirty="0">
                    <a:latin typeface="Times New Roman" panose="02020603050405020304" pitchFamily="18" charset="0"/>
                    <a:cs typeface="Times New Roman" panose="02020603050405020304" pitchFamily="18" charset="0"/>
                  </a:rPr>
                  <a:t>，模式串为</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t</m:t>
                    </m:r>
                  </m:oMath>
                </a14:m>
                <a:r>
                  <a:rPr lang="zh-CN" altLang="zh-CN" sz="1600" dirty="0">
                    <a:latin typeface="Times New Roman" panose="02020603050405020304" pitchFamily="18" charset="0"/>
                    <a:cs typeface="Times New Roman" panose="02020603050405020304" pitchFamily="18" charset="0"/>
                  </a:rPr>
                  <a:t>，并设</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分别指向目标串和模式串中待比较的字符，</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的初值均为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𝑖</m:t>
                        </m:r>
                      </m:sub>
                    </m:sSub>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𝑗</m:t>
                        </m:r>
                      </m:sub>
                    </m:sSub>
                  </m:oMath>
                </a14:m>
                <a:r>
                  <a:rPr lang="zh-CN" altLang="zh-CN" sz="1600" dirty="0">
                    <a:latin typeface="Times New Roman" panose="02020603050405020304" pitchFamily="18" charset="0"/>
                    <a:cs typeface="Times New Roman" panose="02020603050405020304" pitchFamily="18" charset="0"/>
                  </a:rPr>
                  <a:t>，则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分别加</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；否则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不变，</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退回到</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m:rPr>
                            <m:sty m:val="p"/>
                          </m:rPr>
                          <a:rPr lang="en-US" altLang="zh-CN" sz="1600">
                            <a:latin typeface="Cambria Math" panose="02040503050406030204" pitchFamily="18" charset="0"/>
                            <a:cs typeface="Times New Roman" panose="02020603050405020304" pitchFamily="18" charset="0"/>
                          </a:rPr>
                          <m:t>j</m:t>
                        </m:r>
                      </m:e>
                    </m:d>
                  </m:oMath>
                </a14:m>
                <a:r>
                  <a:rPr lang="zh-CN" altLang="zh-CN" sz="1600" dirty="0">
                    <a:latin typeface="Times New Roman" panose="02020603050405020304" pitchFamily="18" charset="0"/>
                    <a:cs typeface="Times New Roman" panose="02020603050405020304" pitchFamily="18" charset="0"/>
                  </a:rPr>
                  <a:t>位置（即模式串向右移动）；再比较</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𝑖</m:t>
                        </m:r>
                      </m:sub>
                    </m:sSub>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𝑗</m:t>
                        </m:r>
                      </m:sub>
                    </m:sSub>
                  </m:oMath>
                </a14:m>
                <a:r>
                  <a:rPr lang="zh-CN" altLang="zh-CN" sz="1600" dirty="0">
                    <a:latin typeface="Times New Roman" panose="02020603050405020304" pitchFamily="18" charset="0"/>
                    <a:cs typeface="Times New Roman" panose="02020603050405020304" pitchFamily="18" charset="0"/>
                  </a:rPr>
                  <a:t>，若相等，则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分别加</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；否则</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不变，</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再退回到</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m:rPr>
                            <m:sty m:val="p"/>
                          </m:rPr>
                          <a:rPr lang="en-US" altLang="zh-CN" sz="1600">
                            <a:latin typeface="Cambria Math" panose="02040503050406030204" pitchFamily="18" charset="0"/>
                            <a:cs typeface="Times New Roman" panose="02020603050405020304" pitchFamily="18" charset="0"/>
                          </a:rPr>
                          <m:t>j</m:t>
                        </m:r>
                      </m:e>
                    </m:d>
                  </m:oMath>
                </a14:m>
                <a:r>
                  <a:rPr lang="zh-CN" altLang="zh-CN" sz="1600" dirty="0">
                    <a:latin typeface="Times New Roman" panose="02020603050405020304" pitchFamily="18" charset="0"/>
                    <a:cs typeface="Times New Roman" panose="02020603050405020304" pitchFamily="18" charset="0"/>
                  </a:rPr>
                  <a:t>位置（即模式串向右移动）。依次类推，直至出现下列两种情况之一为止：</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退回到某个</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next</m:t>
                    </m:r>
                    <m:d>
                      <m:dPr>
                        <m:begChr m:val="["/>
                        <m:endChr m:val="]"/>
                        <m:ctrlPr>
                          <a:rPr lang="zh-CN" altLang="zh-CN" sz="1600" i="1">
                            <a:latin typeface="Cambria Math" panose="02040503050406030204" pitchFamily="18" charset="0"/>
                            <a:cs typeface="Times New Roman" panose="02020603050405020304" pitchFamily="18" charset="0"/>
                          </a:rPr>
                        </m:ctrlPr>
                      </m:dPr>
                      <m:e>
                        <m:r>
                          <m:rPr>
                            <m:sty m:val="p"/>
                          </m:rPr>
                          <a:rPr lang="en-US" altLang="zh-CN" sz="1600">
                            <a:latin typeface="Cambria Math" panose="02040503050406030204" pitchFamily="18" charset="0"/>
                            <a:cs typeface="Times New Roman" panose="02020603050405020304" pitchFamily="18" charset="0"/>
                          </a:rPr>
                          <m:t>j</m:t>
                        </m:r>
                      </m:e>
                    </m:d>
                  </m:oMath>
                </a14:m>
                <a:r>
                  <a:rPr lang="zh-CN" altLang="zh-CN" sz="1600" dirty="0">
                    <a:latin typeface="Times New Roman" panose="02020603050405020304" pitchFamily="18" charset="0"/>
                    <a:cs typeface="Times New Roman" panose="02020603050405020304" pitchFamily="18" charset="0"/>
                  </a:rPr>
                  <a:t>值时有</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𝑖</m:t>
                        </m:r>
                      </m:sub>
                    </m:sSub>
                    <m:r>
                      <a:rPr lang="en-US" altLang="zh-CN" sz="1600">
                        <a:latin typeface="Cambria Math" panose="02040503050406030204" pitchFamily="18" charset="0"/>
                        <a:cs typeface="Times New Roman" panose="02020603050405020304" pitchFamily="18" charset="0"/>
                      </a:rPr>
                      <m:t>=</m:t>
                    </m:r>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𝑗</m:t>
                        </m:r>
                      </m:sub>
                    </m:sSub>
                  </m:oMath>
                </a14:m>
                <a:r>
                  <a:rPr lang="zh-CN" altLang="zh-CN" sz="1600" dirty="0">
                    <a:latin typeface="Times New Roman" panose="02020603050405020304" pitchFamily="18" charset="0"/>
                    <a:cs typeface="Times New Roman" panose="02020603050405020304" pitchFamily="18" charset="0"/>
                  </a:rPr>
                  <a:t>，即字符比较相等，则指针各自加</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后继续进行匹配；</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退回到</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r>
                      <a:rPr lang="en-US" altLang="zh-CN" sz="1600">
                        <a:latin typeface="Cambria Math" panose="02040503050406030204" pitchFamily="18" charset="0"/>
                        <a:cs typeface="Times New Roman" panose="02020603050405020304" pitchFamily="18" charset="0"/>
                      </a:rPr>
                      <m:t>=−1</m:t>
                    </m:r>
                  </m:oMath>
                </a14:m>
                <a:r>
                  <a:rPr lang="zh-CN" altLang="zh-CN" sz="1600" dirty="0">
                    <a:latin typeface="Times New Roman" panose="02020603050405020304" pitchFamily="18" charset="0"/>
                    <a:cs typeface="Times New Roman" panose="02020603050405020304" pitchFamily="18" charset="0"/>
                  </a:rPr>
                  <a:t>，将</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i</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j</m:t>
                    </m:r>
                  </m:oMath>
                </a14:m>
                <a:r>
                  <a:rPr lang="zh-CN" altLang="zh-CN" sz="1600" dirty="0">
                    <a:latin typeface="Times New Roman" panose="02020603050405020304" pitchFamily="18" charset="0"/>
                    <a:cs typeface="Times New Roman" panose="02020603050405020304" pitchFamily="18" charset="0"/>
                  </a:rPr>
                  <a:t>分别加</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，即从目标串的下一个字符</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𝑠</m:t>
                        </m:r>
                      </m:e>
                      <m:sub>
                        <m:r>
                          <a:rPr lang="en-US" altLang="zh-CN" sz="1600">
                            <a:latin typeface="Cambria Math" panose="02040503050406030204" pitchFamily="18" charset="0"/>
                            <a:cs typeface="Times New Roman" panose="02020603050405020304" pitchFamily="18" charset="0"/>
                          </a:rPr>
                          <m:t>𝑖</m:t>
                        </m:r>
                        <m:r>
                          <a:rPr lang="en-US" altLang="zh-CN" sz="1600">
                            <a:latin typeface="Cambria Math" panose="02040503050406030204" pitchFamily="18" charset="0"/>
                            <a:cs typeface="Times New Roman" panose="02020603050405020304" pitchFamily="18" charset="0"/>
                          </a:rPr>
                          <m:t>+1</m:t>
                        </m:r>
                      </m:sub>
                    </m:sSub>
                  </m:oMath>
                </a14:m>
                <a:r>
                  <a:rPr lang="zh-CN" altLang="zh-CN" sz="1600" dirty="0">
                    <a:latin typeface="Times New Roman" panose="02020603050405020304" pitchFamily="18" charset="0"/>
                    <a:cs typeface="Times New Roman" panose="02020603050405020304" pitchFamily="18" charset="0"/>
                  </a:rPr>
                  <a:t>与模式串中的</a:t>
                </a:r>
                <a14:m>
                  <m:oMath xmlns:m="http://schemas.openxmlformats.org/officeDocument/2006/math">
                    <m:sSub>
                      <m:sSubPr>
                        <m:ctrlPr>
                          <a:rPr lang="zh-CN" altLang="zh-CN" sz="1600" i="1">
                            <a:latin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cs typeface="Times New Roman" panose="02020603050405020304" pitchFamily="18" charset="0"/>
                          </a:rPr>
                          <m:t>𝑡</m:t>
                        </m:r>
                      </m:e>
                      <m:sub>
                        <m:r>
                          <a:rPr lang="en-US" altLang="zh-CN" sz="1600">
                            <a:latin typeface="Cambria Math" panose="02040503050406030204" pitchFamily="18" charset="0"/>
                            <a:cs typeface="Times New Roman" panose="02020603050405020304" pitchFamily="18" charset="0"/>
                          </a:rPr>
                          <m:t>0</m:t>
                        </m:r>
                      </m:sub>
                    </m:sSub>
                  </m:oMath>
                </a14:m>
                <a:r>
                  <a:rPr lang="zh-CN" altLang="zh-CN" sz="1600" dirty="0">
                    <a:latin typeface="Times New Roman" panose="02020603050405020304" pitchFamily="18" charset="0"/>
                    <a:cs typeface="Times New Roman" panose="02020603050405020304" pitchFamily="18" charset="0"/>
                  </a:rPr>
                  <a:t>开始重新匹配。</a:t>
                </a:r>
              </a:p>
              <a:p>
                <a:pPr marL="0" indent="0" algn="just">
                  <a:lnSpc>
                    <a:spcPts val="22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856984" cy="2371722"/>
              </a:xfrm>
              <a:blipFill>
                <a:blip r:embed="rId2"/>
                <a:stretch>
                  <a:fillRect l="-619" t="-1285" r="-2891"/>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KMP</a:t>
            </a:r>
            <a:r>
              <a:rPr lang="zh-CN" altLang="en-US" sz="2000" dirty="0"/>
              <a:t>匹配过程</a:t>
            </a:r>
          </a:p>
        </p:txBody>
      </p:sp>
    </p:spTree>
    <p:extLst>
      <p:ext uri="{BB962C8B-B14F-4D97-AF65-F5344CB8AC3E}">
        <p14:creationId xmlns:p14="http://schemas.microsoft.com/office/powerpoint/2010/main" val="20816593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2160240" cy="3811882"/>
              </a:xfrm>
            </p:spPr>
            <p:txBody>
              <a:bodyPr/>
              <a:lstStyle/>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已知目标串</a:t>
                </a:r>
                <a14:m>
                  <m:oMath xmlns:m="http://schemas.openxmlformats.org/officeDocument/2006/math">
                    <m:r>
                      <m:rPr>
                        <m:sty m:val="p"/>
                      </m:rPr>
                      <a:rPr lang="en-US" altLang="zh-CN" sz="1600">
                        <a:solidFill>
                          <a:srgbClr val="C00000"/>
                        </a:solidFill>
                        <a:latin typeface="Cambria Math" panose="02040503050406030204" pitchFamily="18" charset="0"/>
                      </a:rPr>
                      <m:t>s</m:t>
                    </m:r>
                    <m:r>
                      <a:rPr lang="en-US" altLang="zh-CN" sz="1600">
                        <a:solidFill>
                          <a:srgbClr val="C00000"/>
                        </a:solidFill>
                        <a:latin typeface="Cambria Math" panose="02040503050406030204" pitchFamily="18" charset="0"/>
                      </a:rPr>
                      <m:t>="</m:t>
                    </m:r>
                    <m:r>
                      <m:rPr>
                        <m:sty m:val="p"/>
                      </m:rPr>
                      <a:rPr lang="en-US" altLang="zh-CN" sz="1600">
                        <a:solidFill>
                          <a:srgbClr val="C00000"/>
                        </a:solidFill>
                        <a:latin typeface="Cambria Math" panose="02040503050406030204" pitchFamily="18" charset="0"/>
                      </a:rPr>
                      <m:t>abbabcabcababacb</m:t>
                    </m:r>
                    <m:r>
                      <a:rPr lang="en-US" altLang="zh-CN" sz="1600">
                        <a:solidFill>
                          <a:srgbClr val="C00000"/>
                        </a:solidFill>
                        <a:latin typeface="Cambria Math" panose="02040503050406030204" pitchFamily="18" charset="0"/>
                      </a:rPr>
                      <m:t>"</m:t>
                    </m:r>
                  </m:oMath>
                </a14:m>
                <a:r>
                  <a:rPr lang="zh-CN" altLang="zh-CN" sz="1600" dirty="0">
                    <a:solidFill>
                      <a:srgbClr val="C00000"/>
                    </a:solidFill>
                    <a:latin typeface="Times New Roman" panose="02020603050405020304" pitchFamily="18" charset="0"/>
                    <a:cs typeface="Times New Roman" panose="02020603050405020304" pitchFamily="18" charset="0"/>
                  </a:rPr>
                  <a:t>，模式串</a:t>
                </a:r>
                <a14:m>
                  <m:oMath xmlns:m="http://schemas.openxmlformats.org/officeDocument/2006/math">
                    <m:r>
                      <m:rPr>
                        <m:sty m:val="p"/>
                      </m:rPr>
                      <a:rPr lang="en-US" altLang="zh-CN" sz="1600">
                        <a:solidFill>
                          <a:srgbClr val="C00000"/>
                        </a:solidFill>
                        <a:latin typeface="Cambria Math" panose="02040503050406030204" pitchFamily="18" charset="0"/>
                      </a:rPr>
                      <m:t>t</m:t>
                    </m:r>
                    <m:r>
                      <a:rPr lang="en-US" altLang="zh-CN" sz="1600">
                        <a:solidFill>
                          <a:srgbClr val="C00000"/>
                        </a:solidFill>
                        <a:latin typeface="Cambria Math" panose="02040503050406030204" pitchFamily="18" charset="0"/>
                      </a:rPr>
                      <m:t>="</m:t>
                    </m:r>
                    <m:r>
                      <m:rPr>
                        <m:sty m:val="p"/>
                      </m:rPr>
                      <a:rPr lang="en-US" altLang="zh-CN" sz="1600">
                        <a:solidFill>
                          <a:srgbClr val="C00000"/>
                        </a:solidFill>
                        <a:latin typeface="Cambria Math" panose="02040503050406030204" pitchFamily="18" charset="0"/>
                      </a:rPr>
                      <m:t>abcaba</m:t>
                    </m:r>
                    <m:r>
                      <a:rPr lang="en-US" altLang="zh-CN" sz="1600">
                        <a:solidFill>
                          <a:srgbClr val="C00000"/>
                        </a:solidFill>
                        <a:latin typeface="Cambria Math" panose="02040503050406030204" pitchFamily="18" charset="0"/>
                      </a:rPr>
                      <m:t>"</m:t>
                    </m:r>
                  </m:oMath>
                </a14:m>
                <a:r>
                  <a:rPr lang="zh-CN" altLang="zh-CN" sz="1600" dirty="0">
                    <a:solidFill>
                      <a:srgbClr val="C00000"/>
                    </a:solidFill>
                    <a:latin typeface="Times New Roman" panose="02020603050405020304" pitchFamily="18" charset="0"/>
                    <a:cs typeface="Times New Roman" panose="02020603050405020304" pitchFamily="18" charset="0"/>
                  </a:rPr>
                  <a:t>。给出模式串</a:t>
                </a:r>
                <a14:m>
                  <m:oMath xmlns:m="http://schemas.openxmlformats.org/officeDocument/2006/math">
                    <m:r>
                      <m:rPr>
                        <m:sty m:val="p"/>
                      </m:rPr>
                      <a:rPr lang="en-US" altLang="zh-CN" sz="1600">
                        <a:solidFill>
                          <a:srgbClr val="C00000"/>
                        </a:solidFill>
                        <a:latin typeface="Cambria Math" panose="02040503050406030204" pitchFamily="18" charset="0"/>
                      </a:rPr>
                      <m:t>t</m:t>
                    </m:r>
                  </m:oMath>
                </a14:m>
                <a:r>
                  <a:rPr lang="zh-CN" altLang="zh-CN" sz="1600" dirty="0">
                    <a:solidFill>
                      <a:srgbClr val="C00000"/>
                    </a:solidFill>
                    <a:latin typeface="Times New Roman" panose="02020603050405020304" pitchFamily="18" charset="0"/>
                    <a:cs typeface="Times New Roman" panose="02020603050405020304" pitchFamily="18" charset="0"/>
                  </a:rPr>
                  <a:t>的</a:t>
                </a:r>
                <a14:m>
                  <m:oMath xmlns:m="http://schemas.openxmlformats.org/officeDocument/2006/math">
                    <m:r>
                      <m:rPr>
                        <m:sty m:val="p"/>
                      </m:rPr>
                      <a:rPr lang="en-US" altLang="zh-CN" sz="1600">
                        <a:solidFill>
                          <a:srgbClr val="C00000"/>
                        </a:solidFill>
                        <a:latin typeface="Cambria Math" panose="02040503050406030204" pitchFamily="18" charset="0"/>
                      </a:rPr>
                      <m:t>next</m:t>
                    </m:r>
                  </m:oMath>
                </a14:m>
                <a:r>
                  <a:rPr lang="zh-CN" altLang="zh-CN" sz="1600" dirty="0">
                    <a:solidFill>
                      <a:srgbClr val="C00000"/>
                    </a:solidFill>
                    <a:latin typeface="Times New Roman" panose="02020603050405020304" pitchFamily="18" charset="0"/>
                    <a:cs typeface="Times New Roman" panose="02020603050405020304" pitchFamily="18" charset="0"/>
                  </a:rPr>
                  <a:t>数组和</a:t>
                </a:r>
                <a:r>
                  <a:rPr lang="en-US" altLang="zh-CN" sz="1600" dirty="0">
                    <a:solidFill>
                      <a:srgbClr val="C00000"/>
                    </a:solidFill>
                    <a:latin typeface="Times New Roman" panose="02020603050405020304" pitchFamily="18" charset="0"/>
                    <a:cs typeface="Times New Roman" panose="02020603050405020304" pitchFamily="18" charset="0"/>
                  </a:rPr>
                  <a:t>KMP</a:t>
                </a:r>
                <a:r>
                  <a:rPr lang="zh-CN" altLang="zh-CN" sz="1600" dirty="0">
                    <a:solidFill>
                      <a:srgbClr val="C00000"/>
                    </a:solidFill>
                    <a:latin typeface="Times New Roman" panose="02020603050405020304" pitchFamily="18" charset="0"/>
                    <a:cs typeface="Times New Roman" panose="02020603050405020304" pitchFamily="18" charset="0"/>
                  </a:rPr>
                  <a:t>算法的模式匹配过程。</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2160240" cy="3811882"/>
              </a:xfrm>
              <a:blipFill>
                <a:blip r:embed="rId2"/>
                <a:stretch>
                  <a:fillRect l="-2535" t="-160" r="-253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2483768" y="483518"/>
            <a:ext cx="6552728" cy="969128"/>
          </a:xfrm>
          <a:prstGeom prst="rect">
            <a:avLst/>
          </a:prstGeom>
        </p:spPr>
      </p:pic>
      <p:pic>
        <p:nvPicPr>
          <p:cNvPr id="5" name="图片 4"/>
          <p:cNvPicPr>
            <a:picLocks noChangeAspect="1"/>
          </p:cNvPicPr>
          <p:nvPr/>
        </p:nvPicPr>
        <p:blipFill>
          <a:blip r:embed="rId4"/>
          <a:stretch>
            <a:fillRect/>
          </a:stretch>
        </p:blipFill>
        <p:spPr>
          <a:xfrm>
            <a:off x="3491880" y="1563638"/>
            <a:ext cx="4394996" cy="986099"/>
          </a:xfrm>
          <a:prstGeom prst="rect">
            <a:avLst/>
          </a:prstGeom>
        </p:spPr>
      </p:pic>
      <p:pic>
        <p:nvPicPr>
          <p:cNvPr id="6" name="图片 5"/>
          <p:cNvPicPr>
            <a:picLocks noChangeAspect="1"/>
          </p:cNvPicPr>
          <p:nvPr/>
        </p:nvPicPr>
        <p:blipFill>
          <a:blip r:embed="rId5"/>
          <a:stretch>
            <a:fillRect/>
          </a:stretch>
        </p:blipFill>
        <p:spPr>
          <a:xfrm>
            <a:off x="3382991" y="2499742"/>
            <a:ext cx="4660899" cy="786750"/>
          </a:xfrm>
          <a:prstGeom prst="rect">
            <a:avLst/>
          </a:prstGeom>
        </p:spPr>
      </p:pic>
      <p:pic>
        <p:nvPicPr>
          <p:cNvPr id="7" name="图片 6"/>
          <p:cNvPicPr>
            <a:picLocks noChangeAspect="1"/>
          </p:cNvPicPr>
          <p:nvPr/>
        </p:nvPicPr>
        <p:blipFill>
          <a:blip r:embed="rId6"/>
          <a:stretch>
            <a:fillRect/>
          </a:stretch>
        </p:blipFill>
        <p:spPr>
          <a:xfrm>
            <a:off x="3259814" y="3286492"/>
            <a:ext cx="4290902" cy="706166"/>
          </a:xfrm>
          <a:prstGeom prst="rect">
            <a:avLst/>
          </a:prstGeom>
        </p:spPr>
      </p:pic>
      <p:pic>
        <p:nvPicPr>
          <p:cNvPr id="8" name="图片 7"/>
          <p:cNvPicPr>
            <a:picLocks noChangeAspect="1"/>
          </p:cNvPicPr>
          <p:nvPr/>
        </p:nvPicPr>
        <p:blipFill>
          <a:blip r:embed="rId7"/>
          <a:stretch>
            <a:fillRect/>
          </a:stretch>
        </p:blipFill>
        <p:spPr>
          <a:xfrm>
            <a:off x="3263018" y="3980437"/>
            <a:ext cx="4724725" cy="839418"/>
          </a:xfrm>
          <a:prstGeom prst="rect">
            <a:avLst/>
          </a:prstGeom>
        </p:spPr>
      </p:pic>
      <p:sp>
        <p:nvSpPr>
          <p:cNvPr id="9" name="文本框 8"/>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41555957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60220" y="987574"/>
            <a:ext cx="6111980" cy="3507876"/>
          </a:xfrm>
        </p:spPr>
        <p:txBody>
          <a:bodyPr/>
          <a:lstStyle/>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deine</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MaxSize</a:t>
            </a:r>
            <a:r>
              <a:rPr lang="en-US" altLang="zh-CN" sz="1800" dirty="0">
                <a:latin typeface="Times New Roman" panose="02020603050405020304" pitchFamily="18" charset="0"/>
                <a:cs typeface="Times New Roman" panose="02020603050405020304" pitchFamily="18" charset="0"/>
              </a:rPr>
              <a:t> 100</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void </a:t>
            </a:r>
            <a:r>
              <a:rPr lang="en-US" altLang="zh-CN" sz="1800" dirty="0" err="1">
                <a:latin typeface="Times New Roman" panose="02020603050405020304" pitchFamily="18" charset="0"/>
                <a:cs typeface="Times New Roman" panose="02020603050405020304" pitchFamily="18" charset="0"/>
              </a:rPr>
              <a:t>GetNext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HString</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t,int</a:t>
            </a:r>
            <a:r>
              <a:rPr lang="en-US" altLang="zh-CN" sz="1800" dirty="0">
                <a:latin typeface="Times New Roman" panose="02020603050405020304" pitchFamily="18" charset="0"/>
                <a:cs typeface="Times New Roman" panose="02020603050405020304" pitchFamily="18" charset="0"/>
              </a:rPr>
              <a:t> next[]){     //</a:t>
            </a:r>
            <a:r>
              <a:rPr lang="zh-CN" altLang="zh-CN" sz="1800" dirty="0">
                <a:latin typeface="Times New Roman" panose="02020603050405020304" pitchFamily="18" charset="0"/>
                <a:cs typeface="Times New Roman" panose="02020603050405020304" pitchFamily="18" charset="0"/>
              </a:rPr>
              <a:t>计算模式串</a:t>
            </a:r>
            <a:r>
              <a:rPr lang="en-US" altLang="zh-CN" sz="1800" dirty="0">
                <a:latin typeface="Times New Roman" panose="02020603050405020304" pitchFamily="18" charset="0"/>
                <a:cs typeface="Times New Roman" panose="02020603050405020304" pitchFamily="18" charset="0"/>
              </a:rPr>
              <a:t>t</a:t>
            </a:r>
            <a:r>
              <a:rPr lang="zh-CN" altLang="zh-CN"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next</a:t>
            </a:r>
            <a:r>
              <a:rPr lang="zh-CN" altLang="zh-CN" sz="1800" dirty="0">
                <a:latin typeface="Times New Roman" panose="02020603050405020304" pitchFamily="18" charset="0"/>
                <a:cs typeface="Times New Roman" panose="02020603050405020304" pitchFamily="18" charset="0"/>
              </a:rPr>
              <a:t>值</a:t>
            </a: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j=0,k=-1;</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next[0]=-1;</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while(j&lt;t.length-1)</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if(k==-1||t.ch[j]==t.ch[k]){</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k++;</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next[j]=k;</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      else k=next[k];</a:t>
            </a:r>
            <a:endParaRPr lang="zh-CN" altLang="zh-CN" sz="1800" dirty="0">
              <a:latin typeface="Times New Roman" panose="02020603050405020304" pitchFamily="18" charset="0"/>
              <a:cs typeface="Times New Roman" panose="02020603050405020304" pitchFamily="18" charset="0"/>
            </a:endParaRPr>
          </a:p>
          <a:p>
            <a:pPr marL="0" indent="0">
              <a:lnSpc>
                <a:spcPts val="1920"/>
              </a:lnSpc>
              <a:spcBef>
                <a:spcPts val="0"/>
              </a:spcBef>
              <a:buNone/>
            </a:pP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851920" y="339502"/>
            <a:ext cx="3816424" cy="3536866"/>
          </a:xfrm>
          <a:prstGeom prst="rect">
            <a:avLst/>
          </a:prstGeom>
          <a:solidFill>
            <a:schemeClr val="accent2"/>
          </a:solidFill>
        </p:spPr>
        <p:txBody>
          <a:bodyPr wrap="square" rtlCol="0">
            <a:spAutoFit/>
          </a:bodyPr>
          <a:lstStyle/>
          <a:p>
            <a:pPr>
              <a:lnSpc>
                <a:spcPts val="1920"/>
              </a:lnSpc>
              <a:spcBef>
                <a:spcPts val="0"/>
              </a:spcBef>
            </a:pP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KMPIndex</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HString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s,HString</a:t>
            </a:r>
            <a:r>
              <a:rPr lang="en-US" altLang="zh-CN" dirty="0">
                <a:latin typeface="Times New Roman" panose="02020603050405020304" pitchFamily="18" charset="0"/>
                <a:cs typeface="Times New Roman" panose="02020603050405020304" pitchFamily="18" charset="0"/>
              </a:rPr>
              <a:t> 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next[</a:t>
            </a:r>
            <a:r>
              <a:rPr lang="en-US" altLang="zh-CN" dirty="0" err="1">
                <a:latin typeface="Times New Roman" panose="02020603050405020304" pitchFamily="18" charset="0"/>
                <a:cs typeface="Times New Roman" panose="02020603050405020304" pitchFamily="18" charset="0"/>
              </a:rPr>
              <a:t>MaxSize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=0,j=0;</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GetNext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t,next</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while(</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s.length</a:t>
            </a:r>
            <a:r>
              <a:rPr lang="en-US" altLang="zh-CN" dirty="0">
                <a:latin typeface="Times New Roman" panose="02020603050405020304" pitchFamily="18" charset="0"/>
                <a:cs typeface="Times New Roman" panose="02020603050405020304" pitchFamily="18" charset="0"/>
              </a:rPr>
              <a:t>&amp;&amp;j&lt;</a:t>
            </a:r>
            <a:r>
              <a:rPr lang="en-US" altLang="zh-CN" dirty="0" err="1">
                <a:latin typeface="Times New Roman" panose="02020603050405020304" pitchFamily="18" charset="0"/>
                <a:cs typeface="Times New Roman" panose="02020603050405020304" pitchFamily="18" charset="0"/>
              </a:rPr>
              <a:t>t.length</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if(j==-1||s.ch[</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]==t.ch[j]){</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else j=next[j];</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if(j&gt;=</a:t>
            </a:r>
            <a:r>
              <a:rPr lang="en-US" altLang="zh-CN" dirty="0" err="1">
                <a:latin typeface="Times New Roman" panose="02020603050405020304" pitchFamily="18" charset="0"/>
                <a:cs typeface="Times New Roman" panose="02020603050405020304" pitchFamily="18" charset="0"/>
              </a:rPr>
              <a:t>t.length</a:t>
            </a:r>
            <a:r>
              <a:rPr lang="en-US" altLang="zh-CN" dirty="0">
                <a:latin typeface="Times New Roman" panose="02020603050405020304" pitchFamily="18" charset="0"/>
                <a:cs typeface="Times New Roman" panose="02020603050405020304" pitchFamily="18" charset="0"/>
              </a:rPr>
              <a:t>)  return </a:t>
            </a:r>
            <a:r>
              <a:rPr lang="en-US" altLang="zh-CN" dirty="0" err="1">
                <a:latin typeface="Times New Roman" panose="02020603050405020304" pitchFamily="18" charset="0"/>
                <a:cs typeface="Times New Roman" panose="02020603050405020304" pitchFamily="18" charset="0"/>
              </a:rPr>
              <a:t>i-t.length</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   else  return -1;</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920"/>
              </a:lnSpc>
              <a:spcBef>
                <a:spcPts val="0"/>
              </a:spcBef>
            </a:pPr>
            <a:endParaRPr lang="zh-CN" altLang="en-US" dirty="0">
              <a:latin typeface="Times New Roman" panose="02020603050405020304" pitchFamily="18" charset="0"/>
              <a:cs typeface="Times New Roman" panose="02020603050405020304" pitchFamily="18" charset="0"/>
            </a:endParaRPr>
          </a:p>
          <a:p>
            <a:endParaRPr lang="zh-CN" altLang="en-US" dirty="0"/>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KMP</a:t>
            </a:r>
            <a:r>
              <a:rPr lang="zh-CN" altLang="en-US" sz="2000" dirty="0"/>
              <a:t>算法</a:t>
            </a:r>
          </a:p>
        </p:txBody>
      </p:sp>
    </p:spTree>
    <p:extLst>
      <p:ext uri="{BB962C8B-B14F-4D97-AF65-F5344CB8AC3E}">
        <p14:creationId xmlns:p14="http://schemas.microsoft.com/office/powerpoint/2010/main" val="2124961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4"/>
                                        </p:tgtEl>
                                        <p:attrNameLst>
                                          <p:attrName>style.visibility</p:attrName>
                                        </p:attrNameLst>
                                      </p:cBhvr>
                                      <p:to>
                                        <p:strVal val="visible"/>
                                      </p:to>
                                    </p:set>
                                    <p:animEffect transition="in" filter="fade">
                                      <p:cBhvr>
                                        <p:cTn id="91" dur="1000"/>
                                        <p:tgtEl>
                                          <p:spTgt spid="4"/>
                                        </p:tgtEl>
                                      </p:cBhvr>
                                    </p:animEffect>
                                    <p:anim calcmode="lin" valueType="num">
                                      <p:cBhvr>
                                        <p:cTn id="92" dur="1000" fill="hold"/>
                                        <p:tgtEl>
                                          <p:spTgt spid="4"/>
                                        </p:tgtEl>
                                        <p:attrNameLst>
                                          <p:attrName>ppt_x</p:attrName>
                                        </p:attrNameLst>
                                      </p:cBhvr>
                                      <p:tavLst>
                                        <p:tav tm="0">
                                          <p:val>
                                            <p:strVal val="#ppt_x"/>
                                          </p:val>
                                        </p:tav>
                                        <p:tav tm="100000">
                                          <p:val>
                                            <p:strVal val="#ppt_x"/>
                                          </p:val>
                                        </p:tav>
                                      </p:tavLst>
                                    </p:anim>
                                    <p:anim calcmode="lin" valueType="num">
                                      <p:cBhvr>
                                        <p:cTn id="9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0" end="0"/>
                                            </p:txEl>
                                          </p:spTgt>
                                        </p:tgtEl>
                                        <p:attrNameLst>
                                          <p:attrName>style.visibility</p:attrName>
                                        </p:attrNameLst>
                                      </p:cBhvr>
                                      <p:to>
                                        <p:strVal val="visible"/>
                                      </p:to>
                                    </p:set>
                                    <p:animEffect transition="in" filter="fade">
                                      <p:cBhvr>
                                        <p:cTn id="98" dur="1000"/>
                                        <p:tgtEl>
                                          <p:spTgt spid="4">
                                            <p:txEl>
                                              <p:pRg st="0" end="0"/>
                                            </p:txEl>
                                          </p:spTgt>
                                        </p:tgtEl>
                                      </p:cBhvr>
                                    </p:animEffect>
                                    <p:anim calcmode="lin" valueType="num">
                                      <p:cBhvr>
                                        <p:cTn id="9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1" end="1"/>
                                            </p:txEl>
                                          </p:spTgt>
                                        </p:tgtEl>
                                        <p:attrNameLst>
                                          <p:attrName>style.visibility</p:attrName>
                                        </p:attrNameLst>
                                      </p:cBhvr>
                                      <p:to>
                                        <p:strVal val="visible"/>
                                      </p:to>
                                    </p:set>
                                    <p:animEffect transition="in" filter="fade">
                                      <p:cBhvr>
                                        <p:cTn id="105" dur="1000"/>
                                        <p:tgtEl>
                                          <p:spTgt spid="4">
                                            <p:txEl>
                                              <p:pRg st="1" end="1"/>
                                            </p:txEl>
                                          </p:spTgt>
                                        </p:tgtEl>
                                      </p:cBhvr>
                                    </p:animEffect>
                                    <p:anim calcmode="lin" valueType="num">
                                      <p:cBhvr>
                                        <p:cTn id="10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4">
                                            <p:txEl>
                                              <p:pRg st="2" end="2"/>
                                            </p:txEl>
                                          </p:spTgt>
                                        </p:tgtEl>
                                        <p:attrNameLst>
                                          <p:attrName>style.visibility</p:attrName>
                                        </p:attrNameLst>
                                      </p:cBhvr>
                                      <p:to>
                                        <p:strVal val="visible"/>
                                      </p:to>
                                    </p:set>
                                    <p:animEffect transition="in" filter="fade">
                                      <p:cBhvr>
                                        <p:cTn id="112" dur="1000"/>
                                        <p:tgtEl>
                                          <p:spTgt spid="4">
                                            <p:txEl>
                                              <p:pRg st="2" end="2"/>
                                            </p:txEl>
                                          </p:spTgt>
                                        </p:tgtEl>
                                      </p:cBhvr>
                                    </p:animEffect>
                                    <p:anim calcmode="lin" valueType="num">
                                      <p:cBhvr>
                                        <p:cTn id="1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xEl>
                                              <p:pRg st="3" end="3"/>
                                            </p:txEl>
                                          </p:spTgt>
                                        </p:tgtEl>
                                        <p:attrNameLst>
                                          <p:attrName>style.visibility</p:attrName>
                                        </p:attrNameLst>
                                      </p:cBhvr>
                                      <p:to>
                                        <p:strVal val="visible"/>
                                      </p:to>
                                    </p:set>
                                    <p:animEffect transition="in" filter="fade">
                                      <p:cBhvr>
                                        <p:cTn id="119" dur="1000"/>
                                        <p:tgtEl>
                                          <p:spTgt spid="4">
                                            <p:txEl>
                                              <p:pRg st="3" end="3"/>
                                            </p:txEl>
                                          </p:spTgt>
                                        </p:tgtEl>
                                      </p:cBhvr>
                                    </p:animEffect>
                                    <p:anim calcmode="lin" valueType="num">
                                      <p:cBhvr>
                                        <p:cTn id="12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2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4">
                                            <p:txEl>
                                              <p:pRg st="4" end="4"/>
                                            </p:txEl>
                                          </p:spTgt>
                                        </p:tgtEl>
                                        <p:attrNameLst>
                                          <p:attrName>style.visibility</p:attrName>
                                        </p:attrNameLst>
                                      </p:cBhvr>
                                      <p:to>
                                        <p:strVal val="visible"/>
                                      </p:to>
                                    </p:set>
                                    <p:animEffect transition="in" filter="fade">
                                      <p:cBhvr>
                                        <p:cTn id="126" dur="1000"/>
                                        <p:tgtEl>
                                          <p:spTgt spid="4">
                                            <p:txEl>
                                              <p:pRg st="4" end="4"/>
                                            </p:txEl>
                                          </p:spTgt>
                                        </p:tgtEl>
                                      </p:cBhvr>
                                    </p:animEffect>
                                    <p:anim calcmode="lin" valueType="num">
                                      <p:cBhvr>
                                        <p:cTn id="1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28"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4">
                                            <p:txEl>
                                              <p:pRg st="5" end="5"/>
                                            </p:txEl>
                                          </p:spTgt>
                                        </p:tgtEl>
                                        <p:attrNameLst>
                                          <p:attrName>style.visibility</p:attrName>
                                        </p:attrNameLst>
                                      </p:cBhvr>
                                      <p:to>
                                        <p:strVal val="visible"/>
                                      </p:to>
                                    </p:set>
                                    <p:animEffect transition="in" filter="fade">
                                      <p:cBhvr>
                                        <p:cTn id="131" dur="1000"/>
                                        <p:tgtEl>
                                          <p:spTgt spid="4">
                                            <p:txEl>
                                              <p:pRg st="5" end="5"/>
                                            </p:txEl>
                                          </p:spTgt>
                                        </p:tgtEl>
                                      </p:cBhvr>
                                    </p:animEffect>
                                    <p:anim calcmode="lin" valueType="num">
                                      <p:cBhvr>
                                        <p:cTn id="13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33"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4">
                                            <p:txEl>
                                              <p:pRg st="6" end="6"/>
                                            </p:txEl>
                                          </p:spTgt>
                                        </p:tgtEl>
                                        <p:attrNameLst>
                                          <p:attrName>style.visibility</p:attrName>
                                        </p:attrNameLst>
                                      </p:cBhvr>
                                      <p:to>
                                        <p:strVal val="visible"/>
                                      </p:to>
                                    </p:set>
                                    <p:animEffect transition="in" filter="fade">
                                      <p:cBhvr>
                                        <p:cTn id="136" dur="1000"/>
                                        <p:tgtEl>
                                          <p:spTgt spid="4">
                                            <p:txEl>
                                              <p:pRg st="6" end="6"/>
                                            </p:txEl>
                                          </p:spTgt>
                                        </p:tgtEl>
                                      </p:cBhvr>
                                    </p:animEffect>
                                    <p:anim calcmode="lin" valueType="num">
                                      <p:cBhvr>
                                        <p:cTn id="13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38"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4">
                                            <p:txEl>
                                              <p:pRg st="7" end="7"/>
                                            </p:txEl>
                                          </p:spTgt>
                                        </p:tgtEl>
                                        <p:attrNameLst>
                                          <p:attrName>style.visibility</p:attrName>
                                        </p:attrNameLst>
                                      </p:cBhvr>
                                      <p:to>
                                        <p:strVal val="visible"/>
                                      </p:to>
                                    </p:set>
                                    <p:animEffect transition="in" filter="fade">
                                      <p:cBhvr>
                                        <p:cTn id="141" dur="1000"/>
                                        <p:tgtEl>
                                          <p:spTgt spid="4">
                                            <p:txEl>
                                              <p:pRg st="7" end="7"/>
                                            </p:txEl>
                                          </p:spTgt>
                                        </p:tgtEl>
                                      </p:cBhvr>
                                    </p:animEffect>
                                    <p:anim calcmode="lin" valueType="num">
                                      <p:cBhvr>
                                        <p:cTn id="14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4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4">
                                            <p:txEl>
                                              <p:pRg st="8" end="8"/>
                                            </p:txEl>
                                          </p:spTgt>
                                        </p:tgtEl>
                                        <p:attrNameLst>
                                          <p:attrName>style.visibility</p:attrName>
                                        </p:attrNameLst>
                                      </p:cBhvr>
                                      <p:to>
                                        <p:strVal val="visible"/>
                                      </p:to>
                                    </p:set>
                                    <p:animEffect transition="in" filter="fade">
                                      <p:cBhvr>
                                        <p:cTn id="148" dur="1000"/>
                                        <p:tgtEl>
                                          <p:spTgt spid="4">
                                            <p:txEl>
                                              <p:pRg st="8" end="8"/>
                                            </p:txEl>
                                          </p:spTgt>
                                        </p:tgtEl>
                                      </p:cBhvr>
                                    </p:animEffect>
                                    <p:anim calcmode="lin" valueType="num">
                                      <p:cBhvr>
                                        <p:cTn id="14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50"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51" presetID="42" presetClass="entr" presetSubtype="0" fill="hold" nodeType="withEffect">
                                  <p:stCondLst>
                                    <p:cond delay="0"/>
                                  </p:stCondLst>
                                  <p:childTnLst>
                                    <p:set>
                                      <p:cBhvr>
                                        <p:cTn id="152" dur="1" fill="hold">
                                          <p:stCondLst>
                                            <p:cond delay="0"/>
                                          </p:stCondLst>
                                        </p:cTn>
                                        <p:tgtEl>
                                          <p:spTgt spid="4">
                                            <p:txEl>
                                              <p:pRg st="9" end="9"/>
                                            </p:txEl>
                                          </p:spTgt>
                                        </p:tgtEl>
                                        <p:attrNameLst>
                                          <p:attrName>style.visibility</p:attrName>
                                        </p:attrNameLst>
                                      </p:cBhvr>
                                      <p:to>
                                        <p:strVal val="visible"/>
                                      </p:to>
                                    </p:set>
                                    <p:animEffect transition="in" filter="fade">
                                      <p:cBhvr>
                                        <p:cTn id="153" dur="1000"/>
                                        <p:tgtEl>
                                          <p:spTgt spid="4">
                                            <p:txEl>
                                              <p:pRg st="9" end="9"/>
                                            </p:txEl>
                                          </p:spTgt>
                                        </p:tgtEl>
                                      </p:cBhvr>
                                    </p:animEffect>
                                    <p:anim calcmode="lin" valueType="num">
                                      <p:cBhvr>
                                        <p:cTn id="15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5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2" presetClass="entr" presetSubtype="4" fill="hold" nodeType="clickEffect">
                                  <p:stCondLst>
                                    <p:cond delay="0"/>
                                  </p:stCondLst>
                                  <p:childTnLst>
                                    <p:set>
                                      <p:cBhvr>
                                        <p:cTn id="159" dur="1" fill="hold">
                                          <p:stCondLst>
                                            <p:cond delay="0"/>
                                          </p:stCondLst>
                                        </p:cTn>
                                        <p:tgtEl>
                                          <p:spTgt spid="4">
                                            <p:txEl>
                                              <p:pRg st="10" end="10"/>
                                            </p:txEl>
                                          </p:spTgt>
                                        </p:tgtEl>
                                        <p:attrNameLst>
                                          <p:attrName>style.visibility</p:attrName>
                                        </p:attrNameLst>
                                      </p:cBhvr>
                                      <p:to>
                                        <p:strVal val="visible"/>
                                      </p:to>
                                    </p:set>
                                    <p:anim calcmode="lin" valueType="num">
                                      <p:cBhvr additive="base">
                                        <p:cTn id="160"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61"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62" presetID="2" presetClass="entr" presetSubtype="4" fill="hold" nodeType="withEffect">
                                  <p:stCondLst>
                                    <p:cond delay="0"/>
                                  </p:stCondLst>
                                  <p:childTnLst>
                                    <p:set>
                                      <p:cBhvr>
                                        <p:cTn id="163" dur="1" fill="hold">
                                          <p:stCondLst>
                                            <p:cond delay="0"/>
                                          </p:stCondLst>
                                        </p:cTn>
                                        <p:tgtEl>
                                          <p:spTgt spid="4">
                                            <p:txEl>
                                              <p:pRg st="11" end="11"/>
                                            </p:txEl>
                                          </p:spTgt>
                                        </p:tgtEl>
                                        <p:attrNameLst>
                                          <p:attrName>style.visibility</p:attrName>
                                        </p:attrNameLst>
                                      </p:cBhvr>
                                      <p:to>
                                        <p:strVal val="visible"/>
                                      </p:to>
                                    </p:set>
                                    <p:anim calcmode="lin" valueType="num">
                                      <p:cBhvr additive="base">
                                        <p:cTn id="164"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5"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 数字媒体及应用123</Template>
  <TotalTime>4164</TotalTime>
  <Words>4166</Words>
  <Application>Microsoft Office PowerPoint</Application>
  <PresentationFormat>全屏显示(16:9)</PresentationFormat>
  <Paragraphs>262</Paragraphs>
  <Slides>31</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4" baseType="lpstr">
      <vt:lpstr>方正粗黑宋简体</vt:lpstr>
      <vt:lpstr>黑体</vt:lpstr>
      <vt:lpstr>华文彩云</vt:lpstr>
      <vt:lpstr>隶书</vt:lpstr>
      <vt:lpstr>微软雅黑</vt:lpstr>
      <vt:lpstr>新宋体</vt:lpstr>
      <vt:lpstr>Arial</vt:lpstr>
      <vt:lpstr>Calibri</vt:lpstr>
      <vt:lpstr>Calibri Light</vt:lpstr>
      <vt:lpstr>Cambria Math</vt:lpstr>
      <vt:lpstr>Times New Roman</vt:lpstr>
      <vt:lpstr>章节简洁版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 Chen</cp:lastModifiedBy>
  <cp:revision>175</cp:revision>
  <dcterms:created xsi:type="dcterms:W3CDTF">2007-07-12T03:00:51Z</dcterms:created>
  <dcterms:modified xsi:type="dcterms:W3CDTF">2025-03-17T08:21:30Z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