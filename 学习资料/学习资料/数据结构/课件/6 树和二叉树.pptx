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88"/>
  </p:notesMasterIdLst>
  <p:sldIdLst>
    <p:sldId id="454" r:id="rId2"/>
    <p:sldId id="259" r:id="rId3"/>
    <p:sldId id="791" r:id="rId4"/>
    <p:sldId id="261" r:id="rId5"/>
    <p:sldId id="795" r:id="rId6"/>
    <p:sldId id="796" r:id="rId7"/>
    <p:sldId id="797" r:id="rId8"/>
    <p:sldId id="798" r:id="rId9"/>
    <p:sldId id="799" r:id="rId10"/>
    <p:sldId id="800" r:id="rId11"/>
    <p:sldId id="801" r:id="rId12"/>
    <p:sldId id="804" r:id="rId13"/>
    <p:sldId id="803" r:id="rId14"/>
    <p:sldId id="805" r:id="rId15"/>
    <p:sldId id="806" r:id="rId16"/>
    <p:sldId id="807" r:id="rId17"/>
    <p:sldId id="808" r:id="rId18"/>
    <p:sldId id="809" r:id="rId19"/>
    <p:sldId id="810" r:id="rId20"/>
    <p:sldId id="811" r:id="rId21"/>
    <p:sldId id="812" r:id="rId22"/>
    <p:sldId id="813" r:id="rId23"/>
    <p:sldId id="814" r:id="rId24"/>
    <p:sldId id="815" r:id="rId25"/>
    <p:sldId id="816" r:id="rId26"/>
    <p:sldId id="817" r:id="rId27"/>
    <p:sldId id="818" r:id="rId28"/>
    <p:sldId id="819" r:id="rId29"/>
    <p:sldId id="820" r:id="rId30"/>
    <p:sldId id="832" r:id="rId31"/>
    <p:sldId id="821" r:id="rId32"/>
    <p:sldId id="823" r:id="rId33"/>
    <p:sldId id="824" r:id="rId34"/>
    <p:sldId id="825" r:id="rId35"/>
    <p:sldId id="826" r:id="rId36"/>
    <p:sldId id="827" r:id="rId37"/>
    <p:sldId id="828" r:id="rId38"/>
    <p:sldId id="829" r:id="rId39"/>
    <p:sldId id="830" r:id="rId40"/>
    <p:sldId id="831" r:id="rId41"/>
    <p:sldId id="834" r:id="rId42"/>
    <p:sldId id="833" r:id="rId43"/>
    <p:sldId id="835" r:id="rId44"/>
    <p:sldId id="836" r:id="rId45"/>
    <p:sldId id="837" r:id="rId46"/>
    <p:sldId id="838" r:id="rId47"/>
    <p:sldId id="839" r:id="rId48"/>
    <p:sldId id="840" r:id="rId49"/>
    <p:sldId id="841" r:id="rId50"/>
    <p:sldId id="842" r:id="rId51"/>
    <p:sldId id="843" r:id="rId52"/>
    <p:sldId id="844" r:id="rId53"/>
    <p:sldId id="845" r:id="rId54"/>
    <p:sldId id="846" r:id="rId55"/>
    <p:sldId id="847" r:id="rId56"/>
    <p:sldId id="848" r:id="rId57"/>
    <p:sldId id="849" r:id="rId58"/>
    <p:sldId id="851" r:id="rId59"/>
    <p:sldId id="850" r:id="rId60"/>
    <p:sldId id="852" r:id="rId61"/>
    <p:sldId id="853" r:id="rId62"/>
    <p:sldId id="855" r:id="rId63"/>
    <p:sldId id="854" r:id="rId64"/>
    <p:sldId id="856" r:id="rId65"/>
    <p:sldId id="857" r:id="rId66"/>
    <p:sldId id="858" r:id="rId67"/>
    <p:sldId id="875" r:id="rId68"/>
    <p:sldId id="876" r:id="rId69"/>
    <p:sldId id="877" r:id="rId70"/>
    <p:sldId id="878" r:id="rId71"/>
    <p:sldId id="859" r:id="rId72"/>
    <p:sldId id="860" r:id="rId73"/>
    <p:sldId id="861" r:id="rId74"/>
    <p:sldId id="862" r:id="rId75"/>
    <p:sldId id="863" r:id="rId76"/>
    <p:sldId id="865" r:id="rId77"/>
    <p:sldId id="864" r:id="rId78"/>
    <p:sldId id="866" r:id="rId79"/>
    <p:sldId id="867" r:id="rId80"/>
    <p:sldId id="868" r:id="rId81"/>
    <p:sldId id="869" r:id="rId82"/>
    <p:sldId id="870" r:id="rId83"/>
    <p:sldId id="871" r:id="rId84"/>
    <p:sldId id="872" r:id="rId85"/>
    <p:sldId id="873" r:id="rId86"/>
    <p:sldId id="874" r:id="rId87"/>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FFFF"/>
    <a:srgbClr val="CCCCFF"/>
    <a:srgbClr val="FFFF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0295" autoAdjust="0"/>
  </p:normalViewPr>
  <p:slideViewPr>
    <p:cSldViewPr showGuides="1">
      <p:cViewPr varScale="1">
        <p:scale>
          <a:sx n="129" d="100"/>
          <a:sy n="129" d="100"/>
        </p:scale>
        <p:origin x="1210" y="91"/>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11994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48731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03927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71389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4950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88366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60233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827094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1148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2025/3/31</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2025/3/31</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2025/3/31</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2025/3/31</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p:cover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cover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2025/3/31</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79" r:id="rId5"/>
    <p:sldLayoutId id="2147483668" r:id="rId6"/>
    <p:sldLayoutId id="2147483669" r:id="rId7"/>
    <p:sldLayoutId id="2147483680" r:id="rId8"/>
    <p:sldLayoutId id="2147483670" r:id="rId9"/>
    <p:sldLayoutId id="2147483671" r:id="rId10"/>
    <p:sldLayoutId id="2147483672" r:id="rId11"/>
    <p:sldLayoutId id="2147483673" r:id="rId12"/>
    <p:sldLayoutId id="2147483674" r:id="rId13"/>
    <p:sldLayoutId id="2147483675" r:id="rId14"/>
    <p:sldLayoutId id="2147483676" r:id="rId15"/>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image" Target="../media/image34.emf"/><Relationship Id="rId4" Type="http://schemas.openxmlformats.org/officeDocument/2006/relationships/image" Target="../media/image33.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emf"/><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image" Target="../media/image43.e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8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image" Target="../media/image46.emf"/><Relationship Id="rId7" Type="http://schemas.openxmlformats.org/officeDocument/2006/relationships/image" Target="../media/image50.emf"/><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49.emf"/><Relationship Id="rId5" Type="http://schemas.openxmlformats.org/officeDocument/2006/relationships/image" Target="../media/image48.emf"/><Relationship Id="rId10" Type="http://schemas.openxmlformats.org/officeDocument/2006/relationships/image" Target="../media/image53.emf"/><Relationship Id="rId4" Type="http://schemas.openxmlformats.org/officeDocument/2006/relationships/image" Target="../media/image47.emf"/><Relationship Id="rId9" Type="http://schemas.openxmlformats.org/officeDocument/2006/relationships/image" Target="../media/image52.emf"/></Relationships>
</file>

<file path=ppt/slides/_rels/slide8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21704;&#22827;&#26364;&#32534;&#30721;&#23454;&#29616;&#38142;&#25602;.txt" TargetMode="External"/><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image" Target="../media/image84.png"/><Relationship Id="rId7" Type="http://schemas.openxmlformats.org/officeDocument/2006/relationships/image" Target="../media/image56.emf"/><Relationship Id="rId1" Type="http://schemas.openxmlformats.org/officeDocument/2006/relationships/slideLayout" Target="../slideLayouts/slideLayout2.xml"/><Relationship Id="rId6" Type="http://schemas.openxmlformats.org/officeDocument/2006/relationships/image" Target="../media/image55.emf"/><Relationship Id="rId5" Type="http://schemas.openxmlformats.org/officeDocument/2006/relationships/image" Target="../media/image54.e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树和二叉树</a:t>
            </a:r>
          </a:p>
        </p:txBody>
      </p:sp>
      <p:sp>
        <p:nvSpPr>
          <p:cNvPr id="5" name="文本占位符 4"/>
          <p:cNvSpPr>
            <a:spLocks noGrp="1"/>
          </p:cNvSpPr>
          <p:nvPr>
            <p:ph type="body" sz="quarter" idx="13"/>
          </p:nvPr>
        </p:nvSpPr>
        <p:spPr/>
        <p:txBody>
          <a:bodyPr/>
          <a:lstStyle/>
          <a:p>
            <a:r>
              <a:rPr lang="en-US" altLang="zh-CN" dirty="0">
                <a:solidFill>
                  <a:srgbClr val="7030A0"/>
                </a:solidFill>
              </a:rPr>
              <a:t>6</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755576" y="699542"/>
            <a:ext cx="7776864" cy="4176464"/>
          </a:xfrm>
        </p:spPr>
        <p:txBody>
          <a:bodyPr/>
          <a:lstStyle/>
          <a:p>
            <a:pPr marL="0" indent="0" algn="just">
              <a:buNone/>
            </a:pPr>
            <a:r>
              <a:rPr lang="zh-CN" altLang="zh-CN" sz="1600" dirty="0"/>
              <a:t>树结构是一类重要的非线性结构，树型结构是结点之间有分支，并且具有明显的层次关系的结构，它非常类似于自然界中的树。树结构在客观世界是大量存在，例如行政组织机构和人类社会的家谱都可用树来形象表示。</a:t>
            </a:r>
            <a:endParaRPr lang="en-US" altLang="zh-CN" sz="1600" dirty="0"/>
          </a:p>
          <a:p>
            <a:pPr marL="0" indent="0" algn="just">
              <a:buNone/>
            </a:pPr>
            <a:endParaRPr lang="en-US" altLang="zh-CN" sz="1600" dirty="0"/>
          </a:p>
          <a:p>
            <a:pPr marL="0" indent="0" algn="just">
              <a:buNone/>
            </a:pPr>
            <a:r>
              <a:rPr lang="zh-CN" altLang="zh-CN" sz="1600" dirty="0"/>
              <a:t>树在计算机领域中也有着广泛的应用，例如，在数据库系统中，可用树来组织信息；在编译程序中，可用树来表示源程序的语法结构；在分析算法的行为时，可用树来描述其执行过程等等。</a:t>
            </a:r>
          </a:p>
        </p:txBody>
      </p:sp>
      <p:sp>
        <p:nvSpPr>
          <p:cNvPr id="4" name="文本框 3"/>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树结构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树</a:t>
            </a:r>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0231823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467544" y="915565"/>
                <a:ext cx="8208912" cy="4010597"/>
              </a:xfrm>
            </p:spPr>
            <p:txBody>
              <a:bodyPr/>
              <a:lstStyle/>
              <a:p>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树是</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个结点的有限集</a:t>
                </a:r>
                <a14:m>
                  <m:oMath xmlns:m="http://schemas.openxmlformats.org/officeDocument/2006/math">
                    <m:r>
                      <a:rPr lang="en-US" altLang="zh-CN" sz="1600" i="1">
                        <a:latin typeface="Cambria Math" panose="02040503050406030204" pitchFamily="18" charset="0"/>
                      </a:rPr>
                      <m:t>𝑇</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𝑇</m:t>
                    </m:r>
                  </m:oMath>
                </a14:m>
                <a:r>
                  <a:rPr lang="zh-CN" altLang="zh-CN" sz="1600" dirty="0">
                    <a:latin typeface="Times New Roman" panose="02020603050405020304" pitchFamily="18" charset="0"/>
                    <a:cs typeface="Times New Roman" panose="02020603050405020304" pitchFamily="18" charset="0"/>
                  </a:rPr>
                  <a:t>或为空树</a:t>
                </a:r>
                <a14:m>
                  <m:oMath xmlns:m="http://schemas.openxmlformats.org/officeDocument/2006/math">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，或为满足如下两个条件的树：</a:t>
                </a:r>
              </a:p>
              <a:p>
                <a:pPr marL="342900" lvl="1" indent="0">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）有且仅有一个特定的称为根的结点；</a:t>
                </a:r>
              </a:p>
              <a:p>
                <a:pPr marL="342900" lvl="1" indent="0">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）其余的结点可分为</a:t>
                </a:r>
                <a14:m>
                  <m:oMath xmlns:m="http://schemas.openxmlformats.org/officeDocument/2006/math">
                    <m:r>
                      <a:rPr lang="en-US" altLang="zh-CN" sz="1600" i="1">
                        <a:latin typeface="Cambria Math" panose="02040503050406030204" pitchFamily="18" charset="0"/>
                      </a:rPr>
                      <m:t>𝑚</m:t>
                    </m:r>
                    <m:r>
                      <a:rPr lang="en-US" altLang="zh-CN" sz="1600" i="1">
                        <a:latin typeface="Cambria Math" panose="02040503050406030204" pitchFamily="18" charset="0"/>
                      </a:rPr>
                      <m:t>(</m:t>
                    </m:r>
                    <m:r>
                      <a:rPr lang="en-US" altLang="zh-CN" sz="1600" i="1">
                        <a:latin typeface="Cambria Math" panose="02040503050406030204" pitchFamily="18" charset="0"/>
                      </a:rPr>
                      <m:t>𝑚</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个互不相交的子集</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𝑚</m:t>
                        </m:r>
                      </m:sub>
                    </m:sSub>
                  </m:oMath>
                </a14:m>
                <a:r>
                  <a:rPr lang="zh-CN" altLang="zh-CN" sz="1600" dirty="0">
                    <a:latin typeface="Times New Roman" panose="02020603050405020304" pitchFamily="18" charset="0"/>
                    <a:cs typeface="Times New Roman" panose="02020603050405020304" pitchFamily="18" charset="0"/>
                  </a:rPr>
                  <a:t>，其中每个子集本身又是一棵树，并称其为根的子树。</a:t>
                </a:r>
                <a:endParaRPr lang="en-US" altLang="zh-CN" sz="1600" dirty="0">
                  <a:latin typeface="Times New Roman" panose="02020603050405020304" pitchFamily="18" charset="0"/>
                  <a:cs typeface="Times New Roman" panose="02020603050405020304" pitchFamily="18" charset="0"/>
                </a:endParaRPr>
              </a:p>
              <a:p>
                <a:pPr marL="342900" lvl="1" indent="0">
                  <a:buNone/>
                </a:pPr>
                <a:endParaRPr lang="en-US" altLang="zh-CN" sz="1600" dirty="0">
                  <a:latin typeface="Times New Roman" panose="02020603050405020304" pitchFamily="18" charset="0"/>
                  <a:cs typeface="Times New Roman" panose="02020603050405020304" pitchFamily="18" charset="0"/>
                </a:endParaRPr>
              </a:p>
              <a:p>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树是一种递归结构，在树的定义中又用到了树的概念。</a:t>
                </a:r>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467544" y="915565"/>
                <a:ext cx="8208912" cy="4010597"/>
              </a:xfrm>
              <a:blipFill>
                <a:blip r:embed="rId3"/>
                <a:stretch>
                  <a:fillRect l="-594" r="-223"/>
                </a:stretch>
              </a:blipFill>
            </p:spPr>
            <p:txBody>
              <a:bodyPr/>
              <a:lstStyle/>
              <a:p>
                <a:r>
                  <a:rPr lang="zh-CN" altLang="en-US">
                    <a:noFill/>
                  </a:rPr>
                  <a:t> </a:t>
                </a:r>
              </a:p>
            </p:txBody>
          </p:sp>
        </mc:Fallback>
      </mc:AlternateContent>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树的定义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467544" y="915566"/>
                <a:ext cx="8208912" cy="1512168"/>
              </a:xfrm>
            </p:spPr>
            <p:txBody>
              <a:bodyPr/>
              <a:lstStyle/>
              <a:p>
                <a:pPr marL="0" indent="0">
                  <a:lnSpc>
                    <a:spcPct val="100000"/>
                  </a:lnSpc>
                  <a:buNone/>
                </a:pPr>
                <a:r>
                  <a:rPr lang="zh-CN" altLang="en-US" sz="1600" dirty="0">
                    <a:latin typeface="Times New Roman" panose="02020603050405020304" pitchFamily="18" charset="0"/>
                    <a:cs typeface="Times New Roman" panose="02020603050405020304" pitchFamily="18" charset="0"/>
                  </a:rPr>
                  <a:t>例如：</a:t>
                </a:r>
                <a:endParaRPr lang="en-US" altLang="zh-CN" sz="1600" dirty="0">
                  <a:latin typeface="Times New Roman" panose="02020603050405020304" pitchFamily="18" charset="0"/>
                  <a:cs typeface="Times New Roman" panose="02020603050405020304" pitchFamily="18" charset="0"/>
                </a:endParaRPr>
              </a:p>
              <a:p>
                <a:pPr marL="0" indent="0">
                  <a:lnSpc>
                    <a:spcPct val="100000"/>
                  </a:lnSpc>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）是空树；</a:t>
                </a:r>
                <a:endParaRPr lang="en-US" altLang="zh-CN" sz="1600" dirty="0">
                  <a:latin typeface="Times New Roman" panose="02020603050405020304" pitchFamily="18" charset="0"/>
                  <a:cs typeface="Times New Roman" panose="02020603050405020304" pitchFamily="18" charset="0"/>
                </a:endParaRPr>
              </a:p>
              <a:p>
                <a:pPr marL="0" indent="0">
                  <a:lnSpc>
                    <a:spcPct val="100000"/>
                  </a:lnSpc>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）是只有一个根结点的树；</a:t>
                </a:r>
                <a:endParaRPr lang="en-US" altLang="zh-CN" sz="1600" dirty="0">
                  <a:latin typeface="Times New Roman" panose="02020603050405020304" pitchFamily="18" charset="0"/>
                  <a:cs typeface="Times New Roman" panose="02020603050405020304" pitchFamily="18" charset="0"/>
                </a:endParaRPr>
              </a:p>
              <a:p>
                <a:pPr marL="0" indent="0">
                  <a:lnSpc>
                    <a:spcPct val="100000"/>
                  </a:lnSpc>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）是有</a:t>
                </a:r>
                <a:r>
                  <a:rPr lang="en-US" altLang="zh-CN" sz="1600" dirty="0">
                    <a:latin typeface="Times New Roman" panose="02020603050405020304" pitchFamily="18" charset="0"/>
                    <a:cs typeface="Times New Roman" panose="02020603050405020304" pitchFamily="18" charset="0"/>
                  </a:rPr>
                  <a:t>11</a:t>
                </a:r>
                <a:r>
                  <a:rPr lang="zh-CN" altLang="zh-CN" sz="1600" dirty="0">
                    <a:latin typeface="Times New Roman" panose="02020603050405020304" pitchFamily="18" charset="0"/>
                    <a:cs typeface="Times New Roman" panose="02020603050405020304" pitchFamily="18" charset="0"/>
                  </a:rPr>
                  <a:t>个结点的树，其中</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是树根，其余结点分成</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个互不相交的子集：</a:t>
                </a:r>
                <a:endParaRPr lang="en-US" altLang="zh-CN" sz="1600" dirty="0">
                  <a:latin typeface="Times New Roman" panose="02020603050405020304" pitchFamily="18" charset="0"/>
                  <a:cs typeface="Times New Roman" panose="02020603050405020304" pitchFamily="18" charset="0"/>
                </a:endParaRPr>
              </a:p>
              <a:p>
                <a:pPr marL="0" indent="0">
                  <a:lnSpc>
                    <a:spcPct val="100000"/>
                  </a:lnSpc>
                  <a:buNone/>
                </a:pPr>
                <a14:m>
                  <m:oMath xmlns:m="http://schemas.openxmlformats.org/officeDocument/2006/math">
                    <m:r>
                      <a:rPr lang="en-US" altLang="zh-CN" sz="1600">
                        <a:solidFill>
                          <a:srgbClr val="FF0000"/>
                        </a:solidFill>
                        <a:latin typeface="Cambria Math" panose="02040503050406030204" pitchFamily="18" charset="0"/>
                      </a:rPr>
                      <m:t>     </m:t>
                    </m:r>
                    <m:sSub>
                      <m:sSubPr>
                        <m:ctrlPr>
                          <a:rPr lang="zh-CN" altLang="zh-CN" sz="1600" i="1">
                            <a:solidFill>
                              <a:srgbClr val="FF0000"/>
                            </a:solidFill>
                            <a:latin typeface="Cambria Math" panose="02040503050406030204" pitchFamily="18" charset="0"/>
                          </a:rPr>
                        </m:ctrlPr>
                      </m:sSubPr>
                      <m:e>
                        <m:r>
                          <a:rPr lang="en-US" altLang="zh-CN" sz="1600" i="1">
                            <a:solidFill>
                              <a:srgbClr val="FF0000"/>
                            </a:solidFill>
                            <a:latin typeface="Cambria Math" panose="02040503050406030204" pitchFamily="18" charset="0"/>
                          </a:rPr>
                          <m:t>𝑇</m:t>
                        </m:r>
                      </m:e>
                      <m:sub>
                        <m:r>
                          <a:rPr lang="en-US" altLang="zh-CN" sz="1600" i="1">
                            <a:solidFill>
                              <a:srgbClr val="FF0000"/>
                            </a:solidFill>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𝐵</m:t>
                    </m:r>
                    <m:r>
                      <a:rPr lang="en-US" altLang="zh-CN" sz="1600" i="1">
                        <a:latin typeface="Cambria Math" panose="02040503050406030204" pitchFamily="18" charset="0"/>
                      </a:rPr>
                      <m:t>,</m:t>
                    </m:r>
                    <m:r>
                      <a:rPr lang="en-US" altLang="zh-CN" sz="1600" i="1">
                        <a:latin typeface="Cambria Math" panose="02040503050406030204" pitchFamily="18" charset="0"/>
                      </a:rPr>
                      <m:t>𝐸</m:t>
                    </m:r>
                    <m:r>
                      <a:rPr lang="en-US" altLang="zh-CN" sz="1600" i="1">
                        <a:latin typeface="Cambria Math" panose="02040503050406030204" pitchFamily="18" charset="0"/>
                      </a:rPr>
                      <m:t>,</m:t>
                    </m:r>
                    <m:r>
                      <a:rPr lang="en-US" altLang="zh-CN" sz="1600" i="1">
                        <a:latin typeface="Cambria Math" panose="02040503050406030204" pitchFamily="18" charset="0"/>
                      </a:rPr>
                      <m:t>𝐹</m:t>
                    </m:r>
                    <m:r>
                      <a:rPr lang="en-US" altLang="zh-CN" sz="1600" i="1">
                        <a:latin typeface="Cambria Math" panose="02040503050406030204" pitchFamily="18" charset="0"/>
                      </a:rPr>
                      <m:t>}</m:t>
                    </m:r>
                  </m:oMath>
                </a14:m>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nSpc>
                    <a:spcPct val="100000"/>
                  </a:lnSpc>
                  <a:buNone/>
                </a:pPr>
                <a14:m>
                  <m:oMath xmlns:m="http://schemas.openxmlformats.org/officeDocument/2006/math">
                    <m:sSub>
                      <m:sSubPr>
                        <m:ctrlPr>
                          <a:rPr lang="zh-CN" altLang="zh-CN" sz="1600" i="1">
                            <a:solidFill>
                              <a:srgbClr val="0070C0"/>
                            </a:solidFill>
                            <a:latin typeface="Cambria Math" panose="02040503050406030204" pitchFamily="18" charset="0"/>
                          </a:rPr>
                        </m:ctrlPr>
                      </m:sSubPr>
                      <m:e>
                        <m:r>
                          <a:rPr lang="en-US" altLang="zh-CN" sz="1600" i="1">
                            <a:solidFill>
                              <a:srgbClr val="0070C0"/>
                            </a:solidFill>
                            <a:latin typeface="Cambria Math" panose="02040503050406030204" pitchFamily="18" charset="0"/>
                          </a:rPr>
                          <m:t>      </m:t>
                        </m:r>
                        <m:r>
                          <a:rPr lang="en-US" altLang="zh-CN" sz="1600" i="1">
                            <a:solidFill>
                              <a:srgbClr val="0070C0"/>
                            </a:solidFill>
                            <a:latin typeface="Cambria Math" panose="02040503050406030204" pitchFamily="18" charset="0"/>
                          </a:rPr>
                          <m:t>𝑇</m:t>
                        </m:r>
                      </m:e>
                      <m:sub>
                        <m:r>
                          <a:rPr lang="en-US" altLang="zh-CN" sz="1600" i="1">
                            <a:solidFill>
                              <a:srgbClr val="0070C0"/>
                            </a:solidFill>
                            <a:latin typeface="Cambria Math" panose="02040503050406030204" pitchFamily="18" charset="0"/>
                          </a:rPr>
                          <m:t>2</m:t>
                        </m:r>
                      </m:sub>
                    </m:sSub>
                    <m:r>
                      <a:rPr lang="en-US" altLang="zh-CN" sz="1600" i="1">
                        <a:latin typeface="Cambria Math" panose="02040503050406030204" pitchFamily="18" charset="0"/>
                      </a:rPr>
                      <m:t>={</m:t>
                    </m:r>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𝐺</m:t>
                    </m:r>
                    <m:r>
                      <a:rPr lang="en-US" altLang="zh-CN" sz="1600" i="1">
                        <a:latin typeface="Cambria Math" panose="02040503050406030204" pitchFamily="18" charset="0"/>
                      </a:rPr>
                      <m:t>}</m:t>
                    </m:r>
                  </m:oMath>
                </a14:m>
                <a:r>
                  <a:rPr lang="zh-CN" altLang="en-US" sz="1600" i="1" dirty="0">
                    <a:solidFill>
                      <a:srgbClr val="7030A0"/>
                    </a:solidFill>
                    <a:latin typeface="Times New Roman" panose="02020603050405020304" pitchFamily="18" charset="0"/>
                    <a:cs typeface="Times New Roman" panose="02020603050405020304" pitchFamily="18" charset="0"/>
                  </a:rPr>
                  <a:t>；</a:t>
                </a:r>
                <a:endParaRPr lang="en-US" altLang="zh-CN" sz="1600" i="1" dirty="0">
                  <a:solidFill>
                    <a:srgbClr val="7030A0"/>
                  </a:solidFill>
                  <a:latin typeface="Times New Roman" panose="02020603050405020304" pitchFamily="18" charset="0"/>
                  <a:cs typeface="Times New Roman" panose="02020603050405020304" pitchFamily="18" charset="0"/>
                </a:endParaRPr>
              </a:p>
              <a:p>
                <a:pPr marL="0" indent="0">
                  <a:lnSpc>
                    <a:spcPct val="100000"/>
                  </a:lnSpc>
                  <a:buNone/>
                </a:pPr>
                <a14:m>
                  <m:oMath xmlns:m="http://schemas.openxmlformats.org/officeDocument/2006/math">
                    <m:r>
                      <a:rPr lang="en-US" altLang="zh-CN" sz="1600" i="1">
                        <a:solidFill>
                          <a:srgbClr val="7030A0"/>
                        </a:solidFill>
                        <a:latin typeface="Cambria Math" panose="02040503050406030204" pitchFamily="18" charset="0"/>
                      </a:rPr>
                      <m:t>     </m:t>
                    </m:r>
                    <m:sSub>
                      <m:sSubPr>
                        <m:ctrlPr>
                          <a:rPr lang="zh-CN" altLang="zh-CN" sz="1600" i="1">
                            <a:solidFill>
                              <a:srgbClr val="7030A0"/>
                            </a:solidFill>
                            <a:latin typeface="Cambria Math" panose="02040503050406030204" pitchFamily="18" charset="0"/>
                          </a:rPr>
                        </m:ctrlPr>
                      </m:sSubPr>
                      <m:e>
                        <m:r>
                          <a:rPr lang="en-US" altLang="zh-CN" sz="1600" i="1">
                            <a:solidFill>
                              <a:srgbClr val="7030A0"/>
                            </a:solidFill>
                            <a:latin typeface="Cambria Math" panose="02040503050406030204" pitchFamily="18" charset="0"/>
                          </a:rPr>
                          <m:t>𝑇</m:t>
                        </m:r>
                      </m:e>
                      <m:sub>
                        <m:r>
                          <a:rPr lang="en-US" altLang="zh-CN" sz="1600" i="1">
                            <a:solidFill>
                              <a:srgbClr val="7030A0"/>
                            </a:solidFill>
                            <a:latin typeface="Cambria Math" panose="02040503050406030204" pitchFamily="18" charset="0"/>
                          </a:rPr>
                          <m:t>3</m:t>
                        </m:r>
                      </m:sub>
                    </m:sSub>
                    <m:r>
                      <a:rPr lang="en-US" altLang="zh-CN" sz="1600" i="1">
                        <a:latin typeface="Cambria Math" panose="02040503050406030204" pitchFamily="18" charset="0"/>
                      </a:rPr>
                      <m:t>={</m:t>
                    </m:r>
                    <m:r>
                      <a:rPr lang="en-US" altLang="zh-CN" sz="1600" i="1">
                        <a:latin typeface="Cambria Math" panose="02040503050406030204" pitchFamily="18" charset="0"/>
                      </a:rPr>
                      <m:t>𝐷</m:t>
                    </m:r>
                    <m:r>
                      <a:rPr lang="en-US" altLang="zh-CN" sz="1600" i="1">
                        <a:latin typeface="Cambria Math" panose="02040503050406030204" pitchFamily="18" charset="0"/>
                      </a:rPr>
                      <m:t>,</m:t>
                    </m:r>
                    <m:r>
                      <a:rPr lang="en-US" altLang="zh-CN" sz="1600" i="1">
                        <a:latin typeface="Cambria Math" panose="02040503050406030204" pitchFamily="18" charset="0"/>
                      </a:rPr>
                      <m:t>𝐻</m:t>
                    </m:r>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r>
                      <a:rPr lang="en-US" altLang="zh-CN" sz="1600" i="1">
                        <a:latin typeface="Cambria Math" panose="02040503050406030204" pitchFamily="18" charset="0"/>
                      </a:rPr>
                      <m:t>𝐽</m:t>
                    </m:r>
                    <m:r>
                      <a:rPr lang="en-US" altLang="zh-CN" sz="1600" i="1">
                        <a:latin typeface="Cambria Math" panose="02040503050406030204" pitchFamily="18" charset="0"/>
                      </a:rPr>
                      <m:t>,</m:t>
                    </m:r>
                    <m:r>
                      <a:rPr lang="en-US" altLang="zh-CN" sz="1600" i="1">
                        <a:latin typeface="Cambria Math" panose="02040503050406030204" pitchFamily="18" charset="0"/>
                      </a:rPr>
                      <m:t>𝐾</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nSpc>
                    <a:spcPct val="100000"/>
                  </a:lnSpc>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1</m:t>
                        </m:r>
                      </m:sub>
                    </m:sSub>
                    <m:sSub>
                      <m:sSubPr>
                        <m:ctrlPr>
                          <a:rPr lang="zh-CN" altLang="zh-CN" sz="1600" i="1">
                            <a:latin typeface="Cambria Math" panose="02040503050406030204" pitchFamily="18" charset="0"/>
                          </a:rPr>
                        </m:ctrlPr>
                      </m:sSubPr>
                      <m:e>
                        <m:r>
                          <a:rPr lang="zh-CN" altLang="zh-CN" sz="1600" i="1">
                            <a:latin typeface="Cambria Math" panose="02040503050406030204" pitchFamily="18" charset="0"/>
                          </a:rPr>
                          <m:t>，</m:t>
                        </m:r>
                        <m:r>
                          <a:rPr lang="en-US" altLang="zh-CN" sz="1600" i="1">
                            <a:latin typeface="Cambria Math" panose="02040503050406030204" pitchFamily="18" charset="0"/>
                          </a:rPr>
                          <m:t>𝑇</m:t>
                        </m:r>
                      </m:e>
                      <m:sub>
                        <m:r>
                          <a:rPr lang="en-US" altLang="zh-CN" sz="1600" i="1">
                            <a:latin typeface="Cambria Math" panose="02040503050406030204" pitchFamily="18" charset="0"/>
                          </a:rPr>
                          <m:t>2</m:t>
                        </m:r>
                      </m:sub>
                    </m:sSub>
                    <m:r>
                      <a:rPr lang="zh-CN"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m:t>
                        </m:r>
                      </m:sub>
                    </m:sSub>
                  </m:oMath>
                </a14:m>
                <a:r>
                  <a:rPr lang="zh-CN" altLang="zh-CN" sz="1600" dirty="0">
                    <a:latin typeface="Times New Roman" panose="02020603050405020304" pitchFamily="18" charset="0"/>
                    <a:cs typeface="Times New Roman" panose="02020603050405020304" pitchFamily="18" charset="0"/>
                  </a:rPr>
                  <a:t>均是根</a:t>
                </a:r>
                <a14:m>
                  <m:oMath xmlns:m="http://schemas.openxmlformats.org/officeDocument/2006/math">
                    <m:r>
                      <a:rPr lang="en-U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的子树，且本身均是一棵树。对于</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m:t>
                        </m:r>
                      </m:sub>
                    </m:sSub>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为其根，其余结点又分成</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个互不相交的子集：</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31</m:t>
                        </m:r>
                      </m:sub>
                    </m:sSub>
                    <m:r>
                      <a:rPr lang="en-US" altLang="zh-CN" sz="1600" i="1">
                        <a:latin typeface="Cambria Math" panose="02040503050406030204" pitchFamily="18" charset="0"/>
                      </a:rPr>
                      <m:t>={</m:t>
                    </m:r>
                    <m:r>
                      <a:rPr lang="en-US" altLang="zh-CN" sz="1600" i="1">
                        <a:latin typeface="Cambria Math" panose="02040503050406030204" pitchFamily="18" charset="0"/>
                      </a:rPr>
                      <m:t>𝐻</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32</m:t>
                        </m:r>
                      </m:sub>
                    </m:sSub>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33</m:t>
                        </m:r>
                      </m:sub>
                    </m:sSub>
                    <m:r>
                      <a:rPr lang="en-US" altLang="zh-CN" sz="1600" i="1">
                        <a:latin typeface="Cambria Math" panose="02040503050406030204" pitchFamily="18" charset="0"/>
                      </a:rPr>
                      <m:t>={</m:t>
                    </m:r>
                    <m:r>
                      <a:rPr lang="en-US" altLang="zh-CN" sz="1600" i="1">
                        <a:latin typeface="Cambria Math" panose="02040503050406030204" pitchFamily="18" charset="0"/>
                      </a:rPr>
                      <m:t>𝐽</m:t>
                    </m:r>
                    <m:r>
                      <a:rPr lang="en-US" altLang="zh-CN" sz="1600" i="1">
                        <a:latin typeface="Cambria Math" panose="02040503050406030204" pitchFamily="18" charset="0"/>
                      </a:rPr>
                      <m:t>,</m:t>
                    </m:r>
                    <m:r>
                      <a:rPr lang="en-US" altLang="zh-CN" sz="1600" i="1">
                        <a:latin typeface="Cambria Math" panose="02040503050406030204" pitchFamily="18" charset="0"/>
                      </a:rPr>
                      <m:t>𝐾</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31</m:t>
                        </m:r>
                      </m:sub>
                    </m:sSub>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32</m:t>
                        </m:r>
                      </m:sub>
                    </m:sSub>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33</m:t>
                        </m:r>
                      </m:sub>
                    </m:sSub>
                  </m:oMath>
                </a14:m>
                <a:r>
                  <a:rPr lang="zh-CN" altLang="zh-CN" sz="1600" dirty="0">
                    <a:latin typeface="Times New Roman" panose="02020603050405020304" pitchFamily="18" charset="0"/>
                    <a:cs typeface="Times New Roman" panose="02020603050405020304" pitchFamily="18" charset="0"/>
                  </a:rPr>
                  <a:t>均为</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的子树，</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31</m:t>
                        </m:r>
                      </m:sub>
                    </m:sSub>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32</m:t>
                        </m:r>
                      </m:sub>
                    </m:sSub>
                  </m:oMath>
                </a14:m>
                <a:r>
                  <a:rPr lang="zh-CN" altLang="zh-CN" sz="1600" dirty="0">
                    <a:latin typeface="Times New Roman" panose="02020603050405020304" pitchFamily="18" charset="0"/>
                    <a:cs typeface="Times New Roman" panose="02020603050405020304" pitchFamily="18" charset="0"/>
                  </a:rPr>
                  <a:t>是只有一个根结点的树。而</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𝑇</m:t>
                        </m:r>
                      </m:e>
                      <m:sub>
                        <m:r>
                          <a:rPr lang="en-US" altLang="zh-CN" sz="1600" i="1">
                            <a:latin typeface="Cambria Math" panose="02040503050406030204" pitchFamily="18" charset="0"/>
                          </a:rPr>
                          <m:t>33</m:t>
                        </m:r>
                      </m:sub>
                    </m:sSub>
                  </m:oMath>
                </a14:m>
                <a:r>
                  <a:rPr lang="zh-CN" altLang="zh-CN" sz="1600" dirty="0">
                    <a:latin typeface="Times New Roman" panose="02020603050405020304" pitchFamily="18" charset="0"/>
                    <a:cs typeface="Times New Roman" panose="02020603050405020304" pitchFamily="18" charset="0"/>
                  </a:rPr>
                  <a:t>中，</a:t>
                </a:r>
                <a14:m>
                  <m:oMath xmlns:m="http://schemas.openxmlformats.org/officeDocument/2006/math">
                    <m:r>
                      <a:rPr lang="en-US" altLang="zh-CN" sz="1600" i="1">
                        <a:latin typeface="Cambria Math" panose="02040503050406030204" pitchFamily="18" charset="0"/>
                      </a:rPr>
                      <m:t>𝐽</m:t>
                    </m:r>
                    <m:r>
                      <a:rPr lang="zh-CN" altLang="zh-CN" sz="1600">
                        <a:latin typeface="Cambria Math" panose="02040503050406030204" pitchFamily="18" charset="0"/>
                      </a:rPr>
                      <m:t>是根</m:t>
                    </m:r>
                    <m:r>
                      <a:rPr lang="zh-CN" altLang="zh-CN" sz="1600" i="1">
                        <a:latin typeface="Cambria Math" panose="02040503050406030204" pitchFamily="18" charset="0"/>
                      </a:rPr>
                      <m:t>，</m:t>
                    </m:r>
                    <m:r>
                      <a:rPr lang="en-US" altLang="zh-CN" sz="1600" i="1">
                        <a:latin typeface="Cambria Math" panose="02040503050406030204" pitchFamily="18" charset="0"/>
                      </a:rPr>
                      <m:t>{</m:t>
                    </m:r>
                    <m:r>
                      <a:rPr lang="en-US" altLang="zh-CN" sz="1600" i="1">
                        <a:latin typeface="Cambria Math" panose="02040503050406030204" pitchFamily="18" charset="0"/>
                      </a:rPr>
                      <m:t>𝐾</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是</a:t>
                </a:r>
                <a14:m>
                  <m:oMath xmlns:m="http://schemas.openxmlformats.org/officeDocument/2006/math">
                    <m:r>
                      <a:rPr lang="en-US" altLang="zh-CN" sz="1600" i="1">
                        <a:latin typeface="Cambria Math" panose="02040503050406030204" pitchFamily="18" charset="0"/>
                      </a:rPr>
                      <m:t>𝐽</m:t>
                    </m:r>
                  </m:oMath>
                </a14:m>
                <a:r>
                  <a:rPr lang="zh-CN" altLang="zh-CN" sz="1600" dirty="0">
                    <a:latin typeface="Times New Roman" panose="02020603050405020304" pitchFamily="18" charset="0"/>
                    <a:cs typeface="Times New Roman" panose="02020603050405020304" pitchFamily="18" charset="0"/>
                  </a:rPr>
                  <a:t>的子树，其本身又是只有一个根结点的树。</a:t>
                </a:r>
              </a:p>
              <a:p>
                <a:endParaRPr lang="zh-CN" altLang="en-US" sz="1600" dirty="0"/>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467544" y="915566"/>
                <a:ext cx="8208912" cy="1512168"/>
              </a:xfrm>
              <a:blipFill>
                <a:blip r:embed="rId4"/>
                <a:stretch>
                  <a:fillRect l="-743" t="-2419" b="-134274"/>
                </a:stretch>
              </a:blipFill>
            </p:spPr>
            <p:txBody>
              <a:bodyPr/>
              <a:lstStyle/>
              <a:p>
                <a:r>
                  <a:rPr lang="zh-CN" altLang="en-US">
                    <a:noFill/>
                  </a:rPr>
                  <a:t> </a:t>
                </a:r>
              </a:p>
            </p:txBody>
          </p:sp>
        </mc:Fallback>
      </mc:AlternateContent>
      <p:graphicFrame>
        <p:nvGraphicFramePr>
          <p:cNvPr id="7" name="对象 6"/>
          <p:cNvGraphicFramePr>
            <a:graphicFrameLocks noChangeAspect="1"/>
          </p:cNvGraphicFramePr>
          <p:nvPr>
            <p:extLst>
              <p:ext uri="{D42A27DB-BD31-4B8C-83A1-F6EECF244321}">
                <p14:modId xmlns:p14="http://schemas.microsoft.com/office/powerpoint/2010/main" val="2975914687"/>
              </p:ext>
            </p:extLst>
          </p:nvPr>
        </p:nvGraphicFramePr>
        <p:xfrm>
          <a:off x="4499992" y="41829"/>
          <a:ext cx="4248472" cy="1908133"/>
        </p:xfrm>
        <a:graphic>
          <a:graphicData uri="http://schemas.openxmlformats.org/presentationml/2006/ole">
            <mc:AlternateContent xmlns:mc="http://schemas.openxmlformats.org/markup-compatibility/2006">
              <mc:Choice xmlns:v="urn:schemas-microsoft-com:vml" Requires="v">
                <p:oleObj name="Visio" r:id="rId5" imgW="3461023" imgH="1557289" progId="Visio.Drawing.11">
                  <p:embed/>
                </p:oleObj>
              </mc:Choice>
              <mc:Fallback>
                <p:oleObj name="Visio" r:id="rId5" imgW="3461023" imgH="1557289" progId="Visio.Drawing.11">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9992" y="41829"/>
                        <a:ext cx="4248472" cy="1908133"/>
                      </a:xfrm>
                      <a:prstGeom prst="rect">
                        <a:avLst/>
                      </a:prstGeom>
                      <a:noFill/>
                      <a:ln>
                        <a:noFill/>
                      </a:ln>
                    </p:spPr>
                  </p:pic>
                </p:oleObj>
              </mc:Fallback>
            </mc:AlternateContent>
          </a:graphicData>
        </a:graphic>
      </p:graphicFrame>
      <p:sp>
        <p:nvSpPr>
          <p:cNvPr id="8" name="椭圆 7"/>
          <p:cNvSpPr/>
          <p:nvPr/>
        </p:nvSpPr>
        <p:spPr>
          <a:xfrm>
            <a:off x="6804248" y="411510"/>
            <a:ext cx="576064" cy="11521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a:cxnSpLocks/>
            <a:endCxn id="8" idx="3"/>
          </p:cNvCxnSpPr>
          <p:nvPr/>
        </p:nvCxnSpPr>
        <p:spPr>
          <a:xfrm flipV="1">
            <a:off x="1907704" y="1394913"/>
            <a:ext cx="4980907" cy="9608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7452320" y="470914"/>
            <a:ext cx="288032" cy="923999"/>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箭头连接符 10"/>
          <p:cNvCxnSpPr>
            <a:cxnSpLocks/>
          </p:cNvCxnSpPr>
          <p:nvPr/>
        </p:nvCxnSpPr>
        <p:spPr>
          <a:xfrm flipV="1">
            <a:off x="1763688" y="1394913"/>
            <a:ext cx="5832648" cy="1320854"/>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7757660" y="470914"/>
            <a:ext cx="1206828" cy="123674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a:cxnSpLocks/>
          </p:cNvCxnSpPr>
          <p:nvPr/>
        </p:nvCxnSpPr>
        <p:spPr>
          <a:xfrm flipV="1">
            <a:off x="2411760" y="1707654"/>
            <a:ext cx="5851191" cy="1368152"/>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树的定义</a:t>
            </a:r>
          </a:p>
        </p:txBody>
      </p:sp>
    </p:spTree>
    <p:extLst>
      <p:ext uri="{BB962C8B-B14F-4D97-AF65-F5344CB8AC3E}">
        <p14:creationId xmlns:p14="http://schemas.microsoft.com/office/powerpoint/2010/main" val="3143751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additive="base">
                                        <p:cTn id="41" dur="500" fill="hold"/>
                                        <p:tgtEl>
                                          <p:spTgt spid="8"/>
                                        </p:tgtEl>
                                        <p:attrNameLst>
                                          <p:attrName>ppt_x</p:attrName>
                                        </p:attrNameLst>
                                      </p:cBhvr>
                                      <p:tavLst>
                                        <p:tav tm="0">
                                          <p:val>
                                            <p:strVal val="#ppt_x"/>
                                          </p:val>
                                        </p:tav>
                                        <p:tav tm="100000">
                                          <p:val>
                                            <p:strVal val="#ppt_x"/>
                                          </p:val>
                                        </p:tav>
                                      </p:tavLst>
                                    </p:anim>
                                    <p:anim calcmode="lin" valueType="num">
                                      <p:cBhvr additive="base">
                                        <p:cTn id="4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animEffect transition="in" filter="fade">
                                      <p:cBhvr>
                                        <p:cTn id="47" dur="1000"/>
                                        <p:tgtEl>
                                          <p:spTgt spid="4">
                                            <p:txEl>
                                              <p:pRg st="5" end="5"/>
                                            </p:txEl>
                                          </p:spTgt>
                                        </p:tgtEl>
                                      </p:cBhvr>
                                    </p:animEffect>
                                    <p:anim calcmode="lin" valueType="num">
                                      <p:cBhvr>
                                        <p:cTn id="4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1000"/>
                                        <p:tgtEl>
                                          <p:spTgt spid="10"/>
                                        </p:tgtEl>
                                      </p:cBhvr>
                                    </p:animEffect>
                                    <p:anim calcmode="lin" valueType="num">
                                      <p:cBhvr>
                                        <p:cTn id="60" dur="1000" fill="hold"/>
                                        <p:tgtEl>
                                          <p:spTgt spid="10"/>
                                        </p:tgtEl>
                                        <p:attrNameLst>
                                          <p:attrName>ppt_x</p:attrName>
                                        </p:attrNameLst>
                                      </p:cBhvr>
                                      <p:tavLst>
                                        <p:tav tm="0">
                                          <p:val>
                                            <p:strVal val="#ppt_x"/>
                                          </p:val>
                                        </p:tav>
                                        <p:tav tm="100000">
                                          <p:val>
                                            <p:strVal val="#ppt_x"/>
                                          </p:val>
                                        </p:tav>
                                      </p:tavLst>
                                    </p:anim>
                                    <p:anim calcmode="lin" valueType="num">
                                      <p:cBhvr>
                                        <p:cTn id="6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4">
                                            <p:txEl>
                                              <p:pRg st="6" end="6"/>
                                            </p:txEl>
                                          </p:spTgt>
                                        </p:tgtEl>
                                        <p:attrNameLst>
                                          <p:attrName>style.visibility</p:attrName>
                                        </p:attrNameLst>
                                      </p:cBhvr>
                                      <p:to>
                                        <p:strVal val="visible"/>
                                      </p:to>
                                    </p:set>
                                    <p:anim calcmode="lin" valueType="num">
                                      <p:cBhvr additive="base">
                                        <p:cTn id="66"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fade">
                                      <p:cBhvr>
                                        <p:cTn id="72" dur="1000"/>
                                        <p:tgtEl>
                                          <p:spTgt spid="13"/>
                                        </p:tgtEl>
                                      </p:cBhvr>
                                    </p:animEffect>
                                    <p:anim calcmode="lin" valueType="num">
                                      <p:cBhvr>
                                        <p:cTn id="73" dur="1000" fill="hold"/>
                                        <p:tgtEl>
                                          <p:spTgt spid="13"/>
                                        </p:tgtEl>
                                        <p:attrNameLst>
                                          <p:attrName>ppt_x</p:attrName>
                                        </p:attrNameLst>
                                      </p:cBhvr>
                                      <p:tavLst>
                                        <p:tav tm="0">
                                          <p:val>
                                            <p:strVal val="#ppt_x"/>
                                          </p:val>
                                        </p:tav>
                                        <p:tav tm="100000">
                                          <p:val>
                                            <p:strVal val="#ppt_x"/>
                                          </p:val>
                                        </p:tav>
                                      </p:tavLst>
                                    </p:anim>
                                    <p:anim calcmode="lin" valueType="num">
                                      <p:cBhvr>
                                        <p:cTn id="74" dur="1000" fill="hold"/>
                                        <p:tgtEl>
                                          <p:spTgt spid="13"/>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1000"/>
                                        <p:tgtEl>
                                          <p:spTgt spid="12"/>
                                        </p:tgtEl>
                                      </p:cBhvr>
                                    </p:animEffect>
                                    <p:anim calcmode="lin" valueType="num">
                                      <p:cBhvr>
                                        <p:cTn id="78" dur="1000" fill="hold"/>
                                        <p:tgtEl>
                                          <p:spTgt spid="12"/>
                                        </p:tgtEl>
                                        <p:attrNameLst>
                                          <p:attrName>ppt_x</p:attrName>
                                        </p:attrNameLst>
                                      </p:cBhvr>
                                      <p:tavLst>
                                        <p:tav tm="0">
                                          <p:val>
                                            <p:strVal val="#ppt_x"/>
                                          </p:val>
                                        </p:tav>
                                        <p:tav tm="100000">
                                          <p:val>
                                            <p:strVal val="#ppt_x"/>
                                          </p:val>
                                        </p:tav>
                                      </p:tavLst>
                                    </p:anim>
                                    <p:anim calcmode="lin" valueType="num">
                                      <p:cBhvr>
                                        <p:cTn id="7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4">
                                            <p:txEl>
                                              <p:pRg st="7" end="7"/>
                                            </p:txEl>
                                          </p:spTgt>
                                        </p:tgtEl>
                                        <p:attrNameLst>
                                          <p:attrName>style.visibility</p:attrName>
                                        </p:attrNameLst>
                                      </p:cBhvr>
                                      <p:to>
                                        <p:strVal val="visible"/>
                                      </p:to>
                                    </p:set>
                                    <p:anim calcmode="lin" valueType="num">
                                      <p:cBhvr additive="base">
                                        <p:cTn id="84"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36676" y="889820"/>
            <a:ext cx="8928992" cy="3507876"/>
          </a:xfrm>
        </p:spPr>
        <p:txBody>
          <a:bodyPr/>
          <a:lstStyle/>
          <a:p>
            <a:pPr marL="0" indent="0">
              <a:buNone/>
            </a:pPr>
            <a:r>
              <a:rPr lang="zh-CN" altLang="en-US" sz="1600" dirty="0">
                <a:latin typeface="Times New Roman" panose="02020603050405020304" pitchFamily="18" charset="0"/>
                <a:cs typeface="Times New Roman" panose="02020603050405020304" pitchFamily="18" charset="0"/>
              </a:rPr>
              <a:t>右</a:t>
            </a:r>
            <a:r>
              <a:rPr lang="zh-CN" altLang="zh-CN" sz="1600" dirty="0">
                <a:latin typeface="Times New Roman" panose="02020603050405020304" pitchFamily="18" charset="0"/>
                <a:cs typeface="Times New Roman" panose="02020603050405020304" pitchFamily="18" charset="0"/>
              </a:rPr>
              <a:t>图是树的树形表示法，树还有其他表示方法</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(a)</a:t>
            </a:r>
            <a:r>
              <a:rPr lang="zh-CN" altLang="en-US" sz="1600" dirty="0">
                <a:latin typeface="Times New Roman" panose="02020603050405020304" pitchFamily="18" charset="0"/>
                <a:cs typeface="Times New Roman" panose="02020603050405020304" pitchFamily="18" charset="0"/>
              </a:rPr>
              <a:t>是</a:t>
            </a:r>
            <a:r>
              <a:rPr lang="zh-CN" altLang="zh-CN" sz="1600" dirty="0">
                <a:latin typeface="Times New Roman" panose="02020603050405020304" pitchFamily="18" charset="0"/>
                <a:cs typeface="Times New Roman" panose="02020603050405020304" pitchFamily="18" charset="0"/>
              </a:rPr>
              <a:t>表结构表示法</a:t>
            </a:r>
            <a:r>
              <a:rPr lang="en-US" altLang="zh-CN" sz="1600" dirty="0">
                <a:latin typeface="Times New Roman" panose="02020603050405020304" pitchFamily="18" charset="0"/>
                <a:cs typeface="Times New Roman" panose="02020603050405020304" pitchFamily="18" charset="0"/>
              </a:rPr>
              <a:t>;</a:t>
            </a:r>
          </a:p>
          <a:p>
            <a:r>
              <a:rPr lang="zh-CN" altLang="en-US"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(b)</a:t>
            </a:r>
            <a:r>
              <a:rPr lang="zh-CN" altLang="en-US" sz="1600" dirty="0">
                <a:latin typeface="Times New Roman" panose="02020603050405020304" pitchFamily="18" charset="0"/>
                <a:cs typeface="Times New Roman" panose="02020603050405020304" pitchFamily="18" charset="0"/>
              </a:rPr>
              <a:t>是</a:t>
            </a:r>
            <a:r>
              <a:rPr lang="zh-CN" altLang="zh-CN" sz="1600" dirty="0">
                <a:latin typeface="Times New Roman" panose="02020603050405020304" pitchFamily="18" charset="0"/>
                <a:cs typeface="Times New Roman" panose="02020603050405020304" pitchFamily="18" charset="0"/>
              </a:rPr>
              <a:t>凹入表示法</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zh-CN" altLang="en-US"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(c)</a:t>
            </a:r>
            <a:r>
              <a:rPr lang="zh-CN" altLang="en-US" sz="1600" dirty="0">
                <a:latin typeface="Times New Roman" panose="02020603050405020304" pitchFamily="18" charset="0"/>
                <a:cs typeface="Times New Roman" panose="02020603050405020304" pitchFamily="18" charset="0"/>
              </a:rPr>
              <a:t>是</a:t>
            </a:r>
            <a:r>
              <a:rPr lang="zh-CN" altLang="zh-CN" sz="1600" dirty="0">
                <a:latin typeface="Times New Roman" panose="02020603050405020304" pitchFamily="18" charset="0"/>
                <a:cs typeface="Times New Roman" panose="02020603050405020304" pitchFamily="18" charset="0"/>
              </a:rPr>
              <a:t>嵌套集合表示法。</a:t>
            </a: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246216133"/>
              </p:ext>
            </p:extLst>
          </p:nvPr>
        </p:nvGraphicFramePr>
        <p:xfrm>
          <a:off x="1691590" y="2859782"/>
          <a:ext cx="5367250" cy="2002115"/>
        </p:xfrm>
        <a:graphic>
          <a:graphicData uri="http://schemas.openxmlformats.org/presentationml/2006/ole">
            <mc:AlternateContent xmlns:mc="http://schemas.openxmlformats.org/markup-compatibility/2006">
              <mc:Choice xmlns:v="urn:schemas-microsoft-com:vml" Requires="v">
                <p:oleObj name="Visio" r:id="rId2" imgW="5488956" imgH="2044512" progId="Visio.Drawing.11">
                  <p:embed/>
                </p:oleObj>
              </mc:Choice>
              <mc:Fallback>
                <p:oleObj name="Visio" r:id="rId2" imgW="5488956" imgH="2044512"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590" y="2859782"/>
                        <a:ext cx="5367250" cy="2002115"/>
                      </a:xfrm>
                      <a:prstGeom prst="rect">
                        <a:avLst/>
                      </a:prstGeom>
                      <a:noFill/>
                      <a:ln>
                        <a:noFill/>
                      </a:ln>
                    </p:spPr>
                  </p:pic>
                </p:oleObj>
              </mc:Fallback>
            </mc:AlternateContent>
          </a:graphicData>
        </a:graphic>
      </p:graphicFrame>
      <p:pic>
        <p:nvPicPr>
          <p:cNvPr id="5" name="图片 4"/>
          <p:cNvPicPr>
            <a:picLocks noChangeAspect="1"/>
          </p:cNvPicPr>
          <p:nvPr/>
        </p:nvPicPr>
        <p:blipFill>
          <a:blip r:embed="rId4"/>
          <a:stretch>
            <a:fillRect/>
          </a:stretch>
        </p:blipFill>
        <p:spPr>
          <a:xfrm>
            <a:off x="5325324" y="843558"/>
            <a:ext cx="1736872" cy="1400503"/>
          </a:xfrm>
          <a:prstGeom prst="rect">
            <a:avLst/>
          </a:prstGeom>
        </p:spPr>
      </p:pic>
      <p:sp>
        <p:nvSpPr>
          <p:cNvPr id="6" name="文本框 5"/>
          <p:cNvSpPr txBox="1"/>
          <p:nvPr/>
        </p:nvSpPr>
        <p:spPr>
          <a:xfrm>
            <a:off x="611380" y="115457"/>
            <a:ext cx="216042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a:t>
            </a:r>
            <a:r>
              <a:rPr lang="en-US" altLang="zh-CN" sz="2000" dirty="0"/>
              <a:t>4</a:t>
            </a:r>
            <a:r>
              <a:rPr lang="zh-CN" altLang="en-US" sz="2000" dirty="0"/>
              <a:t>种表示方法</a:t>
            </a:r>
          </a:p>
        </p:txBody>
      </p:sp>
    </p:spTree>
    <p:extLst>
      <p:ext uri="{BB962C8B-B14F-4D97-AF65-F5344CB8AC3E}">
        <p14:creationId xmlns:p14="http://schemas.microsoft.com/office/powerpoint/2010/main" val="35198717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15008" y="1419622"/>
                <a:ext cx="8605464" cy="3507876"/>
              </a:xfrm>
            </p:spPr>
            <p:txBody>
              <a:bodyPr/>
              <a:lstStyle/>
              <a:p>
                <a:pPr>
                  <a:lnSpc>
                    <a:spcPts val="2600"/>
                  </a:lnSpc>
                  <a:spcBef>
                    <a:spcPts val="0"/>
                  </a:spcBef>
                </a:pPr>
                <a:r>
                  <a:rPr lang="zh-CN" altLang="zh-CN" sz="1600" dirty="0">
                    <a:solidFill>
                      <a:srgbClr val="0070C0"/>
                    </a:solidFill>
                    <a:latin typeface="Times New Roman" panose="02020603050405020304" pitchFamily="18" charset="0"/>
                    <a:cs typeface="Times New Roman" panose="02020603050405020304" pitchFamily="18" charset="0"/>
                  </a:rPr>
                  <a:t>结点</a:t>
                </a:r>
                <a:r>
                  <a:rPr lang="zh-CN" altLang="zh-CN" sz="1600" dirty="0">
                    <a:latin typeface="Times New Roman" panose="02020603050405020304" pitchFamily="18" charset="0"/>
                    <a:cs typeface="Times New Roman" panose="02020603050405020304" pitchFamily="18" charset="0"/>
                  </a:rPr>
                  <a:t>：树中的每个元素对应一个结点。每个结点包含一个数据元素及若干指向子树的分支。例如，图中的树有</a:t>
                </a:r>
                <a:r>
                  <a:rPr lang="es-ES" altLang="zh-CN" sz="1600" dirty="0">
                    <a:latin typeface="Times New Roman" panose="02020603050405020304" pitchFamily="18" charset="0"/>
                    <a:cs typeface="Times New Roman" panose="02020603050405020304" pitchFamily="18" charset="0"/>
                  </a:rPr>
                  <a:t>11</a:t>
                </a:r>
                <a:r>
                  <a:rPr lang="zh-CN" altLang="zh-CN" sz="1600" dirty="0">
                    <a:latin typeface="Times New Roman" panose="02020603050405020304" pitchFamily="18" charset="0"/>
                    <a:cs typeface="Times New Roman" panose="02020603050405020304" pitchFamily="18" charset="0"/>
                  </a:rPr>
                  <a:t>个结点，结点</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包含</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个分支。</a:t>
                </a:r>
                <a:endParaRPr lang="en-US" altLang="zh-CN" sz="1600" dirty="0">
                  <a:latin typeface="Times New Roman" panose="02020603050405020304" pitchFamily="18" charset="0"/>
                  <a:cs typeface="Times New Roman" panose="02020603050405020304" pitchFamily="18" charset="0"/>
                </a:endParaRPr>
              </a:p>
              <a:p>
                <a:pPr>
                  <a:lnSpc>
                    <a:spcPts val="2600"/>
                  </a:lnSpc>
                  <a:spcBef>
                    <a:spcPts val="0"/>
                  </a:spcBef>
                </a:pPr>
                <a:r>
                  <a:rPr lang="zh-CN" altLang="zh-CN" sz="1600" dirty="0">
                    <a:solidFill>
                      <a:srgbClr val="0070C0"/>
                    </a:solidFill>
                    <a:latin typeface="Times New Roman" panose="02020603050405020304" pitchFamily="18" charset="0"/>
                    <a:cs typeface="Times New Roman" panose="02020603050405020304" pitchFamily="18" charset="0"/>
                  </a:rPr>
                  <a:t>结点的度：</a:t>
                </a:r>
                <a:r>
                  <a:rPr lang="zh-CN" altLang="zh-CN" sz="1600" dirty="0">
                    <a:latin typeface="Times New Roman" panose="02020603050405020304" pitchFamily="18" charset="0"/>
                    <a:cs typeface="Times New Roman" panose="02020603050405020304" pitchFamily="18" charset="0"/>
                  </a:rPr>
                  <a:t>结点所拥有的子树的个数称为结点的度。例如，</a:t>
                </a:r>
                <a:r>
                  <a:rPr lang="zh-CN" altLang="en-US" sz="1600" dirty="0">
                    <a:latin typeface="Times New Roman" panose="02020603050405020304" pitchFamily="18" charset="0"/>
                    <a:cs typeface="Times New Roman" panose="02020603050405020304" pitchFamily="18" charset="0"/>
                  </a:rPr>
                  <a:t>上</a:t>
                </a:r>
                <a:r>
                  <a:rPr lang="zh-CN" altLang="zh-CN" sz="1600" dirty="0">
                    <a:latin typeface="Times New Roman" panose="02020603050405020304" pitchFamily="18" charset="0"/>
                    <a:cs typeface="Times New Roman" panose="02020603050405020304" pitchFamily="18" charset="0"/>
                  </a:rPr>
                  <a:t>图所示的树中，结点</a:t>
                </a:r>
                <a14:m>
                  <m:oMath xmlns:m="http://schemas.openxmlformats.org/officeDocument/2006/math">
                    <m:r>
                      <a:rPr lang="en-US" altLang="zh-CN" sz="1600">
                        <a:latin typeface="Cambria Math" panose="02040503050406030204" pitchFamily="18" charset="0"/>
                        <a:ea typeface="隶书" panose="02010509060101010101" pitchFamily="49" charset="-122"/>
                      </a:rPr>
                      <m:t>𝐴</m:t>
                    </m:r>
                    <m:r>
                      <a:rPr lang="zh-CN" altLang="zh-CN" sz="1600">
                        <a:latin typeface="Cambria Math" panose="02040503050406030204" pitchFamily="18" charset="0"/>
                        <a:ea typeface="隶书" panose="02010509060101010101" pitchFamily="49" charset="-122"/>
                      </a:rPr>
                      <m:t>和</m:t>
                    </m:r>
                    <m:r>
                      <a:rPr lang="en-US" altLang="zh-CN" sz="1600">
                        <a:latin typeface="Cambria Math" panose="02040503050406030204" pitchFamily="18" charset="0"/>
                        <a:ea typeface="隶书" panose="02010509060101010101" pitchFamily="49" charset="-122"/>
                      </a:rPr>
                      <m:t>𝐷</m:t>
                    </m:r>
                  </m:oMath>
                </a14:m>
                <a:r>
                  <a:rPr lang="zh-CN" altLang="zh-CN" sz="1600" dirty="0">
                    <a:latin typeface="Times New Roman" panose="02020603050405020304" pitchFamily="18" charset="0"/>
                    <a:cs typeface="Times New Roman" panose="02020603050405020304" pitchFamily="18" charset="0"/>
                  </a:rPr>
                  <a:t>的度均为</a:t>
                </a:r>
                <a:r>
                  <a:rPr lang="es-E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n-US" altLang="zh-CN" sz="1600">
                        <a:latin typeface="Cambria Math" panose="02040503050406030204" pitchFamily="18" charset="0"/>
                        <a:ea typeface="隶书" panose="02010509060101010101" pitchFamily="49" charset="-122"/>
                      </a:rPr>
                      <m:t>𝐵</m:t>
                    </m:r>
                  </m:oMath>
                </a14:m>
                <a:r>
                  <a:rPr lang="zh-CN" altLang="zh-CN" sz="1600" dirty="0">
                    <a:latin typeface="Times New Roman" panose="02020603050405020304" pitchFamily="18" charset="0"/>
                    <a:cs typeface="Times New Roman" panose="02020603050405020304" pitchFamily="18" charset="0"/>
                  </a:rPr>
                  <a:t>的度为</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n-US" altLang="zh-CN" sz="1600">
                        <a:latin typeface="Cambria Math" panose="02040503050406030204" pitchFamily="18" charset="0"/>
                        <a:ea typeface="隶书" panose="02010509060101010101" pitchFamily="49" charset="-122"/>
                      </a:rPr>
                      <m:t>𝐶</m:t>
                    </m:r>
                  </m:oMath>
                </a14:m>
                <a:r>
                  <a:rPr lang="zh-CN" altLang="zh-CN" sz="1600" dirty="0">
                    <a:latin typeface="Times New Roman" panose="02020603050405020304" pitchFamily="18" charset="0"/>
                    <a:cs typeface="Times New Roman" panose="02020603050405020304" pitchFamily="18" charset="0"/>
                  </a:rPr>
                  <a:t>的度为</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n-US" altLang="zh-CN" sz="1600">
                        <a:latin typeface="Cambria Math" panose="02040503050406030204" pitchFamily="18" charset="0"/>
                        <a:ea typeface="隶书" panose="02010509060101010101" pitchFamily="49" charset="-122"/>
                      </a:rPr>
                      <m:t>𝐹</m:t>
                    </m:r>
                  </m:oMath>
                </a14:m>
                <a:r>
                  <a:rPr lang="zh-CN" altLang="zh-CN" sz="1600" dirty="0">
                    <a:latin typeface="Times New Roman" panose="02020603050405020304" pitchFamily="18" charset="0"/>
                    <a:cs typeface="Times New Roman" panose="02020603050405020304" pitchFamily="18" charset="0"/>
                  </a:rPr>
                  <a:t>的度为</a:t>
                </a:r>
                <a:r>
                  <a:rPr lang="es-E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a:lnSpc>
                    <a:spcPts val="2600"/>
                  </a:lnSpc>
                  <a:spcBef>
                    <a:spcPts val="0"/>
                  </a:spcBef>
                </a:pPr>
                <a:r>
                  <a:rPr lang="zh-CN" altLang="zh-CN" sz="1600" dirty="0">
                    <a:solidFill>
                      <a:srgbClr val="0070C0"/>
                    </a:solidFill>
                    <a:latin typeface="Times New Roman" panose="02020603050405020304" pitchFamily="18" charset="0"/>
                    <a:cs typeface="Times New Roman" panose="02020603050405020304" pitchFamily="18" charset="0"/>
                  </a:rPr>
                  <a:t>叶子结点</a:t>
                </a:r>
                <a:r>
                  <a:rPr lang="zh-CN" altLang="zh-CN" sz="1600" dirty="0">
                    <a:latin typeface="Times New Roman" panose="02020603050405020304" pitchFamily="18" charset="0"/>
                    <a:cs typeface="Times New Roman" panose="02020603050405020304" pitchFamily="18" charset="0"/>
                  </a:rPr>
                  <a:t>：度为</a:t>
                </a:r>
                <a:r>
                  <a:rPr lang="es-E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的结点称为叶子结点（或称树叶），又称为终端结点。例如</a:t>
                </a:r>
                <a:r>
                  <a:rPr lang="zh-CN" altLang="en-US" sz="1600" dirty="0">
                    <a:latin typeface="Times New Roman" panose="02020603050405020304" pitchFamily="18" charset="0"/>
                    <a:cs typeface="Times New Roman" panose="02020603050405020304" pitchFamily="18" charset="0"/>
                  </a:rPr>
                  <a:t>，上</a:t>
                </a:r>
                <a:r>
                  <a:rPr lang="zh-CN" altLang="zh-CN" sz="1600" dirty="0">
                    <a:latin typeface="Times New Roman" panose="02020603050405020304" pitchFamily="18" charset="0"/>
                    <a:cs typeface="Times New Roman" panose="02020603050405020304" pitchFamily="18" charset="0"/>
                  </a:rPr>
                  <a:t>图所示的树中，</a:t>
                </a:r>
                <a14:m>
                  <m:oMath xmlns:m="http://schemas.openxmlformats.org/officeDocument/2006/math">
                    <m:r>
                      <a:rPr lang="es-ES" altLang="zh-CN" sz="1600">
                        <a:latin typeface="Cambria Math" panose="02040503050406030204" pitchFamily="18" charset="0"/>
                        <a:ea typeface="隶书" panose="02010509060101010101" pitchFamily="49" charset="-122"/>
                      </a:rPr>
                      <m:t>𝐸</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𝐹</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𝐺</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𝐻</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𝐼</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𝐾</m:t>
                    </m:r>
                  </m:oMath>
                </a14:m>
                <a:r>
                  <a:rPr lang="zh-CN" altLang="zh-CN" sz="1600" dirty="0">
                    <a:latin typeface="Times New Roman" panose="02020603050405020304" pitchFamily="18" charset="0"/>
                    <a:cs typeface="Times New Roman" panose="02020603050405020304" pitchFamily="18" charset="0"/>
                  </a:rPr>
                  <a:t>都是叶子结点。</a:t>
                </a:r>
                <a:endParaRPr lang="en-US" altLang="zh-CN" sz="1600" dirty="0">
                  <a:latin typeface="Times New Roman" panose="02020603050405020304" pitchFamily="18" charset="0"/>
                  <a:cs typeface="Times New Roman" panose="02020603050405020304" pitchFamily="18" charset="0"/>
                </a:endParaRPr>
              </a:p>
              <a:p>
                <a:pPr>
                  <a:lnSpc>
                    <a:spcPts val="2600"/>
                  </a:lnSpc>
                  <a:spcBef>
                    <a:spcPts val="0"/>
                  </a:spcBef>
                </a:pPr>
                <a:r>
                  <a:rPr lang="zh-CN" altLang="zh-CN" sz="1600" dirty="0">
                    <a:solidFill>
                      <a:srgbClr val="0070C0"/>
                    </a:solidFill>
                    <a:latin typeface="Times New Roman" panose="02020603050405020304" pitchFamily="18" charset="0"/>
                    <a:cs typeface="Times New Roman" panose="02020603050405020304" pitchFamily="18" charset="0"/>
                  </a:rPr>
                  <a:t>分支结点</a:t>
                </a:r>
                <a:r>
                  <a:rPr lang="zh-CN" altLang="zh-CN" sz="1600" dirty="0">
                    <a:latin typeface="Times New Roman" panose="02020603050405020304" pitchFamily="18" charset="0"/>
                    <a:cs typeface="Times New Roman" panose="02020603050405020304" pitchFamily="18" charset="0"/>
                  </a:rPr>
                  <a:t>：度不为</a:t>
                </a:r>
                <a:r>
                  <a:rPr lang="es-E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的结点称为分支结点，又称为非终端结点。例如</a:t>
                </a:r>
                <a:r>
                  <a:rPr lang="zh-CN" altLang="en-US" sz="1600" dirty="0">
                    <a:latin typeface="Times New Roman" panose="02020603050405020304" pitchFamily="18" charset="0"/>
                    <a:cs typeface="Times New Roman" panose="02020603050405020304" pitchFamily="18" charset="0"/>
                  </a:rPr>
                  <a:t>，上</a:t>
                </a:r>
                <a:r>
                  <a:rPr lang="zh-CN" altLang="zh-CN" sz="1600" dirty="0">
                    <a:latin typeface="Times New Roman" panose="02020603050405020304" pitchFamily="18" charset="0"/>
                    <a:cs typeface="Times New Roman" panose="02020603050405020304" pitchFamily="18" charset="0"/>
                  </a:rPr>
                  <a:t>图所示的树中，</a:t>
                </a:r>
                <a14:m>
                  <m:oMath xmlns:m="http://schemas.openxmlformats.org/officeDocument/2006/math">
                    <m:r>
                      <a:rPr lang="es-ES" altLang="zh-CN" sz="1600">
                        <a:latin typeface="Cambria Math" panose="02040503050406030204" pitchFamily="18" charset="0"/>
                        <a:ea typeface="隶书" panose="02010509060101010101" pitchFamily="49" charset="-122"/>
                      </a:rPr>
                      <m:t>𝐴</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𝐵</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𝐶</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𝐷</m:t>
                    </m:r>
                    <m:r>
                      <a:rPr lang="es-ES" altLang="zh-CN" sz="1600">
                        <a:latin typeface="Cambria Math" panose="02040503050406030204" pitchFamily="18" charset="0"/>
                        <a:ea typeface="隶书" panose="02010509060101010101" pitchFamily="49" charset="-122"/>
                      </a:rPr>
                      <m:t>,</m:t>
                    </m:r>
                    <m:r>
                      <a:rPr lang="es-ES" altLang="zh-CN" sz="1600">
                        <a:latin typeface="Cambria Math" panose="02040503050406030204" pitchFamily="18" charset="0"/>
                        <a:ea typeface="隶书" panose="02010509060101010101" pitchFamily="49" charset="-122"/>
                      </a:rPr>
                      <m:t>𝐽</m:t>
                    </m:r>
                  </m:oMath>
                </a14:m>
                <a:r>
                  <a:rPr lang="zh-CN" altLang="zh-CN" sz="1600" dirty="0">
                    <a:latin typeface="Times New Roman" panose="02020603050405020304" pitchFamily="18" charset="0"/>
                    <a:cs typeface="Times New Roman" panose="02020603050405020304" pitchFamily="18" charset="0"/>
                  </a:rPr>
                  <a:t>都是分支结点。</a:t>
                </a:r>
              </a:p>
              <a:p>
                <a:endParaRPr lang="zh-CN" altLang="zh-CN" sz="1800" dirty="0">
                  <a:latin typeface="隶书" panose="02010509060101010101" pitchFamily="49" charset="-122"/>
                  <a:ea typeface="隶书" panose="02010509060101010101" pitchFamily="49" charset="-122"/>
                </a:endParaRPr>
              </a:p>
              <a:p>
                <a:endParaRPr lang="zh-CN" altLang="zh-CN" sz="1800" dirty="0">
                  <a:latin typeface="隶书" panose="02010509060101010101" pitchFamily="49" charset="-122"/>
                  <a:ea typeface="隶书" panose="02010509060101010101" pitchFamily="49" charset="-122"/>
                </a:endParaRPr>
              </a:p>
              <a:p>
                <a:endParaRPr lang="zh-CN" altLang="zh-CN" sz="1800" dirty="0">
                  <a:latin typeface="隶书" panose="02010509060101010101" pitchFamily="49" charset="-122"/>
                  <a:ea typeface="隶书" panose="02010509060101010101" pitchFamily="49" charset="-122"/>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15008" y="1419622"/>
                <a:ext cx="8605464" cy="3507876"/>
              </a:xfrm>
              <a:blipFill>
                <a:blip r:embed="rId2"/>
                <a:stretch>
                  <a:fillRect l="-496" r="-71"/>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4283968" y="123478"/>
            <a:ext cx="1736872" cy="1400503"/>
          </a:xfrm>
          <a:prstGeom prst="rect">
            <a:avLst/>
          </a:prstGeom>
        </p:spPr>
      </p:pic>
      <p:sp>
        <p:nvSpPr>
          <p:cNvPr id="6" name="文本框 5"/>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树的基本术语</a:t>
            </a:r>
          </a:p>
        </p:txBody>
      </p:sp>
    </p:spTree>
    <p:extLst>
      <p:ext uri="{BB962C8B-B14F-4D97-AF65-F5344CB8AC3E}">
        <p14:creationId xmlns:p14="http://schemas.microsoft.com/office/powerpoint/2010/main" val="2641079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635646"/>
                <a:ext cx="9036496" cy="3298925"/>
              </a:xfrm>
            </p:spPr>
            <p:txBody>
              <a:bodyPr/>
              <a:lstStyle/>
              <a:p>
                <a:pPr>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树的度</a:t>
                </a:r>
                <a:r>
                  <a:rPr lang="zh-CN" altLang="zh-CN" sz="1600" dirty="0">
                    <a:latin typeface="Times New Roman" panose="02020603050405020304" pitchFamily="18" charset="0"/>
                    <a:cs typeface="Times New Roman" panose="02020603050405020304" pitchFamily="18" charset="0"/>
                  </a:rPr>
                  <a:t>：树中所有结点的最大度数称为树的度。例如，图所示的树的度为</a:t>
                </a:r>
                <a:r>
                  <a:rPr lang="es-E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双亲结点</a:t>
                </a:r>
                <a:r>
                  <a:rPr lang="zh-CN" altLang="zh-CN" sz="1600" dirty="0">
                    <a:latin typeface="Times New Roman" panose="02020603050405020304" pitchFamily="18" charset="0"/>
                    <a:cs typeface="Times New Roman" panose="02020603050405020304" pitchFamily="18" charset="0"/>
                  </a:rPr>
                  <a:t>：若结点</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有孩子，则</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为孩子的双亲结点，简称双亲。例如，结点</a:t>
                </a:r>
                <a14:m>
                  <m:oMath xmlns:m="http://schemas.openxmlformats.org/officeDocument/2006/math">
                    <m:r>
                      <a:rPr lang="en-US" altLang="zh-CN" sz="1600" i="1">
                        <a:latin typeface="Cambria Math" panose="02040503050406030204" pitchFamily="18" charset="0"/>
                      </a:rPr>
                      <m:t>𝐻</m:t>
                    </m:r>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r>
                      <a:rPr lang="en-US" altLang="zh-CN" sz="1600" i="1">
                        <a:latin typeface="Cambria Math" panose="02040503050406030204" pitchFamily="18" charset="0"/>
                      </a:rPr>
                      <m:t>𝐽</m:t>
                    </m:r>
                  </m:oMath>
                </a14:m>
                <a:r>
                  <a:rPr lang="zh-CN" altLang="zh-CN" sz="1600" dirty="0">
                    <a:latin typeface="Times New Roman" panose="02020603050405020304" pitchFamily="18" charset="0"/>
                    <a:cs typeface="Times New Roman" panose="02020603050405020304" pitchFamily="18" charset="0"/>
                  </a:rPr>
                  <a:t>的双亲为</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；根结点</a:t>
                </a:r>
                <a14:m>
                  <m:oMath xmlns:m="http://schemas.openxmlformats.org/officeDocument/2006/math">
                    <m:r>
                      <a:rPr lang="es-E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没有双亲，树中只有根结点没有双亲。</a:t>
                </a:r>
              </a:p>
              <a:p>
                <a:pPr>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孩子结点</a:t>
                </a:r>
                <a:r>
                  <a:rPr lang="zh-CN" altLang="zh-CN" sz="1600" dirty="0">
                    <a:latin typeface="Times New Roman" panose="02020603050405020304" pitchFamily="18" charset="0"/>
                    <a:cs typeface="Times New Roman" panose="02020603050405020304" pitchFamily="18" charset="0"/>
                  </a:rPr>
                  <a:t>：若结点</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有子树，则子树的根结点即为结点</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的孩子结点，简称为孩子。例如，结点</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有</a:t>
                </a:r>
                <a:r>
                  <a:rPr lang="es-E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个孩子</a:t>
                </a:r>
                <a14:m>
                  <m:oMath xmlns:m="http://schemas.openxmlformats.org/officeDocument/2006/math">
                    <m:r>
                      <a:rPr lang="en-US" altLang="zh-CN" sz="1600" i="1">
                        <a:latin typeface="Cambria Math" panose="02040503050406030204" pitchFamily="18" charset="0"/>
                      </a:rPr>
                      <m:t>𝐻</m:t>
                    </m:r>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r>
                      <a:rPr lang="en-US" altLang="zh-CN" sz="1600" i="1">
                        <a:latin typeface="Cambria Math" panose="02040503050406030204" pitchFamily="18" charset="0"/>
                      </a:rPr>
                      <m:t>𝐽</m:t>
                    </m:r>
                  </m:oMath>
                </a14:m>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n-US" altLang="zh-CN" sz="1600" i="1">
                        <a:latin typeface="Cambria Math" panose="02040503050406030204" pitchFamily="18" charset="0"/>
                      </a:rPr>
                      <m:t>𝐶</m:t>
                    </m:r>
                  </m:oMath>
                </a14:m>
                <a:r>
                  <a:rPr lang="zh-CN" altLang="zh-CN" sz="1600" dirty="0">
                    <a:latin typeface="Times New Roman" panose="02020603050405020304" pitchFamily="18" charset="0"/>
                    <a:cs typeface="Times New Roman" panose="02020603050405020304" pitchFamily="18" charset="0"/>
                  </a:rPr>
                  <a:t>有</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个孩子</a:t>
                </a:r>
                <a14:m>
                  <m:oMath xmlns:m="http://schemas.openxmlformats.org/officeDocument/2006/math">
                    <m:r>
                      <a:rPr lang="es-ES" altLang="zh-CN" sz="1600" i="1">
                        <a:latin typeface="Cambria Math" panose="02040503050406030204" pitchFamily="18" charset="0"/>
                      </a:rPr>
                      <m:t>𝐺</m:t>
                    </m:r>
                  </m:oMath>
                </a14:m>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s-ES" altLang="zh-CN" sz="1600" i="1">
                        <a:latin typeface="Cambria Math" panose="02040503050406030204" pitchFamily="18" charset="0"/>
                      </a:rPr>
                      <m:t>𝐸</m:t>
                    </m:r>
                    <m:r>
                      <a:rPr lang="es-ES" altLang="zh-CN" sz="1600" i="1">
                        <a:latin typeface="Cambria Math" panose="02040503050406030204" pitchFamily="18" charset="0"/>
                      </a:rPr>
                      <m:t>,</m:t>
                    </m:r>
                    <m:r>
                      <a:rPr lang="es-ES" altLang="zh-CN" sz="1600" i="1">
                        <a:latin typeface="Cambria Math" panose="02040503050406030204" pitchFamily="18" charset="0"/>
                      </a:rPr>
                      <m:t>𝐹</m:t>
                    </m:r>
                    <m:r>
                      <a:rPr lang="es-ES" altLang="zh-CN" sz="1600" i="1">
                        <a:latin typeface="Cambria Math" panose="02040503050406030204" pitchFamily="18" charset="0"/>
                      </a:rPr>
                      <m:t>,</m:t>
                    </m:r>
                    <m:r>
                      <a:rPr lang="es-ES" altLang="zh-CN" sz="1600" i="1">
                        <a:latin typeface="Cambria Math" panose="02040503050406030204" pitchFamily="18" charset="0"/>
                      </a:rPr>
                      <m:t>𝐺</m:t>
                    </m:r>
                    <m:r>
                      <a:rPr lang="es-ES" altLang="zh-CN" sz="1600" i="1">
                        <a:latin typeface="Cambria Math" panose="02040503050406030204" pitchFamily="18" charset="0"/>
                      </a:rPr>
                      <m:t>,</m:t>
                    </m:r>
                    <m:r>
                      <a:rPr lang="es-ES" altLang="zh-CN" sz="1600" i="1">
                        <a:latin typeface="Cambria Math" panose="02040503050406030204" pitchFamily="18" charset="0"/>
                      </a:rPr>
                      <m:t>𝐻</m:t>
                    </m:r>
                    <m:r>
                      <a:rPr lang="es-ES" altLang="zh-CN" sz="1600" i="1">
                        <a:latin typeface="Cambria Math" panose="02040503050406030204" pitchFamily="18" charset="0"/>
                      </a:rPr>
                      <m:t>,</m:t>
                    </m:r>
                    <m:r>
                      <a:rPr lang="es-ES" altLang="zh-CN" sz="1600" i="1">
                        <a:latin typeface="Cambria Math" panose="02040503050406030204" pitchFamily="18" charset="0"/>
                      </a:rPr>
                      <m:t>𝐼</m:t>
                    </m:r>
                    <m:r>
                      <a:rPr lang="es-ES" altLang="zh-CN" sz="1600" i="1">
                        <a:latin typeface="Cambria Math" panose="02040503050406030204" pitchFamily="18" charset="0"/>
                      </a:rPr>
                      <m:t>,</m:t>
                    </m:r>
                    <m:r>
                      <a:rPr lang="es-ES" altLang="zh-CN" sz="1600" i="1">
                        <a:latin typeface="Cambria Math" panose="02040503050406030204" pitchFamily="18" charset="0"/>
                      </a:rPr>
                      <m:t>𝐾</m:t>
                    </m:r>
                  </m:oMath>
                </a14:m>
                <a:r>
                  <a:rPr lang="zh-CN" altLang="zh-CN" sz="1600" dirty="0">
                    <a:latin typeface="Times New Roman" panose="02020603050405020304" pitchFamily="18" charset="0"/>
                    <a:cs typeface="Times New Roman" panose="02020603050405020304" pitchFamily="18" charset="0"/>
                  </a:rPr>
                  <a:t>没有孩子。</a:t>
                </a:r>
              </a:p>
              <a:p>
                <a:pPr>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兄弟结点</a:t>
                </a:r>
                <a:r>
                  <a:rPr lang="zh-CN" altLang="zh-CN" sz="1600" dirty="0">
                    <a:latin typeface="Times New Roman" panose="02020603050405020304" pitchFamily="18" charset="0"/>
                    <a:cs typeface="Times New Roman" panose="02020603050405020304" pitchFamily="18" charset="0"/>
                  </a:rPr>
                  <a:t>：同一双亲的孩子结点称为兄弟结点，简称兄弟。例如</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n-US" altLang="zh-CN" sz="1600" i="1">
                        <a:latin typeface="Cambria Math" panose="02040503050406030204" pitchFamily="18" charset="0"/>
                      </a:rPr>
                      <m:t>𝐻</m:t>
                    </m:r>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r>
                      <a:rPr lang="en-US" altLang="zh-CN" sz="1600" i="1">
                        <a:latin typeface="Cambria Math" panose="02040503050406030204" pitchFamily="18" charset="0"/>
                      </a:rPr>
                      <m:t>𝐽</m:t>
                    </m:r>
                  </m:oMath>
                </a14:m>
                <a:r>
                  <a:rPr lang="zh-CN" altLang="zh-CN" sz="1600" dirty="0">
                    <a:latin typeface="Times New Roman" panose="02020603050405020304" pitchFamily="18" charset="0"/>
                    <a:cs typeface="Times New Roman" panose="02020603050405020304" pitchFamily="18" charset="0"/>
                  </a:rPr>
                  <a:t>为兄弟，</a:t>
                </a:r>
                <a14:m>
                  <m:oMath xmlns:m="http://schemas.openxmlformats.org/officeDocument/2006/math">
                    <m:r>
                      <a:rPr lang="es-ES" altLang="zh-CN" sz="1600" i="1">
                        <a:latin typeface="Cambria Math" panose="02040503050406030204" pitchFamily="18" charset="0"/>
                      </a:rPr>
                      <m:t>𝐸</m:t>
                    </m:r>
                    <m:r>
                      <a:rPr lang="es-ES" altLang="zh-CN" sz="1600" i="1">
                        <a:latin typeface="Cambria Math" panose="02040503050406030204" pitchFamily="18" charset="0"/>
                      </a:rPr>
                      <m:t>,</m:t>
                    </m:r>
                    <m:r>
                      <a:rPr lang="es-ES" altLang="zh-CN" sz="1600" i="1">
                        <a:latin typeface="Cambria Math" panose="02040503050406030204" pitchFamily="18" charset="0"/>
                      </a:rPr>
                      <m:t>𝐹</m:t>
                    </m:r>
                  </m:oMath>
                </a14:m>
                <a:r>
                  <a:rPr lang="es-E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也互为兄弟，但</a:t>
                </a:r>
                <a14:m>
                  <m:oMath xmlns:m="http://schemas.openxmlformats.org/officeDocument/2006/math">
                    <m:r>
                      <a:rPr lang="es-ES" altLang="zh-CN" sz="1600" i="1">
                        <a:latin typeface="Cambria Math" panose="02040503050406030204" pitchFamily="18" charset="0"/>
                      </a:rPr>
                      <m:t>𝐹</m:t>
                    </m:r>
                    <m:r>
                      <a:rPr lang="es-ES" altLang="zh-CN" sz="1600" i="1">
                        <a:latin typeface="Cambria Math" panose="02040503050406030204" pitchFamily="18" charset="0"/>
                      </a:rPr>
                      <m:t>,</m:t>
                    </m:r>
                    <m:r>
                      <a:rPr lang="es-ES" altLang="zh-CN" sz="1600" i="1">
                        <a:latin typeface="Cambria Math" panose="02040503050406030204" pitchFamily="18" charset="0"/>
                      </a:rPr>
                      <m:t>𝐺</m:t>
                    </m:r>
                    <m:r>
                      <a:rPr lang="es-ES" altLang="zh-CN" sz="1600" i="1">
                        <a:latin typeface="Cambria Math" panose="02040503050406030204" pitchFamily="18" charset="0"/>
                      </a:rPr>
                      <m:t>,</m:t>
                    </m:r>
                    <m:r>
                      <a:rPr lang="es-ES" altLang="zh-CN" sz="1600" i="1">
                        <a:latin typeface="Cambria Math" panose="02040503050406030204" pitchFamily="18" charset="0"/>
                      </a:rPr>
                      <m:t>𝐼</m:t>
                    </m:r>
                  </m:oMath>
                </a14:m>
                <a:r>
                  <a:rPr lang="es-E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不为兄弟。</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635646"/>
                <a:ext cx="9036496" cy="3298925"/>
              </a:xfrm>
              <a:blipFill>
                <a:blip r:embed="rId2"/>
                <a:stretch>
                  <a:fillRect l="-540" t="-924" r="-67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4067944" y="112013"/>
            <a:ext cx="1736872" cy="1400503"/>
          </a:xfrm>
          <a:prstGeom prst="rect">
            <a:avLst/>
          </a:prstGeom>
        </p:spPr>
      </p:pic>
      <p:sp>
        <p:nvSpPr>
          <p:cNvPr id="5" name="文本框 4"/>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树的基本术语</a:t>
            </a:r>
          </a:p>
        </p:txBody>
      </p:sp>
    </p:spTree>
    <p:extLst>
      <p:ext uri="{BB962C8B-B14F-4D97-AF65-F5344CB8AC3E}">
        <p14:creationId xmlns:p14="http://schemas.microsoft.com/office/powerpoint/2010/main" val="18193929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707654"/>
                <a:ext cx="8856984" cy="3299470"/>
              </a:xfrm>
            </p:spPr>
            <p:txBody>
              <a:bodyPr/>
              <a:lstStyle/>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堂兄弟结点</a:t>
                </a:r>
                <a:r>
                  <a:rPr lang="zh-CN" altLang="zh-CN" sz="1600" dirty="0">
                    <a:latin typeface="Times New Roman" panose="02020603050405020304" pitchFamily="18" charset="0"/>
                    <a:cs typeface="Times New Roman" panose="02020603050405020304" pitchFamily="18" charset="0"/>
                  </a:rPr>
                  <a:t>：在树中的层次相同，但双亲不同的结点称为堂兄弟结点，简称堂兄。例如，结点</a:t>
                </a:r>
                <a14:m>
                  <m:oMath xmlns:m="http://schemas.openxmlformats.org/officeDocument/2006/math">
                    <m:r>
                      <a:rPr lang="en-US" altLang="zh-CN" sz="1600" i="1">
                        <a:latin typeface="Cambria Math" panose="02040503050406030204" pitchFamily="18" charset="0"/>
                      </a:rPr>
                      <m:t>𝐹</m:t>
                    </m:r>
                    <m:r>
                      <a:rPr lang="en-US" altLang="zh-CN" sz="1600" i="1">
                        <a:latin typeface="Cambria Math" panose="02040503050406030204" pitchFamily="18" charset="0"/>
                      </a:rPr>
                      <m:t>,</m:t>
                    </m:r>
                    <m:r>
                      <a:rPr lang="en-US" altLang="zh-CN" sz="1600" i="1">
                        <a:latin typeface="Cambria Math" panose="02040503050406030204" pitchFamily="18" charset="0"/>
                      </a:rPr>
                      <m:t>𝐺</m:t>
                    </m:r>
                    <m:r>
                      <a:rPr lang="en-US" altLang="zh-CN" sz="1600" i="1">
                        <a:latin typeface="Cambria Math" panose="02040503050406030204" pitchFamily="18" charset="0"/>
                      </a:rPr>
                      <m:t>,</m:t>
                    </m:r>
                    <m:r>
                      <a:rPr lang="en-US" altLang="zh-CN" sz="1600" i="1">
                        <a:latin typeface="Cambria Math" panose="02040503050406030204" pitchFamily="18" charset="0"/>
                      </a:rPr>
                      <m:t>𝐻</m:t>
                    </m:r>
                  </m:oMath>
                </a14:m>
                <a:r>
                  <a:rPr lang="zh-CN" altLang="zh-CN" sz="1600" dirty="0">
                    <a:latin typeface="Times New Roman" panose="02020603050405020304" pitchFamily="18" charset="0"/>
                    <a:cs typeface="Times New Roman" panose="02020603050405020304" pitchFamily="18" charset="0"/>
                  </a:rPr>
                  <a:t>为堂兄。</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祖先结点</a:t>
                </a:r>
                <a:r>
                  <a:rPr lang="zh-CN" altLang="zh-CN" sz="1600" dirty="0">
                    <a:latin typeface="Times New Roman" panose="02020603050405020304" pitchFamily="18" charset="0"/>
                    <a:cs typeface="Times New Roman" panose="02020603050405020304" pitchFamily="18" charset="0"/>
                  </a:rPr>
                  <a:t>：从根结点到结点</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所经过分支上的所有结点，都称为</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的祖先结点，简称祖先。例如，结点</a:t>
                </a:r>
                <a14:m>
                  <m:oMath xmlns:m="http://schemas.openxmlformats.org/officeDocument/2006/math">
                    <m:r>
                      <a:rPr lang="es-ES" altLang="zh-CN" sz="1600" i="1">
                        <a:latin typeface="Cambria Math" panose="02040503050406030204" pitchFamily="18" charset="0"/>
                      </a:rPr>
                      <m:t>𝐾</m:t>
                    </m:r>
                  </m:oMath>
                </a14:m>
                <a:r>
                  <a:rPr lang="zh-CN" altLang="zh-CN" sz="1600" dirty="0">
                    <a:latin typeface="Times New Roman" panose="02020603050405020304" pitchFamily="18" charset="0"/>
                    <a:cs typeface="Times New Roman" panose="02020603050405020304" pitchFamily="18" charset="0"/>
                  </a:rPr>
                  <a:t>的祖先为结点</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rPr>
                      <m:t>,</m:t>
                    </m:r>
                    <m:r>
                      <a:rPr lang="en-US" altLang="zh-CN" sz="1600" i="1">
                        <a:latin typeface="Cambria Math" panose="02040503050406030204" pitchFamily="18" charset="0"/>
                      </a:rPr>
                      <m:t>𝐷</m:t>
                    </m:r>
                    <m:r>
                      <a:rPr lang="en-US" altLang="zh-CN" sz="1600" i="1">
                        <a:latin typeface="Cambria Math" panose="02040503050406030204" pitchFamily="18" charset="0"/>
                      </a:rPr>
                      <m:t>,</m:t>
                    </m:r>
                    <m:r>
                      <a:rPr lang="en-US" altLang="zh-CN" sz="1600" i="1">
                        <a:latin typeface="Cambria Math" panose="02040503050406030204" pitchFamily="18" charset="0"/>
                      </a:rPr>
                      <m:t>𝐽</m:t>
                    </m:r>
                  </m:oMath>
                </a14:m>
                <a:r>
                  <a:rPr lang="zh-CN" altLang="zh-CN" sz="1600" dirty="0">
                    <a:latin typeface="Times New Roman" panose="02020603050405020304" pitchFamily="18" charset="0"/>
                    <a:cs typeface="Times New Roman" panose="02020603050405020304" pitchFamily="18" charset="0"/>
                  </a:rPr>
                  <a:t>。</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子孙结点</a:t>
                </a:r>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的孩子，以及这些孩子的孩子都是</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的子孙结点，简称子孙。例如，结点</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的子孙为</a:t>
                </a:r>
                <a14:m>
                  <m:oMath xmlns:m="http://schemas.openxmlformats.org/officeDocument/2006/math">
                    <m:r>
                      <a:rPr lang="en-US" altLang="zh-CN" sz="1600" i="1">
                        <a:latin typeface="Cambria Math" panose="02040503050406030204" pitchFamily="18" charset="0"/>
                      </a:rPr>
                      <m:t>𝐻</m:t>
                    </m:r>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r>
                      <a:rPr lang="en-US" altLang="zh-CN" sz="1600" i="1">
                        <a:latin typeface="Cambria Math" panose="02040503050406030204" pitchFamily="18" charset="0"/>
                      </a:rPr>
                      <m:t>𝐽</m:t>
                    </m:r>
                    <m:r>
                      <a:rPr lang="en-US" altLang="zh-CN" sz="1600" i="1">
                        <a:latin typeface="Cambria Math" panose="02040503050406030204" pitchFamily="18" charset="0"/>
                      </a:rPr>
                      <m:t>,</m:t>
                    </m:r>
                    <m:r>
                      <a:rPr lang="en-US" altLang="zh-CN" sz="1600" i="1">
                        <a:latin typeface="Cambria Math" panose="02040503050406030204" pitchFamily="18" charset="0"/>
                      </a:rPr>
                      <m:t>𝐾</m:t>
                    </m:r>
                  </m:oMath>
                </a14:m>
                <a:r>
                  <a:rPr lang="zh-CN" altLang="zh-CN" sz="1600" dirty="0">
                    <a:latin typeface="Times New Roman" panose="02020603050405020304" pitchFamily="18" charset="0"/>
                    <a:cs typeface="Times New Roman" panose="02020603050405020304" pitchFamily="18" charset="0"/>
                  </a:rPr>
                  <a:t>。</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结点的层次</a:t>
                </a:r>
                <a:r>
                  <a:rPr lang="zh-CN" altLang="zh-CN" sz="1600" dirty="0">
                    <a:latin typeface="Times New Roman" panose="02020603050405020304" pitchFamily="18" charset="0"/>
                    <a:cs typeface="Times New Roman" panose="02020603050405020304" pitchFamily="18" charset="0"/>
                  </a:rPr>
                  <a:t>：根结点的层次为</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，根结点的孩子的层次为</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，根结点的孩子的孩子的层次为</a:t>
                </a:r>
                <a:r>
                  <a:rPr lang="es-E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，依次类推。例如，根结点</a:t>
                </a:r>
                <a14:m>
                  <m:oMath xmlns:m="http://schemas.openxmlformats.org/officeDocument/2006/math">
                    <m:r>
                      <a:rPr lang="es-E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的层次为</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，结点</a:t>
                </a:r>
                <a14:m>
                  <m:oMath xmlns:m="http://schemas.openxmlformats.org/officeDocument/2006/math">
                    <m:r>
                      <a:rPr lang="en-US" altLang="zh-CN" sz="1600" i="1">
                        <a:latin typeface="Cambria Math" panose="02040503050406030204" pitchFamily="18" charset="0"/>
                      </a:rPr>
                      <m:t>𝐻</m:t>
                    </m:r>
                    <m:r>
                      <a:rPr lang="en-US" altLang="zh-CN" sz="1600" i="1">
                        <a:latin typeface="Cambria Math" panose="02040503050406030204" pitchFamily="18" charset="0"/>
                      </a:rPr>
                      <m:t>,</m:t>
                    </m:r>
                    <m:r>
                      <a:rPr lang="en-US" altLang="zh-CN" sz="1600" i="1">
                        <a:latin typeface="Cambria Math" panose="02040503050406030204" pitchFamily="18" charset="0"/>
                      </a:rPr>
                      <m:t>𝐼</m:t>
                    </m:r>
                    <m:r>
                      <a:rPr lang="en-US" altLang="zh-CN" sz="1600" i="1">
                        <a:latin typeface="Cambria Math" panose="02040503050406030204" pitchFamily="18" charset="0"/>
                      </a:rPr>
                      <m:t>,</m:t>
                    </m:r>
                    <m:r>
                      <a:rPr lang="en-US" altLang="zh-CN" sz="1600" i="1">
                        <a:latin typeface="Cambria Math" panose="02040503050406030204" pitchFamily="18" charset="0"/>
                      </a:rPr>
                      <m:t>𝐽</m:t>
                    </m:r>
                  </m:oMath>
                </a14:m>
                <a:r>
                  <a:rPr lang="zh-CN" altLang="zh-CN" sz="1600" dirty="0">
                    <a:latin typeface="Times New Roman" panose="02020603050405020304" pitchFamily="18" charset="0"/>
                    <a:cs typeface="Times New Roman" panose="02020603050405020304" pitchFamily="18" charset="0"/>
                  </a:rPr>
                  <a:t>的层次为</a:t>
                </a:r>
                <a:r>
                  <a:rPr lang="es-E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p>
              <a:p>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707654"/>
                <a:ext cx="8856984" cy="3299470"/>
              </a:xfrm>
              <a:blipFill>
                <a:blip r:embed="rId2"/>
                <a:stretch>
                  <a:fillRect l="-551" t="-924" r="-2753"/>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4067944" y="123478"/>
            <a:ext cx="1736872" cy="1400503"/>
          </a:xfrm>
          <a:prstGeom prst="rect">
            <a:avLst/>
          </a:prstGeom>
        </p:spPr>
      </p:pic>
      <p:sp>
        <p:nvSpPr>
          <p:cNvPr id="5" name="文本框 4"/>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树的基本术语</a:t>
            </a:r>
          </a:p>
        </p:txBody>
      </p:sp>
    </p:spTree>
    <p:extLst>
      <p:ext uri="{BB962C8B-B14F-4D97-AF65-F5344CB8AC3E}">
        <p14:creationId xmlns:p14="http://schemas.microsoft.com/office/powerpoint/2010/main" val="34382696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635646"/>
                <a:ext cx="8856984" cy="3363860"/>
              </a:xfrm>
            </p:spPr>
            <p:txBody>
              <a:bodyPr/>
              <a:lstStyle/>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树的深度</a:t>
                </a:r>
                <a:r>
                  <a:rPr lang="zh-CN" altLang="zh-CN" sz="1600" dirty="0">
                    <a:latin typeface="Times New Roman" panose="02020603050405020304" pitchFamily="18" charset="0"/>
                    <a:cs typeface="Times New Roman" panose="02020603050405020304" pitchFamily="18" charset="0"/>
                  </a:rPr>
                  <a:t>：树中结点的最大层次称为树的深度，也称为树高。空树的深度为</a:t>
                </a:r>
                <a:r>
                  <a:rPr lang="es-E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，只有一个根结点的树的深度为</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，图所示的树的深度为</a:t>
                </a:r>
                <a:r>
                  <a:rPr lang="es-E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路径</a:t>
                </a:r>
                <a:r>
                  <a:rPr lang="zh-CN" altLang="zh-CN" sz="1600" dirty="0">
                    <a:latin typeface="Times New Roman" panose="02020603050405020304" pitchFamily="18" charset="0"/>
                    <a:cs typeface="Times New Roman" panose="02020603050405020304" pitchFamily="18" charset="0"/>
                  </a:rPr>
                  <a:t>：从树的某个结点</a:t>
                </a:r>
                <a14:m>
                  <m:oMath xmlns:m="http://schemas.openxmlformats.org/officeDocument/2006/math">
                    <m:r>
                      <a:rPr lang="es-ES" altLang="zh-CN" sz="1600" i="1">
                        <a:latin typeface="Cambria Math" panose="02040503050406030204" pitchFamily="18" charset="0"/>
                      </a:rPr>
                      <m:t>𝑋</m:t>
                    </m:r>
                  </m:oMath>
                </a14:m>
                <a:r>
                  <a:rPr lang="zh-CN" altLang="zh-CN" sz="1600" dirty="0">
                    <a:latin typeface="Times New Roman" panose="02020603050405020304" pitchFamily="18" charset="0"/>
                    <a:cs typeface="Times New Roman" panose="02020603050405020304" pitchFamily="18" charset="0"/>
                  </a:rPr>
                  <a:t>到其子孙结点</a:t>
                </a:r>
                <a14:m>
                  <m:oMath xmlns:m="http://schemas.openxmlformats.org/officeDocument/2006/math">
                    <m:r>
                      <a:rPr lang="es-ES" altLang="zh-CN" sz="1600" i="1">
                        <a:latin typeface="Cambria Math" panose="02040503050406030204" pitchFamily="18" charset="0"/>
                      </a:rPr>
                      <m:t>𝑌</m:t>
                    </m:r>
                  </m:oMath>
                </a14:m>
                <a:r>
                  <a:rPr lang="zh-CN" altLang="zh-CN" sz="1600" dirty="0">
                    <a:latin typeface="Times New Roman" panose="02020603050405020304" pitchFamily="18" charset="0"/>
                    <a:cs typeface="Times New Roman" panose="02020603050405020304" pitchFamily="18" charset="0"/>
                  </a:rPr>
                  <a:t>所经过的路线叫做路径；路径上经过的边的条数称为路径长度。由于树中无回路，所以树的路径是唯一的。如图所示的树中，从结点</a:t>
                </a:r>
                <a14:m>
                  <m:oMath xmlns:m="http://schemas.openxmlformats.org/officeDocument/2006/math">
                    <m:r>
                      <a:rPr lang="es-ES" altLang="zh-CN" sz="1600" i="1">
                        <a:latin typeface="Cambria Math" panose="02040503050406030204" pitchFamily="18" charset="0"/>
                      </a:rPr>
                      <m:t>𝐴</m:t>
                    </m:r>
                  </m:oMath>
                </a14:m>
                <a:r>
                  <a:rPr lang="zh-CN" altLang="zh-CN" sz="1600" dirty="0">
                    <a:latin typeface="Times New Roman" panose="02020603050405020304" pitchFamily="18" charset="0"/>
                    <a:cs typeface="Times New Roman" panose="02020603050405020304" pitchFamily="18" charset="0"/>
                  </a:rPr>
                  <a:t>到结点</a:t>
                </a:r>
                <a14:m>
                  <m:oMath xmlns:m="http://schemas.openxmlformats.org/officeDocument/2006/math">
                    <m:r>
                      <a:rPr lang="es-ES" altLang="zh-CN" sz="1600" i="1">
                        <a:latin typeface="Cambria Math" panose="02040503050406030204" pitchFamily="18" charset="0"/>
                      </a:rPr>
                      <m:t>𝐾</m:t>
                    </m:r>
                  </m:oMath>
                </a14:m>
                <a:r>
                  <a:rPr lang="zh-CN" altLang="zh-CN" sz="1600" dirty="0">
                    <a:latin typeface="Times New Roman" panose="02020603050405020304" pitchFamily="18" charset="0"/>
                    <a:cs typeface="Times New Roman" panose="02020603050405020304" pitchFamily="18" charset="0"/>
                  </a:rPr>
                  <a:t>的路径是</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rPr>
                      <m:t>,</m:t>
                    </m:r>
                    <m:r>
                      <a:rPr lang="en-US" altLang="zh-CN" sz="1600" i="1">
                        <a:latin typeface="Cambria Math" panose="02040503050406030204" pitchFamily="18" charset="0"/>
                      </a:rPr>
                      <m:t>𝐷</m:t>
                    </m:r>
                    <m:r>
                      <a:rPr lang="en-US" altLang="zh-CN" sz="1600" i="1">
                        <a:latin typeface="Cambria Math" panose="02040503050406030204" pitchFamily="18" charset="0"/>
                      </a:rPr>
                      <m:t>,</m:t>
                    </m:r>
                    <m:r>
                      <a:rPr lang="en-US" altLang="zh-CN" sz="1600" i="1">
                        <a:latin typeface="Cambria Math" panose="02040503050406030204" pitchFamily="18" charset="0"/>
                      </a:rPr>
                      <m:t>𝐽</m:t>
                    </m:r>
                    <m:r>
                      <a:rPr lang="en-US" altLang="zh-CN" sz="1600" i="1">
                        <a:latin typeface="Cambria Math" panose="02040503050406030204" pitchFamily="18" charset="0"/>
                      </a:rPr>
                      <m:t>,</m:t>
                    </m:r>
                    <m:r>
                      <a:rPr lang="en-US" altLang="zh-CN" sz="1600" i="1">
                        <a:latin typeface="Cambria Math" panose="02040503050406030204" pitchFamily="18" charset="0"/>
                      </a:rPr>
                      <m:t>𝐾</m:t>
                    </m:r>
                  </m:oMath>
                </a14:m>
                <a:r>
                  <a:rPr lang="zh-CN" altLang="zh-CN" sz="1600" dirty="0">
                    <a:latin typeface="Times New Roman" panose="02020603050405020304" pitchFamily="18" charset="0"/>
                    <a:cs typeface="Times New Roman" panose="02020603050405020304" pitchFamily="18" charset="0"/>
                  </a:rPr>
                  <a:t>，路径长度为</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有序树与无序树</a:t>
                </a:r>
                <a:r>
                  <a:rPr lang="zh-CN" altLang="zh-CN" sz="1600" dirty="0">
                    <a:latin typeface="Times New Roman" panose="02020603050405020304" pitchFamily="18" charset="0"/>
                    <a:cs typeface="Times New Roman" panose="02020603050405020304" pitchFamily="18" charset="0"/>
                  </a:rPr>
                  <a:t>：如果树中各个结点的各子树从左到右都是有次序的树（即不能互换），则称该树为有序树，否则称为无序树。在有序树中最左边的子树的根称为第一个孩子，最右边的子树的根称为最后一个孩子。</a:t>
                </a:r>
              </a:p>
              <a:p>
                <a:pPr algn="just">
                  <a:lnSpc>
                    <a:spcPts val="2200"/>
                  </a:lnSpc>
                </a:pPr>
                <a:r>
                  <a:rPr lang="zh-CN" altLang="zh-CN" sz="1600" dirty="0">
                    <a:solidFill>
                      <a:srgbClr val="0070C0"/>
                    </a:solidFill>
                    <a:latin typeface="Times New Roman" panose="02020603050405020304" pitchFamily="18" charset="0"/>
                    <a:cs typeface="Times New Roman" panose="02020603050405020304" pitchFamily="18" charset="0"/>
                  </a:rPr>
                  <a:t>森林</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s-ES" altLang="zh-CN" sz="1600" i="1">
                        <a:latin typeface="Cambria Math" panose="02040503050406030204" pitchFamily="18" charset="0"/>
                      </a:rPr>
                      <m:t>𝑚</m:t>
                    </m:r>
                    <m:r>
                      <a:rPr lang="es-ES" altLang="zh-CN" sz="1600" i="1">
                        <a:latin typeface="Cambria Math" panose="02040503050406030204" pitchFamily="18" charset="0"/>
                      </a:rPr>
                      <m:t>(</m:t>
                    </m:r>
                    <m:r>
                      <a:rPr lang="es-ES" altLang="zh-CN" sz="1600" i="1">
                        <a:latin typeface="Cambria Math" panose="02040503050406030204" pitchFamily="18" charset="0"/>
                      </a:rPr>
                      <m:t>𝑚</m:t>
                    </m:r>
                    <m:r>
                      <a:rPr lang="es-E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棵互不相交的树构成的集合称之为森林。对树中每个结点而言，其子树的集合就为森林。</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635646"/>
                <a:ext cx="8856984" cy="3363860"/>
              </a:xfrm>
              <a:blipFill>
                <a:blip r:embed="rId2"/>
                <a:stretch>
                  <a:fillRect l="-551" t="-906" r="-55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4139952" y="91127"/>
            <a:ext cx="1736872" cy="1400503"/>
          </a:xfrm>
          <a:prstGeom prst="rect">
            <a:avLst/>
          </a:prstGeom>
        </p:spPr>
      </p:pic>
      <p:sp>
        <p:nvSpPr>
          <p:cNvPr id="5" name="文本框 4"/>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树的基本术语</a:t>
            </a:r>
          </a:p>
        </p:txBody>
      </p:sp>
    </p:spTree>
    <p:extLst>
      <p:ext uri="{BB962C8B-B14F-4D97-AF65-F5344CB8AC3E}">
        <p14:creationId xmlns:p14="http://schemas.microsoft.com/office/powerpoint/2010/main" val="33863108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707454"/>
                <a:ext cx="4680520" cy="4168552"/>
              </a:xfrm>
            </p:spPr>
            <p:txBody>
              <a:bodyPr/>
              <a:lstStyle/>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ADT Tree{</a:t>
                </a:r>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b="1" dirty="0">
                    <a:latin typeface="Times New Roman" panose="02020603050405020304" pitchFamily="18" charset="0"/>
                    <a:cs typeface="Times New Roman" panose="02020603050405020304" pitchFamily="18" charset="0"/>
                  </a:rPr>
                  <a:t>数据对象</a:t>
                </a:r>
                <a14:m>
                  <m:oMath xmlns:m="http://schemas.openxmlformats.org/officeDocument/2006/math">
                    <m:r>
                      <a:rPr lang="en-US" altLang="zh-CN" sz="1600" b="1" i="1">
                        <a:latin typeface="Cambria Math" panose="02040503050406030204" pitchFamily="18" charset="0"/>
                      </a:rPr>
                      <m:t>𝑫</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i="1">
                        <a:latin typeface="Cambria Math" panose="02040503050406030204" pitchFamily="18" charset="0"/>
                      </a:rPr>
                      <m:t>𝐷</m:t>
                    </m:r>
                    <m:r>
                      <a:rPr lang="zh-CN" altLang="zh-CN" sz="1600">
                        <a:latin typeface="Cambria Math" panose="02040503050406030204" pitchFamily="18" charset="0"/>
                      </a:rPr>
                      <m:t>为性质相同的数据元素的集合</m:t>
                    </m:r>
                  </m:oMath>
                </a14:m>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b="1" dirty="0">
                    <a:latin typeface="Times New Roman" panose="02020603050405020304" pitchFamily="18" charset="0"/>
                    <a:cs typeface="Times New Roman" panose="02020603050405020304" pitchFamily="18" charset="0"/>
                  </a:rPr>
                  <a:t>数据关系</a:t>
                </a:r>
                <a14:m>
                  <m:oMath xmlns:m="http://schemas.openxmlformats.org/officeDocument/2006/math">
                    <m:r>
                      <a:rPr lang="en-US" altLang="zh-CN" sz="1600" b="1" i="1">
                        <a:latin typeface="Cambria Math" panose="02040503050406030204" pitchFamily="18" charset="0"/>
                      </a:rPr>
                      <m:t>𝑹</m:t>
                    </m:r>
                  </m:oMath>
                </a14:m>
                <a:r>
                  <a:rPr lang="zh-CN" altLang="zh-CN" sz="1600" dirty="0">
                    <a:latin typeface="Times New Roman" panose="02020603050405020304" pitchFamily="18" charset="0"/>
                    <a:cs typeface="Times New Roman" panose="02020603050405020304" pitchFamily="18" charset="0"/>
                  </a:rPr>
                  <a:t>：</a:t>
                </a: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为空集，则称为空树；</a:t>
                </a: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仅有一个数据元素，则</a:t>
                </a:r>
                <a14:m>
                  <m:oMath xmlns:m="http://schemas.openxmlformats.org/officeDocument/2006/math">
                    <m:r>
                      <a:rPr lang="en-US" altLang="zh-CN" sz="1600" i="1">
                        <a:latin typeface="Cambria Math" panose="02040503050406030204" pitchFamily="18" charset="0"/>
                      </a:rPr>
                      <m:t>𝑅</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。否则</a:t>
                </a:r>
                <a14:m>
                  <m:oMath xmlns:m="http://schemas.openxmlformats.org/officeDocument/2006/math">
                    <m:r>
                      <a:rPr lang="en-US" altLang="zh-CN" sz="1600" i="1">
                        <a:latin typeface="Cambria Math" panose="02040503050406030204" pitchFamily="18" charset="0"/>
                      </a:rPr>
                      <m:t>𝑅</m:t>
                    </m:r>
                    <m:r>
                      <a:rPr lang="en-US" altLang="zh-CN" sz="1600" i="1">
                        <a:latin typeface="Cambria Math" panose="02040503050406030204" pitchFamily="18" charset="0"/>
                      </a:rPr>
                      <m:t>≠∅</m:t>
                    </m:r>
                  </m:oMath>
                </a14:m>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）在</a:t>
                </a:r>
                <a14:m>
                  <m:oMath xmlns:m="http://schemas.openxmlformats.org/officeDocument/2006/math">
                    <m:r>
                      <a:rPr lang="en-US" altLang="zh-CN" sz="1600" i="1">
                        <a:latin typeface="Cambria Math" panose="02040503050406030204" pitchFamily="18" charset="0"/>
                      </a:rPr>
                      <m:t>𝐷</m:t>
                    </m:r>
                  </m:oMath>
                </a14:m>
                <a:r>
                  <a:rPr lang="zh-CN" altLang="zh-CN" sz="1600" dirty="0">
                    <a:latin typeface="Times New Roman" panose="02020603050405020304" pitchFamily="18" charset="0"/>
                    <a:cs typeface="Times New Roman" panose="02020603050405020304" pitchFamily="18" charset="0"/>
                  </a:rPr>
                  <a:t>中存在唯一的称为根的数据元素</a:t>
                </a:r>
                <a14:m>
                  <m:oMath xmlns:m="http://schemas.openxmlformats.org/officeDocument/2006/math">
                    <m:r>
                      <a:rPr lang="en-US" altLang="zh-CN" sz="1600" i="1">
                        <a:latin typeface="Cambria Math" panose="02040503050406030204" pitchFamily="18" charset="0"/>
                      </a:rPr>
                      <m:t>𝑟𝑜𝑜𝑡</m:t>
                    </m:r>
                  </m:oMath>
                </a14:m>
                <a:r>
                  <a:rPr lang="zh-CN" altLang="zh-CN" sz="1600" dirty="0">
                    <a:latin typeface="Times New Roman" panose="02020603050405020304" pitchFamily="18" charset="0"/>
                    <a:cs typeface="Times New Roman" panose="02020603050405020304" pitchFamily="18" charset="0"/>
                  </a:rPr>
                  <a:t>，它在关系</a:t>
                </a:r>
                <a14:m>
                  <m:oMath xmlns:m="http://schemas.openxmlformats.org/officeDocument/2006/math">
                    <m:r>
                      <a:rPr lang="en-US" altLang="zh-CN" sz="1600" i="1">
                        <a:latin typeface="Cambria Math" panose="02040503050406030204" pitchFamily="18" charset="0"/>
                      </a:rPr>
                      <m:t>𝑅</m:t>
                    </m:r>
                  </m:oMath>
                </a14:m>
                <a:r>
                  <a:rPr lang="zh-CN" altLang="zh-CN" sz="1600" dirty="0">
                    <a:latin typeface="Times New Roman" panose="02020603050405020304" pitchFamily="18" charset="0"/>
                    <a:cs typeface="Times New Roman" panose="02020603050405020304" pitchFamily="18" charset="0"/>
                  </a:rPr>
                  <a:t>下无前驱；</a:t>
                </a:r>
              </a:p>
              <a:p>
                <a:pPr marL="0" indent="0" algn="just">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）存在</a:t>
                </a:r>
                <a14:m>
                  <m:oMath xmlns:m="http://schemas.openxmlformats.org/officeDocument/2006/math">
                    <m:r>
                      <a:rPr lang="en-US" altLang="zh-CN" sz="1600" i="1">
                        <a:latin typeface="Cambria Math" panose="02040503050406030204" pitchFamily="18" charset="0"/>
                      </a:rPr>
                      <m:t>𝐷</m:t>
                    </m:r>
                    <m:r>
                      <a:rPr lang="en-US" altLang="zh-CN" sz="1600" i="1">
                        <a:latin typeface="Cambria Math" panose="02040503050406030204" pitchFamily="18" charset="0"/>
                      </a:rPr>
                      <m:t>−{</m:t>
                    </m:r>
                    <m:r>
                      <a:rPr lang="en-US" altLang="zh-CN" sz="1600" i="1">
                        <a:latin typeface="Cambria Math" panose="02040503050406030204" pitchFamily="18" charset="0"/>
                      </a:rPr>
                      <m:t>𝑟𝑜𝑜𝑡</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的一个划分</a:t>
                </a:r>
                <a14:m>
                  <m:oMath xmlns:m="http://schemas.openxmlformats.org/officeDocument/2006/math">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𝐷</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𝐷</m:t>
                        </m:r>
                      </m:e>
                      <m:sub>
                        <m:r>
                          <a:rPr lang="es-ES" altLang="zh-CN" sz="1600" i="1">
                            <a:latin typeface="Cambria Math" panose="02040503050406030204" pitchFamily="18" charset="0"/>
                          </a:rPr>
                          <m:t>2</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𝐷</m:t>
                        </m:r>
                      </m:e>
                      <m:sub>
                        <m:r>
                          <a:rPr lang="es-ES" altLang="zh-CN" sz="1600" i="1">
                            <a:latin typeface="Cambria Math" panose="02040503050406030204" pitchFamily="18" charset="0"/>
                          </a:rPr>
                          <m:t>𝑚</m:t>
                        </m:r>
                      </m:sub>
                    </m:sSub>
                    <m:r>
                      <a:rPr lang="es-ES" altLang="zh-CN" sz="1600">
                        <a:latin typeface="Cambria Math" panose="02040503050406030204" pitchFamily="18" charset="0"/>
                      </a:rPr>
                      <m:t>}(</m:t>
                    </m:r>
                    <m:r>
                      <a:rPr lang="es-ES" altLang="zh-CN" sz="1600" i="1">
                        <a:latin typeface="Cambria Math" panose="02040503050406030204" pitchFamily="18" charset="0"/>
                      </a:rPr>
                      <m:t>𝑚</m:t>
                    </m:r>
                    <m:r>
                      <a:rPr lang="es-ES" altLang="zh-CN" sz="1600" i="1">
                        <a:latin typeface="Cambria Math" panose="02040503050406030204" pitchFamily="18" charset="0"/>
                      </a:rPr>
                      <m:t>&gt;0</m:t>
                    </m:r>
                    <m:r>
                      <a:rPr lang="es-E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，且对于</a:t>
                </a:r>
                <a14:m>
                  <m:oMath xmlns:m="http://schemas.openxmlformats.org/officeDocument/2006/math">
                    <m:r>
                      <a:rPr lang="es-ES" altLang="zh-CN" sz="1600" i="1">
                        <a:latin typeface="Cambria Math" panose="02040503050406030204" pitchFamily="18" charset="0"/>
                      </a:rPr>
                      <m:t>∀</m:t>
                    </m:r>
                    <m:r>
                      <a:rPr lang="es-ES" altLang="zh-CN" sz="1600" i="1">
                        <a:latin typeface="Cambria Math" panose="02040503050406030204" pitchFamily="18" charset="0"/>
                      </a:rPr>
                      <m:t>𝑖</m:t>
                    </m:r>
                    <m:r>
                      <a:rPr lang="es-ES" altLang="zh-CN" sz="1600" i="1">
                        <a:latin typeface="Cambria Math" panose="02040503050406030204" pitchFamily="18" charset="0"/>
                      </a:rPr>
                      <m:t>(1≤</m:t>
                    </m:r>
                    <m:r>
                      <a:rPr lang="es-ES" altLang="zh-CN" sz="1600" i="1">
                        <a:latin typeface="Cambria Math" panose="02040503050406030204" pitchFamily="18" charset="0"/>
                      </a:rPr>
                      <m:t>𝑖</m:t>
                    </m:r>
                    <m:r>
                      <a:rPr lang="es-ES" altLang="zh-CN" sz="1600" i="1">
                        <a:latin typeface="Cambria Math" panose="02040503050406030204" pitchFamily="18" charset="0"/>
                      </a:rPr>
                      <m:t>≤</m:t>
                    </m:r>
                    <m:r>
                      <a:rPr lang="es-ES" altLang="zh-CN" sz="1600" i="1">
                        <a:latin typeface="Cambria Math" panose="02040503050406030204" pitchFamily="18" charset="0"/>
                      </a:rPr>
                      <m:t>𝑚</m:t>
                    </m:r>
                    <m:r>
                      <a:rPr lang="es-E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，存在唯一的数据元素</a:t>
                </a:r>
                <a14:m>
                  <m:oMath xmlns:m="http://schemas.openxmlformats.org/officeDocument/2006/math">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𝑥</m:t>
                        </m:r>
                      </m:e>
                      <m:sub>
                        <m:r>
                          <a:rPr lang="es-ES" altLang="zh-CN" sz="1600" i="1">
                            <a:latin typeface="Cambria Math" panose="02040503050406030204" pitchFamily="18" charset="0"/>
                          </a:rPr>
                          <m:t>𝑖</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𝐷</m:t>
                        </m:r>
                      </m:e>
                      <m:sub>
                        <m:r>
                          <a:rPr lang="es-ES" altLang="zh-CN" sz="1600" i="1">
                            <a:latin typeface="Cambria Math" panose="02040503050406030204" pitchFamily="18" charset="0"/>
                          </a:rPr>
                          <m:t>𝑖</m:t>
                        </m:r>
                      </m:sub>
                    </m:sSub>
                  </m:oMath>
                </a14:m>
                <a:r>
                  <a:rPr lang="zh-CN" altLang="zh-CN" sz="1600" dirty="0">
                    <a:latin typeface="Times New Roman" panose="02020603050405020304" pitchFamily="18" charset="0"/>
                    <a:cs typeface="Times New Roman" panose="02020603050405020304" pitchFamily="18" charset="0"/>
                  </a:rPr>
                  <a:t>，有</a:t>
                </a:r>
                <a14:m>
                  <m:oMath xmlns:m="http://schemas.openxmlformats.org/officeDocument/2006/math">
                    <m:r>
                      <a:rPr lang="es-ES" altLang="zh-CN" sz="1600">
                        <a:latin typeface="Cambria Math" panose="02040503050406030204" pitchFamily="18" charset="0"/>
                      </a:rPr>
                      <m:t>(</m:t>
                    </m:r>
                    <m:r>
                      <a:rPr lang="es-ES" altLang="zh-CN" sz="1600" i="1">
                        <a:latin typeface="Cambria Math" panose="02040503050406030204" pitchFamily="18" charset="0"/>
                      </a:rPr>
                      <m:t>𝑟𝑜𝑜𝑡</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𝑥</m:t>
                        </m:r>
                      </m:e>
                      <m:sub>
                        <m:r>
                          <a:rPr lang="es-ES" altLang="zh-CN" sz="1600" i="1">
                            <a:latin typeface="Cambria Math" panose="02040503050406030204" pitchFamily="18" charset="0"/>
                          </a:rPr>
                          <m:t>𝑖</m:t>
                        </m:r>
                      </m:sub>
                    </m:sSub>
                    <m:r>
                      <a:rPr lang="es-ES" altLang="zh-CN" sz="1600" i="1">
                        <a:latin typeface="Cambria Math" panose="02040503050406030204" pitchFamily="18" charset="0"/>
                      </a:rPr>
                      <m:t>)</m:t>
                    </m:r>
                    <m:r>
                      <a:rPr lang="es-ES" altLang="zh-CN" sz="1600">
                        <a:latin typeface="Cambria Math" panose="02040503050406030204" pitchFamily="18" charset="0"/>
                      </a:rPr>
                      <m:t>∈</m:t>
                    </m:r>
                    <m:r>
                      <a:rPr lang="es-ES" altLang="zh-CN" sz="1600" i="1">
                        <a:latin typeface="Cambria Math" panose="02040503050406030204" pitchFamily="18" charset="0"/>
                      </a:rPr>
                      <m:t>𝑅</m:t>
                    </m:r>
                  </m:oMath>
                </a14:m>
                <a:r>
                  <a:rPr lang="zh-CN" altLang="zh-CN" sz="1600" dirty="0">
                    <a:latin typeface="Times New Roman" panose="02020603050405020304" pitchFamily="18" charset="0"/>
                    <a:cs typeface="Times New Roman" panose="02020603050405020304" pitchFamily="18" charset="0"/>
                  </a:rPr>
                  <a:t>。</a:t>
                </a:r>
              </a:p>
              <a:p>
                <a:pPr marL="0" indent="0" algn="just">
                  <a:lnSpc>
                    <a:spcPts val="2200"/>
                  </a:lnSpc>
                  <a:buNone/>
                </a:pPr>
                <a:r>
                  <a:rPr lang="zh-CN" altLang="zh-CN" sz="1600" dirty="0">
                    <a:latin typeface="Times New Roman" panose="02020603050405020304" pitchFamily="18" charset="0"/>
                    <a:cs typeface="Times New Roman" panose="02020603050405020304" pitchFamily="18" charset="0"/>
                  </a:rPr>
                  <a:t>（</a:t>
                </a:r>
                <a:r>
                  <a:rPr lang="es-E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）对应于</a:t>
                </a:r>
                <a14:m>
                  <m:oMath xmlns:m="http://schemas.openxmlformats.org/officeDocument/2006/math">
                    <m:r>
                      <a:rPr lang="en-US" altLang="zh-CN" sz="1600" i="1">
                        <a:latin typeface="Cambria Math" panose="02040503050406030204" pitchFamily="18" charset="0"/>
                      </a:rPr>
                      <m:t>𝐷</m:t>
                    </m:r>
                    <m:r>
                      <a:rPr lang="en-US" altLang="zh-CN" sz="1600" i="1">
                        <a:latin typeface="Cambria Math" panose="02040503050406030204" pitchFamily="18" charset="0"/>
                      </a:rPr>
                      <m:t>−{</m:t>
                    </m:r>
                    <m:r>
                      <a:rPr lang="en-US" altLang="zh-CN" sz="1600" i="1">
                        <a:latin typeface="Cambria Math" panose="02040503050406030204" pitchFamily="18" charset="0"/>
                      </a:rPr>
                      <m:t>𝑟𝑜𝑜𝑡</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的一个划分，</a:t>
                </a:r>
                <a14:m>
                  <m:oMath xmlns:m="http://schemas.openxmlformats.org/officeDocument/2006/math">
                    <m:r>
                      <a:rPr lang="es-ES" altLang="zh-CN" sz="1600" i="1">
                        <a:latin typeface="Cambria Math" panose="02040503050406030204" pitchFamily="18" charset="0"/>
                      </a:rPr>
                      <m:t>𝑅</m:t>
                    </m:r>
                    <m:r>
                      <a:rPr lang="es-ES" altLang="zh-CN" sz="1600" i="1">
                        <a:latin typeface="Cambria Math" panose="02040503050406030204" pitchFamily="18" charset="0"/>
                      </a:rPr>
                      <m:t>−{</m:t>
                    </m:r>
                    <m:d>
                      <m:dPr>
                        <m:ctrlPr>
                          <a:rPr lang="zh-CN" altLang="zh-CN" sz="1600" i="1">
                            <a:latin typeface="Cambria Math" panose="02040503050406030204" pitchFamily="18" charset="0"/>
                          </a:rPr>
                        </m:ctrlPr>
                      </m:dPr>
                      <m:e>
                        <m:r>
                          <a:rPr lang="es-ES" altLang="zh-CN" sz="1600" i="1">
                            <a:latin typeface="Cambria Math" panose="02040503050406030204" pitchFamily="18" charset="0"/>
                          </a:rPr>
                          <m:t>𝑟𝑜𝑜𝑡</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𝑥</m:t>
                            </m:r>
                          </m:e>
                          <m:sub>
                            <m:r>
                              <a:rPr lang="es-ES" altLang="zh-CN" sz="1600" i="1">
                                <a:latin typeface="Cambria Math" panose="02040503050406030204" pitchFamily="18" charset="0"/>
                              </a:rPr>
                              <m:t>1</m:t>
                            </m:r>
                          </m:sub>
                        </m:sSub>
                      </m:e>
                    </m:d>
                    <m:r>
                      <a:rPr lang="es-ES" altLang="zh-CN" sz="1600" i="1">
                        <a:latin typeface="Cambria Math" panose="02040503050406030204" pitchFamily="18" charset="0"/>
                      </a:rPr>
                      <m:t>,</m:t>
                    </m:r>
                    <m:d>
                      <m:dPr>
                        <m:ctrlPr>
                          <a:rPr lang="zh-CN" altLang="zh-CN" sz="1600" i="1">
                            <a:latin typeface="Cambria Math" panose="02040503050406030204" pitchFamily="18" charset="0"/>
                          </a:rPr>
                        </m:ctrlPr>
                      </m:dPr>
                      <m:e>
                        <m:r>
                          <a:rPr lang="es-ES" altLang="zh-CN" sz="1600" i="1">
                            <a:latin typeface="Cambria Math" panose="02040503050406030204" pitchFamily="18" charset="0"/>
                          </a:rPr>
                          <m:t>𝑟𝑜𝑜𝑡</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𝑥</m:t>
                            </m:r>
                          </m:e>
                          <m:sub>
                            <m:r>
                              <a:rPr lang="es-ES" altLang="zh-CN" sz="1600" i="1">
                                <a:latin typeface="Cambria Math" panose="02040503050406030204" pitchFamily="18" charset="0"/>
                              </a:rPr>
                              <m:t>2</m:t>
                            </m:r>
                          </m:sub>
                        </m:sSub>
                      </m:e>
                    </m:d>
                    <m:r>
                      <a:rPr lang="es-ES" altLang="zh-CN" sz="1600" i="1">
                        <a:latin typeface="Cambria Math" panose="02040503050406030204" pitchFamily="18" charset="0"/>
                      </a:rPr>
                      <m:t>,⋯,</m:t>
                    </m:r>
                    <m:d>
                      <m:dPr>
                        <m:ctrlPr>
                          <a:rPr lang="zh-CN" altLang="zh-CN" sz="1600" i="1">
                            <a:latin typeface="Cambria Math" panose="02040503050406030204" pitchFamily="18" charset="0"/>
                          </a:rPr>
                        </m:ctrlPr>
                      </m:dPr>
                      <m:e>
                        <m:r>
                          <a:rPr lang="es-ES" altLang="zh-CN" sz="1600" i="1">
                            <a:latin typeface="Cambria Math" panose="02040503050406030204" pitchFamily="18" charset="0"/>
                          </a:rPr>
                          <m:t>𝑟𝑜𝑜𝑡</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𝑥</m:t>
                            </m:r>
                          </m:e>
                          <m:sub>
                            <m:r>
                              <a:rPr lang="es-ES" altLang="zh-CN" sz="1600" i="1">
                                <a:latin typeface="Cambria Math" panose="02040503050406030204" pitchFamily="18" charset="0"/>
                              </a:rPr>
                              <m:t>𝑚</m:t>
                            </m:r>
                          </m:sub>
                        </m:sSub>
                      </m:e>
                    </m:d>
                    <m:r>
                      <a:rPr lang="es-E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存在唯一的一个划分</a:t>
                </a:r>
                <a14:m>
                  <m:oMath xmlns:m="http://schemas.openxmlformats.org/officeDocument/2006/math">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m:t>
                        </m:r>
                        <m:r>
                          <a:rPr lang="es-ES" altLang="zh-CN" sz="1600" i="1">
                            <a:latin typeface="Cambria Math" panose="02040503050406030204" pitchFamily="18" charset="0"/>
                          </a:rPr>
                          <m:t>𝑅</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𝑅</m:t>
                        </m:r>
                      </m:e>
                      <m:sub>
                        <m:r>
                          <a:rPr lang="es-ES" altLang="zh-CN" sz="1600" i="1">
                            <a:latin typeface="Cambria Math" panose="02040503050406030204" pitchFamily="18" charset="0"/>
                          </a:rPr>
                          <m:t>2</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𝑅</m:t>
                        </m:r>
                      </m:e>
                      <m:sub>
                        <m:r>
                          <a:rPr lang="es-ES" altLang="zh-CN" sz="1600" i="1">
                            <a:latin typeface="Cambria Math" panose="02040503050406030204" pitchFamily="18" charset="0"/>
                          </a:rPr>
                          <m:t>𝑚</m:t>
                        </m:r>
                      </m:sub>
                    </m:sSub>
                    <m:r>
                      <a:rPr lang="es-ES" altLang="zh-CN" sz="1600">
                        <a:latin typeface="Cambria Math" panose="02040503050406030204" pitchFamily="18" charset="0"/>
                      </a:rPr>
                      <m:t>}(</m:t>
                    </m:r>
                    <m:r>
                      <a:rPr lang="es-ES" altLang="zh-CN" sz="1600" i="1">
                        <a:latin typeface="Cambria Math" panose="02040503050406030204" pitchFamily="18" charset="0"/>
                      </a:rPr>
                      <m:t>𝑚</m:t>
                    </m:r>
                    <m:r>
                      <a:rPr lang="es-ES" altLang="zh-CN" sz="1600" i="1">
                        <a:latin typeface="Cambria Math" panose="02040503050406030204" pitchFamily="18" charset="0"/>
                      </a:rPr>
                      <m:t>&gt;0</m:t>
                    </m:r>
                    <m:r>
                      <a:rPr lang="es-E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，对于</a:t>
                </a:r>
                <a14:m>
                  <m:oMath xmlns:m="http://schemas.openxmlformats.org/officeDocument/2006/math">
                    <m:r>
                      <a:rPr lang="es-ES" altLang="zh-CN" sz="1600" i="1">
                        <a:latin typeface="Cambria Math" panose="02040503050406030204" pitchFamily="18" charset="0"/>
                      </a:rPr>
                      <m:t>∀</m:t>
                    </m:r>
                    <m:r>
                      <a:rPr lang="es-ES" altLang="zh-CN" sz="1600" i="1">
                        <a:latin typeface="Cambria Math" panose="02040503050406030204" pitchFamily="18" charset="0"/>
                      </a:rPr>
                      <m:t>𝑖</m:t>
                    </m:r>
                    <m:r>
                      <a:rPr lang="es-ES" altLang="zh-CN" sz="1600" i="1">
                        <a:latin typeface="Cambria Math" panose="02040503050406030204" pitchFamily="18" charset="0"/>
                      </a:rPr>
                      <m:t>(1≤</m:t>
                    </m:r>
                    <m:r>
                      <a:rPr lang="es-ES" altLang="zh-CN" sz="1600" i="1">
                        <a:latin typeface="Cambria Math" panose="02040503050406030204" pitchFamily="18" charset="0"/>
                      </a:rPr>
                      <m:t>𝑖</m:t>
                    </m:r>
                    <m:r>
                      <a:rPr lang="es-ES" altLang="zh-CN" sz="1600" i="1">
                        <a:latin typeface="Cambria Math" panose="02040503050406030204" pitchFamily="18" charset="0"/>
                      </a:rPr>
                      <m:t>≤</m:t>
                    </m:r>
                    <m:r>
                      <a:rPr lang="es-ES" altLang="zh-CN" sz="1600" i="1">
                        <a:latin typeface="Cambria Math" panose="02040503050406030204" pitchFamily="18" charset="0"/>
                      </a:rPr>
                      <m:t>𝑚</m:t>
                    </m:r>
                    <m:r>
                      <a:rPr lang="es-E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𝑅</m:t>
                        </m:r>
                      </m:e>
                      <m:sub>
                        <m:r>
                          <a:rPr lang="es-ES" altLang="zh-CN" sz="1600" i="1">
                            <a:latin typeface="Cambria Math" panose="02040503050406030204" pitchFamily="18" charset="0"/>
                          </a:rPr>
                          <m:t>𝑖</m:t>
                        </m:r>
                      </m:sub>
                    </m:sSub>
                  </m:oMath>
                </a14:m>
                <a:r>
                  <a:rPr lang="zh-CN" altLang="zh-CN" sz="1600" dirty="0">
                    <a:latin typeface="Times New Roman" panose="02020603050405020304" pitchFamily="18" charset="0"/>
                    <a:cs typeface="Times New Roman" panose="02020603050405020304" pitchFamily="18" charset="0"/>
                  </a:rPr>
                  <a:t>是</a:t>
                </a:r>
                <a14:m>
                  <m:oMath xmlns:m="http://schemas.openxmlformats.org/officeDocument/2006/math">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𝐷</m:t>
                        </m:r>
                      </m:e>
                      <m:sub>
                        <m:r>
                          <a:rPr lang="es-ES" altLang="zh-CN" sz="1600" i="1">
                            <a:latin typeface="Cambria Math" panose="02040503050406030204" pitchFamily="18" charset="0"/>
                          </a:rPr>
                          <m:t>𝑖</m:t>
                        </m:r>
                      </m:sub>
                    </m:sSub>
                  </m:oMath>
                </a14:m>
                <a:r>
                  <a:rPr lang="zh-CN" altLang="zh-CN" sz="1600" dirty="0">
                    <a:latin typeface="Times New Roman" panose="02020603050405020304" pitchFamily="18" charset="0"/>
                    <a:cs typeface="Times New Roman" panose="02020603050405020304" pitchFamily="18" charset="0"/>
                  </a:rPr>
                  <a:t>上的二元关系，</a:t>
                </a:r>
                <a14:m>
                  <m:oMath xmlns:m="http://schemas.openxmlformats.org/officeDocument/2006/math">
                    <m:d>
                      <m:dPr>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𝑥</m:t>
                            </m:r>
                          </m:e>
                          <m:sub>
                            <m:r>
                              <a:rPr lang="es-ES" altLang="zh-CN" sz="1600" i="1">
                                <a:latin typeface="Cambria Math" panose="02040503050406030204" pitchFamily="18" charset="0"/>
                              </a:rPr>
                              <m:t>𝑖</m:t>
                            </m:r>
                          </m:sub>
                        </m:sSub>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𝑅</m:t>
                            </m:r>
                          </m:e>
                          <m:sub>
                            <m:r>
                              <a:rPr lang="es-ES" altLang="zh-CN" sz="1600" i="1">
                                <a:latin typeface="Cambria Math" panose="02040503050406030204" pitchFamily="18" charset="0"/>
                              </a:rPr>
                              <m:t>𝑖</m:t>
                            </m:r>
                          </m:sub>
                        </m:sSub>
                      </m:e>
                    </m:d>
                    <m:r>
                      <a:rPr lang="es-ES" altLang="zh-CN" sz="1600" i="1">
                        <a:latin typeface="Cambria Math" panose="02040503050406030204" pitchFamily="18" charset="0"/>
                      </a:rPr>
                      <m:t>(</m:t>
                    </m:r>
                    <m:r>
                      <a:rPr lang="es-ES" altLang="zh-CN" sz="1600" i="1">
                        <a:latin typeface="Cambria Math" panose="02040503050406030204" pitchFamily="18" charset="0"/>
                      </a:rPr>
                      <m:t>𝑖</m:t>
                    </m:r>
                    <m:r>
                      <a:rPr lang="es-ES" altLang="zh-CN" sz="1600" i="1">
                        <a:latin typeface="Cambria Math" panose="02040503050406030204" pitchFamily="18" charset="0"/>
                      </a:rPr>
                      <m:t>=1,2,⋯,</m:t>
                    </m:r>
                    <m:r>
                      <a:rPr lang="es-ES" altLang="zh-CN" sz="1600" i="1">
                        <a:latin typeface="Cambria Math" panose="02040503050406030204" pitchFamily="18" charset="0"/>
                      </a:rPr>
                      <m:t>𝑚</m:t>
                    </m:r>
                    <m:r>
                      <a:rPr lang="es-E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是一棵符合本定义的树，称为根</a:t>
                </a:r>
                <a14:m>
                  <m:oMath xmlns:m="http://schemas.openxmlformats.org/officeDocument/2006/math">
                    <m:r>
                      <a:rPr lang="es-ES" altLang="zh-CN" sz="1600" i="1">
                        <a:latin typeface="Cambria Math" panose="02040503050406030204" pitchFamily="18" charset="0"/>
                      </a:rPr>
                      <m:t>𝑟𝑜𝑜𝑡</m:t>
                    </m:r>
                  </m:oMath>
                </a14:m>
                <a:r>
                  <a:rPr lang="zh-CN" altLang="zh-CN" sz="1600" dirty="0">
                    <a:latin typeface="Times New Roman" panose="02020603050405020304" pitchFamily="18" charset="0"/>
                    <a:cs typeface="Times New Roman" panose="02020603050405020304" pitchFamily="18" charset="0"/>
                  </a:rPr>
                  <a:t>的子树。</a:t>
                </a:r>
              </a:p>
              <a:p>
                <a:pPr algn="just">
                  <a:lnSpc>
                    <a:spcPts val="2200"/>
                  </a:lnSpc>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707454"/>
                <a:ext cx="4680520" cy="4168552"/>
              </a:xfrm>
              <a:blipFill>
                <a:blip r:embed="rId2"/>
                <a:stretch>
                  <a:fillRect l="-1172" t="-731" r="-55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004049" y="915566"/>
                <a:ext cx="4104455" cy="3293209"/>
              </a:xfrm>
              <a:prstGeom prst="rect">
                <a:avLst/>
              </a:prstGeom>
              <a:noFill/>
            </p:spPr>
            <p:txBody>
              <a:bodyPr wrap="square" rtlCol="0">
                <a:spAutoFit/>
              </a:bodyPr>
              <a:lstStyle/>
              <a:p>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b="1"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基本操作</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InitTree(&amp;t)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：构造一棵空树</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DestroyTree(&amp;t)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：销毁一棵树</a:t>
                </a:r>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Parent(t,e)</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：求结点</a:t>
                </a:r>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e </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的双亲结点</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Sons(t,e)</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：求结点</a:t>
                </a:r>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有所有孩子结点</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LeftChild(t,e)</a:t>
                </a: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返回结点</a:t>
                </a:r>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e </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的最左孩子</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RightSibling(t,e)</a:t>
                </a: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返回结点</a:t>
                </a:r>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的右兄弟结点</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TraraverseTree(t,visit())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：以</a:t>
                </a:r>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visit()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函数访问</a:t>
                </a:r>
                <a:r>
                  <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树中每个结点</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DepthTree(t)</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：返回树的深度</a:t>
                </a: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s-ES" altLang="zh-CN" sz="1600">
                        <a:solidFill>
                          <a:srgbClr val="0070C0"/>
                        </a:solidFill>
                        <a:latin typeface="Cambria Math" panose="02040503050406030204" pitchFamily="18" charset="0"/>
                      </a:rPr>
                      <m:t>⋯</m:t>
                    </m:r>
                  </m:oMath>
                </a14:m>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：其他操作</a:t>
                </a:r>
                <a:endParaRPr lang="en-U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r>
                  <a:rPr lang="es-ES"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}ADT Tree</a:t>
                </a:r>
                <a:endParaRPr lang="zh-CN" altLang="zh-CN" sz="16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sz="1600" dirty="0">
                  <a:latin typeface="隶书" panose="02010509060101010101" pitchFamily="49" charset="-122"/>
                  <a:ea typeface="隶书" panose="02010509060101010101" pitchFamily="49"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004049" y="915566"/>
                <a:ext cx="4104455" cy="3293209"/>
              </a:xfrm>
              <a:prstGeom prst="rect">
                <a:avLst/>
              </a:prstGeom>
              <a:blipFill>
                <a:blip r:embed="rId3"/>
                <a:stretch>
                  <a:fillRect l="-892" t="-741"/>
                </a:stretch>
              </a:blipFill>
            </p:spPr>
            <p:txBody>
              <a:bodyPr/>
              <a:lstStyle/>
              <a:p>
                <a:r>
                  <a:rPr lang="zh-CN" altLang="en-US">
                    <a:noFill/>
                  </a:rPr>
                  <a:t> </a:t>
                </a:r>
              </a:p>
            </p:txBody>
          </p:sp>
        </mc:Fallback>
      </mc:AlternateContent>
      <p:cxnSp>
        <p:nvCxnSpPr>
          <p:cNvPr id="6" name="直接连接符 5"/>
          <p:cNvCxnSpPr/>
          <p:nvPr/>
        </p:nvCxnSpPr>
        <p:spPr>
          <a:xfrm>
            <a:off x="4932040" y="-20538"/>
            <a:ext cx="0" cy="5143500"/>
          </a:xfrm>
          <a:prstGeom prst="line">
            <a:avLst/>
          </a:prstGeom>
          <a:ln>
            <a:solidFill>
              <a:srgbClr val="FF0000"/>
            </a:solidFill>
            <a:prstDash val="lgDashDot"/>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树的抽象数据类型定义</a:t>
            </a:r>
          </a:p>
        </p:txBody>
      </p:sp>
    </p:spTree>
    <p:extLst>
      <p:ext uri="{BB962C8B-B14F-4D97-AF65-F5344CB8AC3E}">
        <p14:creationId xmlns:p14="http://schemas.microsoft.com/office/powerpoint/2010/main" val="14447667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二叉树</a:t>
            </a:r>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66596281"/>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843558"/>
                <a:ext cx="8892480" cy="3507876"/>
              </a:xfrm>
            </p:spPr>
            <p:txBody>
              <a:bodyPr/>
              <a:lstStyle/>
              <a:p>
                <a:pPr algn="just">
                  <a:lnSpc>
                    <a:spcPct val="100000"/>
                  </a:lnSpc>
                </a:pPr>
                <a:r>
                  <a:rPr lang="en-US" altLang="zh-CN" sz="1600" dirty="0">
                    <a:latin typeface="Times New Roman" panose="02020603050405020304" pitchFamily="18" charset="0"/>
                    <a:cs typeface="Times New Roman" panose="02020603050405020304" pitchFamily="18" charset="0"/>
                  </a:rPr>
                  <a:t>  </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zh-CN" sz="1600" dirty="0">
                    <a:solidFill>
                      <a:srgbClr val="0070C0"/>
                    </a:solidFill>
                    <a:latin typeface="Times New Roman" panose="02020603050405020304" pitchFamily="18" charset="0"/>
                    <a:cs typeface="Times New Roman" panose="02020603050405020304" pitchFamily="18" charset="0"/>
                  </a:rPr>
                  <a:t>二叉树</a:t>
                </a:r>
                <a:r>
                  <a:rPr lang="zh-CN" altLang="zh-CN" sz="1600" dirty="0">
                    <a:latin typeface="Times New Roman" panose="02020603050405020304" pitchFamily="18" charset="0"/>
                    <a:cs typeface="Times New Roman" panose="02020603050405020304" pitchFamily="18" charset="0"/>
                  </a:rPr>
                  <a:t>是由</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≥0)</m:t>
                    </m:r>
                  </m:oMath>
                </a14:m>
                <a:r>
                  <a:rPr lang="zh-CN" altLang="zh-CN" sz="1600" dirty="0">
                    <a:latin typeface="Times New Roman" panose="02020603050405020304" pitchFamily="18" charset="0"/>
                    <a:cs typeface="Times New Roman" panose="02020603050405020304" pitchFamily="18" charset="0"/>
                  </a:rPr>
                  <a:t>个结点构成的有限集合，该集合或者为空集，此时称为空二叉树；或由一个根结点及两棵互不相交的左右子树组成，并且左右子树均是二叉树。二叉树的子树有左右之分，其次序不能颠倒。</a:t>
                </a:r>
                <a:endParaRPr lang="en-US" altLang="zh-CN" sz="1600" dirty="0">
                  <a:latin typeface="Times New Roman" panose="02020603050405020304" pitchFamily="18" charset="0"/>
                  <a:cs typeface="Times New Roman" panose="02020603050405020304" pitchFamily="18" charset="0"/>
                </a:endParaRPr>
              </a:p>
              <a:p>
                <a:pPr algn="just">
                  <a:lnSpc>
                    <a:spcPct val="100000"/>
                  </a:lnSpc>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二叉树的定义也是一个递归定义，二叉树可以是空集合，根可以有空的左子树或空的右子树。二叉树不是树的特殊情况，它们是两个概念。二叉树中即使只有一棵子树也要进行区分，说明它是左子树，还是右子树，这是二叉树与树的最主要的差别。因此，</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二叉树就是结点度为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的树</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的说法是错误的。二叉树的</a:t>
                </a:r>
                <a:r>
                  <a:rPr lang="en-US" altLang="zh-CN" sz="1600" dirty="0">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种基本形态如</a:t>
                </a:r>
                <a:r>
                  <a:rPr lang="zh-CN" altLang="en-US" sz="1600" dirty="0">
                    <a:latin typeface="Times New Roman" panose="02020603050405020304" pitchFamily="18" charset="0"/>
                    <a:cs typeface="Times New Roman" panose="02020603050405020304" pitchFamily="18" charset="0"/>
                  </a:rPr>
                  <a:t>下</a:t>
                </a:r>
                <a:r>
                  <a:rPr lang="zh-CN" altLang="zh-CN" sz="1600" dirty="0">
                    <a:latin typeface="Times New Roman" panose="02020603050405020304" pitchFamily="18" charset="0"/>
                    <a:cs typeface="Times New Roman" panose="02020603050405020304" pitchFamily="18" charset="0"/>
                  </a:rPr>
                  <a:t>图所示。</a:t>
                </a:r>
              </a:p>
              <a:p>
                <a:pPr algn="just">
                  <a:lnSpc>
                    <a:spcPct val="100000"/>
                  </a:lnSpc>
                </a:pPr>
                <a:endParaRPr lang="zh-CN" altLang="zh-CN" sz="20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843558"/>
                <a:ext cx="8892480" cy="3507876"/>
              </a:xfrm>
              <a:blipFill>
                <a:blip r:embed="rId2"/>
                <a:stretch>
                  <a:fillRect l="-548" t="-868" r="-2879"/>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827583" y="3435845"/>
            <a:ext cx="10125393"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6" name="图片 5"/>
          <p:cNvPicPr>
            <a:picLocks noChangeAspect="1"/>
          </p:cNvPicPr>
          <p:nvPr/>
        </p:nvPicPr>
        <p:blipFill>
          <a:blip r:embed="rId3"/>
          <a:stretch>
            <a:fillRect/>
          </a:stretch>
        </p:blipFill>
        <p:spPr>
          <a:xfrm>
            <a:off x="497329" y="3818720"/>
            <a:ext cx="863853" cy="707479"/>
          </a:xfrm>
          <a:prstGeom prst="rect">
            <a:avLst/>
          </a:prstGeom>
        </p:spPr>
      </p:pic>
      <p:pic>
        <p:nvPicPr>
          <p:cNvPr id="7" name="图片 6"/>
          <p:cNvPicPr>
            <a:picLocks noChangeAspect="1"/>
          </p:cNvPicPr>
          <p:nvPr/>
        </p:nvPicPr>
        <p:blipFill>
          <a:blip r:embed="rId4"/>
          <a:stretch>
            <a:fillRect/>
          </a:stretch>
        </p:blipFill>
        <p:spPr>
          <a:xfrm>
            <a:off x="1677201" y="3885953"/>
            <a:ext cx="1205564" cy="634654"/>
          </a:xfrm>
          <a:prstGeom prst="rect">
            <a:avLst/>
          </a:prstGeom>
        </p:spPr>
      </p:pic>
      <p:pic>
        <p:nvPicPr>
          <p:cNvPr id="8" name="图片 7"/>
          <p:cNvPicPr>
            <a:picLocks noChangeAspect="1"/>
          </p:cNvPicPr>
          <p:nvPr/>
        </p:nvPicPr>
        <p:blipFill>
          <a:blip r:embed="rId5"/>
          <a:stretch>
            <a:fillRect/>
          </a:stretch>
        </p:blipFill>
        <p:spPr>
          <a:xfrm>
            <a:off x="3125194" y="3055259"/>
            <a:ext cx="1646835" cy="1471536"/>
          </a:xfrm>
          <a:prstGeom prst="rect">
            <a:avLst/>
          </a:prstGeom>
        </p:spPr>
      </p:pic>
      <p:pic>
        <p:nvPicPr>
          <p:cNvPr id="9" name="图片 8"/>
          <p:cNvPicPr>
            <a:picLocks noChangeAspect="1"/>
          </p:cNvPicPr>
          <p:nvPr/>
        </p:nvPicPr>
        <p:blipFill>
          <a:blip r:embed="rId6"/>
          <a:stretch>
            <a:fillRect/>
          </a:stretch>
        </p:blipFill>
        <p:spPr>
          <a:xfrm>
            <a:off x="5014458" y="3120304"/>
            <a:ext cx="1556326" cy="1366906"/>
          </a:xfrm>
          <a:prstGeom prst="rect">
            <a:avLst/>
          </a:prstGeom>
        </p:spPr>
      </p:pic>
      <p:pic>
        <p:nvPicPr>
          <p:cNvPr id="11" name="图片 10"/>
          <p:cNvPicPr>
            <a:picLocks noChangeAspect="1"/>
          </p:cNvPicPr>
          <p:nvPr/>
        </p:nvPicPr>
        <p:blipFill>
          <a:blip r:embed="rId7"/>
          <a:stretch>
            <a:fillRect/>
          </a:stretch>
        </p:blipFill>
        <p:spPr>
          <a:xfrm>
            <a:off x="6813213" y="3055259"/>
            <a:ext cx="1840268" cy="1394887"/>
          </a:xfrm>
          <a:prstGeom prst="rect">
            <a:avLst/>
          </a:prstGeom>
        </p:spPr>
      </p:pic>
      <p:sp>
        <p:nvSpPr>
          <p:cNvPr id="12" name="文本框 11"/>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二叉树的定义</a:t>
            </a:r>
          </a:p>
        </p:txBody>
      </p:sp>
    </p:spTree>
    <p:extLst>
      <p:ext uri="{BB962C8B-B14F-4D97-AF65-F5344CB8AC3E}">
        <p14:creationId xmlns:p14="http://schemas.microsoft.com/office/powerpoint/2010/main" val="1518800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5" y="771550"/>
                <a:ext cx="5004046" cy="3507876"/>
              </a:xfrm>
            </p:spPr>
            <p:txBody>
              <a:bodyPr/>
              <a:lstStyle/>
              <a:p>
                <a:pPr marL="0" indent="0">
                  <a:lnSpc>
                    <a:spcPct val="100000"/>
                  </a:lnSpc>
                  <a:buNone/>
                </a:pPr>
                <a:r>
                  <a:rPr lang="es-ES" altLang="zh-CN" sz="1400" dirty="0">
                    <a:latin typeface="Times New Roman" panose="02020603050405020304" pitchFamily="18" charset="0"/>
                    <a:cs typeface="Times New Roman" panose="02020603050405020304" pitchFamily="18" charset="0"/>
                  </a:rPr>
                  <a:t>ADT BiTree{</a:t>
                </a:r>
                <a:endParaRPr lang="zh-CN" altLang="zh-CN" sz="1400" dirty="0">
                  <a:latin typeface="Times New Roman" panose="02020603050405020304" pitchFamily="18" charset="0"/>
                  <a:cs typeface="Times New Roman" panose="02020603050405020304" pitchFamily="18" charset="0"/>
                </a:endParaRPr>
              </a:p>
              <a:p>
                <a:pPr marL="0" indent="0">
                  <a:lnSpc>
                    <a:spcPts val="1300"/>
                  </a:lnSpc>
                  <a:buNone/>
                </a:pPr>
                <a:r>
                  <a:rPr lang="es-ES" altLang="zh-CN" sz="1400"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数据对象</a:t>
                </a:r>
                <a14:m>
                  <m:oMath xmlns:m="http://schemas.openxmlformats.org/officeDocument/2006/math">
                    <m:r>
                      <a:rPr lang="en-US" altLang="zh-CN" sz="1400" b="1" i="1">
                        <a:latin typeface="Cambria Math" panose="02040503050406030204" pitchFamily="18" charset="0"/>
                      </a:rPr>
                      <m:t>𝑫</m:t>
                    </m:r>
                  </m:oMath>
                </a14:m>
                <a:r>
                  <a:rPr lang="zh-CN" altLang="zh-CN" sz="14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400" i="1">
                        <a:latin typeface="Cambria Math" panose="02040503050406030204" pitchFamily="18" charset="0"/>
                      </a:rPr>
                      <m:t>𝐷</m:t>
                    </m:r>
                    <m:r>
                      <a:rPr lang="zh-CN" altLang="zh-CN" sz="1400">
                        <a:latin typeface="Cambria Math" panose="02040503050406030204" pitchFamily="18" charset="0"/>
                      </a:rPr>
                      <m:t>为性质相同的数据元素的集合</m:t>
                    </m:r>
                  </m:oMath>
                </a14:m>
                <a:endParaRPr lang="zh-CN" altLang="zh-CN" sz="1400" dirty="0">
                  <a:latin typeface="Times New Roman" panose="02020603050405020304" pitchFamily="18" charset="0"/>
                  <a:cs typeface="Times New Roman" panose="02020603050405020304" pitchFamily="18" charset="0"/>
                </a:endParaRPr>
              </a:p>
              <a:p>
                <a:pPr marL="0" indent="0">
                  <a:lnSpc>
                    <a:spcPts val="1300"/>
                  </a:lnSpc>
                  <a:buNone/>
                </a:pPr>
                <a:r>
                  <a:rPr lang="en-US" altLang="zh-CN" sz="1400" dirty="0">
                    <a:latin typeface="Times New Roman" panose="02020603050405020304" pitchFamily="18" charset="0"/>
                    <a:cs typeface="Times New Roman" panose="02020603050405020304" pitchFamily="18" charset="0"/>
                  </a:rPr>
                  <a:t>  </a:t>
                </a:r>
                <a:r>
                  <a:rPr lang="zh-CN" altLang="zh-CN" sz="1400" b="1" dirty="0">
                    <a:latin typeface="Times New Roman" panose="02020603050405020304" pitchFamily="18" charset="0"/>
                    <a:cs typeface="Times New Roman" panose="02020603050405020304" pitchFamily="18" charset="0"/>
                  </a:rPr>
                  <a:t>数据关系</a:t>
                </a:r>
                <a14:m>
                  <m:oMath xmlns:m="http://schemas.openxmlformats.org/officeDocument/2006/math">
                    <m:r>
                      <a:rPr lang="en-US" altLang="zh-CN" sz="1400" b="1" i="1">
                        <a:latin typeface="Cambria Math" panose="02040503050406030204" pitchFamily="18" charset="0"/>
                      </a:rPr>
                      <m:t>𝑹</m:t>
                    </m:r>
                  </m:oMath>
                </a14:m>
                <a:r>
                  <a:rPr lang="zh-CN" altLang="zh-CN" sz="1400" dirty="0">
                    <a:latin typeface="Times New Roman" panose="02020603050405020304" pitchFamily="18" charset="0"/>
                    <a:cs typeface="Times New Roman" panose="02020603050405020304" pitchFamily="18" charset="0"/>
                  </a:rPr>
                  <a:t>：</a:t>
                </a:r>
              </a:p>
              <a:p>
                <a:pPr marL="0" indent="0">
                  <a:lnSpc>
                    <a:spcPts val="1300"/>
                  </a:lnSpc>
                  <a:buNone/>
                </a:pP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400" i="1">
                        <a:latin typeface="Cambria Math" panose="02040503050406030204" pitchFamily="18" charset="0"/>
                      </a:rPr>
                      <m:t>𝐷</m:t>
                    </m:r>
                  </m:oMath>
                </a14:m>
                <a:r>
                  <a:rPr lang="zh-CN" altLang="zh-CN" sz="1400" dirty="0">
                    <a:latin typeface="Times New Roman" panose="02020603050405020304" pitchFamily="18" charset="0"/>
                    <a:cs typeface="Times New Roman" panose="02020603050405020304" pitchFamily="18" charset="0"/>
                  </a:rPr>
                  <a:t>为空集，则称为空二叉树；</a:t>
                </a:r>
              </a:p>
              <a:p>
                <a:pPr marL="0" indent="0">
                  <a:lnSpc>
                    <a:spcPts val="1300"/>
                  </a:lnSpc>
                  <a:buNone/>
                </a:pPr>
                <a:r>
                  <a:rPr lang="en-US" altLang="zh-CN" sz="1400" dirty="0">
                    <a:latin typeface="Times New Roman" panose="02020603050405020304" pitchFamily="18" charset="0"/>
                    <a:cs typeface="Times New Roman" panose="02020603050405020304" pitchFamily="18" charset="0"/>
                  </a:rPr>
                  <a:t>    </a:t>
                </a:r>
                <a:r>
                  <a:rPr lang="zh-CN" altLang="zh-CN" sz="14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400" i="1">
                        <a:latin typeface="Cambria Math" panose="02040503050406030204" pitchFamily="18" charset="0"/>
                      </a:rPr>
                      <m:t>𝐷</m:t>
                    </m:r>
                  </m:oMath>
                </a14:m>
                <a:r>
                  <a:rPr lang="zh-CN" altLang="zh-CN" sz="1400" dirty="0">
                    <a:latin typeface="Times New Roman" panose="02020603050405020304" pitchFamily="18" charset="0"/>
                    <a:cs typeface="Times New Roman" panose="02020603050405020304" pitchFamily="18" charset="0"/>
                  </a:rPr>
                  <a:t>仅有一个数据元素，则</a:t>
                </a:r>
                <a14:m>
                  <m:oMath xmlns:m="http://schemas.openxmlformats.org/officeDocument/2006/math">
                    <m:r>
                      <a:rPr lang="en-US" altLang="zh-CN" sz="1400" i="1">
                        <a:latin typeface="Cambria Math" panose="02040503050406030204" pitchFamily="18" charset="0"/>
                      </a:rPr>
                      <m:t>𝑅</m:t>
                    </m:r>
                    <m:r>
                      <a:rPr lang="en-U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。否则</a:t>
                </a:r>
                <a14:m>
                  <m:oMath xmlns:m="http://schemas.openxmlformats.org/officeDocument/2006/math">
                    <m:r>
                      <a:rPr lang="en-US" altLang="zh-CN" sz="1400" i="1">
                        <a:latin typeface="Cambria Math" panose="02040503050406030204" pitchFamily="18" charset="0"/>
                      </a:rPr>
                      <m:t>𝑅</m:t>
                    </m:r>
                    <m:r>
                      <a:rPr lang="en-US" altLang="zh-CN" sz="1400" i="1">
                        <a:latin typeface="Cambria Math" panose="02040503050406030204" pitchFamily="18" charset="0"/>
                      </a:rPr>
                      <m:t>≠∅</m:t>
                    </m:r>
                  </m:oMath>
                </a14:m>
                <a:endParaRPr lang="zh-CN" altLang="zh-CN" sz="1400" dirty="0">
                  <a:latin typeface="Times New Roman" panose="02020603050405020304" pitchFamily="18" charset="0"/>
                  <a:cs typeface="Times New Roman" panose="02020603050405020304" pitchFamily="18" charset="0"/>
                </a:endParaRPr>
              </a:p>
              <a:p>
                <a:pPr marL="0" indent="0">
                  <a:lnSpc>
                    <a:spcPct val="100000"/>
                  </a:lnSpc>
                  <a:buNone/>
                </a:pPr>
                <a:r>
                  <a:rPr lang="zh-CN" altLang="zh-CN"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1</a:t>
                </a:r>
                <a:r>
                  <a:rPr lang="zh-CN" altLang="zh-CN" sz="1400" dirty="0">
                    <a:latin typeface="Times New Roman" panose="02020603050405020304" pitchFamily="18" charset="0"/>
                    <a:cs typeface="Times New Roman" panose="02020603050405020304" pitchFamily="18" charset="0"/>
                  </a:rPr>
                  <a:t>）在</a:t>
                </a:r>
                <a14:m>
                  <m:oMath xmlns:m="http://schemas.openxmlformats.org/officeDocument/2006/math">
                    <m:r>
                      <a:rPr lang="en-US" altLang="zh-CN" sz="1400" i="1">
                        <a:latin typeface="Cambria Math" panose="02040503050406030204" pitchFamily="18" charset="0"/>
                      </a:rPr>
                      <m:t>𝐷</m:t>
                    </m:r>
                  </m:oMath>
                </a14:m>
                <a:r>
                  <a:rPr lang="zh-CN" altLang="zh-CN" sz="1400" dirty="0">
                    <a:latin typeface="Times New Roman" panose="02020603050405020304" pitchFamily="18" charset="0"/>
                    <a:cs typeface="Times New Roman" panose="02020603050405020304" pitchFamily="18" charset="0"/>
                  </a:rPr>
                  <a:t>中存在唯一的称为根的数据元素</a:t>
                </a:r>
                <a14:m>
                  <m:oMath xmlns:m="http://schemas.openxmlformats.org/officeDocument/2006/math">
                    <m:r>
                      <a:rPr lang="en-US" altLang="zh-CN" sz="1400" i="1">
                        <a:latin typeface="Cambria Math" panose="02040503050406030204" pitchFamily="18" charset="0"/>
                      </a:rPr>
                      <m:t>𝑟𝑜𝑜𝑡</m:t>
                    </m:r>
                  </m:oMath>
                </a14:m>
                <a:r>
                  <a:rPr lang="zh-CN" altLang="zh-CN" sz="1400" dirty="0">
                    <a:latin typeface="Times New Roman" panose="02020603050405020304" pitchFamily="18" charset="0"/>
                    <a:cs typeface="Times New Roman" panose="02020603050405020304" pitchFamily="18" charset="0"/>
                  </a:rPr>
                  <a:t>，它在关系</a:t>
                </a:r>
                <a14:m>
                  <m:oMath xmlns:m="http://schemas.openxmlformats.org/officeDocument/2006/math">
                    <m:r>
                      <a:rPr lang="en-US" altLang="zh-CN" sz="1400" i="1">
                        <a:latin typeface="Cambria Math" panose="02040503050406030204" pitchFamily="18" charset="0"/>
                      </a:rPr>
                      <m:t>𝑅</m:t>
                    </m:r>
                  </m:oMath>
                </a14:m>
                <a:r>
                  <a:rPr lang="zh-CN" altLang="zh-CN" sz="1400" dirty="0">
                    <a:latin typeface="Times New Roman" panose="02020603050405020304" pitchFamily="18" charset="0"/>
                    <a:cs typeface="Times New Roman" panose="02020603050405020304" pitchFamily="18" charset="0"/>
                  </a:rPr>
                  <a:t>下无前驱；</a:t>
                </a:r>
              </a:p>
              <a:p>
                <a:pPr marL="0" indent="0">
                  <a:lnSpc>
                    <a:spcPct val="100000"/>
                  </a:lnSpc>
                  <a:buNone/>
                </a:pPr>
                <a:r>
                  <a:rPr lang="zh-CN" altLang="zh-CN" sz="1400" dirty="0">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2</a:t>
                </a:r>
                <a:r>
                  <a:rPr lang="zh-CN" altLang="zh-CN" sz="1400" dirty="0">
                    <a:latin typeface="Times New Roman" panose="02020603050405020304" pitchFamily="18" charset="0"/>
                    <a:cs typeface="Times New Roman" panose="02020603050405020304" pitchFamily="18" charset="0"/>
                  </a:rPr>
                  <a:t>）存在</a:t>
                </a:r>
                <a14:m>
                  <m:oMath xmlns:m="http://schemas.openxmlformats.org/officeDocument/2006/math">
                    <m:r>
                      <a:rPr lang="en-US" altLang="zh-CN" sz="1400" i="1">
                        <a:latin typeface="Cambria Math" panose="02040503050406030204" pitchFamily="18" charset="0"/>
                      </a:rPr>
                      <m:t>𝐷</m:t>
                    </m:r>
                    <m:r>
                      <a:rPr lang="en-US" altLang="zh-CN" sz="1400" i="1">
                        <a:latin typeface="Cambria Math" panose="02040503050406030204" pitchFamily="18" charset="0"/>
                      </a:rPr>
                      <m:t>−{</m:t>
                    </m:r>
                    <m:r>
                      <a:rPr lang="en-US" altLang="zh-CN" sz="1400" i="1">
                        <a:latin typeface="Cambria Math" panose="02040503050406030204" pitchFamily="18" charset="0"/>
                      </a:rPr>
                      <m:t>𝑟𝑜𝑜𝑡</m:t>
                    </m:r>
                    <m:r>
                      <a:rPr lang="en-U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的一个划分</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，或</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，或</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400" i="1">
                        <a:latin typeface="Cambria Math" panose="02040503050406030204" pitchFamily="18" charset="0"/>
                      </a:rPr>
                      <m:t>𝐷</m:t>
                    </m:r>
                    <m:r>
                      <a:rPr lang="en-US" altLang="zh-CN" sz="1400" i="1">
                        <a:latin typeface="Cambria Math" panose="02040503050406030204" pitchFamily="18" charset="0"/>
                      </a:rPr>
                      <m:t>−{</m:t>
                    </m:r>
                    <m:r>
                      <a:rPr lang="en-US" altLang="zh-CN" sz="1400" i="1">
                        <a:latin typeface="Cambria Math" panose="02040503050406030204" pitchFamily="18" charset="0"/>
                      </a:rPr>
                      <m:t>𝑟𝑜𝑜𝑡</m:t>
                    </m:r>
                    <m:r>
                      <a:rPr lang="en-U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的一个划分为</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，则存在唯一的数据元素</a:t>
                </a:r>
                <a14:m>
                  <m:oMath xmlns:m="http://schemas.openxmlformats.org/officeDocument/2006/math">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𝑙</m:t>
                        </m:r>
                      </m:sub>
                    </m:sSub>
                  </m:oMath>
                </a14:m>
                <a:r>
                  <a:rPr lang="zh-CN" altLang="zh-CN" sz="1400" dirty="0">
                    <a:latin typeface="Times New Roman" panose="02020603050405020304" pitchFamily="18" charset="0"/>
                    <a:cs typeface="Times New Roman" panose="02020603050405020304" pitchFamily="18" charset="0"/>
                  </a:rPr>
                  <a:t>，有</a:t>
                </a:r>
                <a14:m>
                  <m:oMath xmlns:m="http://schemas.openxmlformats.org/officeDocument/2006/math">
                    <m:r>
                      <a:rPr lang="es-ES" altLang="zh-CN" sz="1400">
                        <a:latin typeface="Cambria Math" panose="02040503050406030204" pitchFamily="18" charset="0"/>
                      </a:rPr>
                      <m:t>(</m:t>
                    </m:r>
                    <m:r>
                      <a:rPr lang="es-ES" altLang="zh-CN" sz="1400" i="1">
                        <a:latin typeface="Cambria Math" panose="02040503050406030204" pitchFamily="18" charset="0"/>
                      </a:rPr>
                      <m:t>𝑟𝑜𝑜𝑡</m:t>
                    </m:r>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r>
                      <a:rPr lang="es-ES" altLang="zh-CN" sz="1400">
                        <a:latin typeface="Cambria Math" panose="02040503050406030204" pitchFamily="18" charset="0"/>
                      </a:rPr>
                      <m:t>∈</m:t>
                    </m:r>
                    <m:r>
                      <a:rPr lang="es-ES" altLang="zh-CN" sz="1400" i="1">
                        <a:latin typeface="Cambria Math" panose="02040503050406030204" pitchFamily="18" charset="0"/>
                      </a:rPr>
                      <m:t>𝑅</m:t>
                    </m:r>
                  </m:oMath>
                </a14:m>
                <a:r>
                  <a:rPr lang="zh-CN" altLang="zh-CN" sz="1400" dirty="0">
                    <a:latin typeface="Times New Roman" panose="02020603050405020304" pitchFamily="18" charset="0"/>
                    <a:cs typeface="Times New Roman" panose="02020603050405020304" pitchFamily="18" charset="0"/>
                  </a:rPr>
                  <a:t>，且存在</a:t>
                </a:r>
                <a14:m>
                  <m:oMath xmlns:m="http://schemas.openxmlformats.org/officeDocument/2006/math">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𝑙</m:t>
                        </m:r>
                      </m:sub>
                    </m:sSub>
                  </m:oMath>
                </a14:m>
                <a:r>
                  <a:rPr lang="zh-CN" altLang="zh-CN" sz="1400" dirty="0">
                    <a:latin typeface="Times New Roman" panose="02020603050405020304" pitchFamily="18" charset="0"/>
                    <a:cs typeface="Times New Roman" panose="02020603050405020304" pitchFamily="18" charset="0"/>
                  </a:rPr>
                  <a:t>上的关系</a:t>
                </a:r>
                <a14:m>
                  <m:oMath xmlns:m="http://schemas.openxmlformats.org/officeDocument/2006/math">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r>
                      <a:rPr lang="es-ES" altLang="zh-CN" sz="1400" i="1">
                        <a:latin typeface="Cambria Math" panose="02040503050406030204" pitchFamily="18" charset="0"/>
                      </a:rPr>
                      <m:t>𝑅</m:t>
                    </m:r>
                  </m:oMath>
                </a14:m>
                <a:r>
                  <a:rPr lang="zh-CN" altLang="zh-CN" sz="1400" dirty="0">
                    <a:latin typeface="Times New Roman" panose="02020603050405020304" pitchFamily="18" charset="0"/>
                    <a:cs typeface="Times New Roman" panose="02020603050405020304" pitchFamily="18" charset="0"/>
                  </a:rPr>
                  <a:t>；若</a:t>
                </a:r>
                <a14:m>
                  <m:oMath xmlns:m="http://schemas.openxmlformats.org/officeDocument/2006/math">
                    <m:r>
                      <a:rPr lang="en-US" altLang="zh-CN" sz="1400" i="1">
                        <a:latin typeface="Cambria Math" panose="02040503050406030204" pitchFamily="18" charset="0"/>
                      </a:rPr>
                      <m:t>𝐷</m:t>
                    </m:r>
                    <m:r>
                      <a:rPr lang="en-US" altLang="zh-CN" sz="1400" i="1">
                        <a:latin typeface="Cambria Math" panose="02040503050406030204" pitchFamily="18" charset="0"/>
                      </a:rPr>
                      <m:t>−{</m:t>
                    </m:r>
                    <m:r>
                      <a:rPr lang="en-US" altLang="zh-CN" sz="1400" i="1">
                        <a:latin typeface="Cambria Math" panose="02040503050406030204" pitchFamily="18" charset="0"/>
                      </a:rPr>
                      <m:t>𝑟𝑜𝑜𝑡</m:t>
                    </m:r>
                    <m:r>
                      <a:rPr lang="en-U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的一个划分为</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，则存在唯一的数据元素</a:t>
                </a:r>
                <a14:m>
                  <m:oMath xmlns:m="http://schemas.openxmlformats.org/officeDocument/2006/math">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𝑟</m:t>
                        </m:r>
                      </m:sub>
                    </m:sSub>
                  </m:oMath>
                </a14:m>
                <a:r>
                  <a:rPr lang="zh-CN" altLang="zh-CN" sz="1400" dirty="0">
                    <a:latin typeface="Times New Roman" panose="02020603050405020304" pitchFamily="18" charset="0"/>
                    <a:cs typeface="Times New Roman" panose="02020603050405020304" pitchFamily="18" charset="0"/>
                  </a:rPr>
                  <a:t>，有</a:t>
                </a:r>
                <a14:m>
                  <m:oMath xmlns:m="http://schemas.openxmlformats.org/officeDocument/2006/math">
                    <m:r>
                      <a:rPr lang="es-ES" altLang="zh-CN" sz="1400">
                        <a:latin typeface="Cambria Math" panose="02040503050406030204" pitchFamily="18" charset="0"/>
                      </a:rPr>
                      <m:t>(</m:t>
                    </m:r>
                    <m:r>
                      <a:rPr lang="es-ES" altLang="zh-CN" sz="1400" i="1">
                        <a:latin typeface="Cambria Math" panose="02040503050406030204" pitchFamily="18" charset="0"/>
                      </a:rPr>
                      <m:t>𝑟𝑜𝑜𝑡</m:t>
                    </m:r>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r>
                      <a:rPr lang="es-ES" altLang="zh-CN" sz="1400">
                        <a:latin typeface="Cambria Math" panose="02040503050406030204" pitchFamily="18" charset="0"/>
                      </a:rPr>
                      <m:t>∈</m:t>
                    </m:r>
                    <m:r>
                      <a:rPr lang="es-ES" altLang="zh-CN" sz="1400" i="1">
                        <a:latin typeface="Cambria Math" panose="02040503050406030204" pitchFamily="18" charset="0"/>
                      </a:rPr>
                      <m:t>𝑅</m:t>
                    </m:r>
                  </m:oMath>
                </a14:m>
                <a:r>
                  <a:rPr lang="zh-CN" altLang="zh-CN" sz="1400" dirty="0">
                    <a:latin typeface="Times New Roman" panose="02020603050405020304" pitchFamily="18" charset="0"/>
                    <a:cs typeface="Times New Roman" panose="02020603050405020304" pitchFamily="18" charset="0"/>
                  </a:rPr>
                  <a:t>，且存在</a:t>
                </a:r>
                <a14:m>
                  <m:oMath xmlns:m="http://schemas.openxmlformats.org/officeDocument/2006/math">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𝐷</m:t>
                        </m:r>
                      </m:e>
                      <m:sub>
                        <m:r>
                          <a:rPr lang="es-ES" altLang="zh-CN" sz="1400" i="1">
                            <a:latin typeface="Cambria Math" panose="02040503050406030204" pitchFamily="18" charset="0"/>
                          </a:rPr>
                          <m:t>𝑟</m:t>
                        </m:r>
                      </m:sub>
                    </m:sSub>
                  </m:oMath>
                </a14:m>
                <a:r>
                  <a:rPr lang="zh-CN" altLang="zh-CN" sz="1400" dirty="0">
                    <a:latin typeface="Times New Roman" panose="02020603050405020304" pitchFamily="18" charset="0"/>
                    <a:cs typeface="Times New Roman" panose="02020603050405020304" pitchFamily="18" charset="0"/>
                  </a:rPr>
                  <a:t>上的关系</a:t>
                </a:r>
                <a14:m>
                  <m:oMath xmlns:m="http://schemas.openxmlformats.org/officeDocument/2006/math">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r>
                      <a:rPr lang="es-ES" altLang="zh-CN" sz="1400" i="1">
                        <a:latin typeface="Cambria Math" panose="02040503050406030204" pitchFamily="18" charset="0"/>
                      </a:rPr>
                      <m:t>𝑅</m:t>
                    </m:r>
                  </m:oMath>
                </a14:m>
                <a:r>
                  <a:rPr lang="zh-CN" altLang="zh-CN" sz="1400" dirty="0">
                    <a:latin typeface="Times New Roman" panose="02020603050405020304" pitchFamily="18" charset="0"/>
                    <a:cs typeface="Times New Roman" panose="02020603050405020304" pitchFamily="18" charset="0"/>
                  </a:rPr>
                  <a:t>；</a:t>
                </a:r>
                <a14:m>
                  <m:oMath xmlns:m="http://schemas.openxmlformats.org/officeDocument/2006/math">
                    <m:r>
                      <a:rPr lang="es-ES" altLang="zh-CN" sz="1400" i="1">
                        <a:latin typeface="Cambria Math" panose="02040503050406030204" pitchFamily="18" charset="0"/>
                      </a:rPr>
                      <m:t>𝑅</m:t>
                    </m:r>
                    <m:r>
                      <a:rPr lang="es-ES" altLang="zh-CN" sz="1400">
                        <a:latin typeface="Cambria Math" panose="02040503050406030204" pitchFamily="18" charset="0"/>
                      </a:rPr>
                      <m:t>={</m:t>
                    </m:r>
                    <m:d>
                      <m:dPr>
                        <m:ctrlPr>
                          <a:rPr lang="zh-CN" altLang="zh-CN" sz="1400" i="1">
                            <a:latin typeface="Cambria Math" panose="02040503050406030204" pitchFamily="18" charset="0"/>
                          </a:rPr>
                        </m:ctrlPr>
                      </m:dPr>
                      <m:e>
                        <m:r>
                          <a:rPr lang="es-ES" altLang="zh-CN" sz="1400" i="1">
                            <a:latin typeface="Cambria Math" panose="02040503050406030204" pitchFamily="18" charset="0"/>
                          </a:rPr>
                          <m:t>𝑟𝑜𝑜𝑡</m:t>
                        </m:r>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𝑙</m:t>
                            </m:r>
                          </m:sub>
                        </m:sSub>
                      </m:e>
                    </m:d>
                    <m:r>
                      <a:rPr lang="es-ES" altLang="zh-CN" sz="1400" i="1">
                        <a:latin typeface="Cambria Math" panose="02040503050406030204" pitchFamily="18" charset="0"/>
                      </a:rPr>
                      <m:t>,</m:t>
                    </m:r>
                  </m:oMath>
                </a14:m>
                <a:r>
                  <a:rPr lang="es-ES" altLang="zh-CN" sz="1400" dirty="0">
                    <a:latin typeface="Times New Roman" panose="02020603050405020304" pitchFamily="18" charset="0"/>
                    <a:cs typeface="Times New Roman" panose="02020603050405020304" pitchFamily="18" charset="0"/>
                  </a:rPr>
                  <a:t> </a:t>
                </a:r>
                <a14:m>
                  <m:oMath xmlns:m="http://schemas.openxmlformats.org/officeDocument/2006/math">
                    <m:r>
                      <a:rPr lang="es-ES" altLang="zh-CN" sz="1400">
                        <a:latin typeface="Cambria Math" panose="02040503050406030204" pitchFamily="18" charset="0"/>
                      </a:rPr>
                      <m:t>(</m:t>
                    </m:r>
                    <m:r>
                      <a:rPr lang="es-ES" altLang="zh-CN" sz="1400" i="1">
                        <a:latin typeface="Cambria Math" panose="02040503050406030204" pitchFamily="18" charset="0"/>
                      </a:rPr>
                      <m:t>𝑟𝑜𝑜𝑡</m:t>
                    </m:r>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𝑟</m:t>
                        </m:r>
                      </m:sub>
                    </m:sSub>
                    <m:r>
                      <a:rPr lang="es-E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𝑟</m:t>
                        </m:r>
                      </m:sub>
                    </m:sSub>
                  </m:oMath>
                </a14:m>
                <a:r>
                  <a:rPr lang="zh-CN" altLang="zh-CN" sz="1400" dirty="0">
                    <a:latin typeface="Times New Roman" panose="02020603050405020304" pitchFamily="18" charset="0"/>
                    <a:cs typeface="Times New Roman" panose="02020603050405020304" pitchFamily="18" charset="0"/>
                  </a:rPr>
                  <a:t>。</a:t>
                </a:r>
              </a:p>
              <a:p>
                <a:pPr marL="0" indent="0">
                  <a:lnSpc>
                    <a:spcPct val="100000"/>
                  </a:lnSpc>
                  <a:buNone/>
                </a:pPr>
                <a:r>
                  <a:rPr lang="zh-CN" altLang="zh-CN" sz="1400" dirty="0">
                    <a:latin typeface="Times New Roman" panose="02020603050405020304" pitchFamily="18" charset="0"/>
                    <a:cs typeface="Times New Roman" panose="02020603050405020304" pitchFamily="18" charset="0"/>
                  </a:rPr>
                  <a:t>（</a:t>
                </a:r>
                <a:r>
                  <a:rPr lang="es-ES" altLang="zh-CN" sz="1400" dirty="0">
                    <a:latin typeface="Times New Roman" panose="02020603050405020304" pitchFamily="18" charset="0"/>
                    <a:cs typeface="Times New Roman" panose="02020603050405020304" pitchFamily="18" charset="0"/>
                  </a:rPr>
                  <a:t>3</a:t>
                </a:r>
                <a:r>
                  <a:rPr lang="zh-CN" altLang="zh-CN" sz="1400" dirty="0">
                    <a:latin typeface="Times New Roman" panose="02020603050405020304" pitchFamily="18" charset="0"/>
                    <a:cs typeface="Times New Roman" panose="02020603050405020304" pitchFamily="18" charset="0"/>
                  </a:rPr>
                  <a:t>）对应于</a:t>
                </a:r>
                <a14:m>
                  <m:oMath xmlns:m="http://schemas.openxmlformats.org/officeDocument/2006/math">
                    <m:r>
                      <a:rPr lang="en-US" altLang="zh-CN" sz="1400" i="1">
                        <a:latin typeface="Cambria Math" panose="02040503050406030204" pitchFamily="18" charset="0"/>
                      </a:rPr>
                      <m:t>𝐷</m:t>
                    </m:r>
                    <m:r>
                      <a:rPr lang="en-US" altLang="zh-CN" sz="1400" i="1">
                        <a:latin typeface="Cambria Math" panose="02040503050406030204" pitchFamily="18" charset="0"/>
                      </a:rPr>
                      <m:t>−{</m:t>
                    </m:r>
                    <m:r>
                      <a:rPr lang="en-US" altLang="zh-CN" sz="1400" i="1">
                        <a:latin typeface="Cambria Math" panose="02040503050406030204" pitchFamily="18" charset="0"/>
                      </a:rPr>
                      <m:t>𝑟𝑜𝑜𝑡</m:t>
                    </m:r>
                    <m:r>
                      <a:rPr lang="en-U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的一个划分，</a:t>
                </a:r>
                <a14:m>
                  <m:oMath xmlns:m="http://schemas.openxmlformats.org/officeDocument/2006/math">
                    <m:r>
                      <a:rPr lang="es-ES" altLang="zh-CN" sz="1400" i="1">
                        <a:latin typeface="Cambria Math" panose="02040503050406030204" pitchFamily="18" charset="0"/>
                      </a:rPr>
                      <m:t>𝑅</m:t>
                    </m:r>
                    <m:r>
                      <a:rPr lang="es-ES" altLang="zh-CN" sz="1400" i="1">
                        <a:latin typeface="Cambria Math" panose="02040503050406030204" pitchFamily="18" charset="0"/>
                      </a:rPr>
                      <m:t>−{</m:t>
                    </m:r>
                    <m:d>
                      <m:dPr>
                        <m:ctrlPr>
                          <a:rPr lang="zh-CN" altLang="zh-CN" sz="1400" i="1">
                            <a:latin typeface="Cambria Math" panose="02040503050406030204" pitchFamily="18" charset="0"/>
                          </a:rPr>
                        </m:ctrlPr>
                      </m:dPr>
                      <m:e>
                        <m:r>
                          <a:rPr lang="es-ES" altLang="zh-CN" sz="1400" i="1">
                            <a:latin typeface="Cambria Math" panose="02040503050406030204" pitchFamily="18" charset="0"/>
                          </a:rPr>
                          <m:t>𝑟𝑜𝑜𝑡</m:t>
                        </m:r>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𝑙</m:t>
                            </m:r>
                          </m:sub>
                        </m:sSub>
                      </m:e>
                    </m:d>
                    <m:r>
                      <a:rPr lang="es-ES" altLang="zh-CN" sz="1400" i="1">
                        <a:latin typeface="Cambria Math" panose="02040503050406030204" pitchFamily="18" charset="0"/>
                      </a:rPr>
                      <m:t>,</m:t>
                    </m:r>
                    <m:d>
                      <m:dPr>
                        <m:ctrlPr>
                          <a:rPr lang="zh-CN" altLang="zh-CN" sz="1400" i="1">
                            <a:latin typeface="Cambria Math" panose="02040503050406030204" pitchFamily="18" charset="0"/>
                          </a:rPr>
                        </m:ctrlPr>
                      </m:dPr>
                      <m:e>
                        <m:r>
                          <a:rPr lang="es-ES" altLang="zh-CN" sz="1400" i="1">
                            <a:latin typeface="Cambria Math" panose="02040503050406030204" pitchFamily="18" charset="0"/>
                          </a:rPr>
                          <m:t>𝑟𝑜𝑜𝑡</m:t>
                        </m:r>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𝑟</m:t>
                            </m:r>
                          </m:sub>
                        </m:sSub>
                      </m:e>
                    </m:d>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存在唯一的一个划分</a:t>
                </a:r>
                <a14:m>
                  <m:oMath xmlns:m="http://schemas.openxmlformats.org/officeDocument/2006/math">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𝑟</m:t>
                        </m:r>
                      </m:sub>
                    </m:sSub>
                    <m:r>
                      <a:rPr lang="es-ES" altLang="zh-CN" sz="1400">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，或</a:t>
                </a:r>
                <a14:m>
                  <m:oMath xmlns:m="http://schemas.openxmlformats.org/officeDocument/2006/math">
                    <m:r>
                      <a:rPr lang="en-U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𝑙</m:t>
                        </m:r>
                      </m:sub>
                    </m:sSub>
                    <m:r>
                      <a:rPr lang="es-ES" altLang="zh-CN" sz="1400" i="1">
                        <a:latin typeface="Cambria Math" panose="02040503050406030204" pitchFamily="18" charset="0"/>
                      </a:rPr>
                      <m:t>}</m:t>
                    </m:r>
                  </m:oMath>
                </a14:m>
                <a:r>
                  <a:rPr lang="zh-CN" altLang="zh-CN" sz="1400" dirty="0">
                    <a:latin typeface="Times New Roman" panose="02020603050405020304" pitchFamily="18" charset="0"/>
                    <a:cs typeface="Times New Roman" panose="02020603050405020304" pitchFamily="18" charset="0"/>
                  </a:rPr>
                  <a:t>，或</a:t>
                </a:r>
                <a14:m>
                  <m:oMath xmlns:m="http://schemas.openxmlformats.org/officeDocument/2006/math">
                    <m:d>
                      <m:dPr>
                        <m:begChr m:val="{"/>
                        <m:endChr m:val="}"/>
                        <m:ctrlPr>
                          <a:rPr lang="zh-CN" altLang="zh-CN" sz="1400" i="1">
                            <a:latin typeface="Cambria Math" panose="02040503050406030204" pitchFamily="18" charset="0"/>
                          </a:rPr>
                        </m:ctrlPr>
                      </m:dPr>
                      <m:e>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𝑟</m:t>
                            </m:r>
                          </m:sub>
                        </m:sSub>
                      </m:e>
                    </m:d>
                    <m:r>
                      <a:rPr lang="zh-CN" altLang="zh-CN" sz="1400">
                        <a:latin typeface="Cambria Math" panose="02040503050406030204" pitchFamily="18" charset="0"/>
                      </a:rPr>
                      <m:t>，</m:t>
                    </m:r>
                    <m:r>
                      <a:rPr lang="zh-CN" altLang="zh-CN" sz="1400">
                        <a:latin typeface="Cambria Math" panose="02040503050406030204" pitchFamily="18" charset="0"/>
                      </a:rPr>
                      <m:t> </m:t>
                    </m:r>
                    <m:d>
                      <m:dPr>
                        <m:ctrlPr>
                          <a:rPr lang="zh-CN" altLang="zh-CN" sz="1400" i="1">
                            <a:latin typeface="Cambria Math" panose="02040503050406030204" pitchFamily="18" charset="0"/>
                          </a:rPr>
                        </m:ctrlPr>
                      </m:dPr>
                      <m:e>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𝑙</m:t>
                            </m:r>
                          </m:sub>
                        </m:sSub>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𝑙</m:t>
                            </m:r>
                          </m:sub>
                        </m:sSub>
                      </m:e>
                    </m:d>
                  </m:oMath>
                </a14:m>
                <a:r>
                  <a:rPr lang="zh-CN" altLang="zh-CN" sz="1400" dirty="0">
                    <a:latin typeface="Times New Roman" panose="02020603050405020304" pitchFamily="18" charset="0"/>
                    <a:cs typeface="Times New Roman" panose="02020603050405020304" pitchFamily="18" charset="0"/>
                  </a:rPr>
                  <a:t>或</a:t>
                </a:r>
                <a14:m>
                  <m:oMath xmlns:m="http://schemas.openxmlformats.org/officeDocument/2006/math">
                    <m:d>
                      <m:dPr>
                        <m:ctrlPr>
                          <a:rPr lang="zh-CN" altLang="zh-CN" sz="1400" i="1">
                            <a:latin typeface="Cambria Math" panose="02040503050406030204" pitchFamily="18" charset="0"/>
                          </a:rPr>
                        </m:ctrlPr>
                      </m:dPr>
                      <m:e>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𝑥</m:t>
                            </m:r>
                          </m:e>
                          <m:sub>
                            <m:r>
                              <a:rPr lang="es-ES" altLang="zh-CN" sz="1400" i="1">
                                <a:latin typeface="Cambria Math" panose="02040503050406030204" pitchFamily="18" charset="0"/>
                              </a:rPr>
                              <m:t>𝑟</m:t>
                            </m:r>
                          </m:sub>
                        </m:sSub>
                        <m:r>
                          <a:rPr lang="es-ES" altLang="zh-CN" sz="1400">
                            <a:latin typeface="Cambria Math" panose="02040503050406030204" pitchFamily="18" charset="0"/>
                          </a:rPr>
                          <m:t>,</m:t>
                        </m:r>
                        <m:sSub>
                          <m:sSubPr>
                            <m:ctrlPr>
                              <a:rPr lang="zh-CN" altLang="zh-CN" sz="1400" i="1">
                                <a:latin typeface="Cambria Math" panose="02040503050406030204" pitchFamily="18" charset="0"/>
                              </a:rPr>
                            </m:ctrlPr>
                          </m:sSubPr>
                          <m:e>
                            <m:r>
                              <a:rPr lang="es-ES" altLang="zh-CN" sz="1400" i="1">
                                <a:latin typeface="Cambria Math" panose="02040503050406030204" pitchFamily="18" charset="0"/>
                              </a:rPr>
                              <m:t>𝑅</m:t>
                            </m:r>
                          </m:e>
                          <m:sub>
                            <m:r>
                              <a:rPr lang="es-ES" altLang="zh-CN" sz="1400" i="1">
                                <a:latin typeface="Cambria Math" panose="02040503050406030204" pitchFamily="18" charset="0"/>
                              </a:rPr>
                              <m:t>𝑟</m:t>
                            </m:r>
                          </m:sub>
                        </m:sSub>
                      </m:e>
                    </m:d>
                  </m:oMath>
                </a14:m>
                <a:r>
                  <a:rPr lang="zh-CN" altLang="zh-CN" sz="1400" dirty="0">
                    <a:latin typeface="Times New Roman" panose="02020603050405020304" pitchFamily="18" charset="0"/>
                    <a:cs typeface="Times New Roman" panose="02020603050405020304" pitchFamily="18" charset="0"/>
                  </a:rPr>
                  <a:t>是一棵符合本定义的树，称为根</a:t>
                </a:r>
                <a14:m>
                  <m:oMath xmlns:m="http://schemas.openxmlformats.org/officeDocument/2006/math">
                    <m:r>
                      <a:rPr lang="es-ES" altLang="zh-CN" sz="1400" i="1">
                        <a:latin typeface="Cambria Math" panose="02040503050406030204" pitchFamily="18" charset="0"/>
                      </a:rPr>
                      <m:t>𝑟𝑜𝑜𝑡</m:t>
                    </m:r>
                  </m:oMath>
                </a14:m>
                <a:r>
                  <a:rPr lang="zh-CN" altLang="zh-CN" sz="1400" dirty="0">
                    <a:latin typeface="Times New Roman" panose="02020603050405020304" pitchFamily="18" charset="0"/>
                    <a:cs typeface="Times New Roman" panose="02020603050405020304" pitchFamily="18" charset="0"/>
                  </a:rPr>
                  <a:t>的左子树或右子树。</a:t>
                </a:r>
              </a:p>
              <a:p>
                <a:pPr marL="0" indent="0">
                  <a:buNone/>
                </a:pP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5" y="771550"/>
                <a:ext cx="5004046" cy="3507876"/>
              </a:xfrm>
              <a:blipFill>
                <a:blip r:embed="rId2"/>
                <a:stretch>
                  <a:fillRect l="-853" t="-696" r="-4385" b="-1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292080" y="843558"/>
                <a:ext cx="3851920" cy="3754874"/>
              </a:xfrm>
              <a:prstGeom prst="rect">
                <a:avLst/>
              </a:prstGeom>
              <a:noFill/>
            </p:spPr>
            <p:txBody>
              <a:bodyPr wrap="square" rtlCol="0">
                <a:spAutoFit/>
              </a:bodyPr>
              <a:lstStyle/>
              <a:p>
                <a:r>
                  <a:rPr lang="zh-CN" altLang="zh-CN" sz="1400" b="1" dirty="0">
                    <a:solidFill>
                      <a:srgbClr val="0070C0"/>
                    </a:solidFill>
                    <a:latin typeface="Times New Roman" panose="02020603050405020304" pitchFamily="18" charset="0"/>
                    <a:cs typeface="Times New Roman" panose="02020603050405020304" pitchFamily="18" charset="0"/>
                  </a:rPr>
                  <a:t>基本操作</a:t>
                </a:r>
                <a:r>
                  <a:rPr lang="zh-CN" altLang="zh-CN" sz="1400" dirty="0">
                    <a:solidFill>
                      <a:srgbClr val="0070C0"/>
                    </a:solidFill>
                    <a:latin typeface="Times New Roman" panose="02020603050405020304" pitchFamily="18" charset="0"/>
                    <a:cs typeface="Times New Roman" panose="02020603050405020304" pitchFamily="18" charset="0"/>
                  </a:rPr>
                  <a:t>：</a:t>
                </a:r>
              </a:p>
              <a:p>
                <a:r>
                  <a:rPr lang="es-ES" altLang="zh-CN" sz="1400" dirty="0">
                    <a:solidFill>
                      <a:srgbClr val="0070C0"/>
                    </a:solidFill>
                    <a:latin typeface="Times New Roman" panose="02020603050405020304" pitchFamily="18" charset="0"/>
                    <a:cs typeface="Times New Roman" panose="02020603050405020304" pitchFamily="18" charset="0"/>
                  </a:rPr>
                  <a:t>     Initbitree(&amp;t)</a:t>
                </a:r>
                <a:r>
                  <a:rPr lang="zh-CN" altLang="zh-CN" sz="1400" dirty="0">
                    <a:solidFill>
                      <a:srgbClr val="0070C0"/>
                    </a:solidFill>
                    <a:latin typeface="Times New Roman" panose="02020603050405020304" pitchFamily="18" charset="0"/>
                    <a:cs typeface="Times New Roman" panose="02020603050405020304" pitchFamily="18" charset="0"/>
                  </a:rPr>
                  <a:t>：构造空二叉树</a:t>
                </a:r>
              </a:p>
              <a:p>
                <a:r>
                  <a:rPr lang="es-ES" altLang="zh-CN" sz="1400" dirty="0">
                    <a:solidFill>
                      <a:srgbClr val="0070C0"/>
                    </a:solidFill>
                    <a:latin typeface="Times New Roman" panose="02020603050405020304" pitchFamily="18" charset="0"/>
                    <a:cs typeface="Times New Roman" panose="02020603050405020304" pitchFamily="18" charset="0"/>
                  </a:rPr>
                  <a:t>     DestroyBitree(&amp;t)</a:t>
                </a:r>
                <a:r>
                  <a:rPr lang="zh-CN" altLang="zh-CN" sz="1400" dirty="0">
                    <a:solidFill>
                      <a:srgbClr val="0070C0"/>
                    </a:solidFill>
                    <a:latin typeface="Times New Roman" panose="02020603050405020304" pitchFamily="18" charset="0"/>
                    <a:cs typeface="Times New Roman" panose="02020603050405020304" pitchFamily="18" charset="0"/>
                  </a:rPr>
                  <a:t>：销毁二叉树</a:t>
                </a:r>
              </a:p>
              <a:p>
                <a:r>
                  <a:rPr lang="es-ES" altLang="zh-CN" sz="1400" dirty="0">
                    <a:solidFill>
                      <a:srgbClr val="0070C0"/>
                    </a:solidFill>
                    <a:latin typeface="Times New Roman" panose="02020603050405020304" pitchFamily="18" charset="0"/>
                    <a:cs typeface="Times New Roman" panose="02020603050405020304" pitchFamily="18" charset="0"/>
                  </a:rPr>
                  <a:t>     CreateBitree(&amp;t,n)</a:t>
                </a:r>
                <a:r>
                  <a:rPr lang="zh-CN" altLang="zh-CN" sz="1400" dirty="0">
                    <a:solidFill>
                      <a:srgbClr val="0070C0"/>
                    </a:solidFill>
                    <a:latin typeface="Times New Roman" panose="02020603050405020304" pitchFamily="18" charset="0"/>
                    <a:cs typeface="Times New Roman" panose="02020603050405020304" pitchFamily="18" charset="0"/>
                  </a:rPr>
                  <a:t>：创建具有</a:t>
                </a:r>
                <a:r>
                  <a:rPr lang="es-ES" altLang="zh-CN" sz="1400" dirty="0">
                    <a:solidFill>
                      <a:srgbClr val="0070C0"/>
                    </a:solidFill>
                    <a:latin typeface="Times New Roman" panose="02020603050405020304" pitchFamily="18" charset="0"/>
                    <a:cs typeface="Times New Roman" panose="02020603050405020304" pitchFamily="18" charset="0"/>
                  </a:rPr>
                  <a:t>n</a:t>
                </a:r>
                <a:r>
                  <a:rPr lang="zh-CN" altLang="zh-CN" sz="1400" dirty="0">
                    <a:solidFill>
                      <a:srgbClr val="0070C0"/>
                    </a:solidFill>
                    <a:latin typeface="Times New Roman" panose="02020603050405020304" pitchFamily="18" charset="0"/>
                    <a:cs typeface="Times New Roman" panose="02020603050405020304" pitchFamily="18" charset="0"/>
                  </a:rPr>
                  <a:t>个结点的二叉树</a:t>
                </a:r>
              </a:p>
              <a:p>
                <a:r>
                  <a:rPr lang="es-ES" altLang="zh-CN" sz="1400" dirty="0">
                    <a:solidFill>
                      <a:srgbClr val="0070C0"/>
                    </a:solidFill>
                    <a:latin typeface="Times New Roman" panose="02020603050405020304" pitchFamily="18" charset="0"/>
                    <a:cs typeface="Times New Roman" panose="02020603050405020304" pitchFamily="18" charset="0"/>
                  </a:rPr>
                  <a:t>     PreorderTree(t,visit())</a:t>
                </a:r>
                <a:r>
                  <a:rPr lang="zh-CN" altLang="zh-CN" sz="1400" dirty="0">
                    <a:solidFill>
                      <a:srgbClr val="0070C0"/>
                    </a:solidFill>
                    <a:latin typeface="Times New Roman" panose="02020603050405020304" pitchFamily="18" charset="0"/>
                    <a:cs typeface="Times New Roman" panose="02020603050405020304" pitchFamily="18" charset="0"/>
                  </a:rPr>
                  <a:t>：以</a:t>
                </a:r>
                <a:r>
                  <a:rPr lang="es-ES" altLang="zh-CN" sz="1400" dirty="0">
                    <a:solidFill>
                      <a:srgbClr val="0070C0"/>
                    </a:solidFill>
                    <a:latin typeface="Times New Roman" panose="02020603050405020304" pitchFamily="18" charset="0"/>
                    <a:cs typeface="Times New Roman" panose="02020603050405020304" pitchFamily="18" charset="0"/>
                  </a:rPr>
                  <a:t>visit()</a:t>
                </a:r>
                <a:r>
                  <a:rPr lang="zh-CN" altLang="zh-CN" sz="1400" dirty="0">
                    <a:solidFill>
                      <a:srgbClr val="0070C0"/>
                    </a:solidFill>
                    <a:latin typeface="Times New Roman" panose="02020603050405020304" pitchFamily="18" charset="0"/>
                    <a:cs typeface="Times New Roman" panose="02020603050405020304" pitchFamily="18" charset="0"/>
                  </a:rPr>
                  <a:t>函数先序遍历二叉树</a:t>
                </a:r>
              </a:p>
              <a:p>
                <a:r>
                  <a:rPr lang="es-ES" altLang="zh-CN" sz="1400" dirty="0">
                    <a:solidFill>
                      <a:srgbClr val="0070C0"/>
                    </a:solidFill>
                    <a:latin typeface="Times New Roman" panose="02020603050405020304" pitchFamily="18" charset="0"/>
                    <a:cs typeface="Times New Roman" panose="02020603050405020304" pitchFamily="18" charset="0"/>
                  </a:rPr>
                  <a:t>     InorderTree(t,visit())</a:t>
                </a:r>
                <a:r>
                  <a:rPr lang="zh-CN" altLang="zh-CN" sz="1400" dirty="0">
                    <a:solidFill>
                      <a:srgbClr val="0070C0"/>
                    </a:solidFill>
                    <a:latin typeface="Times New Roman" panose="02020603050405020304" pitchFamily="18" charset="0"/>
                    <a:cs typeface="Times New Roman" panose="02020603050405020304" pitchFamily="18" charset="0"/>
                  </a:rPr>
                  <a:t>：以</a:t>
                </a:r>
                <a:r>
                  <a:rPr lang="es-ES" altLang="zh-CN" sz="1400" dirty="0">
                    <a:solidFill>
                      <a:srgbClr val="0070C0"/>
                    </a:solidFill>
                    <a:latin typeface="Times New Roman" panose="02020603050405020304" pitchFamily="18" charset="0"/>
                    <a:cs typeface="Times New Roman" panose="02020603050405020304" pitchFamily="18" charset="0"/>
                  </a:rPr>
                  <a:t>visit()</a:t>
                </a:r>
                <a:r>
                  <a:rPr lang="zh-CN" altLang="zh-CN" sz="1400" dirty="0">
                    <a:solidFill>
                      <a:srgbClr val="0070C0"/>
                    </a:solidFill>
                    <a:latin typeface="Times New Roman" panose="02020603050405020304" pitchFamily="18" charset="0"/>
                    <a:cs typeface="Times New Roman" panose="02020603050405020304" pitchFamily="18" charset="0"/>
                  </a:rPr>
                  <a:t>函数中序遍历二叉树</a:t>
                </a:r>
              </a:p>
              <a:p>
                <a:r>
                  <a:rPr lang="es-ES" altLang="zh-CN" sz="1400" dirty="0">
                    <a:solidFill>
                      <a:srgbClr val="0070C0"/>
                    </a:solidFill>
                    <a:latin typeface="Times New Roman" panose="02020603050405020304" pitchFamily="18" charset="0"/>
                    <a:cs typeface="Times New Roman" panose="02020603050405020304" pitchFamily="18" charset="0"/>
                  </a:rPr>
                  <a:t>     PostorderTree(t,visit())</a:t>
                </a:r>
                <a:r>
                  <a:rPr lang="zh-CN" altLang="zh-CN" sz="1400" dirty="0">
                    <a:solidFill>
                      <a:srgbClr val="0070C0"/>
                    </a:solidFill>
                    <a:latin typeface="Times New Roman" panose="02020603050405020304" pitchFamily="18" charset="0"/>
                    <a:cs typeface="Times New Roman" panose="02020603050405020304" pitchFamily="18" charset="0"/>
                  </a:rPr>
                  <a:t>：以</a:t>
                </a:r>
                <a:r>
                  <a:rPr lang="es-ES" altLang="zh-CN" sz="1400" dirty="0">
                    <a:solidFill>
                      <a:srgbClr val="0070C0"/>
                    </a:solidFill>
                    <a:latin typeface="Times New Roman" panose="02020603050405020304" pitchFamily="18" charset="0"/>
                    <a:cs typeface="Times New Roman" panose="02020603050405020304" pitchFamily="18" charset="0"/>
                  </a:rPr>
                  <a:t>visit()</a:t>
                </a:r>
                <a:r>
                  <a:rPr lang="zh-CN" altLang="zh-CN" sz="1400" dirty="0">
                    <a:solidFill>
                      <a:srgbClr val="0070C0"/>
                    </a:solidFill>
                    <a:latin typeface="Times New Roman" panose="02020603050405020304" pitchFamily="18" charset="0"/>
                    <a:cs typeface="Times New Roman" panose="02020603050405020304" pitchFamily="18" charset="0"/>
                  </a:rPr>
                  <a:t>函数后序遍历二叉树</a:t>
                </a:r>
              </a:p>
              <a:p>
                <a:r>
                  <a:rPr lang="es-ES" altLang="zh-CN" sz="1400" dirty="0">
                    <a:solidFill>
                      <a:srgbClr val="0070C0"/>
                    </a:solidFill>
                    <a:latin typeface="Times New Roman" panose="02020603050405020304" pitchFamily="18" charset="0"/>
                    <a:cs typeface="Times New Roman" panose="02020603050405020304" pitchFamily="18" charset="0"/>
                  </a:rPr>
                  <a:t>     LeafBitree(t)</a:t>
                </a:r>
                <a:r>
                  <a:rPr lang="zh-CN" altLang="zh-CN" sz="1400" dirty="0">
                    <a:solidFill>
                      <a:srgbClr val="0070C0"/>
                    </a:solidFill>
                    <a:latin typeface="Times New Roman" panose="02020603050405020304" pitchFamily="18" charset="0"/>
                    <a:cs typeface="Times New Roman" panose="02020603050405020304" pitchFamily="18" charset="0"/>
                  </a:rPr>
                  <a:t>：计算二叉树的叶子数</a:t>
                </a:r>
              </a:p>
              <a:p>
                <a:r>
                  <a:rPr lang="es-ES" altLang="zh-CN" sz="1400" dirty="0">
                    <a:solidFill>
                      <a:srgbClr val="0070C0"/>
                    </a:solidFill>
                    <a:latin typeface="Times New Roman" panose="02020603050405020304" pitchFamily="18" charset="0"/>
                    <a:cs typeface="Times New Roman" panose="02020603050405020304" pitchFamily="18" charset="0"/>
                  </a:rPr>
                  <a:t>     DepthBitree(t)</a:t>
                </a:r>
                <a:r>
                  <a:rPr lang="zh-CN" altLang="zh-CN" sz="1400" dirty="0">
                    <a:solidFill>
                      <a:srgbClr val="0070C0"/>
                    </a:solidFill>
                    <a:latin typeface="Times New Roman" panose="02020603050405020304" pitchFamily="18" charset="0"/>
                    <a:cs typeface="Times New Roman" panose="02020603050405020304" pitchFamily="18" charset="0"/>
                  </a:rPr>
                  <a:t>：计算二叉树的深度</a:t>
                </a:r>
              </a:p>
              <a:p>
                <a:r>
                  <a:rPr lang="es-ES" altLang="zh-CN" sz="1400" dirty="0">
                    <a:solidFill>
                      <a:srgbClr val="0070C0"/>
                    </a:solidFill>
                    <a:latin typeface="Times New Roman" panose="02020603050405020304" pitchFamily="18" charset="0"/>
                    <a:cs typeface="Times New Roman" panose="02020603050405020304" pitchFamily="18" charset="0"/>
                  </a:rPr>
                  <a:t>     CopyBitree(s,&amp;t)</a:t>
                </a:r>
                <a:r>
                  <a:rPr lang="zh-CN" altLang="zh-CN" sz="1400" dirty="0">
                    <a:solidFill>
                      <a:srgbClr val="0070C0"/>
                    </a:solidFill>
                    <a:latin typeface="Times New Roman" panose="02020603050405020304" pitchFamily="18" charset="0"/>
                    <a:cs typeface="Times New Roman" panose="02020603050405020304" pitchFamily="18" charset="0"/>
                  </a:rPr>
                  <a:t>：把二叉树</a:t>
                </a:r>
                <a:r>
                  <a:rPr lang="es-ES" altLang="zh-CN" sz="1400" dirty="0">
                    <a:solidFill>
                      <a:srgbClr val="0070C0"/>
                    </a:solidFill>
                    <a:latin typeface="Times New Roman" panose="02020603050405020304" pitchFamily="18" charset="0"/>
                    <a:cs typeface="Times New Roman" panose="02020603050405020304" pitchFamily="18" charset="0"/>
                  </a:rPr>
                  <a:t>s</a:t>
                </a:r>
                <a:r>
                  <a:rPr lang="zh-CN" altLang="zh-CN" sz="1400" dirty="0">
                    <a:solidFill>
                      <a:srgbClr val="0070C0"/>
                    </a:solidFill>
                    <a:latin typeface="Times New Roman" panose="02020603050405020304" pitchFamily="18" charset="0"/>
                    <a:cs typeface="Times New Roman" panose="02020603050405020304" pitchFamily="18" charset="0"/>
                  </a:rPr>
                  <a:t>拷贝到二叉树</a:t>
                </a:r>
                <a:r>
                  <a:rPr lang="es-ES" altLang="zh-CN" sz="1400" dirty="0">
                    <a:solidFill>
                      <a:srgbClr val="0070C0"/>
                    </a:solidFill>
                    <a:latin typeface="Times New Roman" panose="02020603050405020304" pitchFamily="18" charset="0"/>
                    <a:cs typeface="Times New Roman" panose="02020603050405020304" pitchFamily="18" charset="0"/>
                  </a:rPr>
                  <a:t>t</a:t>
                </a:r>
                <a:endParaRPr lang="zh-CN" altLang="zh-CN" sz="1400" dirty="0">
                  <a:solidFill>
                    <a:srgbClr val="0070C0"/>
                  </a:solidFill>
                  <a:latin typeface="Times New Roman" panose="02020603050405020304" pitchFamily="18" charset="0"/>
                  <a:cs typeface="Times New Roman" panose="02020603050405020304" pitchFamily="18" charset="0"/>
                </a:endParaRPr>
              </a:p>
              <a:p>
                <a:r>
                  <a:rPr lang="es-ES" altLang="zh-CN" sz="1400" dirty="0">
                    <a:solidFill>
                      <a:srgbClr val="0070C0"/>
                    </a:solidFill>
                    <a:latin typeface="Times New Roman" panose="02020603050405020304" pitchFamily="18" charset="0"/>
                    <a:cs typeface="Times New Roman" panose="02020603050405020304" pitchFamily="18" charset="0"/>
                  </a:rPr>
                  <a:t>         </a:t>
                </a:r>
                <a14:m>
                  <m:oMath xmlns:m="http://schemas.openxmlformats.org/officeDocument/2006/math">
                    <m:r>
                      <a:rPr lang="es-ES" altLang="zh-CN" sz="1400">
                        <a:solidFill>
                          <a:srgbClr val="0070C0"/>
                        </a:solidFill>
                        <a:latin typeface="Cambria Math" panose="02040503050406030204" pitchFamily="18" charset="0"/>
                      </a:rPr>
                      <m:t>⋯</m:t>
                    </m:r>
                  </m:oMath>
                </a14:m>
                <a:r>
                  <a:rPr lang="es-ES" altLang="zh-CN" sz="1400" dirty="0">
                    <a:solidFill>
                      <a:srgbClr val="0070C0"/>
                    </a:solidFill>
                    <a:latin typeface="Times New Roman" panose="02020603050405020304" pitchFamily="18" charset="0"/>
                    <a:cs typeface="Times New Roman" panose="02020603050405020304" pitchFamily="18" charset="0"/>
                  </a:rPr>
                  <a:t>            </a:t>
                </a:r>
                <a:r>
                  <a:rPr lang="zh-CN" altLang="zh-CN" sz="1400" dirty="0">
                    <a:solidFill>
                      <a:srgbClr val="0070C0"/>
                    </a:solidFill>
                    <a:latin typeface="Times New Roman" panose="02020603050405020304" pitchFamily="18" charset="0"/>
                    <a:cs typeface="Times New Roman" panose="02020603050405020304" pitchFamily="18" charset="0"/>
                  </a:rPr>
                  <a:t>：其他操作</a:t>
                </a:r>
              </a:p>
              <a:p>
                <a:r>
                  <a:rPr lang="es-ES" altLang="zh-CN" sz="1400" dirty="0">
                    <a:solidFill>
                      <a:srgbClr val="0070C0"/>
                    </a:solidFill>
                    <a:latin typeface="Times New Roman" panose="02020603050405020304" pitchFamily="18" charset="0"/>
                    <a:cs typeface="Times New Roman" panose="02020603050405020304" pitchFamily="18" charset="0"/>
                  </a:rPr>
                  <a:t>}ADT Bitree</a:t>
                </a:r>
                <a:endParaRPr lang="zh-CN" altLang="zh-CN" sz="1400" dirty="0">
                  <a:solidFill>
                    <a:srgbClr val="0070C0"/>
                  </a:solidFill>
                  <a:latin typeface="Times New Roman" panose="02020603050405020304" pitchFamily="18" charset="0"/>
                  <a:cs typeface="Times New Roman" panose="02020603050405020304" pitchFamily="18" charset="0"/>
                </a:endParaRPr>
              </a:p>
              <a:p>
                <a:endParaRPr lang="zh-CN" altLang="en-US" sz="1400" dirty="0">
                  <a:solidFill>
                    <a:srgbClr val="0070C0"/>
                  </a:solidFill>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292080" y="843558"/>
                <a:ext cx="3851920" cy="3754874"/>
              </a:xfrm>
              <a:prstGeom prst="rect">
                <a:avLst/>
              </a:prstGeom>
              <a:blipFill>
                <a:blip r:embed="rId3"/>
                <a:stretch>
                  <a:fillRect l="-475" t="-325"/>
                </a:stretch>
              </a:blipFill>
            </p:spPr>
            <p:txBody>
              <a:bodyPr/>
              <a:lstStyle/>
              <a:p>
                <a:r>
                  <a:rPr lang="zh-CN" altLang="en-US">
                    <a:noFill/>
                  </a:rPr>
                  <a:t> </a:t>
                </a:r>
              </a:p>
            </p:txBody>
          </p:sp>
        </mc:Fallback>
      </mc:AlternateContent>
      <p:cxnSp>
        <p:nvCxnSpPr>
          <p:cNvPr id="6" name="直接连接符 5"/>
          <p:cNvCxnSpPr/>
          <p:nvPr/>
        </p:nvCxnSpPr>
        <p:spPr>
          <a:xfrm flipV="1">
            <a:off x="5220072" y="0"/>
            <a:ext cx="0" cy="5143501"/>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7" name="文本框 6"/>
          <p:cNvSpPr txBox="1"/>
          <p:nvPr/>
        </p:nvSpPr>
        <p:spPr>
          <a:xfrm>
            <a:off x="612366" y="123478"/>
            <a:ext cx="323955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二叉树的抽象数据类型定义</a:t>
            </a:r>
          </a:p>
        </p:txBody>
      </p:sp>
    </p:spTree>
    <p:extLst>
      <p:ext uri="{BB962C8B-B14F-4D97-AF65-F5344CB8AC3E}">
        <p14:creationId xmlns:p14="http://schemas.microsoft.com/office/powerpoint/2010/main" val="963391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856984" cy="3507876"/>
              </a:xfrm>
            </p:spPr>
            <p:txBody>
              <a:bodyPr/>
              <a:lstStyle/>
              <a:p>
                <a:pPr marL="0" indent="0">
                  <a:lnSpc>
                    <a:spcPts val="2100"/>
                  </a:lnSpc>
                  <a:buNone/>
                </a:pPr>
                <a:r>
                  <a:rPr lang="zh-CN" altLang="zh-CN" sz="1600" dirty="0">
                    <a:solidFill>
                      <a:srgbClr val="0070C0"/>
                    </a:solidFill>
                    <a:latin typeface="Times New Roman" panose="02020603050405020304" pitchFamily="18" charset="0"/>
                    <a:cs typeface="Times New Roman" panose="02020603050405020304" pitchFamily="18" charset="0"/>
                  </a:rPr>
                  <a:t>性质</a:t>
                </a:r>
                <a:r>
                  <a:rPr lang="en-US" altLang="zh-CN" sz="1600" dirty="0">
                    <a:solidFill>
                      <a:srgbClr val="0070C0"/>
                    </a:solidFill>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二叉树的第</a:t>
                </a:r>
                <a14:m>
                  <m:oMath xmlns:m="http://schemas.openxmlformats.org/officeDocument/2006/math">
                    <m:r>
                      <a:rPr lang="en-US" altLang="zh-CN" sz="1600" i="1">
                        <a:solidFill>
                          <a:srgbClr val="C00000"/>
                        </a:solidFill>
                        <a:latin typeface="Cambria Math" panose="02040503050406030204" pitchFamily="18" charset="0"/>
                      </a:rPr>
                      <m:t>𝑖</m:t>
                    </m:r>
                  </m:oMath>
                </a14:m>
                <a:r>
                  <a:rPr lang="zh-CN" altLang="zh-CN" sz="1600" dirty="0">
                    <a:solidFill>
                      <a:srgbClr val="C00000"/>
                    </a:solidFill>
                    <a:latin typeface="Times New Roman" panose="02020603050405020304" pitchFamily="18" charset="0"/>
                    <a:cs typeface="Times New Roman" panose="02020603050405020304" pitchFamily="18" charset="0"/>
                  </a:rPr>
                  <a:t>层上至多有</a:t>
                </a:r>
                <a14:m>
                  <m:oMath xmlns:m="http://schemas.openxmlformats.org/officeDocument/2006/math">
                    <m:sSup>
                      <m:sSupPr>
                        <m:ctrlPr>
                          <a:rPr lang="zh-CN" altLang="zh-CN" sz="1600" i="1">
                            <a:solidFill>
                              <a:srgbClr val="C00000"/>
                            </a:solidFill>
                            <a:latin typeface="Cambria Math" panose="02040503050406030204" pitchFamily="18" charset="0"/>
                          </a:rPr>
                        </m:ctrlPr>
                      </m:sSupPr>
                      <m:e>
                        <m:r>
                          <a:rPr lang="en-US" altLang="zh-CN" sz="1600" i="1">
                            <a:solidFill>
                              <a:srgbClr val="C00000"/>
                            </a:solidFill>
                            <a:latin typeface="Cambria Math" panose="02040503050406030204" pitchFamily="18" charset="0"/>
                          </a:rPr>
                          <m:t>2</m:t>
                        </m:r>
                      </m:e>
                      <m:sup>
                        <m:r>
                          <a:rPr lang="en-US" altLang="zh-CN" sz="1600" i="1">
                            <a:solidFill>
                              <a:srgbClr val="C00000"/>
                            </a:solidFill>
                            <a:latin typeface="Cambria Math" panose="02040503050406030204" pitchFamily="18" charset="0"/>
                          </a:rPr>
                          <m:t>𝑖</m:t>
                        </m:r>
                        <m:r>
                          <a:rPr lang="en-US" altLang="zh-CN" sz="1600" i="1">
                            <a:solidFill>
                              <a:srgbClr val="C00000"/>
                            </a:solidFill>
                            <a:latin typeface="Cambria Math" panose="02040503050406030204" pitchFamily="18" charset="0"/>
                          </a:rPr>
                          <m:t>−1</m:t>
                        </m:r>
                      </m:sup>
                    </m:sSup>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𝑖</m:t>
                    </m:r>
                    <m:r>
                      <a:rPr lang="en-US" altLang="zh-CN" sz="1600" i="1">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cs typeface="Times New Roman" panose="02020603050405020304" pitchFamily="18" charset="0"/>
                  </a:rPr>
                  <a:t>个结点。</a:t>
                </a:r>
              </a:p>
              <a:p>
                <a:pPr marL="0" indent="0">
                  <a:lnSpc>
                    <a:spcPts val="2100"/>
                  </a:lnSpc>
                  <a:buNone/>
                </a:pPr>
                <a:r>
                  <a:rPr lang="zh-CN" altLang="zh-CN" sz="1600" dirty="0">
                    <a:latin typeface="Times New Roman" panose="02020603050405020304" pitchFamily="18" charset="0"/>
                    <a:cs typeface="Times New Roman" panose="02020603050405020304" pitchFamily="18" charset="0"/>
                  </a:rPr>
                  <a:t>证明：利用数学归纳法证明</a:t>
                </a:r>
              </a:p>
              <a:p>
                <a:pPr marL="0" indent="0">
                  <a:lnSpc>
                    <a:spcPts val="2100"/>
                  </a:lnSpc>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latin typeface="Cambria Math" panose="02040503050406030204" pitchFamily="18" charset="0"/>
                      </a:rPr>
                      <m:t>𝑖</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时，二叉树只有一个根结点。显然</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a:latin typeface="Cambria Math" panose="02040503050406030204" pitchFamily="18" charset="0"/>
                          </a:rPr>
                          <m:t>1</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0</m:t>
                        </m:r>
                      </m:sup>
                    </m:sSup>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，命题成立。</a:t>
                </a:r>
              </a:p>
              <a:p>
                <a:pPr marL="0" indent="0">
                  <a:lnSpc>
                    <a:spcPts val="2100"/>
                  </a:lnSpc>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假设</a:t>
                </a:r>
                <a14:m>
                  <m:oMath xmlns:m="http://schemas.openxmlformats.org/officeDocument/2006/math">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时命题成立，即第</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层上至多有</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个结点。</a:t>
                </a:r>
              </a:p>
              <a:p>
                <a:pPr marL="0" indent="0">
                  <a:lnSpc>
                    <a:spcPts val="2100"/>
                  </a:lnSpc>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当</a:t>
                </a:r>
                <a14:m>
                  <m:oMath xmlns:m="http://schemas.openxmlformats.org/officeDocument/2006/math">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𝑘</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时，由于二叉树的每个结点的度最多为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，所以第</a:t>
                </a:r>
                <a14:m>
                  <m:oMath xmlns:m="http://schemas.openxmlformats.org/officeDocument/2006/math">
                    <m:r>
                      <a:rPr lang="en-US" altLang="zh-CN" sz="1600" i="1">
                        <a:latin typeface="Cambria Math" panose="02040503050406030204" pitchFamily="18" charset="0"/>
                      </a:rPr>
                      <m:t>𝑘</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层上的最大结点数为第</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层上的最大结点数的</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倍，即</a:t>
                </a:r>
                <a14:m>
                  <m:oMath xmlns:m="http://schemas.openxmlformats.org/officeDocument/2006/math">
                    <m:r>
                      <a:rPr lang="en-US" altLang="zh-CN" sz="1600">
                        <a:latin typeface="Cambria Math" panose="02040503050406030204" pitchFamily="18" charset="0"/>
                      </a:rPr>
                      <m:t>2×</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r>
                          <a:rPr lang="en-US" altLang="zh-CN" sz="1600" i="1">
                            <a:latin typeface="Cambria Math" panose="02040503050406030204" pitchFamily="18" charset="0"/>
                          </a:rPr>
                          <m:t>−1</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+1</m:t>
                            </m:r>
                          </m:e>
                        </m:d>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a:t>
                </a:r>
              </a:p>
              <a:p>
                <a:pPr marL="0" indent="0">
                  <a:lnSpc>
                    <a:spcPts val="2100"/>
                  </a:lnSpc>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根据数学归纳法，命题得证。</a:t>
                </a:r>
              </a:p>
              <a:p>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856984" cy="3507876"/>
              </a:xfrm>
              <a:blipFill>
                <a:blip r:embed="rId2"/>
                <a:stretch>
                  <a:fillRect l="-619" t="-1043"/>
                </a:stretch>
              </a:blipFill>
            </p:spPr>
            <p:txBody>
              <a:bodyPr/>
              <a:lstStyle/>
              <a:p>
                <a:r>
                  <a:rPr lang="zh-CN" altLang="en-US">
                    <a:noFill/>
                  </a:rPr>
                  <a:t> </a:t>
                </a:r>
              </a:p>
            </p:txBody>
          </p:sp>
        </mc:Fallback>
      </mc:AlternateContent>
      <p:sp>
        <p:nvSpPr>
          <p:cNvPr id="5" name="文本框 4"/>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二叉树的性质</a:t>
            </a:r>
          </a:p>
        </p:txBody>
      </p:sp>
    </p:spTree>
    <p:extLst>
      <p:ext uri="{BB962C8B-B14F-4D97-AF65-F5344CB8AC3E}">
        <p14:creationId xmlns:p14="http://schemas.microsoft.com/office/powerpoint/2010/main" val="20155076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683568" y="1064124"/>
                <a:ext cx="6336704" cy="3507876"/>
              </a:xfrm>
            </p:spPr>
            <p:txBody>
              <a:bodyPr/>
              <a:lstStyle/>
              <a:p>
                <a:pPr marL="0" indent="0">
                  <a:buNone/>
                </a:pPr>
                <a:r>
                  <a:rPr lang="zh-CN" altLang="zh-CN" sz="1600" dirty="0">
                    <a:solidFill>
                      <a:srgbClr val="0070C0"/>
                    </a:solidFill>
                    <a:latin typeface="Times New Roman" panose="02020603050405020304" pitchFamily="18" charset="0"/>
                    <a:cs typeface="Times New Roman" panose="02020603050405020304" pitchFamily="18" charset="0"/>
                  </a:rPr>
                  <a:t>性质</a:t>
                </a:r>
                <a:r>
                  <a:rPr lang="en-US" altLang="zh-CN" sz="1600" dirty="0">
                    <a:solidFill>
                      <a:srgbClr val="0070C0"/>
                    </a:solidFill>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深度为</a:t>
                </a:r>
                <a14:m>
                  <m:oMath xmlns:m="http://schemas.openxmlformats.org/officeDocument/2006/math">
                    <m:r>
                      <a:rPr lang="en-US" altLang="zh-CN" sz="1600" i="1">
                        <a:solidFill>
                          <a:srgbClr val="C00000"/>
                        </a:solidFill>
                        <a:latin typeface="Cambria Math" panose="02040503050406030204" pitchFamily="18" charset="0"/>
                      </a:rPr>
                      <m:t>𝑘</m:t>
                    </m:r>
                  </m:oMath>
                </a14:m>
                <a:r>
                  <a:rPr lang="zh-CN" altLang="zh-CN" sz="1600" dirty="0">
                    <a:solidFill>
                      <a:srgbClr val="C00000"/>
                    </a:solidFill>
                    <a:latin typeface="Times New Roman" panose="02020603050405020304" pitchFamily="18" charset="0"/>
                    <a:cs typeface="Times New Roman" panose="02020603050405020304" pitchFamily="18" charset="0"/>
                  </a:rPr>
                  <a:t>的二叉树最多有</a:t>
                </a:r>
                <a14:m>
                  <m:oMath xmlns:m="http://schemas.openxmlformats.org/officeDocument/2006/math">
                    <m:sSup>
                      <m:sSupPr>
                        <m:ctrlPr>
                          <a:rPr lang="zh-CN" altLang="zh-CN" sz="1600" i="1">
                            <a:solidFill>
                              <a:srgbClr val="C00000"/>
                            </a:solidFill>
                            <a:latin typeface="Cambria Math" panose="02040503050406030204" pitchFamily="18" charset="0"/>
                          </a:rPr>
                        </m:ctrlPr>
                      </m:sSupPr>
                      <m:e>
                        <m:r>
                          <a:rPr lang="en-US" altLang="zh-CN" sz="1600" i="1">
                            <a:solidFill>
                              <a:srgbClr val="C00000"/>
                            </a:solidFill>
                            <a:latin typeface="Cambria Math" panose="02040503050406030204" pitchFamily="18" charset="0"/>
                          </a:rPr>
                          <m:t>2</m:t>
                        </m:r>
                      </m:e>
                      <m:sup>
                        <m:r>
                          <a:rPr lang="en-US" altLang="zh-CN" sz="1600" i="1">
                            <a:solidFill>
                              <a:srgbClr val="C00000"/>
                            </a:solidFill>
                            <a:latin typeface="Cambria Math" panose="02040503050406030204" pitchFamily="18" charset="0"/>
                          </a:rPr>
                          <m:t>𝑘</m:t>
                        </m:r>
                      </m:sup>
                    </m:sSup>
                    <m:r>
                      <a:rPr lang="en-US" altLang="zh-CN" sz="1600" i="1">
                        <a:solidFill>
                          <a:srgbClr val="C00000"/>
                        </a:solidFill>
                        <a:latin typeface="Cambria Math" panose="02040503050406030204" pitchFamily="18" charset="0"/>
                      </a:rPr>
                      <m:t>−1(</m:t>
                    </m:r>
                    <m:r>
                      <a:rPr lang="en-US" altLang="zh-CN" sz="1600" i="1">
                        <a:solidFill>
                          <a:srgbClr val="C00000"/>
                        </a:solidFill>
                        <a:latin typeface="Cambria Math" panose="02040503050406030204" pitchFamily="18" charset="0"/>
                      </a:rPr>
                      <m:t>𝑘</m:t>
                    </m:r>
                    <m:r>
                      <a:rPr lang="en-US" altLang="zh-CN" sz="1600">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cs typeface="Times New Roman" panose="02020603050405020304" pitchFamily="18" charset="0"/>
                  </a:rPr>
                  <a:t>个结点。</a:t>
                </a:r>
              </a:p>
              <a:p>
                <a:pPr marL="0" indent="0">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证明：由性质</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知，深度为</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的二叉树最多结点数为</a:t>
                </a:r>
              </a:p>
              <a:p>
                <a:pPr marL="0" indent="0" algn="just">
                  <a:buNone/>
                </a:pPr>
                <a14:m>
                  <m:oMathPara xmlns:m="http://schemas.openxmlformats.org/officeDocument/2006/math">
                    <m:oMathParaPr>
                      <m:jc m:val="center"/>
                    </m:oMathParaPr>
                    <m:oMath xmlns:m="http://schemas.openxmlformats.org/officeDocument/2006/math">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𝑘</m:t>
                          </m:r>
                        </m:sup>
                        <m:e>
                          <m:r>
                            <a:rPr lang="en-US" altLang="zh-CN" sz="1600">
                              <a:latin typeface="Cambria Math" panose="02040503050406030204" pitchFamily="18" charset="0"/>
                            </a:rPr>
                            <m:t>(</m:t>
                          </m:r>
                          <m:r>
                            <a:rPr lang="zh-CN" altLang="zh-CN" sz="1600">
                              <a:latin typeface="Cambria Math" panose="02040503050406030204" pitchFamily="18" charset="0"/>
                            </a:rPr>
                            <m:t>第</m:t>
                          </m:r>
                          <m:r>
                            <a:rPr lang="en-US" altLang="zh-CN" sz="1600" i="1">
                              <a:latin typeface="Cambria Math" panose="02040503050406030204" pitchFamily="18" charset="0"/>
                            </a:rPr>
                            <m:t>𝑖</m:t>
                          </m:r>
                          <m:r>
                            <a:rPr lang="zh-CN" altLang="zh-CN" sz="1600">
                              <a:latin typeface="Cambria Math" panose="02040503050406030204" pitchFamily="18" charset="0"/>
                            </a:rPr>
                            <m:t>层的最多结点数）</m:t>
                          </m:r>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𝑘</m:t>
                              </m:r>
                            </m:sup>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𝑖</m:t>
                                  </m:r>
                                  <m:r>
                                    <a:rPr lang="en-US" altLang="zh-CN" sz="1600" i="1">
                                      <a:latin typeface="Cambria Math" panose="02040503050406030204" pitchFamily="18" charset="0"/>
                                    </a:rPr>
                                    <m:t>−1</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−1</m:t>
                              </m:r>
                            </m:e>
                          </m:nary>
                        </m:e>
                      </m:nary>
                    </m:oMath>
                  </m:oMathPara>
                </a14:m>
                <a:endParaRPr lang="zh-CN" altLang="zh-CN" sz="1600" dirty="0">
                  <a:latin typeface="隶书" panose="02010509060101010101" pitchFamily="49" charset="-122"/>
                  <a:ea typeface="隶书" panose="02010509060101010101" pitchFamily="49" charset="-122"/>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683568" y="1064124"/>
                <a:ext cx="6336704" cy="3507876"/>
              </a:xfrm>
              <a:blipFill>
                <a:blip r:embed="rId2"/>
                <a:stretch>
                  <a:fillRect l="-865"/>
                </a:stretch>
              </a:blipFill>
            </p:spPr>
            <p:txBody>
              <a:bodyPr/>
              <a:lstStyle/>
              <a:p>
                <a:r>
                  <a:rPr lang="zh-CN" altLang="en-US">
                    <a:noFill/>
                  </a:rPr>
                  <a:t> </a:t>
                </a:r>
              </a:p>
            </p:txBody>
          </p:sp>
        </mc:Fallback>
      </mc:AlternateContent>
      <p:sp>
        <p:nvSpPr>
          <p:cNvPr id="4" name="文本框 3"/>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二叉树的性质</a:t>
            </a:r>
          </a:p>
        </p:txBody>
      </p:sp>
    </p:spTree>
    <p:extLst>
      <p:ext uri="{BB962C8B-B14F-4D97-AF65-F5344CB8AC3E}">
        <p14:creationId xmlns:p14="http://schemas.microsoft.com/office/powerpoint/2010/main" val="13435047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59582"/>
                <a:ext cx="8352928" cy="3507876"/>
              </a:xfrm>
            </p:spPr>
            <p:txBody>
              <a:bodyPr/>
              <a:lstStyle/>
              <a:p>
                <a:pPr marL="0" indent="0" algn="just">
                  <a:lnSpc>
                    <a:spcPts val="1800"/>
                  </a:lnSpc>
                  <a:spcBef>
                    <a:spcPts val="0"/>
                  </a:spcBef>
                  <a:buNone/>
                </a:pPr>
                <a:r>
                  <a:rPr lang="zh-CN" altLang="zh-CN" sz="1600" dirty="0">
                    <a:solidFill>
                      <a:srgbClr val="0070C0"/>
                    </a:solidFill>
                    <a:latin typeface="Times New Roman" panose="02020603050405020304" pitchFamily="18" charset="0"/>
                    <a:cs typeface="Times New Roman" panose="02020603050405020304" pitchFamily="18" charset="0"/>
                  </a:rPr>
                  <a:t>性质</a:t>
                </a:r>
                <a:r>
                  <a:rPr lang="en-US" altLang="zh-CN" sz="1600" dirty="0">
                    <a:solidFill>
                      <a:srgbClr val="0070C0"/>
                    </a:solidFill>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对于任何一棵二叉树，如果其叶子结点数为</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0</m:t>
                        </m:r>
                      </m:sub>
                    </m:sSub>
                  </m:oMath>
                </a14:m>
                <a:r>
                  <a:rPr lang="zh-CN" altLang="zh-CN" sz="1600" dirty="0">
                    <a:solidFill>
                      <a:srgbClr val="C00000"/>
                    </a:solidFill>
                    <a:latin typeface="Times New Roman" panose="02020603050405020304" pitchFamily="18" charset="0"/>
                    <a:cs typeface="Times New Roman" panose="02020603050405020304" pitchFamily="18" charset="0"/>
                  </a:rPr>
                  <a:t>，度为</a:t>
                </a:r>
                <a:r>
                  <a:rPr lang="en-US" altLang="zh-CN" sz="1600" dirty="0">
                    <a:solidFill>
                      <a:srgbClr val="C00000"/>
                    </a:solidFill>
                    <a:latin typeface="Times New Roman" panose="02020603050405020304" pitchFamily="18" charset="0"/>
                    <a:cs typeface="Times New Roman" panose="02020603050405020304" pitchFamily="18" charset="0"/>
                  </a:rPr>
                  <a:t>2</a:t>
                </a:r>
                <a:r>
                  <a:rPr lang="zh-CN" altLang="zh-CN" sz="1600" dirty="0">
                    <a:solidFill>
                      <a:srgbClr val="C00000"/>
                    </a:solidFill>
                    <a:latin typeface="Times New Roman" panose="02020603050405020304" pitchFamily="18" charset="0"/>
                    <a:cs typeface="Times New Roman" panose="02020603050405020304" pitchFamily="18" charset="0"/>
                  </a:rPr>
                  <a:t>的结点数为</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2</m:t>
                        </m:r>
                      </m:sub>
                    </m:sSub>
                  </m:oMath>
                </a14:m>
                <a:r>
                  <a:rPr lang="zh-CN" altLang="zh-CN" sz="1600" dirty="0">
                    <a:solidFill>
                      <a:srgbClr val="C00000"/>
                    </a:solidFill>
                    <a:latin typeface="Times New Roman" panose="02020603050405020304" pitchFamily="18" charset="0"/>
                    <a:cs typeface="Times New Roman" panose="02020603050405020304" pitchFamily="18" charset="0"/>
                  </a:rPr>
                  <a:t>，则</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0</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2</m:t>
                        </m:r>
                      </m:sub>
                    </m:sSub>
                    <m:r>
                      <a:rPr lang="en-US" altLang="zh-CN" sz="1600" i="1">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gn="just">
                  <a:lnSpc>
                    <a:spcPts val="1800"/>
                  </a:lnSpc>
                  <a:spcBef>
                    <a:spcPts val="0"/>
                  </a:spcBef>
                  <a:buNone/>
                </a:pPr>
                <a:r>
                  <a:rPr lang="en-US" altLang="zh-CN" sz="1600" dirty="0">
                    <a:latin typeface="Times New Roman" panose="02020603050405020304" pitchFamily="18" charset="0"/>
                    <a:cs typeface="Times New Roman" panose="02020603050405020304" pitchFamily="18" charset="0"/>
                  </a:rPr>
                  <a:t>  </a:t>
                </a:r>
              </a:p>
              <a:p>
                <a:pPr marL="0" indent="0" algn="just">
                  <a:lnSpc>
                    <a:spcPts val="1800"/>
                  </a:lnSpc>
                  <a:spcBef>
                    <a:spcPts val="0"/>
                  </a:spcBef>
                  <a:buNone/>
                </a:pPr>
                <a:r>
                  <a:rPr lang="zh-CN" altLang="zh-CN" sz="1600" dirty="0">
                    <a:latin typeface="Times New Roman" panose="02020603050405020304" pitchFamily="18" charset="0"/>
                    <a:cs typeface="Times New Roman" panose="02020603050405020304" pitchFamily="18" charset="0"/>
                  </a:rPr>
                  <a:t>证明：设</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为该二叉树中度为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的结点数，因为二叉树中所有结点的度均小于或等于</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，所以二叉树的总结点数为</a:t>
                </a:r>
              </a:p>
              <a:p>
                <a:pPr marL="0" indent="0" algn="just">
                  <a:lnSpc>
                    <a:spcPts val="1800"/>
                  </a:lnSpc>
                  <a:spcBef>
                    <a:spcPts val="0"/>
                  </a:spcBef>
                  <a:buNone/>
                </a:pPr>
                <a:r>
                  <a:rPr lang="es-E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s-ES" altLang="zh-CN" sz="1600" i="1">
                        <a:latin typeface="Cambria Math" panose="02040503050406030204" pitchFamily="18" charset="0"/>
                      </a:rPr>
                      <m:t>𝑛</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0</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a:latin typeface="Cambria Math" panose="02040503050406030204" pitchFamily="18" charset="0"/>
                      </a:rPr>
                      <m:t> </m:t>
                    </m:r>
                  </m:oMath>
                </a14:m>
                <a:r>
                  <a:rPr lang="es-ES" altLang="zh-CN"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a:t>
                </a:r>
                <a:r>
                  <a:rPr lang="es-ES" altLang="zh-CN" sz="1600" dirty="0">
                    <a:latin typeface="Times New Roman" panose="02020603050405020304" pitchFamily="18" charset="0"/>
                    <a:cs typeface="Times New Roman" panose="02020603050405020304" pitchFamily="18" charset="0"/>
                  </a:rPr>
                  <a:t>1)</a:t>
                </a:r>
                <a:endParaRPr lang="zh-CN" altLang="zh-CN" sz="1600" dirty="0">
                  <a:latin typeface="Times New Roman" panose="02020603050405020304" pitchFamily="18" charset="0"/>
                  <a:cs typeface="Times New Roman" panose="02020603050405020304" pitchFamily="18" charset="0"/>
                </a:endParaRPr>
              </a:p>
              <a:p>
                <a:pPr marL="0" indent="0" algn="just">
                  <a:lnSpc>
                    <a:spcPts val="18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再看二叉树中分支数</a:t>
                </a:r>
                <a14:m>
                  <m:oMath xmlns:m="http://schemas.openxmlformats.org/officeDocument/2006/math">
                    <m:r>
                      <a:rPr lang="es-ES" altLang="zh-CN" sz="1600" i="1">
                        <a:latin typeface="Cambria Math" panose="02040503050406030204" pitchFamily="18" charset="0"/>
                      </a:rPr>
                      <m:t>𝑒</m:t>
                    </m:r>
                  </m:oMath>
                </a14:m>
                <a:r>
                  <a:rPr lang="zh-CN" altLang="zh-CN" sz="1600" dirty="0">
                    <a:latin typeface="Times New Roman" panose="02020603050405020304" pitchFamily="18" charset="0"/>
                    <a:cs typeface="Times New Roman" panose="02020603050405020304" pitchFamily="18" charset="0"/>
                  </a:rPr>
                  <a:t>，因为二叉树中除根结点没有分支进入外，其余结点都有一个分支进入，则</a:t>
                </a:r>
                <a14:m>
                  <m:oMath xmlns:m="http://schemas.openxmlformats.org/officeDocument/2006/math">
                    <m:r>
                      <a:rPr lang="es-ES" altLang="zh-CN" sz="1600" i="1">
                        <a:latin typeface="Cambria Math" panose="02040503050406030204" pitchFamily="18" charset="0"/>
                      </a:rPr>
                      <m:t>𝑛</m:t>
                    </m:r>
                    <m:r>
                      <a:rPr lang="es-ES" altLang="zh-CN" sz="1600">
                        <a:latin typeface="Cambria Math" panose="02040503050406030204" pitchFamily="18" charset="0"/>
                      </a:rPr>
                      <m:t>=</m:t>
                    </m:r>
                    <m:r>
                      <a:rPr lang="es-ES" altLang="zh-CN" sz="1600" i="1">
                        <a:latin typeface="Cambria Math" panose="02040503050406030204" pitchFamily="18" charset="0"/>
                      </a:rPr>
                      <m:t>𝑒</m:t>
                    </m:r>
                    <m:r>
                      <a:rPr lang="es-E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。由于这些分支都是由度为</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或度为</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的结点射出，所以又有</a:t>
                </a:r>
                <a14:m>
                  <m:oMath xmlns:m="http://schemas.openxmlformats.org/officeDocument/2006/math">
                    <m:r>
                      <a:rPr lang="es-ES" altLang="zh-CN" sz="1600" i="1">
                        <a:latin typeface="Cambria Math" panose="02040503050406030204" pitchFamily="18" charset="0"/>
                      </a:rPr>
                      <m:t>𝑒</m:t>
                    </m:r>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+2</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oMath>
                </a14:m>
                <a:r>
                  <a:rPr lang="zh-CN" altLang="zh-CN" sz="1600" dirty="0">
                    <a:latin typeface="Times New Roman" panose="02020603050405020304" pitchFamily="18" charset="0"/>
                    <a:cs typeface="Times New Roman" panose="02020603050405020304" pitchFamily="18" charset="0"/>
                  </a:rPr>
                  <a:t>。从而有</a:t>
                </a:r>
              </a:p>
              <a:p>
                <a:pPr marL="0" indent="0" algn="just">
                  <a:lnSpc>
                    <a:spcPts val="1800"/>
                  </a:lnSpc>
                  <a:spcBef>
                    <a:spcPts val="0"/>
                  </a:spcBef>
                  <a:buNone/>
                </a:pPr>
                <a14:m>
                  <m:oMath xmlns:m="http://schemas.openxmlformats.org/officeDocument/2006/math">
                    <m:r>
                      <a:rPr lang="es-ES" altLang="zh-CN" sz="1600">
                        <a:latin typeface="Cambria Math" panose="02040503050406030204" pitchFamily="18" charset="0"/>
                      </a:rPr>
                      <m:t>                                                                     </m:t>
                    </m:r>
                    <m:r>
                      <a:rPr lang="es-ES" altLang="zh-CN" sz="1600" i="1">
                        <a:latin typeface="Cambria Math" panose="02040503050406030204" pitchFamily="18" charset="0"/>
                      </a:rPr>
                      <m:t>𝑛</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+2</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i="1">
                        <a:latin typeface="Cambria Math" panose="02040503050406030204" pitchFamily="18" charset="0"/>
                      </a:rPr>
                      <m:t>+1</m:t>
                    </m:r>
                  </m:oMath>
                </a14:m>
                <a:r>
                  <a:rPr lang="es-E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p>
              <a:p>
                <a:pPr marL="0" indent="0" algn="just">
                  <a:lnSpc>
                    <a:spcPts val="1800"/>
                  </a:lnSpc>
                  <a:spcBef>
                    <a:spcPts val="0"/>
                  </a:spcBef>
                  <a:buNone/>
                </a:pPr>
                <a:r>
                  <a:rPr lang="zh-CN" altLang="zh-CN" sz="1600" dirty="0">
                    <a:latin typeface="Times New Roman" panose="02020603050405020304" pitchFamily="18" charset="0"/>
                    <a:cs typeface="Times New Roman" panose="02020603050405020304" pitchFamily="18" charset="0"/>
                  </a:rPr>
                  <a:t>由式（</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）和（</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）知</a:t>
                </a:r>
                <a:r>
                  <a:rPr lang="en-US"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b="0" i="0" smtClean="0">
                        <a:latin typeface="Cambria Math" panose="02040503050406030204" pitchFamily="18" charset="0"/>
                      </a:rPr>
                      <m:t>   </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0</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a:latin typeface="Cambria Math" panose="02040503050406030204" pitchFamily="18" charset="0"/>
                      </a:rPr>
                      <m:t>+1</m:t>
                    </m:r>
                  </m:oMath>
                </a14:m>
                <a:endParaRPr lang="zh-CN" altLang="zh-CN" sz="1600" dirty="0">
                  <a:latin typeface="Times New Roman" panose="02020603050405020304" pitchFamily="18" charset="0"/>
                  <a:cs typeface="Times New Roman" panose="02020603050405020304" pitchFamily="18" charset="0"/>
                </a:endParaRPr>
              </a:p>
              <a:p>
                <a:pPr marL="0" indent="0" algn="just">
                  <a:lnSpc>
                    <a:spcPts val="1800"/>
                  </a:lnSpc>
                  <a:spcBef>
                    <a:spcPts val="0"/>
                  </a:spcBef>
                  <a:buNone/>
                </a:pPr>
                <a:r>
                  <a:rPr lang="zh-CN" altLang="zh-CN" sz="1600" dirty="0">
                    <a:latin typeface="Times New Roman" panose="02020603050405020304" pitchFamily="18" charset="0"/>
                    <a:cs typeface="Times New Roman" panose="02020603050405020304" pitchFamily="18" charset="0"/>
                  </a:rPr>
                  <a:t>说明：对于一棵二叉树有如下公式：</a:t>
                </a:r>
              </a:p>
              <a:p>
                <a:pPr marL="0" indent="0" algn="just">
                  <a:lnSpc>
                    <a:spcPts val="18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en-US" altLang="zh-CN" sz="1600" b="0" i="1" smtClean="0">
                              <a:latin typeface="Cambria Math" panose="02040503050406030204" pitchFamily="18" charset="0"/>
                            </a:rPr>
                            <m:t>    </m:t>
                          </m:r>
                          <m:r>
                            <a:rPr lang="es-ES" altLang="zh-CN" sz="1600" i="1">
                              <a:latin typeface="Cambria Math" panose="02040503050406030204" pitchFamily="18" charset="0"/>
                            </a:rPr>
                            <m:t>𝑛</m:t>
                          </m:r>
                        </m:e>
                        <m:sub>
                          <m:r>
                            <a:rPr lang="es-ES" altLang="zh-CN" sz="1600" i="1">
                              <a:latin typeface="Cambria Math" panose="02040503050406030204" pitchFamily="18" charset="0"/>
                            </a:rPr>
                            <m:t>0</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a:latin typeface="Cambria Math" panose="02040503050406030204" pitchFamily="18" charset="0"/>
                        </a:rPr>
                        <m:t>+1</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1800"/>
                  </a:lnSpc>
                  <a:spcBef>
                    <a:spcPts val="0"/>
                  </a:spcBef>
                  <a:buNone/>
                </a:pPr>
                <a:r>
                  <a:rPr lang="es-E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s-ES" altLang="zh-CN" sz="1600" i="1">
                        <a:latin typeface="Cambria Math" panose="02040503050406030204" pitchFamily="18" charset="0"/>
                      </a:rPr>
                      <m:t>𝑛</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0</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a:latin typeface="Cambria Math" panose="02040503050406030204" pitchFamily="18" charset="0"/>
                      </a:rPr>
                      <m:t> </m:t>
                    </m:r>
                  </m:oMath>
                </a14:m>
                <a:endParaRPr lang="zh-CN" altLang="zh-CN" sz="1600" dirty="0">
                  <a:latin typeface="Times New Roman" panose="02020603050405020304" pitchFamily="18" charset="0"/>
                  <a:cs typeface="Times New Roman" panose="02020603050405020304" pitchFamily="18" charset="0"/>
                </a:endParaRPr>
              </a:p>
              <a:p>
                <a:pPr marL="0" indent="0" algn="just">
                  <a:lnSpc>
                    <a:spcPts val="1800"/>
                  </a:lnSpc>
                  <a:spcBef>
                    <a:spcPts val="0"/>
                  </a:spcBef>
                  <a:buNone/>
                </a:pPr>
                <a:r>
                  <a:rPr lang="zh-CN" altLang="zh-CN" sz="1600" dirty="0">
                    <a:latin typeface="Times New Roman" panose="02020603050405020304" pitchFamily="18" charset="0"/>
                    <a:cs typeface="Times New Roman" panose="02020603050405020304" pitchFamily="18" charset="0"/>
                  </a:rPr>
                  <a:t>该性质我们可以推广至</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叉树的情形，所谓</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叉树是指每个结点最多有</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个分支的树。</a:t>
                </a:r>
              </a:p>
              <a:p>
                <a:pPr algn="just">
                  <a:lnSpc>
                    <a:spcPts val="18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59582"/>
                <a:ext cx="8352928" cy="3507876"/>
              </a:xfrm>
              <a:blipFill>
                <a:blip r:embed="rId2"/>
                <a:stretch>
                  <a:fillRect l="-657" t="-1565" r="-3139"/>
                </a:stretch>
              </a:blipFill>
            </p:spPr>
            <p:txBody>
              <a:bodyPr/>
              <a:lstStyle/>
              <a:p>
                <a:r>
                  <a:rPr lang="zh-CN" altLang="en-US">
                    <a:noFill/>
                  </a:rPr>
                  <a:t> </a:t>
                </a:r>
              </a:p>
            </p:txBody>
          </p:sp>
        </mc:Fallback>
      </mc:AlternateContent>
      <p:sp>
        <p:nvSpPr>
          <p:cNvPr id="4" name="文本框 3"/>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二叉树的性质</a:t>
            </a:r>
          </a:p>
        </p:txBody>
      </p:sp>
    </p:spTree>
    <p:extLst>
      <p:ext uri="{BB962C8B-B14F-4D97-AF65-F5344CB8AC3E}">
        <p14:creationId xmlns:p14="http://schemas.microsoft.com/office/powerpoint/2010/main" val="3336770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 calcmode="lin" valueType="num">
                                      <p:cBhvr additive="base">
                                        <p:cTn id="5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3">
                                            <p:txEl>
                                              <p:pRg st="10" end="10"/>
                                            </p:txEl>
                                          </p:spTgt>
                                        </p:tgtEl>
                                        <p:attrNameLst>
                                          <p:attrName>style.visibility</p:attrName>
                                        </p:attrNameLst>
                                      </p:cBhvr>
                                      <p:to>
                                        <p:strVal val="visible"/>
                                      </p:to>
                                    </p:set>
                                    <p:anim calcmode="lin" valueType="num">
                                      <p:cBhvr additive="base">
                                        <p:cTn id="6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064124"/>
                <a:ext cx="8568952" cy="3507876"/>
              </a:xfrm>
            </p:spPr>
            <p:txBody>
              <a:bodyPr/>
              <a:lstStyle/>
              <a:p>
                <a:pPr marL="0" indent="0" algn="just">
                  <a:lnSpc>
                    <a:spcPct val="100000"/>
                  </a:lnSpc>
                  <a:spcBef>
                    <a:spcPts val="0"/>
                  </a:spcBef>
                  <a:buNone/>
                </a:pPr>
                <a:r>
                  <a:rPr lang="zh-CN" altLang="en-US" sz="1600" dirty="0">
                    <a:solidFill>
                      <a:schemeClr val="accent5"/>
                    </a:solidFill>
                    <a:latin typeface="Times New Roman" panose="02020603050405020304" pitchFamily="18" charset="0"/>
                    <a:cs typeface="Times New Roman" panose="02020603050405020304" pitchFamily="18" charset="0"/>
                  </a:rPr>
                  <a:t>推论</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对于任何一棵</a:t>
                </a:r>
                <a14:m>
                  <m:oMath xmlns:m="http://schemas.openxmlformats.org/officeDocument/2006/math">
                    <m:r>
                      <a:rPr lang="en-US" altLang="zh-CN" sz="1600" i="1">
                        <a:solidFill>
                          <a:srgbClr val="C00000"/>
                        </a:solidFill>
                        <a:latin typeface="Cambria Math" panose="02040503050406030204" pitchFamily="18" charset="0"/>
                      </a:rPr>
                      <m:t>𝑘</m:t>
                    </m:r>
                  </m:oMath>
                </a14:m>
                <a:r>
                  <a:rPr lang="zh-CN" altLang="zh-CN" sz="1600" dirty="0">
                    <a:solidFill>
                      <a:srgbClr val="C00000"/>
                    </a:solidFill>
                    <a:latin typeface="Times New Roman" panose="02020603050405020304" pitchFamily="18" charset="0"/>
                    <a:cs typeface="Times New Roman" panose="02020603050405020304" pitchFamily="18" charset="0"/>
                  </a:rPr>
                  <a:t>叉树，如果其叶子结点数为</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0</m:t>
                        </m:r>
                      </m:sub>
                    </m:sSub>
                  </m:oMath>
                </a14:m>
                <a:r>
                  <a:rPr lang="zh-CN" altLang="zh-CN" sz="1600" dirty="0">
                    <a:solidFill>
                      <a:srgbClr val="C00000"/>
                    </a:solidFill>
                    <a:latin typeface="Times New Roman" panose="02020603050405020304" pitchFamily="18" charset="0"/>
                    <a:cs typeface="Times New Roman" panose="02020603050405020304" pitchFamily="18" charset="0"/>
                  </a:rPr>
                  <a:t>，度为</a:t>
                </a:r>
                <a14:m>
                  <m:oMath xmlns:m="http://schemas.openxmlformats.org/officeDocument/2006/math">
                    <m:r>
                      <a:rPr lang="en-US" altLang="zh-CN" sz="1600">
                        <a:solidFill>
                          <a:srgbClr val="C00000"/>
                        </a:solidFill>
                        <a:latin typeface="Cambria Math" panose="02040503050406030204" pitchFamily="18" charset="0"/>
                      </a:rPr>
                      <m:t>1,2,⋯,</m:t>
                    </m:r>
                    <m:r>
                      <a:rPr lang="en-US" altLang="zh-CN" sz="1600" i="1">
                        <a:solidFill>
                          <a:srgbClr val="C00000"/>
                        </a:solidFill>
                        <a:latin typeface="Cambria Math" panose="02040503050406030204" pitchFamily="18" charset="0"/>
                      </a:rPr>
                      <m:t>𝑘</m:t>
                    </m:r>
                  </m:oMath>
                </a14:m>
                <a:r>
                  <a:rPr lang="zh-CN" altLang="zh-CN" sz="1600" dirty="0">
                    <a:solidFill>
                      <a:srgbClr val="C00000"/>
                    </a:solidFill>
                    <a:latin typeface="Times New Roman" panose="02020603050405020304" pitchFamily="18" charset="0"/>
                    <a:cs typeface="Times New Roman" panose="02020603050405020304" pitchFamily="18" charset="0"/>
                  </a:rPr>
                  <a:t>的结点数分别为</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1</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2</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𝑘</m:t>
                        </m:r>
                      </m:sub>
                    </m:sSub>
                  </m:oMath>
                </a14:m>
                <a:r>
                  <a:rPr lang="zh-CN" altLang="zh-CN" sz="1600" dirty="0">
                    <a:solidFill>
                      <a:srgbClr val="C00000"/>
                    </a:solidFill>
                    <a:latin typeface="Times New Roman" panose="02020603050405020304" pitchFamily="18" charset="0"/>
                    <a:cs typeface="Times New Roman" panose="02020603050405020304" pitchFamily="18" charset="0"/>
                  </a:rPr>
                  <a:t>，则</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0</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2</m:t>
                        </m:r>
                      </m:sub>
                    </m:sSub>
                    <m:r>
                      <a:rPr lang="en-US" altLang="zh-CN" sz="1600" i="1">
                        <a:solidFill>
                          <a:srgbClr val="C00000"/>
                        </a:solidFill>
                        <a:latin typeface="Cambria Math" panose="02040503050406030204" pitchFamily="18" charset="0"/>
                      </a:rPr>
                      <m:t>+2</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3</m:t>
                        </m:r>
                      </m:sub>
                    </m:sSub>
                    <m:r>
                      <a:rPr lang="en-US" altLang="zh-CN" sz="1600" i="1">
                        <a:solidFill>
                          <a:srgbClr val="C00000"/>
                        </a:solidFill>
                        <a:latin typeface="Cambria Math" panose="02040503050406030204" pitchFamily="18" charset="0"/>
                      </a:rPr>
                      <m:t>+⋯+</m:t>
                    </m:r>
                    <m:d>
                      <m:dPr>
                        <m:ctrlPr>
                          <a:rPr lang="zh-CN" altLang="zh-CN" sz="1600" i="1">
                            <a:solidFill>
                              <a:srgbClr val="C00000"/>
                            </a:solidFill>
                            <a:latin typeface="Cambria Math" panose="02040503050406030204" pitchFamily="18" charset="0"/>
                          </a:rPr>
                        </m:ctrlPr>
                      </m:dPr>
                      <m:e>
                        <m:r>
                          <a:rPr lang="en-US" altLang="zh-CN" sz="1600" i="1">
                            <a:solidFill>
                              <a:srgbClr val="C00000"/>
                            </a:solidFill>
                            <a:latin typeface="Cambria Math" panose="02040503050406030204" pitchFamily="18" charset="0"/>
                          </a:rPr>
                          <m:t>𝑘</m:t>
                        </m:r>
                        <m:r>
                          <a:rPr lang="en-US" altLang="zh-CN" sz="1600" i="1">
                            <a:solidFill>
                              <a:srgbClr val="C00000"/>
                            </a:solidFill>
                            <a:latin typeface="Cambria Math" panose="02040503050406030204" pitchFamily="18" charset="0"/>
                          </a:rPr>
                          <m:t>−1</m:t>
                        </m:r>
                      </m:e>
                    </m:d>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𝑛</m:t>
                        </m:r>
                      </m:e>
                      <m:sub>
                        <m:r>
                          <a:rPr lang="en-US" altLang="zh-CN" sz="1600" i="1">
                            <a:solidFill>
                              <a:srgbClr val="C00000"/>
                            </a:solidFill>
                            <a:latin typeface="Cambria Math" panose="02040503050406030204" pitchFamily="18" charset="0"/>
                          </a:rPr>
                          <m:t>𝑘</m:t>
                        </m:r>
                      </m:sub>
                    </m:sSub>
                    <m:r>
                      <a:rPr lang="en-US" altLang="zh-CN" sz="1600" i="1">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cs typeface="Times New Roman" panose="02020603050405020304" pitchFamily="18" charset="0"/>
                  </a:rPr>
                  <a:t>。</a:t>
                </a: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p>
              <a:p>
                <a:pPr marL="0" indent="0" algn="just">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证明：因为</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叉树中所有结点的度均小于或等于</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，所以</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叉树的总结点数为</a:t>
                </a:r>
              </a:p>
              <a:p>
                <a:pPr marL="0" indent="0" algn="just">
                  <a:lnSpc>
                    <a:spcPct val="100000"/>
                  </a:lnSpc>
                  <a:spcBef>
                    <a:spcPts val="0"/>
                  </a:spcBef>
                  <a:buNone/>
                </a:pPr>
                <a:r>
                  <a:rPr lang="es-E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s-ES" altLang="zh-CN" sz="1600" i="1">
                        <a:latin typeface="Cambria Math" panose="02040503050406030204" pitchFamily="18" charset="0"/>
                      </a:rPr>
                      <m:t>𝑛</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0</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𝑘</m:t>
                        </m:r>
                      </m:sub>
                    </m:sSub>
                    <m:r>
                      <a:rPr lang="es-ES" altLang="zh-CN" sz="1600">
                        <a:latin typeface="Cambria Math" panose="02040503050406030204" pitchFamily="18" charset="0"/>
                      </a:rPr>
                      <m:t> </m:t>
                    </m:r>
                  </m:oMath>
                </a14:m>
                <a:r>
                  <a:rPr lang="es-ES" altLang="zh-CN" sz="1600" dirty="0">
                    <a:latin typeface="Times New Roman" panose="02020603050405020304" pitchFamily="18" charset="0"/>
                    <a:cs typeface="Times New Roman" panose="02020603050405020304" pitchFamily="18" charset="0"/>
                  </a:rPr>
                  <a:t>                       (3)</a:t>
                </a:r>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再看</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叉树中分支数</a:t>
                </a:r>
                <a14:m>
                  <m:oMath xmlns:m="http://schemas.openxmlformats.org/officeDocument/2006/math">
                    <m:r>
                      <a:rPr lang="es-ES" altLang="zh-CN" sz="1600" i="1">
                        <a:latin typeface="Cambria Math" panose="02040503050406030204" pitchFamily="18" charset="0"/>
                      </a:rPr>
                      <m:t>𝑒</m:t>
                    </m:r>
                  </m:oMath>
                </a14:m>
                <a:r>
                  <a:rPr lang="zh-CN" altLang="zh-CN" sz="1600" dirty="0">
                    <a:latin typeface="Times New Roman" panose="02020603050405020304" pitchFamily="18" charset="0"/>
                    <a:cs typeface="Times New Roman" panose="02020603050405020304" pitchFamily="18" charset="0"/>
                  </a:rPr>
                  <a:t>，因为</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叉树中除根结点没有分支进入外，其余结点都有一个分支进入，则</a:t>
                </a:r>
                <a14:m>
                  <m:oMath xmlns:m="http://schemas.openxmlformats.org/officeDocument/2006/math">
                    <m:r>
                      <a:rPr lang="es-ES" altLang="zh-CN" sz="1600" i="1">
                        <a:latin typeface="Cambria Math" panose="02040503050406030204" pitchFamily="18" charset="0"/>
                      </a:rPr>
                      <m:t>𝑛</m:t>
                    </m:r>
                    <m:r>
                      <a:rPr lang="es-ES" altLang="zh-CN" sz="1600">
                        <a:latin typeface="Cambria Math" panose="02040503050406030204" pitchFamily="18" charset="0"/>
                      </a:rPr>
                      <m:t>=</m:t>
                    </m:r>
                    <m:r>
                      <a:rPr lang="es-ES" altLang="zh-CN" sz="1600" i="1">
                        <a:latin typeface="Cambria Math" panose="02040503050406030204" pitchFamily="18" charset="0"/>
                      </a:rPr>
                      <m:t>𝑒</m:t>
                    </m:r>
                    <m:r>
                      <a:rPr lang="es-E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。由于这些分支都是由度为</a:t>
                </a:r>
                <a:r>
                  <a:rPr lang="es-E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或度为</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s-E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，或度为</a:t>
                </a:r>
                <a14:m>
                  <m:oMath xmlns:m="http://schemas.openxmlformats.org/officeDocument/2006/math">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的结点射出，所以又有</a:t>
                </a:r>
                <a14:m>
                  <m:oMath xmlns:m="http://schemas.openxmlformats.org/officeDocument/2006/math">
                    <m:r>
                      <a:rPr lang="es-ES" altLang="zh-CN" sz="1600" i="1">
                        <a:latin typeface="Cambria Math" panose="02040503050406030204" pitchFamily="18" charset="0"/>
                      </a:rPr>
                      <m:t>𝑒</m:t>
                    </m:r>
                    <m:r>
                      <a:rPr lang="es-E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+2</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i="1">
                        <a:latin typeface="Cambria Math" panose="02040503050406030204" pitchFamily="18" charset="0"/>
                      </a:rPr>
                      <m:t>+⋯+</m:t>
                    </m:r>
                    <m:r>
                      <a:rPr lang="es-ES" altLang="zh-CN" sz="1600" i="1">
                        <a:latin typeface="Cambria Math" panose="02040503050406030204" pitchFamily="18" charset="0"/>
                      </a:rPr>
                      <m:t>𝑘</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𝑘</m:t>
                        </m:r>
                      </m:sub>
                    </m:sSub>
                  </m:oMath>
                </a14:m>
                <a:r>
                  <a:rPr lang="zh-CN" altLang="zh-CN" sz="1600" dirty="0">
                    <a:latin typeface="Times New Roman" panose="02020603050405020304" pitchFamily="18" charset="0"/>
                    <a:cs typeface="Times New Roman" panose="02020603050405020304" pitchFamily="18" charset="0"/>
                  </a:rPr>
                  <a:t>。从而有</a:t>
                </a:r>
              </a:p>
              <a:p>
                <a:pPr marL="0" indent="0" algn="just">
                  <a:lnSpc>
                    <a:spcPct val="100000"/>
                  </a:lnSpc>
                  <a:spcBef>
                    <a:spcPts val="0"/>
                  </a:spcBef>
                  <a:buNone/>
                </a:pPr>
                <a:r>
                  <a:rPr lang="es-E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s-ES" altLang="zh-CN" sz="1600" i="1">
                        <a:latin typeface="Cambria Math" panose="02040503050406030204" pitchFamily="18" charset="0"/>
                      </a:rPr>
                      <m:t>𝑛</m:t>
                    </m:r>
                    <m:r>
                      <a:rPr lang="es-E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1</m:t>
                        </m:r>
                      </m:sub>
                    </m:sSub>
                    <m:r>
                      <a:rPr lang="es-ES" altLang="zh-CN" sz="1600" i="1">
                        <a:latin typeface="Cambria Math" panose="02040503050406030204" pitchFamily="18" charset="0"/>
                      </a:rPr>
                      <m:t>+2</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2</m:t>
                        </m:r>
                      </m:sub>
                    </m:sSub>
                    <m:r>
                      <a:rPr lang="es-ES" altLang="zh-CN" sz="1600" i="1">
                        <a:latin typeface="Cambria Math" panose="02040503050406030204" pitchFamily="18" charset="0"/>
                      </a:rPr>
                      <m:t>+⋯+</m:t>
                    </m:r>
                    <m:r>
                      <a:rPr lang="es-ES" altLang="zh-CN" sz="1600" i="1">
                        <a:latin typeface="Cambria Math" panose="02040503050406030204" pitchFamily="18" charset="0"/>
                      </a:rPr>
                      <m:t>𝑘</m:t>
                    </m:r>
                    <m:sSub>
                      <m:sSubPr>
                        <m:ctrlPr>
                          <a:rPr lang="zh-CN" altLang="zh-CN" sz="1600" i="1">
                            <a:latin typeface="Cambria Math" panose="02040503050406030204" pitchFamily="18" charset="0"/>
                          </a:rPr>
                        </m:ctrlPr>
                      </m:sSubPr>
                      <m:e>
                        <m:r>
                          <a:rPr lang="es-ES" altLang="zh-CN" sz="1600" i="1">
                            <a:latin typeface="Cambria Math" panose="02040503050406030204" pitchFamily="18" charset="0"/>
                          </a:rPr>
                          <m:t>𝑛</m:t>
                        </m:r>
                      </m:e>
                      <m:sub>
                        <m:r>
                          <a:rPr lang="es-ES" altLang="zh-CN" sz="1600" i="1">
                            <a:latin typeface="Cambria Math" panose="02040503050406030204" pitchFamily="18" charset="0"/>
                          </a:rPr>
                          <m:t>𝑘</m:t>
                        </m:r>
                      </m:sub>
                    </m:sSub>
                    <m:r>
                      <a:rPr lang="es-ES" altLang="zh-CN" sz="1600" i="1">
                        <a:latin typeface="Cambria Math" panose="02040503050406030204" pitchFamily="18" charset="0"/>
                      </a:rPr>
                      <m:t>+1</m:t>
                    </m:r>
                  </m:oMath>
                </a14:m>
                <a:r>
                  <a:rPr lang="es-ES" altLang="zh-CN" sz="1600" dirty="0">
                    <a:latin typeface="Times New Roman" panose="02020603050405020304" pitchFamily="18" charset="0"/>
                    <a:cs typeface="Times New Roman" panose="02020603050405020304" pitchFamily="18" charset="0"/>
                  </a:rPr>
                  <a:t>                    (4)</a:t>
                </a:r>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由式（</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）知</a:t>
                </a: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smtClean="0">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+2</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3</m:t>
                          </m:r>
                        </m:sub>
                      </m:sSub>
                      <m:r>
                        <a:rPr lang="en-US" altLang="zh-CN" sz="1600" i="1">
                          <a:latin typeface="Cambria Math" panose="02040503050406030204" pitchFamily="18" charset="0"/>
                        </a:rPr>
                        <m:t>+⋯+</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𝑘</m:t>
                          </m:r>
                          <m:r>
                            <a:rPr lang="en-US" altLang="zh-CN" sz="1600" i="1">
                              <a:latin typeface="Cambria Math" panose="02040503050406030204" pitchFamily="18" charset="0"/>
                            </a:rPr>
                            <m:t>−1</m:t>
                          </m:r>
                        </m:e>
                      </m:d>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𝑘</m:t>
                          </m:r>
                        </m:sub>
                      </m:sSub>
                      <m:r>
                        <a:rPr lang="en-US" altLang="zh-CN" sz="1600" i="1">
                          <a:latin typeface="Cambria Math" panose="02040503050406030204" pitchFamily="18" charset="0"/>
                        </a:rPr>
                        <m:t>+1</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064124"/>
                <a:ext cx="8568952" cy="3507876"/>
              </a:xfrm>
              <a:blipFill>
                <a:blip r:embed="rId2"/>
                <a:stretch>
                  <a:fillRect l="-640" t="-1043" r="-640"/>
                </a:stretch>
              </a:blipFill>
            </p:spPr>
            <p:txBody>
              <a:bodyPr/>
              <a:lstStyle/>
              <a:p>
                <a:r>
                  <a:rPr lang="zh-CN" altLang="en-US">
                    <a:noFill/>
                  </a:rPr>
                  <a:t> </a:t>
                </a:r>
              </a:p>
            </p:txBody>
          </p:sp>
        </mc:Fallback>
      </mc:AlternateContent>
      <p:sp>
        <p:nvSpPr>
          <p:cNvPr id="4" name="文本框 3"/>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二叉树的性质</a:t>
            </a:r>
          </a:p>
        </p:txBody>
      </p:sp>
    </p:spTree>
    <p:extLst>
      <p:ext uri="{BB962C8B-B14F-4D97-AF65-F5344CB8AC3E}">
        <p14:creationId xmlns:p14="http://schemas.microsoft.com/office/powerpoint/2010/main" val="2216329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539552" y="1064124"/>
                <a:ext cx="7776864" cy="3507876"/>
              </a:xfrm>
            </p:spPr>
            <p:txBody>
              <a:bodyPr/>
              <a:lstStyle/>
              <a:p>
                <a:pPr marL="0" indent="0">
                  <a:buNone/>
                </a:pPr>
                <a:r>
                  <a:rPr lang="zh-CN" altLang="en-US" sz="1600" dirty="0">
                    <a:solidFill>
                      <a:srgbClr val="C00000"/>
                    </a:solidFill>
                    <a:latin typeface="Times New Roman" panose="02020603050405020304" pitchFamily="18" charset="0"/>
                    <a:cs typeface="Times New Roman" panose="02020603050405020304" pitchFamily="18" charset="0"/>
                  </a:rPr>
                  <a:t>例：</a:t>
                </a:r>
                <a:r>
                  <a:rPr lang="zh-CN" altLang="zh-CN" sz="1600" dirty="0">
                    <a:solidFill>
                      <a:srgbClr val="C00000"/>
                    </a:solidFill>
                    <a:latin typeface="Times New Roman" panose="02020603050405020304" pitchFamily="18" charset="0"/>
                    <a:cs typeface="Times New Roman" panose="02020603050405020304" pitchFamily="18" charset="0"/>
                  </a:rPr>
                  <a:t>一棵三叉树中，已知度为</a:t>
                </a:r>
                <a:r>
                  <a:rPr lang="en-US" altLang="zh-CN" sz="1600" dirty="0">
                    <a:solidFill>
                      <a:srgbClr val="C00000"/>
                    </a:solidFill>
                    <a:latin typeface="Times New Roman" panose="02020603050405020304" pitchFamily="18" charset="0"/>
                    <a:cs typeface="Times New Roman" panose="02020603050405020304" pitchFamily="18" charset="0"/>
                  </a:rPr>
                  <a:t>3</a:t>
                </a:r>
                <a:r>
                  <a:rPr lang="zh-CN" altLang="zh-CN" sz="1600" dirty="0">
                    <a:solidFill>
                      <a:srgbClr val="C00000"/>
                    </a:solidFill>
                    <a:latin typeface="Times New Roman" panose="02020603050405020304" pitchFamily="18" charset="0"/>
                    <a:cs typeface="Times New Roman" panose="02020603050405020304" pitchFamily="18" charset="0"/>
                  </a:rPr>
                  <a:t>的结点数等于度为</a:t>
                </a:r>
                <a:r>
                  <a:rPr lang="en-US" altLang="zh-CN" sz="1600" dirty="0">
                    <a:solidFill>
                      <a:srgbClr val="C00000"/>
                    </a:solidFill>
                    <a:latin typeface="Times New Roman" panose="02020603050405020304" pitchFamily="18" charset="0"/>
                    <a:cs typeface="Times New Roman" panose="02020603050405020304" pitchFamily="18" charset="0"/>
                  </a:rPr>
                  <a:t>2</a:t>
                </a:r>
                <a:r>
                  <a:rPr lang="zh-CN" altLang="zh-CN" sz="1600" dirty="0">
                    <a:solidFill>
                      <a:srgbClr val="C00000"/>
                    </a:solidFill>
                    <a:latin typeface="Times New Roman" panose="02020603050405020304" pitchFamily="18" charset="0"/>
                    <a:cs typeface="Times New Roman" panose="02020603050405020304" pitchFamily="18" charset="0"/>
                  </a:rPr>
                  <a:t>的结点数，且叶子结点数为</a:t>
                </a:r>
                <a:r>
                  <a:rPr lang="en-US" altLang="zh-CN" sz="1600" dirty="0">
                    <a:solidFill>
                      <a:srgbClr val="C00000"/>
                    </a:solidFill>
                    <a:latin typeface="Times New Roman" panose="02020603050405020304" pitchFamily="18" charset="0"/>
                    <a:cs typeface="Times New Roman" panose="02020603050405020304" pitchFamily="18" charset="0"/>
                  </a:rPr>
                  <a:t>10</a:t>
                </a:r>
                <a:r>
                  <a:rPr lang="zh-CN" altLang="zh-CN" sz="1600" dirty="0">
                    <a:solidFill>
                      <a:srgbClr val="C00000"/>
                    </a:solidFill>
                    <a:latin typeface="Times New Roman" panose="02020603050405020304" pitchFamily="18" charset="0"/>
                    <a:cs typeface="Times New Roman" panose="02020603050405020304" pitchFamily="18" charset="0"/>
                  </a:rPr>
                  <a:t>，则度</a:t>
                </a:r>
                <a:r>
                  <a:rPr lang="en-US" altLang="zh-CN" sz="1600" dirty="0">
                    <a:solidFill>
                      <a:srgbClr val="C00000"/>
                    </a:solidFill>
                    <a:latin typeface="Times New Roman" panose="02020603050405020304" pitchFamily="18" charset="0"/>
                    <a:cs typeface="Times New Roman" panose="02020603050405020304" pitchFamily="18" charset="0"/>
                  </a:rPr>
                  <a:t>3</a:t>
                </a:r>
                <a:r>
                  <a:rPr lang="zh-CN" altLang="zh-CN" sz="1600" dirty="0">
                    <a:solidFill>
                      <a:srgbClr val="C00000"/>
                    </a:solidFill>
                    <a:latin typeface="Times New Roman" panose="02020603050405020304" pitchFamily="18" charset="0"/>
                    <a:cs typeface="Times New Roman" panose="02020603050405020304" pitchFamily="18" charset="0"/>
                  </a:rPr>
                  <a:t>的结点为多少</a:t>
                </a:r>
                <a:r>
                  <a:rPr lang="en-US" altLang="zh-CN" sz="1600" dirty="0">
                    <a:solidFill>
                      <a:srgbClr val="C00000"/>
                    </a:solidFill>
                    <a:latin typeface="Times New Roman" panose="02020603050405020304" pitchFamily="18" charset="0"/>
                    <a:cs typeface="Times New Roman" panose="02020603050405020304" pitchFamily="18" charset="0"/>
                  </a:rPr>
                  <a:t>?</a:t>
                </a:r>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buNone/>
                </a:pPr>
                <a:r>
                  <a:rPr lang="zh-CN" altLang="zh-CN" sz="1600" dirty="0">
                    <a:solidFill>
                      <a:srgbClr val="0070C0"/>
                    </a:solidFill>
                    <a:latin typeface="Times New Roman" panose="02020603050405020304" pitchFamily="18" charset="0"/>
                    <a:cs typeface="Times New Roman" panose="02020603050405020304" pitchFamily="18" charset="0"/>
                  </a:rPr>
                  <a:t>解</a:t>
                </a:r>
                <a:r>
                  <a:rPr lang="zh-CN" altLang="zh-CN" sz="1600" dirty="0">
                    <a:latin typeface="Times New Roman" panose="02020603050405020304" pitchFamily="18" charset="0"/>
                    <a:cs typeface="Times New Roman" panose="02020603050405020304" pitchFamily="18" charset="0"/>
                  </a:rPr>
                  <a:t>：由推论知</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0</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+2</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3</m:t>
                        </m:r>
                      </m:sub>
                    </m:sSub>
                    <m:r>
                      <a:rPr lang="en-US" altLang="zh-CN" sz="1600" i="1">
                        <a:latin typeface="Cambria Math" panose="02040503050406030204" pitchFamily="18" charset="0"/>
                      </a:rPr>
                      <m:t>+1</m:t>
                    </m:r>
                  </m:oMath>
                </a14:m>
                <a:endParaRPr lang="zh-CN" altLang="zh-CN" sz="1600" dirty="0">
                  <a:latin typeface="Times New Roman" panose="02020603050405020304" pitchFamily="18" charset="0"/>
                  <a:cs typeface="Times New Roman" panose="02020603050405020304" pitchFamily="18" charset="0"/>
                </a:endParaRPr>
              </a:p>
              <a:p>
                <a:pPr marL="0" indent="0">
                  <a:buNone/>
                </a:pPr>
                <a:r>
                  <a:rPr lang="zh-CN" altLang="zh-CN" sz="1600" dirty="0">
                    <a:latin typeface="Times New Roman" panose="02020603050405020304" pitchFamily="18" charset="0"/>
                    <a:cs typeface="Times New Roman" panose="02020603050405020304" pitchFamily="18" charset="0"/>
                  </a:rPr>
                  <a:t>由已知条件知，</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𝑛</m:t>
                        </m:r>
                      </m:e>
                      <m:sub>
                        <m:r>
                          <a:rPr lang="en-US" altLang="zh-CN" sz="1600" i="1">
                            <a:latin typeface="Cambria Math" panose="02040503050406030204" pitchFamily="18" charset="0"/>
                          </a:rPr>
                          <m:t>3</m:t>
                        </m:r>
                      </m:sub>
                    </m:sSub>
                    <m:r>
                      <a:rPr lang="en-US" altLang="zh-CN" sz="1600" i="1">
                        <a:latin typeface="Cambria Math" panose="02040503050406030204" pitchFamily="18" charset="0"/>
                      </a:rPr>
                      <m:t>=3</m:t>
                    </m:r>
                  </m:oMath>
                </a14:m>
                <a:r>
                  <a:rPr lang="zh-CN" altLang="zh-CN" sz="1600" dirty="0">
                    <a:latin typeface="Times New Roman" panose="02020603050405020304" pitchFamily="18" charset="0"/>
                    <a:cs typeface="Times New Roman" panose="02020603050405020304" pitchFamily="18" charset="0"/>
                  </a:rPr>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539552" y="1064124"/>
                <a:ext cx="7776864" cy="3507876"/>
              </a:xfrm>
              <a:blipFill>
                <a:blip r:embed="rId2"/>
                <a:stretch>
                  <a:fillRect l="-784"/>
                </a:stretch>
              </a:blipFill>
            </p:spPr>
            <p:txBody>
              <a:bodyPr/>
              <a:lstStyle/>
              <a:p>
                <a:r>
                  <a:rPr lang="zh-CN" altLang="en-US">
                    <a:noFill/>
                  </a:rPr>
                  <a:t> </a:t>
                </a:r>
              </a:p>
            </p:txBody>
          </p:sp>
        </mc:Fallback>
      </mc:AlternateContent>
      <p:sp>
        <p:nvSpPr>
          <p:cNvPr id="4" name="文本框 3"/>
          <p:cNvSpPr txBox="1"/>
          <p:nvPr/>
        </p:nvSpPr>
        <p:spPr>
          <a:xfrm>
            <a:off x="612366" y="123478"/>
            <a:ext cx="79128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41834363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1" y="771550"/>
                <a:ext cx="8496944" cy="3507876"/>
              </a:xfrm>
            </p:spPr>
            <p:txBody>
              <a:bodyPr/>
              <a:lstStyle/>
              <a:p>
                <a:pPr marL="0" indent="0">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一棵深度为</a:t>
                </a:r>
                <a14:m>
                  <m:oMath xmlns:m="http://schemas.openxmlformats.org/officeDocument/2006/math">
                    <m:r>
                      <a:rPr lang="es-E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且有</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个结点的二叉树称为</a:t>
                </a:r>
                <a:r>
                  <a:rPr lang="zh-CN" altLang="zh-CN" sz="1600" dirty="0">
                    <a:solidFill>
                      <a:srgbClr val="0070C0"/>
                    </a:solidFill>
                    <a:latin typeface="Times New Roman" panose="02020603050405020304" pitchFamily="18" charset="0"/>
                    <a:cs typeface="Times New Roman" panose="02020603050405020304" pitchFamily="18" charset="0"/>
                  </a:rPr>
                  <a:t>满二叉树</a:t>
                </a:r>
                <a:r>
                  <a:rPr lang="zh-CN" altLang="zh-CN" sz="1600" dirty="0">
                    <a:latin typeface="Times New Roman" panose="02020603050405020304" pitchFamily="18" charset="0"/>
                    <a:cs typeface="Times New Roman" panose="02020603050405020304" pitchFamily="18" charset="0"/>
                  </a:rPr>
                  <a:t>。满二叉树的特点是每一层上结点数都是最大结点数。如图所示是一棵深度为</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的满二叉树。</a:t>
                </a:r>
              </a:p>
              <a:p>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1" y="771550"/>
                <a:ext cx="8496944" cy="3507876"/>
              </a:xfrm>
              <a:blipFill>
                <a:blip r:embed="rId2"/>
                <a:stretch>
                  <a:fillRect l="-646"/>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907704" y="1851670"/>
            <a:ext cx="3744416" cy="2074359"/>
          </a:xfrm>
          <a:prstGeom prst="rect">
            <a:avLst/>
          </a:prstGeom>
        </p:spPr>
      </p:pic>
      <p:sp>
        <p:nvSpPr>
          <p:cNvPr id="5" name="文本框 4"/>
          <p:cNvSpPr txBox="1"/>
          <p:nvPr/>
        </p:nvSpPr>
        <p:spPr>
          <a:xfrm>
            <a:off x="612366" y="123478"/>
            <a:ext cx="122333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满二叉树</a:t>
            </a:r>
          </a:p>
        </p:txBody>
      </p:sp>
    </p:spTree>
    <p:extLst>
      <p:ext uri="{BB962C8B-B14F-4D97-AF65-F5344CB8AC3E}">
        <p14:creationId xmlns:p14="http://schemas.microsoft.com/office/powerpoint/2010/main" val="15751805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59582"/>
                <a:ext cx="4392488" cy="3507876"/>
              </a:xfrm>
            </p:spPr>
            <p:txBody>
              <a:bodyPr/>
              <a:lstStyle/>
              <a:p>
                <a:pPr marL="0" indent="0" algn="just">
                  <a:lnSpc>
                    <a:spcPts val="2300"/>
                  </a:lnSpc>
                  <a:buNone/>
                </a:pPr>
                <a:r>
                  <a:rPr lang="zh-CN" altLang="zh-CN" sz="1600" dirty="0">
                    <a:latin typeface="Times New Roman" panose="02020603050405020304" pitchFamily="18" charset="0"/>
                    <a:cs typeface="Times New Roman" panose="02020603050405020304" pitchFamily="18" charset="0"/>
                  </a:rPr>
                  <a:t>可以对满二叉树的结点进行顺序编号，约定编号从根结点开始，自上而下，从左至右（称为层序编号），如图</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所示。</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buNone/>
                </a:pPr>
                <a:r>
                  <a:rPr lang="zh-CN" altLang="zh-CN" sz="1600" dirty="0">
                    <a:latin typeface="Times New Roman" panose="02020603050405020304" pitchFamily="18" charset="0"/>
                    <a:cs typeface="Times New Roman" panose="02020603050405020304" pitchFamily="18" charset="0"/>
                  </a:rPr>
                  <a:t>如果一棵深度为</a:t>
                </a:r>
                <a14:m>
                  <m:oMath xmlns:m="http://schemas.openxmlformats.org/officeDocument/2006/math">
                    <m:r>
                      <a:rPr lang="es-E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且具有</a:t>
                </a:r>
                <a14:m>
                  <m:oMath xmlns:m="http://schemas.openxmlformats.org/officeDocument/2006/math">
                    <m:r>
                      <a:rPr lang="es-E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个结点的二叉树，它的每一个结点都与深度为</a:t>
                </a:r>
                <a14:m>
                  <m:oMath xmlns:m="http://schemas.openxmlformats.org/officeDocument/2006/math">
                    <m:r>
                      <a:rPr lang="es-E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的满二叉树中顺序编号为</a:t>
                </a:r>
                <a14:m>
                  <m:oMath xmlns:m="http://schemas.openxmlformats.org/officeDocument/2006/math">
                    <m:r>
                      <a:rPr lang="es-ES" altLang="zh-CN" sz="1600">
                        <a:latin typeface="Cambria Math" panose="02040503050406030204" pitchFamily="18" charset="0"/>
                      </a:rPr>
                      <m:t>1</m:t>
                    </m:r>
                    <m:r>
                      <a:rPr lang="zh-CN" altLang="zh-CN" sz="1600">
                        <a:latin typeface="Cambria Math" panose="02040503050406030204" pitchFamily="18" charset="0"/>
                      </a:rPr>
                      <m:t>至</m:t>
                    </m:r>
                    <m:r>
                      <a:rPr lang="es-E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的结点一一对应，则称这棵二叉树为完全二叉树。</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buNone/>
                </a:pPr>
                <a:r>
                  <a:rPr lang="zh-CN" altLang="zh-CN" sz="1600" dirty="0">
                    <a:latin typeface="Times New Roman" panose="02020603050405020304" pitchFamily="18" charset="0"/>
                    <a:cs typeface="Times New Roman" panose="02020603050405020304" pitchFamily="18" charset="0"/>
                  </a:rPr>
                  <a:t>图</a:t>
                </a:r>
                <a:r>
                  <a:rPr lang="es-E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给出的就是一棵深度为</a:t>
                </a:r>
                <a:r>
                  <a:rPr lang="es-E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的完全二叉树</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gn="just">
                  <a:lnSpc>
                    <a:spcPts val="2300"/>
                  </a:lnSpc>
                  <a:buNone/>
                </a:pPr>
                <a:r>
                  <a:rPr lang="zh-CN" altLang="zh-CN" sz="1600" dirty="0">
                    <a:latin typeface="Times New Roman" panose="02020603050405020304" pitchFamily="18" charset="0"/>
                    <a:cs typeface="Times New Roman" panose="02020603050405020304" pitchFamily="18" charset="0"/>
                  </a:rPr>
                  <a:t>图</a:t>
                </a:r>
                <a:r>
                  <a:rPr lang="es-E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是两棵非完全二叉树。</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59582"/>
                <a:ext cx="4392488" cy="3507876"/>
              </a:xfrm>
              <a:blipFill>
                <a:blip r:embed="rId2"/>
                <a:stretch>
                  <a:fillRect l="-1248" t="-522" r="-1248"/>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4558300" y="699542"/>
            <a:ext cx="4537806" cy="1747682"/>
          </a:xfrm>
          <a:prstGeom prst="rect">
            <a:avLst/>
          </a:prstGeom>
        </p:spPr>
      </p:pic>
      <p:pic>
        <p:nvPicPr>
          <p:cNvPr id="6" name="图片 5"/>
          <p:cNvPicPr>
            <a:picLocks noChangeAspect="1"/>
          </p:cNvPicPr>
          <p:nvPr/>
        </p:nvPicPr>
        <p:blipFill>
          <a:blip r:embed="rId4"/>
          <a:stretch>
            <a:fillRect/>
          </a:stretch>
        </p:blipFill>
        <p:spPr>
          <a:xfrm>
            <a:off x="4654434" y="2859782"/>
            <a:ext cx="4441672" cy="1752993"/>
          </a:xfrm>
          <a:prstGeom prst="rect">
            <a:avLst/>
          </a:prstGeom>
        </p:spPr>
      </p:pic>
      <p:sp>
        <p:nvSpPr>
          <p:cNvPr id="7" name="文本框 6"/>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完全二叉树</a:t>
            </a:r>
          </a:p>
        </p:txBody>
      </p:sp>
    </p:spTree>
    <p:extLst>
      <p:ext uri="{BB962C8B-B14F-4D97-AF65-F5344CB8AC3E}">
        <p14:creationId xmlns:p14="http://schemas.microsoft.com/office/powerpoint/2010/main" val="8910707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755575" y="987574"/>
                <a:ext cx="7632849" cy="3507876"/>
              </a:xfrm>
            </p:spPr>
            <p:txBody>
              <a:bodyPr/>
              <a:lstStyle/>
              <a:p>
                <a:pPr marL="0" indent="0">
                  <a:buNone/>
                </a:pPr>
                <a:r>
                  <a:rPr lang="en-US" altLang="zh-CN" sz="1600" dirty="0">
                    <a:latin typeface="Times New Roman" panose="02020603050405020304" pitchFamily="18" charset="0"/>
                    <a:cs typeface="Times New Roman" panose="02020603050405020304" pitchFamily="18" charset="0"/>
                  </a:rPr>
                  <a:t> (1)</a:t>
                </a:r>
                <a:r>
                  <a:rPr lang="zh-CN" altLang="en-US" sz="1600" dirty="0">
                    <a:latin typeface="Times New Roman" panose="02020603050405020304" pitchFamily="18" charset="0"/>
                    <a:cs typeface="Times New Roman" panose="02020603050405020304" pitchFamily="18" charset="0"/>
                  </a:rPr>
                  <a:t>叶子结点只能在第 </a:t>
                </a:r>
                <a14:m>
                  <m:oMath xmlns:m="http://schemas.openxmlformats.org/officeDocument/2006/math">
                    <m:r>
                      <a:rPr lang="en-US" altLang="zh-CN" sz="1600" i="1" dirty="0" smtClean="0">
                        <a:latin typeface="Cambria Math" panose="02040503050406030204" pitchFamily="18" charset="0"/>
                        <a:ea typeface="隶书" panose="02010509060101010101" pitchFamily="49" charset="-122"/>
                      </a:rPr>
                      <m:t>𝑘</m:t>
                    </m:r>
                  </m:oMath>
                </a14:m>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层和第 </a:t>
                </a:r>
                <a14:m>
                  <m:oMath xmlns:m="http://schemas.openxmlformats.org/officeDocument/2006/math">
                    <m:r>
                      <a:rPr lang="en-US" altLang="zh-CN" sz="1600" i="1" dirty="0" smtClean="0">
                        <a:latin typeface="Cambria Math" panose="02040503050406030204" pitchFamily="18" charset="0"/>
                        <a:ea typeface="隶书" panose="02010509060101010101" pitchFamily="49" charset="-122"/>
                      </a:rPr>
                      <m:t>𝑘</m:t>
                    </m:r>
                    <m:r>
                      <a:rPr lang="en-US" altLang="zh-CN" sz="1600" i="1" dirty="0" smtClean="0">
                        <a:latin typeface="Cambria Math" panose="02040503050406030204" pitchFamily="18" charset="0"/>
                        <a:ea typeface="隶书" panose="02010509060101010101" pitchFamily="49" charset="-122"/>
                      </a:rPr>
                      <m:t>−1</m:t>
                    </m:r>
                  </m:oMath>
                </a14:m>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层上出现</a:t>
                </a:r>
                <a:r>
                  <a:rPr lang="en-US" altLang="zh-CN" sz="1600" dirty="0">
                    <a:latin typeface="Times New Roman" panose="02020603050405020304" pitchFamily="18" charset="0"/>
                    <a:cs typeface="Times New Roman" panose="02020603050405020304" pitchFamily="18" charset="0"/>
                  </a:rPr>
                  <a:t>; </a:t>
                </a:r>
              </a:p>
              <a:p>
                <a:pPr marL="0" indent="0">
                  <a:buNone/>
                </a:pPr>
                <a:r>
                  <a:rPr lang="en-US" altLang="zh-CN" sz="1600" dirty="0">
                    <a:latin typeface="Times New Roman" panose="02020603050405020304" pitchFamily="18" charset="0"/>
                    <a:cs typeface="Times New Roman" panose="02020603050405020304" pitchFamily="18" charset="0"/>
                  </a:rPr>
                  <a:t> (2)</a:t>
                </a:r>
                <a:r>
                  <a:rPr lang="zh-CN" altLang="en-US" sz="1600" dirty="0">
                    <a:latin typeface="Times New Roman" panose="02020603050405020304" pitchFamily="18" charset="0"/>
                    <a:cs typeface="Times New Roman" panose="02020603050405020304" pitchFamily="18" charset="0"/>
                  </a:rPr>
                  <a:t>对于任意结点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若其右子树的深度为 </a:t>
                </a:r>
                <a14:m>
                  <m:oMath xmlns:m="http://schemas.openxmlformats.org/officeDocument/2006/math">
                    <m:r>
                      <a:rPr lang="en-US" altLang="zh-CN" sz="1600" i="1" dirty="0" smtClean="0">
                        <a:solidFill>
                          <a:srgbClr val="0070C0"/>
                        </a:solidFill>
                        <a:latin typeface="Cambria Math" panose="02040503050406030204" pitchFamily="18" charset="0"/>
                        <a:ea typeface="隶书" panose="02010509060101010101" pitchFamily="49" charset="-122"/>
                      </a:rPr>
                      <m:t>𝑙</m:t>
                    </m:r>
                  </m:oMath>
                </a14:m>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则其左子树的深度为 </a:t>
                </a:r>
                <a14:m>
                  <m:oMath xmlns:m="http://schemas.openxmlformats.org/officeDocument/2006/math">
                    <m:r>
                      <a:rPr lang="en-US" altLang="zh-CN" sz="1600" i="1" dirty="0" smtClean="0">
                        <a:solidFill>
                          <a:srgbClr val="0070C0"/>
                        </a:solidFill>
                        <a:latin typeface="Cambria Math" panose="02040503050406030204" pitchFamily="18" charset="0"/>
                        <a:ea typeface="隶书" panose="02010509060101010101" pitchFamily="49" charset="-122"/>
                      </a:rPr>
                      <m:t>𝑙</m:t>
                    </m:r>
                  </m:oMath>
                </a14:m>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或 </a:t>
                </a:r>
                <a14:m>
                  <m:oMath xmlns:m="http://schemas.openxmlformats.org/officeDocument/2006/math">
                    <m:r>
                      <a:rPr lang="en-US" altLang="zh-CN" sz="1600" i="1" dirty="0" smtClean="0">
                        <a:solidFill>
                          <a:srgbClr val="0070C0"/>
                        </a:solidFill>
                        <a:latin typeface="Cambria Math" panose="02040503050406030204" pitchFamily="18" charset="0"/>
                        <a:ea typeface="隶书" panose="02010509060101010101" pitchFamily="49" charset="-122"/>
                      </a:rPr>
                      <m:t>𝑙</m:t>
                    </m:r>
                    <m:r>
                      <a:rPr lang="en-US" altLang="zh-CN" sz="1600" i="1" dirty="0" smtClean="0">
                        <a:solidFill>
                          <a:srgbClr val="0070C0"/>
                        </a:solidFill>
                        <a:latin typeface="Cambria Math" panose="02040503050406030204" pitchFamily="18" charset="0"/>
                        <a:ea typeface="隶书" panose="02010509060101010101" pitchFamily="49" charset="-122"/>
                      </a:rPr>
                      <m:t>+1</m:t>
                    </m:r>
                  </m:oMath>
                </a14:m>
                <a:r>
                  <a:rPr lang="en-US" altLang="zh-CN" sz="1600" dirty="0">
                    <a:latin typeface="Times New Roman" panose="02020603050405020304" pitchFamily="18" charset="0"/>
                    <a:cs typeface="Times New Roman" panose="02020603050405020304" pitchFamily="18" charset="0"/>
                  </a:rPr>
                  <a:t>;</a:t>
                </a:r>
              </a:p>
              <a:p>
                <a:pPr marL="0" indent="0">
                  <a:buNone/>
                </a:pPr>
                <a:r>
                  <a:rPr lang="en-US" altLang="zh-CN" sz="1600" dirty="0">
                    <a:latin typeface="Times New Roman" panose="02020603050405020304" pitchFamily="18" charset="0"/>
                    <a:cs typeface="Times New Roman" panose="02020603050405020304" pitchFamily="18" charset="0"/>
                  </a:rPr>
                  <a:t> (3)</a:t>
                </a:r>
                <a:r>
                  <a:rPr lang="zh-CN" altLang="en-US" sz="1600" dirty="0">
                    <a:latin typeface="Times New Roman" panose="02020603050405020304" pitchFamily="18" charset="0"/>
                    <a:cs typeface="Times New Roman" panose="02020603050405020304" pitchFamily="18" charset="0"/>
                  </a:rPr>
                  <a:t>度为</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的结点数为 </a:t>
                </a:r>
                <a:r>
                  <a:rPr lang="en-US" altLang="zh-CN" sz="1600" dirty="0">
                    <a:latin typeface="Times New Roman" panose="02020603050405020304" pitchFamily="18" charset="0"/>
                    <a:cs typeface="Times New Roman" panose="02020603050405020304" pitchFamily="18" charset="0"/>
                  </a:rPr>
                  <a:t>0 </a:t>
                </a:r>
                <a:r>
                  <a:rPr lang="zh-CN" altLang="en-US" sz="1600" dirty="0">
                    <a:latin typeface="Times New Roman" panose="02020603050405020304" pitchFamily="18" charset="0"/>
                    <a:cs typeface="Times New Roman" panose="02020603050405020304" pitchFamily="18" charset="0"/>
                  </a:rPr>
                  <a:t>或 </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 当结点的总数为奇数时</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度为</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的结点数为 </a:t>
                </a:r>
                <a:r>
                  <a:rPr lang="en-US" altLang="zh-CN" sz="1600" dirty="0">
                    <a:latin typeface="Times New Roman" panose="02020603050405020304" pitchFamily="18" charset="0"/>
                    <a:cs typeface="Times New Roman" panose="02020603050405020304" pitchFamily="18" charset="0"/>
                  </a:rPr>
                  <a:t>0; </a:t>
                </a:r>
                <a:r>
                  <a:rPr lang="zh-CN" altLang="en-US" sz="1600" dirty="0">
                    <a:latin typeface="Times New Roman" panose="02020603050405020304" pitchFamily="18" charset="0"/>
                    <a:cs typeface="Times New Roman" panose="02020603050405020304" pitchFamily="18" charset="0"/>
                  </a:rPr>
                  <a:t>当结点的总数为偶数时</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度为</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的结点数为</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755575" y="987574"/>
                <a:ext cx="7632849" cy="3507876"/>
              </a:xfrm>
              <a:blipFill>
                <a:blip r:embed="rId2"/>
                <a:stretch>
                  <a:fillRect l="-719"/>
                </a:stretch>
              </a:blipFill>
            </p:spPr>
            <p:txBody>
              <a:bodyPr/>
              <a:lstStyle/>
              <a:p>
                <a:r>
                  <a:rPr lang="zh-CN" altLang="en-US">
                    <a:noFill/>
                  </a:rPr>
                  <a:t> </a:t>
                </a:r>
              </a:p>
            </p:txBody>
          </p:sp>
        </mc:Fallback>
      </mc:AlternateContent>
      <p:sp>
        <p:nvSpPr>
          <p:cNvPr id="4" name="文本框 3"/>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完全二叉树的特点</a:t>
            </a:r>
          </a:p>
        </p:txBody>
      </p:sp>
    </p:spTree>
    <p:extLst>
      <p:ext uri="{BB962C8B-B14F-4D97-AF65-F5344CB8AC3E}">
        <p14:creationId xmlns:p14="http://schemas.microsoft.com/office/powerpoint/2010/main" val="9747381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1064124"/>
                <a:ext cx="8280920" cy="3507876"/>
              </a:xfrm>
            </p:spPr>
            <p:txBody>
              <a:bodyPr/>
              <a:lstStyle/>
              <a:p>
                <a:pPr marL="0" indent="0">
                  <a:lnSpc>
                    <a:spcPts val="2400"/>
                  </a:lnSpc>
                  <a:buNone/>
                </a:pPr>
                <a:r>
                  <a:rPr lang="zh-CN" altLang="zh-CN" sz="1600" dirty="0">
                    <a:solidFill>
                      <a:srgbClr val="0070C0"/>
                    </a:solidFill>
                    <a:latin typeface="Times New Roman" panose="02020603050405020304" pitchFamily="18" charset="0"/>
                    <a:cs typeface="Times New Roman" panose="02020603050405020304" pitchFamily="18" charset="0"/>
                  </a:rPr>
                  <a:t>性质</a:t>
                </a:r>
                <a:r>
                  <a:rPr lang="en-US" altLang="zh-CN" sz="1600" dirty="0">
                    <a:solidFill>
                      <a:srgbClr val="0070C0"/>
                    </a:solidFill>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一棵具有</a:t>
                </a:r>
                <a14:m>
                  <m:oMath xmlns:m="http://schemas.openxmlformats.org/officeDocument/2006/math">
                    <m:r>
                      <a:rPr lang="en-US" altLang="zh-CN" sz="1600" i="1">
                        <a:solidFill>
                          <a:srgbClr val="C00000"/>
                        </a:solidFill>
                        <a:latin typeface="Cambria Math" panose="02040503050406030204" pitchFamily="18" charset="0"/>
                      </a:rPr>
                      <m:t>𝑛</m:t>
                    </m:r>
                  </m:oMath>
                </a14:m>
                <a:r>
                  <a:rPr lang="zh-CN" altLang="zh-CN" sz="1600" dirty="0">
                    <a:solidFill>
                      <a:srgbClr val="C00000"/>
                    </a:solidFill>
                    <a:latin typeface="Times New Roman" panose="02020603050405020304" pitchFamily="18" charset="0"/>
                    <a:cs typeface="Times New Roman" panose="02020603050405020304" pitchFamily="18" charset="0"/>
                  </a:rPr>
                  <a:t>个结点的完全二叉树的深度为</a:t>
                </a:r>
                <a14:m>
                  <m:oMath xmlns:m="http://schemas.openxmlformats.org/officeDocument/2006/math">
                    <m:d>
                      <m:dPr>
                        <m:begChr m:val="⌊"/>
                        <m:endChr m:val="⌋"/>
                        <m:ctrlPr>
                          <a:rPr lang="zh-CN" altLang="zh-CN" sz="1600" i="1">
                            <a:solidFill>
                              <a:srgbClr val="C00000"/>
                            </a:solidFill>
                            <a:latin typeface="Cambria Math" panose="02040503050406030204" pitchFamily="18" charset="0"/>
                          </a:rPr>
                        </m:ctrlPr>
                      </m:dPr>
                      <m:e>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𝑙𝑜𝑔</m:t>
                            </m:r>
                          </m:e>
                          <m:sub>
                            <m:r>
                              <a:rPr lang="en-US" altLang="zh-CN" sz="1600" i="1">
                                <a:solidFill>
                                  <a:srgbClr val="C00000"/>
                                </a:solidFill>
                                <a:latin typeface="Cambria Math" panose="02040503050406030204" pitchFamily="18" charset="0"/>
                              </a:rPr>
                              <m:t>2</m:t>
                            </m:r>
                          </m:sub>
                        </m:sSub>
                        <m:r>
                          <a:rPr lang="en-US" altLang="zh-CN" sz="1600" i="1">
                            <a:solidFill>
                              <a:srgbClr val="C00000"/>
                            </a:solidFill>
                            <a:latin typeface="Cambria Math" panose="02040503050406030204" pitchFamily="18" charset="0"/>
                          </a:rPr>
                          <m:t>𝑛</m:t>
                        </m:r>
                      </m:e>
                    </m:d>
                    <m:r>
                      <a:rPr lang="en-US" altLang="zh-CN" sz="1600" i="1">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cs typeface="Times New Roman" panose="02020603050405020304" pitchFamily="18" charset="0"/>
                  </a:rPr>
                  <a:t>。</a:t>
                </a:r>
              </a:p>
              <a:p>
                <a:pPr marL="0" indent="0" algn="just">
                  <a:lnSpc>
                    <a:spcPts val="2400"/>
                  </a:lnSpc>
                  <a:buNone/>
                </a:pPr>
                <a:r>
                  <a:rPr lang="zh-CN" altLang="zh-CN" sz="1600" dirty="0">
                    <a:latin typeface="Times New Roman" panose="02020603050405020304" pitchFamily="18" charset="0"/>
                    <a:cs typeface="Times New Roman" panose="02020603050405020304" pitchFamily="18" charset="0"/>
                  </a:rPr>
                  <a:t>证明：设完全二叉树的深度为</a:t>
                </a:r>
                <a14:m>
                  <m:oMath xmlns:m="http://schemas.openxmlformats.org/officeDocument/2006/math">
                    <m:r>
                      <a:rPr lang="es-E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，则由完全二叉树的定义知，该完全二叉树前</a:t>
                </a:r>
                <a14:m>
                  <m:oMath xmlns:m="http://schemas.openxmlformats.org/officeDocument/2006/math">
                    <m:r>
                      <a:rPr lang="es-ES" altLang="zh-CN" sz="1600" i="1">
                        <a:latin typeface="Cambria Math" panose="02040503050406030204" pitchFamily="18" charset="0"/>
                      </a:rPr>
                      <m:t>𝑘</m:t>
                    </m:r>
                    <m:r>
                      <a:rPr lang="es-E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层是一棵满二叉树，共有</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r>
                          <a:rPr lang="en-US" altLang="zh-CN" sz="1600" i="1">
                            <a:latin typeface="Cambria Math" panose="02040503050406030204" pitchFamily="18" charset="0"/>
                          </a:rPr>
                          <m:t>−1</m:t>
                        </m:r>
                      </m:sup>
                    </m:sSup>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个结点，第</a:t>
                </a:r>
                <a14:m>
                  <m:oMath xmlns:m="http://schemas.openxmlformats.org/officeDocument/2006/math">
                    <m:r>
                      <a:rPr lang="es-E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层上至少有一个结点，又由性质</a:t>
                </a:r>
                <a:r>
                  <a:rPr lang="es-E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知</a:t>
                </a:r>
              </a:p>
              <a:p>
                <a:pPr marL="0" indent="0" algn="just">
                  <a:lnSpc>
                    <a:spcPts val="2400"/>
                  </a:lnSpc>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r>
                          <a:rPr lang="en-US" altLang="zh-CN" sz="1600" i="1">
                            <a:latin typeface="Cambria Math" panose="02040503050406030204" pitchFamily="18" charset="0"/>
                          </a:rPr>
                          <m:t>−1</m:t>
                        </m:r>
                      </m:sup>
                    </m:sSup>
                    <m:r>
                      <a:rPr lang="en-US" altLang="zh-CN" sz="1600" i="1">
                        <a:latin typeface="Cambria Math" panose="02040503050406030204" pitchFamily="18" charset="0"/>
                      </a:rPr>
                      <m:t>−1&lt;</m:t>
                    </m:r>
                    <m:r>
                      <a:rPr lang="en-US" altLang="zh-CN" sz="1600" i="1">
                        <a:latin typeface="Cambria Math" panose="02040503050406030204" pitchFamily="18" charset="0"/>
                      </a:rPr>
                      <m:t>𝑛</m:t>
                    </m:r>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−1</m:t>
                    </m:r>
                  </m:oMath>
                </a14:m>
                <a:endParaRPr lang="zh-CN" altLang="zh-CN" sz="1600" dirty="0">
                  <a:latin typeface="Times New Roman" panose="02020603050405020304" pitchFamily="18" charset="0"/>
                  <a:cs typeface="Times New Roman" panose="02020603050405020304" pitchFamily="18" charset="0"/>
                </a:endParaRPr>
              </a:p>
              <a:p>
                <a:pPr marL="0" indent="0" algn="just">
                  <a:lnSpc>
                    <a:spcPts val="2400"/>
                  </a:lnSpc>
                  <a:buNone/>
                </a:pPr>
                <a:r>
                  <a:rPr lang="zh-CN" altLang="zh-CN" sz="1600" dirty="0">
                    <a:latin typeface="Times New Roman" panose="02020603050405020304" pitchFamily="18" charset="0"/>
                    <a:cs typeface="Times New Roman" panose="02020603050405020304" pitchFamily="18" charset="0"/>
                  </a:rPr>
                  <a:t>即</a:t>
                </a:r>
                <a14:m>
                  <m:oMath xmlns:m="http://schemas.openxmlformats.org/officeDocument/2006/math">
                    <m:r>
                      <a:rPr lang="en-US" altLang="zh-CN" sz="1600" b="0" i="0" smtClean="0">
                        <a:latin typeface="Cambria Math" panose="02040503050406030204" pitchFamily="18" charset="0"/>
                      </a:rPr>
                      <m:t>                                                 </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r>
                          <a:rPr lang="en-US" altLang="zh-CN" sz="1600" i="1">
                            <a:latin typeface="Cambria Math" panose="02040503050406030204" pitchFamily="18" charset="0"/>
                          </a:rPr>
                          <m:t>−1</m:t>
                        </m:r>
                      </m:sup>
                    </m:sSup>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&lt;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oMath>
                </a14:m>
                <a:endParaRPr lang="zh-CN" altLang="zh-CN" sz="1600" dirty="0">
                  <a:latin typeface="Times New Roman" panose="02020603050405020304" pitchFamily="18" charset="0"/>
                  <a:cs typeface="Times New Roman" panose="02020603050405020304" pitchFamily="18" charset="0"/>
                </a:endParaRPr>
              </a:p>
              <a:p>
                <a:pPr marL="0" indent="0" algn="just">
                  <a:lnSpc>
                    <a:spcPts val="2400"/>
                  </a:lnSpc>
                  <a:buNone/>
                </a:pPr>
                <a:r>
                  <a:rPr lang="zh-CN" altLang="zh-CN" sz="1600" dirty="0">
                    <a:latin typeface="Times New Roman" panose="02020603050405020304" pitchFamily="18" charset="0"/>
                    <a:cs typeface="Times New Roman" panose="02020603050405020304" pitchFamily="18" charset="0"/>
                  </a:rPr>
                  <a:t>于是</a:t>
                </a:r>
                <a14:m>
                  <m:oMath xmlns:m="http://schemas.openxmlformats.org/officeDocument/2006/math">
                    <m:r>
                      <a:rPr lang="en-US" altLang="zh-CN" sz="1600" b="0" i="0" smtClean="0">
                        <a:latin typeface="Cambria Math" panose="02040503050406030204" pitchFamily="18" charset="0"/>
                      </a:rPr>
                      <m:t>                                          </m:t>
                    </m:r>
                    <m:r>
                      <a:rPr lang="en-US" altLang="zh-CN" sz="1600" i="1">
                        <a:latin typeface="Cambria Math" panose="02040503050406030204" pitchFamily="18" charset="0"/>
                      </a:rPr>
                      <m:t>𝑘</m:t>
                    </m:r>
                    <m:r>
                      <a:rPr lang="en-US" altLang="zh-CN" sz="1600" i="1">
                        <a:latin typeface="Cambria Math" panose="02040503050406030204" pitchFamily="18" charset="0"/>
                      </a:rPr>
                      <m:t>−1≤</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r>
                      <a:rPr lang="en-US" altLang="zh-CN" sz="1600" i="1">
                        <a:latin typeface="Cambria Math" panose="02040503050406030204" pitchFamily="18" charset="0"/>
                      </a:rPr>
                      <m:t>&lt;</m:t>
                    </m:r>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gn="just">
                  <a:lnSpc>
                    <a:spcPts val="2400"/>
                  </a:lnSpc>
                  <a:buNone/>
                </a:pPr>
                <a:r>
                  <a:rPr lang="zh-CN" altLang="zh-CN" sz="1600" dirty="0">
                    <a:latin typeface="Times New Roman" panose="02020603050405020304" pitchFamily="18" charset="0"/>
                    <a:cs typeface="Times New Roman" panose="02020603050405020304" pitchFamily="18" charset="0"/>
                  </a:rPr>
                  <a:t>因为</a:t>
                </a:r>
                <a14:m>
                  <m:oMath xmlns:m="http://schemas.openxmlformats.org/officeDocument/2006/math">
                    <m:r>
                      <a:rPr lang="es-E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为整数，所以</a:t>
                </a:r>
                <a:endParaRPr lang="en-US" altLang="zh-CN" sz="1600" dirty="0">
                  <a:latin typeface="Times New Roman" panose="02020603050405020304" pitchFamily="18" charset="0"/>
                  <a:cs typeface="Times New Roman" panose="02020603050405020304" pitchFamily="18" charset="0"/>
                </a:endParaRPr>
              </a:p>
              <a:p>
                <a:pPr marL="0" indent="0" algn="just">
                  <a:lnSpc>
                    <a:spcPts val="2400"/>
                  </a:lnSpc>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s-ES" altLang="zh-CN" sz="1600" i="1">
                        <a:latin typeface="Cambria Math" panose="02040503050406030204" pitchFamily="18" charset="0"/>
                      </a:rPr>
                      <m:t>𝑘</m:t>
                    </m:r>
                    <m:r>
                      <a:rPr lang="es-E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e>
                    </m:d>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a:t>
                </a:r>
              </a:p>
              <a:p>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1064124"/>
                <a:ext cx="8280920" cy="3507876"/>
              </a:xfrm>
              <a:blipFill>
                <a:blip r:embed="rId2"/>
                <a:stretch>
                  <a:fillRect l="-663" t="-174" r="-736"/>
                </a:stretch>
              </a:blipFill>
            </p:spPr>
            <p:txBody>
              <a:bodyPr/>
              <a:lstStyle/>
              <a:p>
                <a:r>
                  <a:rPr lang="zh-CN" altLang="en-US">
                    <a:noFill/>
                  </a:rPr>
                  <a:t> </a:t>
                </a:r>
              </a:p>
            </p:txBody>
          </p:sp>
        </mc:Fallback>
      </mc:AlternateContent>
      <p:sp>
        <p:nvSpPr>
          <p:cNvPr id="4" name="文本框 3"/>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二叉树的性质</a:t>
            </a:r>
          </a:p>
        </p:txBody>
      </p:sp>
    </p:spTree>
    <p:extLst>
      <p:ext uri="{BB962C8B-B14F-4D97-AF65-F5344CB8AC3E}">
        <p14:creationId xmlns:p14="http://schemas.microsoft.com/office/powerpoint/2010/main" val="28325742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892480" cy="3507876"/>
              </a:xfrm>
            </p:spPr>
            <p:txBody>
              <a:bodyPr/>
              <a:lstStyle/>
              <a:p>
                <a:pPr marL="0" indent="0">
                  <a:lnSpc>
                    <a:spcPts val="2600"/>
                  </a:lnSpc>
                  <a:buNone/>
                </a:pPr>
                <a:r>
                  <a:rPr lang="zh-CN" altLang="zh-CN" sz="1600" dirty="0">
                    <a:solidFill>
                      <a:srgbClr val="0070C0"/>
                    </a:solidFill>
                    <a:latin typeface="Times New Roman" panose="02020603050405020304" pitchFamily="18" charset="0"/>
                    <a:cs typeface="Times New Roman" panose="02020603050405020304" pitchFamily="18" charset="0"/>
                  </a:rPr>
                  <a:t>性质</a:t>
                </a:r>
                <a:r>
                  <a:rPr lang="en-US" altLang="zh-CN" sz="1600" dirty="0">
                    <a:solidFill>
                      <a:srgbClr val="0070C0"/>
                    </a:solidFill>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如果对一棵有</a:t>
                </a:r>
                <a14:m>
                  <m:oMath xmlns:m="http://schemas.openxmlformats.org/officeDocument/2006/math">
                    <m:r>
                      <a:rPr lang="en-US" altLang="zh-CN" sz="1600" i="1">
                        <a:solidFill>
                          <a:srgbClr val="C00000"/>
                        </a:solidFill>
                        <a:latin typeface="Cambria Math" panose="02040503050406030204" pitchFamily="18" charset="0"/>
                      </a:rPr>
                      <m:t>𝑛</m:t>
                    </m:r>
                  </m:oMath>
                </a14:m>
                <a:r>
                  <a:rPr lang="zh-CN" altLang="zh-CN" sz="1600" dirty="0">
                    <a:solidFill>
                      <a:srgbClr val="C00000"/>
                    </a:solidFill>
                    <a:latin typeface="Times New Roman" panose="02020603050405020304" pitchFamily="18" charset="0"/>
                    <a:cs typeface="Times New Roman" panose="02020603050405020304" pitchFamily="18" charset="0"/>
                  </a:rPr>
                  <a:t>个结点的完全二叉树的结点按层序编号</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则对任一结点</a:t>
                </a:r>
                <a14:m>
                  <m:oMath xmlns:m="http://schemas.openxmlformats.org/officeDocument/2006/math">
                    <m:r>
                      <a:rPr lang="en-US" altLang="zh-CN" sz="1600" i="1">
                        <a:solidFill>
                          <a:srgbClr val="C00000"/>
                        </a:solidFill>
                        <a:latin typeface="Cambria Math" panose="02040503050406030204" pitchFamily="18" charset="0"/>
                      </a:rPr>
                      <m:t>𝑖</m:t>
                    </m:r>
                    <m:r>
                      <a:rPr lang="en-US" altLang="zh-CN" sz="1600" i="1">
                        <a:solidFill>
                          <a:srgbClr val="C00000"/>
                        </a:solidFill>
                        <a:latin typeface="Cambria Math" panose="02040503050406030204" pitchFamily="18" charset="0"/>
                      </a:rPr>
                      <m:t>(1≤</m:t>
                    </m:r>
                    <m:r>
                      <a:rPr lang="en-US" altLang="zh-CN" sz="1600" i="1">
                        <a:solidFill>
                          <a:srgbClr val="C00000"/>
                        </a:solidFill>
                        <a:latin typeface="Cambria Math" panose="02040503050406030204" pitchFamily="18" charset="0"/>
                      </a:rPr>
                      <m:t>𝑖</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oMath>
                </a14:m>
                <a:r>
                  <a:rPr lang="zh-CN" altLang="zh-CN" sz="1600" dirty="0">
                    <a:solidFill>
                      <a:srgbClr val="C00000"/>
                    </a:solidFill>
                    <a:latin typeface="Times New Roman" panose="02020603050405020304" pitchFamily="18" charset="0"/>
                    <a:cs typeface="Times New Roman" panose="02020603050405020304" pitchFamily="18" charset="0"/>
                  </a:rPr>
                  <a:t>有：</a:t>
                </a:r>
                <a:endParaRPr lang="zh-CN" altLang="zh-CN" sz="1600" dirty="0">
                  <a:latin typeface="Times New Roman" panose="02020603050405020304" pitchFamily="18" charset="0"/>
                  <a:cs typeface="Times New Roman" panose="02020603050405020304" pitchFamily="18" charset="0"/>
                </a:endParaRPr>
              </a:p>
              <a:p>
                <a:pPr marL="0" indent="0">
                  <a:lnSpc>
                    <a:spcPts val="2600"/>
                  </a:lnSpc>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sz="1600" i="1">
                        <a:latin typeface="Cambria Math" panose="02040503050406030204" pitchFamily="18" charset="0"/>
                      </a:rPr>
                      <m:t>𝑖</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，则结点</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无双亲，它是二叉树的根；如果</a:t>
                </a:r>
                <a14:m>
                  <m:oMath xmlns:m="http://schemas.openxmlformats.org/officeDocument/2006/math">
                    <m:r>
                      <a:rPr lang="en-US" altLang="zh-CN" sz="1600" i="1">
                        <a:latin typeface="Cambria Math" panose="02040503050406030204" pitchFamily="18" charset="0"/>
                      </a:rPr>
                      <m:t>𝑖</m:t>
                    </m:r>
                    <m:r>
                      <a:rPr lang="en-US" altLang="zh-CN" sz="1600" i="1">
                        <a:latin typeface="Cambria Math" panose="02040503050406030204" pitchFamily="18" charset="0"/>
                      </a:rPr>
                      <m:t>&gt;1</m:t>
                    </m:r>
                  </m:oMath>
                </a14:m>
                <a:r>
                  <a:rPr lang="zh-CN" altLang="zh-CN" sz="1600" dirty="0">
                    <a:latin typeface="Times New Roman" panose="02020603050405020304" pitchFamily="18" charset="0"/>
                    <a:cs typeface="Times New Roman" panose="02020603050405020304" pitchFamily="18" charset="0"/>
                  </a:rPr>
                  <a:t>，则其双亲结点的编号是</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𝑖</m:t>
                            </m:r>
                          </m:num>
                          <m:den>
                            <m:r>
                              <a:rPr lang="en-US" altLang="zh-CN" sz="1600" i="1">
                                <a:latin typeface="Cambria Math" panose="02040503050406030204" pitchFamily="18" charset="0"/>
                              </a:rPr>
                              <m:t>2</m:t>
                            </m:r>
                          </m:den>
                        </m:f>
                      </m:e>
                    </m:d>
                  </m:oMath>
                </a14:m>
                <a:r>
                  <a:rPr lang="zh-CN" altLang="zh-CN" sz="1600" dirty="0">
                    <a:latin typeface="Times New Roman" panose="02020603050405020304" pitchFamily="18" charset="0"/>
                    <a:cs typeface="Times New Roman" panose="02020603050405020304" pitchFamily="18" charset="0"/>
                  </a:rPr>
                  <a:t>。</a:t>
                </a:r>
              </a:p>
              <a:p>
                <a:pPr marL="0" indent="0">
                  <a:lnSpc>
                    <a:spcPts val="2600"/>
                  </a:lnSpc>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sz="1600">
                        <a:latin typeface="Cambria Math" panose="02040503050406030204" pitchFamily="18" charset="0"/>
                      </a:rPr>
                      <m:t>2</m:t>
                    </m:r>
                    <m:r>
                      <a:rPr lang="en-US" altLang="zh-CN" sz="1600" i="1">
                        <a:latin typeface="Cambria Math" panose="02040503050406030204" pitchFamily="18" charset="0"/>
                      </a:rPr>
                      <m:t>𝑖</m:t>
                    </m:r>
                    <m:r>
                      <a:rPr lang="en-US" altLang="zh-CN" sz="1600" i="1">
                        <a:latin typeface="Cambria Math" panose="02040503050406030204" pitchFamily="18" charset="0"/>
                      </a:rPr>
                      <m:t>&gt;</m:t>
                    </m:r>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，则结点</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无左孩子；否则，其左孩子的结点的编号为</a:t>
                </a:r>
                <a14:m>
                  <m:oMath xmlns:m="http://schemas.openxmlformats.org/officeDocument/2006/math">
                    <m:r>
                      <a:rPr lang="en-US" altLang="zh-CN" sz="1600">
                        <a:latin typeface="Cambria Math" panose="02040503050406030204" pitchFamily="18" charset="0"/>
                      </a:rPr>
                      <m:t>2</m:t>
                    </m:r>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a:t>
                </a:r>
              </a:p>
              <a:p>
                <a:pPr marL="0" indent="0">
                  <a:lnSpc>
                    <a:spcPts val="2600"/>
                  </a:lnSpc>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）如果</a:t>
                </a:r>
                <a14:m>
                  <m:oMath xmlns:m="http://schemas.openxmlformats.org/officeDocument/2006/math">
                    <m:r>
                      <a:rPr lang="en-US" altLang="zh-CN" sz="1600">
                        <a:latin typeface="Cambria Math" panose="02040503050406030204" pitchFamily="18" charset="0"/>
                      </a:rPr>
                      <m:t>2</m:t>
                    </m:r>
                    <m:r>
                      <a:rPr lang="en-US" altLang="zh-CN" sz="1600" i="1">
                        <a:latin typeface="Cambria Math" panose="02040503050406030204" pitchFamily="18" charset="0"/>
                      </a:rPr>
                      <m:t>𝑖</m:t>
                    </m:r>
                    <m:r>
                      <a:rPr lang="en-US" altLang="zh-CN" sz="1600" i="1">
                        <a:latin typeface="Cambria Math" panose="02040503050406030204" pitchFamily="18" charset="0"/>
                      </a:rPr>
                      <m:t>+1&gt;</m:t>
                    </m:r>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，则结点</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无右孩子；否则</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其右孩子的结点编号为</a:t>
                </a:r>
                <a14:m>
                  <m:oMath xmlns:m="http://schemas.openxmlformats.org/officeDocument/2006/math">
                    <m:r>
                      <a:rPr lang="en-US" altLang="zh-CN" sz="1600">
                        <a:latin typeface="Cambria Math" panose="02040503050406030204" pitchFamily="18" charset="0"/>
                      </a:rPr>
                      <m:t>2</m:t>
                    </m:r>
                    <m:r>
                      <a:rPr lang="en-US" altLang="zh-CN" sz="1600" i="1">
                        <a:latin typeface="Cambria Math" panose="02040503050406030204" pitchFamily="18" charset="0"/>
                      </a:rPr>
                      <m:t>𝑖</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a:t>
                </a:r>
              </a:p>
              <a:p>
                <a:pPr marL="0" indent="0">
                  <a:buNone/>
                </a:pPr>
                <a:endParaRPr lang="zh-CN" altLang="en-US" sz="20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892480" cy="3507876"/>
              </a:xfrm>
              <a:blipFill>
                <a:blip r:embed="rId2"/>
                <a:stretch>
                  <a:fillRect l="-617"/>
                </a:stretch>
              </a:blipFill>
            </p:spPr>
            <p:txBody>
              <a:bodyPr/>
              <a:lstStyle/>
              <a:p>
                <a:r>
                  <a:rPr lang="zh-CN" altLang="en-US">
                    <a:noFill/>
                  </a:rPr>
                  <a:t> </a:t>
                </a:r>
              </a:p>
            </p:txBody>
          </p:sp>
        </mc:Fallback>
      </mc:AlternateContent>
      <p:sp>
        <p:nvSpPr>
          <p:cNvPr id="4" name="文本框 3"/>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二叉树的性质</a:t>
            </a:r>
          </a:p>
        </p:txBody>
      </p:sp>
    </p:spTree>
    <p:extLst>
      <p:ext uri="{BB962C8B-B14F-4D97-AF65-F5344CB8AC3E}">
        <p14:creationId xmlns:p14="http://schemas.microsoft.com/office/powerpoint/2010/main" val="40668333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640960" cy="3507876"/>
          </a:xfrm>
        </p:spPr>
        <p:txBody>
          <a:bodyPr/>
          <a:lstStyle/>
          <a:p>
            <a:pPr marL="0" indent="0" algn="just">
              <a:lnSpc>
                <a:spcPts val="2800"/>
              </a:lnSpc>
              <a:buNone/>
            </a:pP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二叉树的顺序存储结构</a:t>
            </a:r>
            <a:r>
              <a:rPr lang="zh-CN" altLang="zh-CN" sz="1600" dirty="0">
                <a:latin typeface="Times New Roman" panose="02020603050405020304" pitchFamily="18" charset="0"/>
                <a:cs typeface="Times New Roman" panose="02020603050405020304" pitchFamily="18" charset="0"/>
              </a:rPr>
              <a:t>是用一组地址连续的存储单元来存放二叉树的数据元素。二叉树的顺序存储结构类型定义如下：</a:t>
            </a:r>
          </a:p>
          <a:p>
            <a:pPr marL="0" indent="0" algn="just">
              <a:lnSpc>
                <a:spcPts val="2800"/>
              </a:lnSpc>
              <a:buNone/>
            </a:pPr>
            <a:r>
              <a:rPr lang="en-US" altLang="zh-CN" sz="1600" dirty="0">
                <a:solidFill>
                  <a:srgbClr val="0066FF"/>
                </a:solidFill>
                <a:latin typeface="Times New Roman" panose="02020603050405020304" pitchFamily="18" charset="0"/>
                <a:cs typeface="Times New Roman" panose="02020603050405020304" pitchFamily="18" charset="0"/>
              </a:rPr>
              <a:t>             #define </a:t>
            </a:r>
            <a:r>
              <a:rPr lang="en-US" altLang="zh-CN" sz="1600" dirty="0" err="1">
                <a:solidFill>
                  <a:srgbClr val="0066FF"/>
                </a:solidFill>
                <a:latin typeface="Times New Roman" panose="02020603050405020304" pitchFamily="18" charset="0"/>
                <a:cs typeface="Times New Roman" panose="02020603050405020304" pitchFamily="18" charset="0"/>
              </a:rPr>
              <a:t>MaxSize</a:t>
            </a:r>
            <a:r>
              <a:rPr lang="en-US" altLang="zh-CN" sz="1600" dirty="0">
                <a:solidFill>
                  <a:srgbClr val="0066FF"/>
                </a:solidFill>
                <a:latin typeface="Times New Roman" panose="02020603050405020304" pitchFamily="18" charset="0"/>
                <a:cs typeface="Times New Roman" panose="02020603050405020304" pitchFamily="18" charset="0"/>
              </a:rPr>
              <a:t>  100                  //</a:t>
            </a:r>
            <a:r>
              <a:rPr lang="zh-CN" altLang="zh-CN" sz="1600" dirty="0">
                <a:solidFill>
                  <a:srgbClr val="0066FF"/>
                </a:solidFill>
                <a:latin typeface="Times New Roman" panose="02020603050405020304" pitchFamily="18" charset="0"/>
                <a:cs typeface="Times New Roman" panose="02020603050405020304" pitchFamily="18" charset="0"/>
              </a:rPr>
              <a:t>二叉树的最大存储容量</a:t>
            </a:r>
          </a:p>
          <a:p>
            <a:pPr marL="0" indent="0">
              <a:lnSpc>
                <a:spcPts val="2800"/>
              </a:lnSpc>
              <a:buNone/>
            </a:pPr>
            <a:r>
              <a:rPr lang="en-US" altLang="zh-CN" sz="1600" dirty="0">
                <a:solidFill>
                  <a:srgbClr val="0066FF"/>
                </a:solidFill>
                <a:latin typeface="Times New Roman" panose="02020603050405020304" pitchFamily="18" charset="0"/>
                <a:cs typeface="Times New Roman" panose="02020603050405020304" pitchFamily="18" charset="0"/>
              </a:rPr>
              <a:t>             typedef </a:t>
            </a:r>
            <a:r>
              <a:rPr lang="en-US" altLang="zh-CN" sz="1600" dirty="0" err="1">
                <a:solidFill>
                  <a:srgbClr val="0066FF"/>
                </a:solidFill>
                <a:latin typeface="Times New Roman" panose="02020603050405020304" pitchFamily="18" charset="0"/>
                <a:cs typeface="Times New Roman" panose="02020603050405020304" pitchFamily="18" charset="0"/>
              </a:rPr>
              <a:t>ElemType</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SqBiTree</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MaxSize</a:t>
            </a:r>
            <a:r>
              <a:rPr lang="en-U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用数组存储二叉</a:t>
            </a:r>
            <a:r>
              <a:rPr lang="zh-CN" altLang="en-US" sz="1600" dirty="0">
                <a:solidFill>
                  <a:srgbClr val="0066FF"/>
                </a:solidFill>
                <a:latin typeface="Times New Roman" panose="02020603050405020304" pitchFamily="18" charset="0"/>
                <a:cs typeface="Times New Roman" panose="02020603050405020304" pitchFamily="18" charset="0"/>
              </a:rPr>
              <a:t>树</a:t>
            </a:r>
            <a:r>
              <a:rPr lang="zh-CN" altLang="zh-CN" sz="1600" dirty="0">
                <a:solidFill>
                  <a:srgbClr val="0066FF"/>
                </a:solidFill>
                <a:latin typeface="Times New Roman" panose="02020603050405020304" pitchFamily="18" charset="0"/>
                <a:cs typeface="Times New Roman" panose="02020603050405020304" pitchFamily="18" charset="0"/>
              </a:rPr>
              <a:t>的数据元素</a:t>
            </a:r>
          </a:p>
          <a:p>
            <a:pPr marL="0" indent="0">
              <a:lnSpc>
                <a:spcPts val="2800"/>
              </a:lnSpc>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SqBiTree</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bt</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endParaRPr lang="zh-CN" altLang="en-US" dirty="0"/>
          </a:p>
        </p:txBody>
      </p:sp>
      <p:sp>
        <p:nvSpPr>
          <p:cNvPr id="4" name="文本框 3"/>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二叉树的存储结构</a:t>
            </a:r>
          </a:p>
        </p:txBody>
      </p:sp>
    </p:spTree>
    <p:extLst>
      <p:ext uri="{BB962C8B-B14F-4D97-AF65-F5344CB8AC3E}">
        <p14:creationId xmlns:p14="http://schemas.microsoft.com/office/powerpoint/2010/main" val="22502156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21158"/>
            <a:ext cx="5184576" cy="3816424"/>
          </a:xfrm>
        </p:spPr>
        <p:txBody>
          <a:bodyPr/>
          <a:lstStyle/>
          <a:p>
            <a:pPr algn="just">
              <a:lnSpc>
                <a:spcPct val="100000"/>
              </a:lnSpc>
            </a:pPr>
            <a:r>
              <a:rPr lang="zh-CN" altLang="en-US" sz="1600" dirty="0">
                <a:latin typeface="Times New Roman" panose="02020603050405020304" pitchFamily="18" charset="0"/>
                <a:cs typeface="Times New Roman" panose="02020603050405020304" pitchFamily="18" charset="0"/>
              </a:rPr>
              <a:t>在用数组存储二叉树时</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必须确定树中各数据元素的存放次序</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使各数据元素的相应位置反映出数据元素之间的逻辑关系用一组地址连续的存储单元依次</a:t>
            </a:r>
            <a:r>
              <a:rPr lang="zh-CN" altLang="en-US" sz="1600" dirty="0">
                <a:solidFill>
                  <a:srgbClr val="FF0000"/>
                </a:solidFill>
                <a:latin typeface="Times New Roman" panose="02020603050405020304" pitchFamily="18" charset="0"/>
                <a:cs typeface="Times New Roman" panose="02020603050405020304" pitchFamily="18" charset="0"/>
              </a:rPr>
              <a:t>自上而下</a:t>
            </a:r>
            <a:r>
              <a:rPr lang="zh-CN" altLang="en-US" sz="1600" dirty="0">
                <a:latin typeface="Times New Roman" panose="02020603050405020304" pitchFamily="18" charset="0"/>
                <a:cs typeface="Times New Roman" panose="02020603050405020304" pitchFamily="18" charset="0"/>
              </a:rPr>
              <a:t>、</a:t>
            </a:r>
            <a:r>
              <a:rPr lang="zh-CN" altLang="en-US" sz="1600" dirty="0">
                <a:solidFill>
                  <a:srgbClr val="FF0000"/>
                </a:solidFill>
                <a:latin typeface="Times New Roman" panose="02020603050405020304" pitchFamily="18" charset="0"/>
                <a:cs typeface="Times New Roman" panose="02020603050405020304" pitchFamily="18" charset="0"/>
              </a:rPr>
              <a:t>自左向右</a:t>
            </a:r>
            <a:r>
              <a:rPr lang="zh-CN" altLang="en-US" sz="1600" dirty="0">
                <a:latin typeface="Times New Roman" panose="02020603050405020304" pitchFamily="18" charset="0"/>
                <a:cs typeface="Times New Roman" panose="02020603050405020304" pitchFamily="18" charset="0"/>
              </a:rPr>
              <a:t>地存储完全二叉树上的结点元素。</a:t>
            </a:r>
            <a:endParaRPr lang="en-US" altLang="zh-CN" sz="1600" dirty="0">
              <a:latin typeface="Times New Roman" panose="02020603050405020304" pitchFamily="18" charset="0"/>
              <a:cs typeface="Times New Roman" panose="02020603050405020304" pitchFamily="18" charset="0"/>
            </a:endParaRPr>
          </a:p>
          <a:p>
            <a:pPr algn="just">
              <a:lnSpc>
                <a:spcPct val="100000"/>
              </a:lnSpc>
            </a:pPr>
            <a:r>
              <a:rPr lang="zh-CN" altLang="en-US" sz="1600" dirty="0">
                <a:latin typeface="Times New Roman" panose="02020603050405020304" pitchFamily="18" charset="0"/>
                <a:cs typeface="Times New Roman" panose="02020603050405020304" pitchFamily="18" charset="0"/>
              </a:rPr>
              <a:t>由二叉树的性质</a:t>
            </a:r>
            <a:r>
              <a:rPr lang="en-US" altLang="zh-CN" sz="1600" dirty="0">
                <a:latin typeface="Times New Roman" panose="02020603050405020304" pitchFamily="18" charset="0"/>
                <a:cs typeface="Times New Roman" panose="02020603050405020304" pitchFamily="18" charset="0"/>
              </a:rPr>
              <a:t>5</a:t>
            </a:r>
            <a:r>
              <a:rPr lang="zh-CN" altLang="en-US" sz="1600" dirty="0">
                <a:latin typeface="Times New Roman" panose="02020603050405020304" pitchFamily="18" charset="0"/>
                <a:cs typeface="Times New Roman" panose="02020603050405020304" pitchFamily="18" charset="0"/>
              </a:rPr>
              <a:t>可知</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对于完全二叉树</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若已知结点的编号</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则可以推算出它的双亲结点和孩子结点的编号</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只需将完全二叉树的各结点按照编号的次序</a:t>
            </a:r>
            <a:r>
              <a:rPr lang="en-US" altLang="zh-CN" sz="1600" dirty="0">
                <a:latin typeface="Times New Roman" panose="02020603050405020304" pitchFamily="18" charset="0"/>
                <a:cs typeface="Times New Roman" panose="02020603050405020304" pitchFamily="18" charset="0"/>
              </a:rPr>
              <a:t>1~n</a:t>
            </a:r>
            <a:r>
              <a:rPr lang="zh-CN" altLang="en-US" sz="1600" dirty="0">
                <a:latin typeface="Times New Roman" panose="02020603050405020304" pitchFamily="18" charset="0"/>
                <a:cs typeface="Times New Roman" panose="02020603050405020304" pitchFamily="18" charset="0"/>
              </a:rPr>
              <a:t>依次存储到数组对应下标为 </a:t>
            </a:r>
            <a:r>
              <a:rPr lang="en-US" altLang="zh-CN" sz="1600" dirty="0">
                <a:latin typeface="Times New Roman" panose="02020603050405020304" pitchFamily="18" charset="0"/>
                <a:cs typeface="Times New Roman" panose="02020603050405020304" pitchFamily="18" charset="0"/>
              </a:rPr>
              <a:t>0~(n-1) </a:t>
            </a:r>
            <a:r>
              <a:rPr lang="zh-CN" altLang="en-US" sz="1600" dirty="0">
                <a:latin typeface="Times New Roman" panose="02020603050405020304" pitchFamily="18" charset="0"/>
                <a:cs typeface="Times New Roman" panose="02020603050405020304" pitchFamily="18" charset="0"/>
              </a:rPr>
              <a:t>的位置</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就很容易根据结点在数组中存储的位置</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计算出它的双亲结点和孩子结点的存储位置。</a:t>
            </a:r>
            <a:endParaRPr lang="en-US" altLang="zh-CN" sz="1600" dirty="0">
              <a:latin typeface="Times New Roman" panose="02020603050405020304" pitchFamily="18" charset="0"/>
              <a:cs typeface="Times New Roman" panose="02020603050405020304" pitchFamily="18" charset="0"/>
            </a:endParaRPr>
          </a:p>
          <a:p>
            <a:pPr algn="just">
              <a:lnSpc>
                <a:spcPct val="100000"/>
              </a:lnSpc>
            </a:pPr>
            <a:r>
              <a:rPr lang="zh-CN" altLang="en-US" sz="1600" dirty="0">
                <a:latin typeface="Times New Roman" panose="02020603050405020304" pitchFamily="18" charset="0"/>
                <a:cs typeface="Times New Roman" panose="02020603050405020304" pitchFamily="18" charset="0"/>
              </a:rPr>
              <a:t>完全二叉树的顺序存储结构示意如图所示。</a:t>
            </a:r>
          </a:p>
        </p:txBody>
      </p:sp>
      <p:pic>
        <p:nvPicPr>
          <p:cNvPr id="4" name="图片 3"/>
          <p:cNvPicPr>
            <a:picLocks noChangeAspect="1"/>
          </p:cNvPicPr>
          <p:nvPr/>
        </p:nvPicPr>
        <p:blipFill>
          <a:blip r:embed="rId2"/>
          <a:stretch>
            <a:fillRect/>
          </a:stretch>
        </p:blipFill>
        <p:spPr>
          <a:xfrm>
            <a:off x="5876107" y="915566"/>
            <a:ext cx="2894786" cy="2100755"/>
          </a:xfrm>
          <a:prstGeom prst="rect">
            <a:avLst/>
          </a:prstGeom>
        </p:spPr>
      </p:pic>
      <p:pic>
        <p:nvPicPr>
          <p:cNvPr id="8" name="图片 7"/>
          <p:cNvPicPr>
            <a:picLocks noChangeAspect="1"/>
          </p:cNvPicPr>
          <p:nvPr/>
        </p:nvPicPr>
        <p:blipFill>
          <a:blip r:embed="rId3"/>
          <a:stretch>
            <a:fillRect/>
          </a:stretch>
        </p:blipFill>
        <p:spPr>
          <a:xfrm>
            <a:off x="6148213" y="3507854"/>
            <a:ext cx="2622680" cy="648072"/>
          </a:xfrm>
          <a:prstGeom prst="rect">
            <a:avLst/>
          </a:prstGeom>
        </p:spPr>
      </p:pic>
      <p:sp>
        <p:nvSpPr>
          <p:cNvPr id="6" name="文本框 5"/>
          <p:cNvSpPr txBox="1"/>
          <p:nvPr/>
        </p:nvSpPr>
        <p:spPr>
          <a:xfrm>
            <a:off x="612366" y="123478"/>
            <a:ext cx="280750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完全二叉树的顺序存储</a:t>
            </a:r>
          </a:p>
        </p:txBody>
      </p:sp>
    </p:spTree>
    <p:extLst>
      <p:ext uri="{BB962C8B-B14F-4D97-AF65-F5344CB8AC3E}">
        <p14:creationId xmlns:p14="http://schemas.microsoft.com/office/powerpoint/2010/main" val="25804773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64294" y="843558"/>
            <a:ext cx="8889542" cy="3507876"/>
          </a:xfrm>
        </p:spPr>
        <p:txBody>
          <a:bodyPr/>
          <a:lstStyle/>
          <a:p>
            <a:pPr marL="0" indent="0">
              <a:buNone/>
            </a:pPr>
            <a:r>
              <a:rPr lang="zh-CN" altLang="zh-CN" sz="1600" dirty="0">
                <a:latin typeface="Times New Roman" panose="02020603050405020304" pitchFamily="18" charset="0"/>
                <a:cs typeface="Times New Roman" panose="02020603050405020304" pitchFamily="18" charset="0"/>
              </a:rPr>
              <a:t>对于图</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所示的一般二叉树，在采用顺序存储时，应采用完全二叉树的编号方式，没有编号的结点在对应的位置上用</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表示。其存储结构如图</a:t>
            </a:r>
            <a:r>
              <a:rPr lang="en-U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所示。</a:t>
            </a:r>
          </a:p>
          <a:p>
            <a:endParaRPr lang="zh-CN" altLang="en-US" dirty="0"/>
          </a:p>
        </p:txBody>
      </p:sp>
      <p:pic>
        <p:nvPicPr>
          <p:cNvPr id="4" name="图片 3"/>
          <p:cNvPicPr>
            <a:picLocks noChangeAspect="1"/>
          </p:cNvPicPr>
          <p:nvPr/>
        </p:nvPicPr>
        <p:blipFill>
          <a:blip r:embed="rId2"/>
          <a:stretch>
            <a:fillRect/>
          </a:stretch>
        </p:blipFill>
        <p:spPr>
          <a:xfrm>
            <a:off x="1835696" y="1635646"/>
            <a:ext cx="5027786" cy="2100755"/>
          </a:xfrm>
          <a:prstGeom prst="rect">
            <a:avLst/>
          </a:prstGeom>
        </p:spPr>
      </p:pic>
      <p:sp>
        <p:nvSpPr>
          <p:cNvPr id="5" name="文本框 4"/>
          <p:cNvSpPr txBox="1"/>
          <p:nvPr/>
        </p:nvSpPr>
        <p:spPr>
          <a:xfrm>
            <a:off x="107504" y="2283718"/>
            <a:ext cx="3528392" cy="338554"/>
          </a:xfrm>
          <a:prstGeom prst="rect">
            <a:avLst/>
          </a:prstGeom>
          <a:noFill/>
        </p:spPr>
        <p:txBody>
          <a:bodyPr wrap="square" rtlCol="0">
            <a:spAutoFit/>
          </a:bodyPr>
          <a:lstStyle/>
          <a:p>
            <a:pPr algn="just"/>
            <a:r>
              <a:rPr lang="en-US" altLang="zh-CN" sz="1600" dirty="0">
                <a:solidFill>
                  <a:srgbClr val="0066FF"/>
                </a:solidFill>
                <a:latin typeface="隶书" panose="02010509060101010101" pitchFamily="49" charset="-122"/>
                <a:ea typeface="隶书" panose="02010509060101010101" pitchFamily="49" charset="-122"/>
              </a:rPr>
              <a:t>   </a:t>
            </a:r>
            <a:endParaRPr lang="zh-CN" altLang="en-US" dirty="0"/>
          </a:p>
        </p:txBody>
      </p:sp>
      <mc:AlternateContent xmlns:mc="http://schemas.openxmlformats.org/markup-compatibility/2006" xmlns:a14="http://schemas.microsoft.com/office/drawing/2010/main">
        <mc:Choice Requires="a14">
          <p:sp>
            <p:nvSpPr>
              <p:cNvPr id="6" name="文本框 5"/>
              <p:cNvSpPr txBox="1"/>
              <p:nvPr/>
            </p:nvSpPr>
            <p:spPr>
              <a:xfrm>
                <a:off x="179512" y="3810612"/>
                <a:ext cx="8615412" cy="1081643"/>
              </a:xfrm>
              <a:prstGeom prst="rect">
                <a:avLst/>
              </a:prstGeom>
              <a:solidFill>
                <a:schemeClr val="bg1">
                  <a:lumMod val="75000"/>
                </a:schemeClr>
              </a:solidFill>
            </p:spPr>
            <p:txBody>
              <a:bodyPr wrap="square" rtlCol="0">
                <a:spAutoFit/>
              </a:bodyPr>
              <a:lstStyle/>
              <a:p>
                <a:pPr algn="just"/>
                <a:r>
                  <a:rPr lang="en-US"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由此可见，对于完全二叉树而言，采用顺序存储结构方式是十分合理的，它能够充分利用存储空间，但对于一般的二叉树而言，这种存储方式必然会造成大量空间浪费。因为，在最坏的情况下，一棵深度为</a:t>
                </a:r>
                <a14:m>
                  <m:oMath xmlns:m="http://schemas.openxmlformats.org/officeDocument/2006/math">
                    <m:r>
                      <a:rPr lang="en-US" altLang="zh-CN" sz="1600" i="1">
                        <a:solidFill>
                          <a:srgbClr val="0066FF"/>
                        </a:solidFill>
                        <a:latin typeface="Cambria Math" panose="02040503050406030204" pitchFamily="18" charset="0"/>
                      </a:rPr>
                      <m:t>𝑘</m:t>
                    </m:r>
                  </m:oMath>
                </a14:m>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且只有</a:t>
                </a:r>
                <a14:m>
                  <m:oMath xmlns:m="http://schemas.openxmlformats.org/officeDocument/2006/math">
                    <m:r>
                      <a:rPr lang="en-US" altLang="zh-CN" sz="1600" i="1">
                        <a:solidFill>
                          <a:srgbClr val="0066FF"/>
                        </a:solidFill>
                        <a:latin typeface="Cambria Math" panose="02040503050406030204" pitchFamily="18" charset="0"/>
                      </a:rPr>
                      <m:t>𝑘</m:t>
                    </m:r>
                  </m:oMath>
                </a14:m>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个结点的单分支二叉树，却需要长度为</a:t>
                </a:r>
                <a14:m>
                  <m:oMath xmlns:m="http://schemas.openxmlformats.org/officeDocument/2006/math">
                    <m:sSup>
                      <m:sSupPr>
                        <m:ctrlPr>
                          <a:rPr lang="zh-CN" altLang="zh-CN" sz="1600" i="1">
                            <a:solidFill>
                              <a:srgbClr val="0066FF"/>
                            </a:solidFill>
                            <a:latin typeface="Cambria Math" panose="02040503050406030204" pitchFamily="18" charset="0"/>
                          </a:rPr>
                        </m:ctrlPr>
                      </m:sSupPr>
                      <m:e>
                        <m:r>
                          <a:rPr lang="en-US" altLang="zh-CN" sz="1600" i="1">
                            <a:solidFill>
                              <a:srgbClr val="0066FF"/>
                            </a:solidFill>
                            <a:latin typeface="Cambria Math" panose="02040503050406030204" pitchFamily="18" charset="0"/>
                          </a:rPr>
                          <m:t>2</m:t>
                        </m:r>
                      </m:e>
                      <m:sup>
                        <m:r>
                          <a:rPr lang="en-US" altLang="zh-CN" sz="1600" i="1">
                            <a:solidFill>
                              <a:srgbClr val="0066FF"/>
                            </a:solidFill>
                            <a:latin typeface="Cambria Math" panose="02040503050406030204" pitchFamily="18" charset="0"/>
                          </a:rPr>
                          <m:t>𝑘</m:t>
                        </m:r>
                      </m:sup>
                    </m:sSup>
                    <m:r>
                      <a:rPr lang="en-US" altLang="zh-CN" sz="1600" i="1">
                        <a:solidFill>
                          <a:srgbClr val="0066FF"/>
                        </a:solidFill>
                        <a:latin typeface="Cambria Math" panose="02040503050406030204" pitchFamily="18" charset="0"/>
                      </a:rPr>
                      <m:t>−1</m:t>
                    </m:r>
                  </m:oMath>
                </a14:m>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的一维数组来存储。因此，对于一般的二叉树常采用下面介绍的链式存储方式。</a:t>
                </a:r>
              </a:p>
            </p:txBody>
          </p:sp>
        </mc:Choice>
        <mc:Fallback xmlns="">
          <p:sp>
            <p:nvSpPr>
              <p:cNvPr id="6" name="文本框 5"/>
              <p:cNvSpPr txBox="1">
                <a:spLocks noRot="1" noChangeAspect="1" noMove="1" noResize="1" noEditPoints="1" noAdjustHandles="1" noChangeArrowheads="1" noChangeShapeType="1" noTextEdit="1"/>
              </p:cNvSpPr>
              <p:nvPr/>
            </p:nvSpPr>
            <p:spPr>
              <a:xfrm>
                <a:off x="179512" y="3810612"/>
                <a:ext cx="8615412" cy="1081643"/>
              </a:xfrm>
              <a:prstGeom prst="rect">
                <a:avLst/>
              </a:prstGeom>
              <a:blipFill>
                <a:blip r:embed="rId3"/>
                <a:stretch>
                  <a:fillRect l="-354" t="-2247" r="-2687" b="-5056"/>
                </a:stretch>
              </a:blipFill>
            </p:spPr>
            <p:txBody>
              <a:bodyPr/>
              <a:lstStyle/>
              <a:p>
                <a:r>
                  <a:rPr lang="zh-CN" altLang="en-US">
                    <a:noFill/>
                  </a:rPr>
                  <a:t> </a:t>
                </a:r>
              </a:p>
            </p:txBody>
          </p:sp>
        </mc:Fallback>
      </mc:AlternateContent>
      <p:sp>
        <p:nvSpPr>
          <p:cNvPr id="7" name="文本框 6"/>
          <p:cNvSpPr txBox="1"/>
          <p:nvPr/>
        </p:nvSpPr>
        <p:spPr>
          <a:xfrm>
            <a:off x="612366" y="123478"/>
            <a:ext cx="323955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一般二叉树的顺序存储结构</a:t>
            </a:r>
          </a:p>
        </p:txBody>
      </p:sp>
    </p:spTree>
    <p:extLst>
      <p:ext uri="{BB962C8B-B14F-4D97-AF65-F5344CB8AC3E}">
        <p14:creationId xmlns:p14="http://schemas.microsoft.com/office/powerpoint/2010/main" val="12019437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0" y="843558"/>
            <a:ext cx="9144000" cy="3507876"/>
          </a:xfrm>
        </p:spPr>
        <p:txBody>
          <a:bodyPr/>
          <a:lstStyle/>
          <a:p>
            <a:pPr>
              <a:lnSpc>
                <a:spcPts val="2800"/>
              </a:lnSpc>
            </a:pPr>
            <a:r>
              <a:rPr lang="zh-CN" altLang="en-US" sz="1600" dirty="0"/>
              <a:t>  链式存储结构能够克服用顺序存储方式存放一般二叉树的缺点。在实际应用中</a:t>
            </a:r>
            <a:r>
              <a:rPr lang="en-US" altLang="zh-CN" sz="1600" dirty="0"/>
              <a:t>,</a:t>
            </a:r>
            <a:r>
              <a:rPr lang="zh-CN" altLang="en-US" sz="1600" dirty="0"/>
              <a:t>二叉树一般采用链式存储结构。根据二叉树的定义</a:t>
            </a:r>
            <a:r>
              <a:rPr lang="en-US" altLang="zh-CN" sz="1600" dirty="0"/>
              <a:t>,</a:t>
            </a:r>
            <a:r>
              <a:rPr lang="zh-CN" altLang="en-US" sz="1600" dirty="0"/>
              <a:t>二叉树的每个结点可以有两个分支</a:t>
            </a:r>
            <a:r>
              <a:rPr lang="en-US" altLang="zh-CN" sz="1600" dirty="0"/>
              <a:t>,</a:t>
            </a:r>
            <a:r>
              <a:rPr lang="zh-CN" altLang="en-US" sz="1600" dirty="0"/>
              <a:t>分别指向结点的左子树和右子树。 在二叉树中</a:t>
            </a:r>
            <a:r>
              <a:rPr lang="en-US" altLang="zh-CN" sz="1600" dirty="0"/>
              <a:t>, </a:t>
            </a:r>
            <a:r>
              <a:rPr lang="zh-CN" altLang="en-US" sz="1600" dirty="0"/>
              <a:t>标准存储方式的结点结构如图所示。</a:t>
            </a:r>
          </a:p>
        </p:txBody>
      </p:sp>
      <p:graphicFrame>
        <p:nvGraphicFramePr>
          <p:cNvPr id="5" name="表格 4"/>
          <p:cNvGraphicFramePr>
            <a:graphicFrameLocks noGrp="1"/>
          </p:cNvGraphicFramePr>
          <p:nvPr>
            <p:extLst>
              <p:ext uri="{D42A27DB-BD31-4B8C-83A1-F6EECF244321}">
                <p14:modId xmlns:p14="http://schemas.microsoft.com/office/powerpoint/2010/main" val="2012197840"/>
              </p:ext>
            </p:extLst>
          </p:nvPr>
        </p:nvGraphicFramePr>
        <p:xfrm>
          <a:off x="1619672" y="2931790"/>
          <a:ext cx="6096000" cy="3708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zh-CN" altLang="en-US" dirty="0"/>
                    </a:p>
                  </a:txBody>
                  <a:tcPr>
                    <a:noFill/>
                  </a:tcPr>
                </a:tc>
                <a:tc>
                  <a:txBody>
                    <a:bodyPr/>
                    <a:lstStyle/>
                    <a:p>
                      <a:endParaRPr lang="zh-CN" altLang="en-US" dirty="0"/>
                    </a:p>
                  </a:txBody>
                  <a:tcPr>
                    <a:noFill/>
                  </a:tcPr>
                </a:tc>
                <a:tc>
                  <a:txBody>
                    <a:bodyPr/>
                    <a:lstStyle/>
                    <a:p>
                      <a:endParaRPr lang="zh-CN" altLang="en-US" dirty="0"/>
                    </a:p>
                  </a:txBody>
                  <a:tcPr>
                    <a:noFill/>
                  </a:tcPr>
                </a:tc>
                <a:extLst>
                  <a:ext uri="{0D108BD9-81ED-4DB2-BD59-A6C34878D82A}">
                    <a16:rowId xmlns:a16="http://schemas.microsoft.com/office/drawing/2014/main" val="10000"/>
                  </a:ext>
                </a:extLst>
              </a:tr>
            </a:tbl>
          </a:graphicData>
        </a:graphic>
      </p:graphicFrame>
      <p:pic>
        <p:nvPicPr>
          <p:cNvPr id="6" name="图片 5"/>
          <p:cNvPicPr>
            <a:picLocks noChangeAspect="1"/>
          </p:cNvPicPr>
          <p:nvPr/>
        </p:nvPicPr>
        <p:blipFill>
          <a:blip r:embed="rId2"/>
          <a:stretch>
            <a:fillRect/>
          </a:stretch>
        </p:blipFill>
        <p:spPr>
          <a:xfrm>
            <a:off x="2207203" y="2414119"/>
            <a:ext cx="4729594" cy="675657"/>
          </a:xfrm>
          <a:prstGeom prst="rect">
            <a:avLst/>
          </a:prstGeom>
        </p:spPr>
      </p:pic>
      <mc:AlternateContent xmlns:mc="http://schemas.openxmlformats.org/markup-compatibility/2006" xmlns:a14="http://schemas.microsoft.com/office/drawing/2010/main">
        <mc:Choice Requires="a14">
          <p:sp>
            <p:nvSpPr>
              <p:cNvPr id="7" name="文本框 6"/>
              <p:cNvSpPr txBox="1"/>
              <p:nvPr/>
            </p:nvSpPr>
            <p:spPr>
              <a:xfrm>
                <a:off x="89756" y="3302630"/>
                <a:ext cx="8964488" cy="1661993"/>
              </a:xfrm>
              <a:prstGeom prst="rect">
                <a:avLst/>
              </a:prstGeom>
              <a:noFill/>
            </p:spPr>
            <p:txBody>
              <a:bodyPr wrap="squar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其中，</a:t>
                </a:r>
                <a14:m>
                  <m:oMath xmlns:m="http://schemas.openxmlformats.org/officeDocument/2006/math">
                    <m:r>
                      <m:rPr>
                        <m:sty m:val="p"/>
                      </m:rPr>
                      <a:rPr lang="en-US" altLang="zh-CN" sz="1600">
                        <a:latin typeface="Cambria Math" panose="02040503050406030204" pitchFamily="18" charset="0"/>
                      </a:rPr>
                      <m:t>data</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表示数据域，用来存放数据元素信息；</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14:m>
                  <m:oMath xmlns:m="http://schemas.openxmlformats.org/officeDocument/2006/math">
                    <m:r>
                      <a:rPr lang="en-US" altLang="zh-CN" sz="1600" b="0" i="0" smtClean="0">
                        <a:latin typeface="Cambria Math" panose="02040503050406030204" pitchFamily="18" charset="0"/>
                      </a:rPr>
                      <m:t>       </m:t>
                    </m:r>
                    <m:r>
                      <m:rPr>
                        <m:sty m:val="p"/>
                      </m:rPr>
                      <a:rPr lang="en-US" altLang="zh-CN" sz="1600">
                        <a:latin typeface="Cambria Math" panose="02040503050406030204" pitchFamily="18" charset="0"/>
                      </a:rPr>
                      <m:t>lchild</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表示左指针域，用来存放指向左孩子的指针，当左孩子不存在时为空指针；</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b="0" dirty="0">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sz="1600" b="0" i="0" smtClean="0">
                        <a:latin typeface="Cambria Math" panose="02040503050406030204" pitchFamily="18" charset="0"/>
                      </a:rPr>
                      <m:t>      </m:t>
                    </m:r>
                    <m:r>
                      <m:rPr>
                        <m:sty m:val="p"/>
                      </m:rPr>
                      <a:rPr lang="en-US" altLang="zh-CN" sz="1600">
                        <a:latin typeface="Cambria Math" panose="02040503050406030204" pitchFamily="18" charset="0"/>
                      </a:rPr>
                      <m:t>rchild</m:t>
                    </m:r>
                  </m:oMath>
                </a14:m>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表示右指针域，用来存放指向右孩子的指针，当右孩子不存在时为空指针。</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这种链式存储结构通常称为二叉链表。</a:t>
                </a:r>
              </a:p>
              <a:p>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89756" y="3302630"/>
                <a:ext cx="8964488" cy="1661993"/>
              </a:xfrm>
              <a:prstGeom prst="rect">
                <a:avLst/>
              </a:prstGeom>
              <a:blipFill>
                <a:blip r:embed="rId3"/>
                <a:stretch>
                  <a:fillRect t="-1471"/>
                </a:stretch>
              </a:blipFill>
            </p:spPr>
            <p:txBody>
              <a:bodyPr/>
              <a:lstStyle/>
              <a:p>
                <a:r>
                  <a:rPr lang="zh-CN" altLang="en-US">
                    <a:noFill/>
                  </a:rPr>
                  <a:t> </a:t>
                </a:r>
              </a:p>
            </p:txBody>
          </p:sp>
        </mc:Fallback>
      </mc:AlternateContent>
      <p:sp>
        <p:nvSpPr>
          <p:cNvPr id="8" name="文本框 7"/>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二叉树的链式存储结构</a:t>
            </a:r>
          </a:p>
        </p:txBody>
      </p:sp>
    </p:spTree>
    <p:extLst>
      <p:ext uri="{BB962C8B-B14F-4D97-AF65-F5344CB8AC3E}">
        <p14:creationId xmlns:p14="http://schemas.microsoft.com/office/powerpoint/2010/main" val="39582792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 calcmode="lin" valueType="num">
                                      <p:cBhvr additive="base">
                                        <p:cTn id="19"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 calcmode="lin" valueType="num">
                                      <p:cBhvr additive="base">
                                        <p:cTn id="25"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 calcmode="lin" valueType="num">
                                      <p:cBhvr additive="base">
                                        <p:cTn id="31"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 calcmode="lin" valueType="num">
                                      <p:cBhvr additive="base">
                                        <p:cTn id="37"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843558"/>
            <a:ext cx="6192688" cy="3507876"/>
          </a:xfrm>
        </p:spPr>
        <p:txBody>
          <a:bodyPr/>
          <a:lstStyle/>
          <a:p>
            <a:pPr marL="0" indent="0">
              <a:lnSpc>
                <a:spcPts val="2700"/>
              </a:lnSpc>
              <a:spcBef>
                <a:spcPts val="0"/>
              </a:spcBef>
              <a:buNone/>
            </a:pPr>
            <a:r>
              <a:rPr lang="zh-CN" altLang="zh-CN" sz="1600" dirty="0">
                <a:solidFill>
                  <a:srgbClr val="0070C0"/>
                </a:solidFill>
                <a:latin typeface="Times New Roman" panose="02020603050405020304" pitchFamily="18" charset="0"/>
                <a:cs typeface="Times New Roman" panose="02020603050405020304" pitchFamily="18" charset="0"/>
              </a:rPr>
              <a:t>二叉链表的结点类型定义</a:t>
            </a:r>
            <a:endParaRPr lang="zh-CN" altLang="en-US" sz="1600" dirty="0">
              <a:solidFill>
                <a:srgbClr val="0070C0"/>
              </a:solidFill>
              <a:latin typeface="Times New Roman" panose="02020603050405020304" pitchFamily="18" charset="0"/>
              <a:cs typeface="Times New Roman" panose="02020603050405020304" pitchFamily="18" charset="0"/>
            </a:endParaRPr>
          </a:p>
          <a:p>
            <a:pPr marL="0" indent="0">
              <a:lnSpc>
                <a:spcPts val="2700"/>
              </a:lnSpc>
              <a:spcBef>
                <a:spcPts val="0"/>
              </a:spcBef>
              <a:buNone/>
            </a:pPr>
            <a:r>
              <a:rPr lang="en-US" altLang="zh-CN" sz="1600" dirty="0" err="1">
                <a:solidFill>
                  <a:srgbClr val="0070C0"/>
                </a:solidFill>
                <a:latin typeface="Times New Roman" panose="02020603050405020304" pitchFamily="18" charset="0"/>
                <a:cs typeface="Times New Roman" panose="02020603050405020304" pitchFamily="18" charset="0"/>
              </a:rPr>
              <a:t>typedef</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struct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7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ElemType</a:t>
            </a:r>
            <a:r>
              <a:rPr lang="en-US" altLang="zh-CN" sz="1600" dirty="0">
                <a:solidFill>
                  <a:srgbClr val="0070C0"/>
                </a:solidFill>
                <a:latin typeface="Times New Roman" panose="02020603050405020304" pitchFamily="18" charset="0"/>
                <a:cs typeface="Times New Roman" panose="02020603050405020304" pitchFamily="18" charset="0"/>
              </a:rPr>
              <a:t> data;    //</a:t>
            </a:r>
            <a:r>
              <a:rPr lang="zh-CN" altLang="zh-CN" sz="1600" dirty="0">
                <a:solidFill>
                  <a:srgbClr val="0070C0"/>
                </a:solidFill>
                <a:latin typeface="Times New Roman" panose="02020603050405020304" pitchFamily="18" charset="0"/>
                <a:cs typeface="Times New Roman" panose="02020603050405020304" pitchFamily="18" charset="0"/>
              </a:rPr>
              <a:t>数据元素信息</a:t>
            </a:r>
          </a:p>
          <a:p>
            <a:pPr marL="0" indent="0">
              <a:lnSpc>
                <a:spcPts val="27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lchild</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zh-CN" sz="1600" dirty="0">
                <a:solidFill>
                  <a:srgbClr val="0070C0"/>
                </a:solidFill>
                <a:latin typeface="Times New Roman" panose="02020603050405020304" pitchFamily="18" charset="0"/>
                <a:cs typeface="Times New Roman" panose="02020603050405020304" pitchFamily="18" charset="0"/>
              </a:rPr>
              <a:t>指向左孩子结点</a:t>
            </a:r>
          </a:p>
          <a:p>
            <a:pPr marL="0" indent="0">
              <a:lnSpc>
                <a:spcPts val="27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rchild</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zh-CN" sz="1600" dirty="0">
                <a:solidFill>
                  <a:srgbClr val="0070C0"/>
                </a:solidFill>
                <a:latin typeface="Times New Roman" panose="02020603050405020304" pitchFamily="18" charset="0"/>
                <a:cs typeface="Times New Roman" panose="02020603050405020304" pitchFamily="18" charset="0"/>
              </a:rPr>
              <a:t>指向右孩子结点</a:t>
            </a:r>
          </a:p>
          <a:p>
            <a:pPr marL="0" indent="0">
              <a:lnSpc>
                <a:spcPts val="27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7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例如，图</a:t>
            </a:r>
            <a:r>
              <a:rPr lang="en-US" altLang="zh-CN" sz="1600" dirty="0">
                <a:solidFill>
                  <a:srgbClr val="C00000"/>
                </a:solidFill>
                <a:latin typeface="Times New Roman" panose="02020603050405020304" pitchFamily="18" charset="0"/>
                <a:cs typeface="Times New Roman" panose="02020603050405020304" pitchFamily="18" charset="0"/>
              </a:rPr>
              <a:t>(a)</a:t>
            </a:r>
            <a:r>
              <a:rPr lang="zh-CN" altLang="zh-CN" sz="1600" dirty="0">
                <a:solidFill>
                  <a:srgbClr val="C00000"/>
                </a:solidFill>
                <a:latin typeface="Times New Roman" panose="02020603050405020304" pitchFamily="18" charset="0"/>
                <a:cs typeface="Times New Roman" panose="02020603050405020304" pitchFamily="18" charset="0"/>
              </a:rPr>
              <a:t>所示的二叉树对应的二叉链表存储结构如图</a:t>
            </a:r>
            <a:r>
              <a:rPr lang="en-US" altLang="zh-CN" sz="1600" dirty="0">
                <a:solidFill>
                  <a:srgbClr val="C00000"/>
                </a:solidFill>
                <a:latin typeface="Times New Roman" panose="02020603050405020304" pitchFamily="18" charset="0"/>
                <a:cs typeface="Times New Roman" panose="02020603050405020304" pitchFamily="18" charset="0"/>
              </a:rPr>
              <a:t>(b)</a:t>
            </a:r>
            <a:r>
              <a:rPr lang="zh-CN" altLang="zh-CN" sz="1600" dirty="0">
                <a:solidFill>
                  <a:srgbClr val="C00000"/>
                </a:solidFill>
                <a:latin typeface="Times New Roman" panose="02020603050405020304" pitchFamily="18" charset="0"/>
                <a:cs typeface="Times New Roman" panose="02020603050405020304" pitchFamily="18" charset="0"/>
              </a:rPr>
              <a:t>所示。</a:t>
            </a:r>
          </a:p>
          <a:p>
            <a:pPr>
              <a:lnSpc>
                <a:spcPts val="2700"/>
              </a:lnSpc>
              <a:spcBef>
                <a:spcPts val="0"/>
              </a:spcBef>
            </a:pPr>
            <a:endParaRPr lang="zh-CN" altLang="en-US" sz="2000" dirty="0">
              <a:latin typeface="隶书" panose="02010509060101010101" pitchFamily="49" charset="-122"/>
              <a:ea typeface="隶书" panose="02010509060101010101" pitchFamily="49" charset="-122"/>
            </a:endParaRPr>
          </a:p>
        </p:txBody>
      </p:sp>
      <p:pic>
        <p:nvPicPr>
          <p:cNvPr id="4" name="图片 3"/>
          <p:cNvPicPr>
            <a:picLocks noChangeAspect="1"/>
          </p:cNvPicPr>
          <p:nvPr/>
        </p:nvPicPr>
        <p:blipFill>
          <a:blip r:embed="rId2"/>
          <a:stretch>
            <a:fillRect/>
          </a:stretch>
        </p:blipFill>
        <p:spPr>
          <a:xfrm>
            <a:off x="4634228" y="753104"/>
            <a:ext cx="4509772" cy="1928229"/>
          </a:xfrm>
          <a:prstGeom prst="rect">
            <a:avLst/>
          </a:prstGeom>
        </p:spPr>
      </p:pic>
      <p:sp>
        <p:nvSpPr>
          <p:cNvPr id="5" name="文本框 4"/>
          <p:cNvSpPr txBox="1"/>
          <p:nvPr/>
        </p:nvSpPr>
        <p:spPr>
          <a:xfrm>
            <a:off x="0" y="3705103"/>
            <a:ext cx="9108504" cy="584775"/>
          </a:xfrm>
          <a:prstGeom prst="rect">
            <a:avLst/>
          </a:prstGeom>
          <a:noFill/>
        </p:spPr>
        <p:txBody>
          <a:bodyPr wrap="square" rtlCol="0">
            <a:spAutoFit/>
          </a:bodyPr>
          <a:lstStyle/>
          <a:p>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   由二叉树的链式存储结构可知</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对于具有 </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n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个结点的二叉树</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每个结点有两个指针域</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共有 </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2n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个指针域</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其中有 </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n-1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个非空链域</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n+1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个空链域。</a:t>
            </a:r>
          </a:p>
        </p:txBody>
      </p:sp>
      <p:sp>
        <p:nvSpPr>
          <p:cNvPr id="6" name="文本框 5"/>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二叉树的链式存储结构</a:t>
            </a:r>
          </a:p>
        </p:txBody>
      </p:sp>
    </p:spTree>
    <p:extLst>
      <p:ext uri="{BB962C8B-B14F-4D97-AF65-F5344CB8AC3E}">
        <p14:creationId xmlns:p14="http://schemas.microsoft.com/office/powerpoint/2010/main" val="29396707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059832" y="1794391"/>
            <a:ext cx="5688632" cy="800930"/>
          </a:xfrm>
        </p:spPr>
        <p:txBody>
          <a:bodyPr/>
          <a:lstStyle/>
          <a:p>
            <a:r>
              <a:rPr lang="zh-CN" altLang="en-US" dirty="0"/>
              <a:t>二叉树的类定义及其实现</a:t>
            </a:r>
          </a:p>
        </p:txBody>
      </p:sp>
      <p:sp>
        <p:nvSpPr>
          <p:cNvPr id="5" name="文本占位符 4"/>
          <p:cNvSpPr>
            <a:spLocks noGrp="1"/>
          </p:cNvSpPr>
          <p:nvPr>
            <p:ph type="body" sz="quarter" idx="11"/>
          </p:nvPr>
        </p:nvSpPr>
        <p:spPr/>
        <p:txBody>
          <a:bodyPr/>
          <a:lstStyle/>
          <a:p>
            <a:r>
              <a:rPr lang="en-US" altLang="zh-CN" dirty="0"/>
              <a:t>03</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8128076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203598"/>
            <a:ext cx="3456384" cy="1872208"/>
          </a:xfrm>
        </p:spPr>
        <p:txBody>
          <a:bodyPr/>
          <a:lstStyle/>
          <a:p>
            <a:pPr marL="0" indent="0">
              <a:lnSpc>
                <a:spcPts val="2400"/>
              </a:lnSpc>
              <a:spcBef>
                <a:spcPts val="0"/>
              </a:spcBef>
              <a:buNone/>
            </a:pPr>
            <a:r>
              <a:rPr lang="en-US" altLang="zh-CN" sz="1600" dirty="0" err="1">
                <a:solidFill>
                  <a:srgbClr val="0070C0"/>
                </a:solidFill>
                <a:latin typeface="Times New Roman" panose="02020603050405020304" pitchFamily="18" charset="0"/>
                <a:cs typeface="Times New Roman" panose="02020603050405020304" pitchFamily="18" charset="0"/>
              </a:rPr>
              <a:t>typedef</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struct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p>
          <a:p>
            <a:pPr marL="0" indent="0">
              <a:lnSpc>
                <a:spcPts val="24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char data; //</a:t>
            </a:r>
            <a:r>
              <a:rPr lang="zh-CN" altLang="en-US" sz="1600" dirty="0">
                <a:solidFill>
                  <a:srgbClr val="0070C0"/>
                </a:solidFill>
                <a:latin typeface="Times New Roman" panose="02020603050405020304" pitchFamily="18" charset="0"/>
                <a:cs typeface="Times New Roman" panose="02020603050405020304" pitchFamily="18" charset="0"/>
              </a:rPr>
              <a:t>数据元素信息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lchild</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指向左孩子结点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rchild</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指向右孩子结点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p>
        </p:txBody>
      </p:sp>
      <p:sp>
        <p:nvSpPr>
          <p:cNvPr id="4" name="文本框 3"/>
          <p:cNvSpPr txBox="1"/>
          <p:nvPr/>
        </p:nvSpPr>
        <p:spPr>
          <a:xfrm>
            <a:off x="3924082" y="555526"/>
            <a:ext cx="5256584" cy="4339650"/>
          </a:xfrm>
          <a:prstGeom prst="rect">
            <a:avLst/>
          </a:prstGeom>
          <a:noFill/>
        </p:spPr>
        <p:txBody>
          <a:bodyPr wrap="square" rtlCol="0">
            <a:spAutoFit/>
          </a:bodyPr>
          <a:lstStyle/>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class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BiTree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private:</a:t>
            </a: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bt</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void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Rcreate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∗&amp;t);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递归创建二叉树 </a:t>
            </a:r>
            <a:endPar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void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PreTraverse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先序遍历递归函数 </a:t>
            </a:r>
            <a:endPar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void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InTraverse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中序遍历递归函数 </a:t>
            </a:r>
            <a:endPar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void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PostTraverse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后序遍历递归函数</a:t>
            </a:r>
            <a:endPar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int</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BTNodeDepth</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 </a:t>
            </a: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计算二叉树的树高递归函数 </a:t>
            </a:r>
            <a:endPar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int</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BTNodeLeaf</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∗t); </a:t>
            </a: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计算二叉树的树叶数递归函数 </a:t>
            </a:r>
            <a:endPar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SearchNode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BitNode</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400" dirty="0" err="1">
                <a:solidFill>
                  <a:srgbClr val="0070C0"/>
                </a:solidFill>
                <a:latin typeface="Times New Roman" panose="02020603050405020304" pitchFamily="18" charset="0"/>
                <a:ea typeface="黑体" panose="02010609060101010101" pitchFamily="49" charset="-122"/>
                <a:cs typeface="Times New Roman" panose="02020603050405020304" pitchFamily="18" charset="0"/>
              </a:rPr>
              <a:t>t,char</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x); </a:t>
            </a:r>
          </a:p>
          <a:p>
            <a:pPr>
              <a:lnSpc>
                <a:spcPts val="2400"/>
              </a:lnSpc>
              <a:spcBef>
                <a:spcPts val="0"/>
              </a:spcBef>
            </a:pP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查找值等于 </a:t>
            </a:r>
            <a:r>
              <a:rPr lang="en-US" altLang="zh-CN"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x </a:t>
            </a:r>
            <a:r>
              <a:rPr lang="zh-CN" altLang="en-US" sz="140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的结点递归函数</a:t>
            </a:r>
          </a:p>
          <a:p>
            <a:endParaRPr lang="zh-CN" altLang="en-US" sz="1600" dirty="0"/>
          </a:p>
        </p:txBody>
      </p:sp>
      <p:cxnSp>
        <p:nvCxnSpPr>
          <p:cNvPr id="6" name="直接连接符 5"/>
          <p:cNvCxnSpPr/>
          <p:nvPr/>
        </p:nvCxnSpPr>
        <p:spPr>
          <a:xfrm>
            <a:off x="3851920" y="0"/>
            <a:ext cx="0" cy="514350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7" name="文本框 6"/>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二叉树的类定义</a:t>
            </a:r>
          </a:p>
        </p:txBody>
      </p:sp>
    </p:spTree>
    <p:extLst>
      <p:ext uri="{BB962C8B-B14F-4D97-AF65-F5344CB8AC3E}">
        <p14:creationId xmlns:p14="http://schemas.microsoft.com/office/powerpoint/2010/main" val="12288975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 calcmode="lin" valueType="num">
                                      <p:cBhvr additive="base">
                                        <p:cTn id="2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anim calcmode="lin" valueType="num">
                                      <p:cBhvr additive="base">
                                        <p:cTn id="3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 calcmode="lin" valueType="num">
                                      <p:cBhvr additive="base">
                                        <p:cTn id="3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xEl>
                                              <p:pRg st="11" end="1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683568" y="915566"/>
            <a:ext cx="8352928" cy="3507876"/>
          </a:xfrm>
        </p:spPr>
        <p:txBody>
          <a:bodyPr/>
          <a:lstStyle/>
          <a:p>
            <a:pPr marL="0" indent="0">
              <a:spcBef>
                <a:spcPts val="0"/>
              </a:spcBef>
              <a:buNone/>
            </a:pPr>
            <a:r>
              <a:rPr lang="en-US" altLang="zh-CN" sz="1600" b="1" dirty="0">
                <a:solidFill>
                  <a:srgbClr val="0070C0"/>
                </a:solidFill>
                <a:latin typeface="Times New Roman" panose="02020603050405020304" pitchFamily="18" charset="0"/>
                <a:cs typeface="Times New Roman" panose="02020603050405020304" pitchFamily="18" charset="0"/>
              </a:rPr>
              <a:t>  </a:t>
            </a:r>
            <a:r>
              <a:rPr lang="en-US" altLang="zh-CN" sz="1600" dirty="0">
                <a:solidFill>
                  <a:srgbClr val="0070C0"/>
                </a:solidFill>
                <a:latin typeface="Times New Roman" panose="02020603050405020304" pitchFamily="18" charset="0"/>
                <a:cs typeface="Times New Roman" panose="02020603050405020304" pitchFamily="18" charset="0"/>
              </a:rPr>
              <a:t>public: </a:t>
            </a: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BiTree</a:t>
            </a: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bt</a:t>
            </a:r>
            <a:r>
              <a:rPr lang="en-US" altLang="zh-CN" sz="1600" dirty="0">
                <a:solidFill>
                  <a:srgbClr val="0070C0"/>
                </a:solidFill>
                <a:latin typeface="Times New Roman" panose="02020603050405020304" pitchFamily="18" charset="0"/>
                <a:cs typeface="Times New Roman" panose="02020603050405020304" pitchFamily="18" charset="0"/>
              </a:rPr>
              <a:t> =NULL;} //</a:t>
            </a:r>
            <a:r>
              <a:rPr lang="zh-CN" altLang="en-US" sz="1600" dirty="0">
                <a:solidFill>
                  <a:srgbClr val="0070C0"/>
                </a:solidFill>
                <a:latin typeface="Times New Roman" panose="02020603050405020304" pitchFamily="18" charset="0"/>
                <a:cs typeface="Times New Roman" panose="02020603050405020304" pitchFamily="18" charset="0"/>
              </a:rPr>
              <a:t>创建空树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void </a:t>
            </a:r>
            <a:r>
              <a:rPr lang="en-US" altLang="zh-CN" sz="1600" dirty="0" err="1">
                <a:solidFill>
                  <a:srgbClr val="0070C0"/>
                </a:solidFill>
                <a:latin typeface="Times New Roman" panose="02020603050405020304" pitchFamily="18" charset="0"/>
                <a:cs typeface="Times New Roman" panose="02020603050405020304" pitchFamily="18" charset="0"/>
              </a:rPr>
              <a:t>RcreateBiTree</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创建二叉树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void </a:t>
            </a:r>
            <a:r>
              <a:rPr lang="en-US" altLang="zh-CN" sz="1600" dirty="0" err="1">
                <a:solidFill>
                  <a:srgbClr val="0070C0"/>
                </a:solidFill>
                <a:latin typeface="Times New Roman" panose="02020603050405020304" pitchFamily="18" charset="0"/>
                <a:cs typeface="Times New Roman" panose="02020603050405020304" pitchFamily="18" charset="0"/>
              </a:rPr>
              <a:t>PreTraverseBiTree</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先序遍历二叉树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void </a:t>
            </a:r>
            <a:r>
              <a:rPr lang="en-US" altLang="zh-CN" sz="1600" dirty="0" err="1">
                <a:solidFill>
                  <a:srgbClr val="0070C0"/>
                </a:solidFill>
                <a:latin typeface="Times New Roman" panose="02020603050405020304" pitchFamily="18" charset="0"/>
                <a:cs typeface="Times New Roman" panose="02020603050405020304" pitchFamily="18" charset="0"/>
              </a:rPr>
              <a:t>InTraverseBiTree</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中序遍历二叉树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void </a:t>
            </a:r>
            <a:r>
              <a:rPr lang="en-US" altLang="zh-CN" sz="1600" dirty="0" err="1">
                <a:solidFill>
                  <a:srgbClr val="0070C0"/>
                </a:solidFill>
                <a:latin typeface="Times New Roman" panose="02020603050405020304" pitchFamily="18" charset="0"/>
                <a:cs typeface="Times New Roman" panose="02020603050405020304" pitchFamily="18" charset="0"/>
              </a:rPr>
              <a:t>PostTraverseBiTree</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后序遍历二叉树</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BTNodeDepthBiTree</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计算二叉树的树高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BTNodeLeafBiTree</a:t>
            </a: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计算二叉树的叶子数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SearchNodeBit</a:t>
            </a:r>
            <a:r>
              <a:rPr lang="en-US" altLang="zh-CN" sz="1600" dirty="0">
                <a:solidFill>
                  <a:srgbClr val="0070C0"/>
                </a:solidFill>
                <a:latin typeface="Times New Roman" panose="02020603050405020304" pitchFamily="18" charset="0"/>
                <a:cs typeface="Times New Roman" panose="02020603050405020304" pitchFamily="18" charset="0"/>
              </a:rPr>
              <a:t>(char x); //</a:t>
            </a:r>
            <a:r>
              <a:rPr lang="zh-CN" altLang="en-US" sz="1600" dirty="0">
                <a:solidFill>
                  <a:srgbClr val="0070C0"/>
                </a:solidFill>
                <a:latin typeface="Times New Roman" panose="02020603050405020304" pitchFamily="18" charset="0"/>
                <a:cs typeface="Times New Roman" panose="02020603050405020304" pitchFamily="18" charset="0"/>
              </a:rPr>
              <a:t>查找值等于 </a:t>
            </a:r>
            <a:r>
              <a:rPr lang="en-US" altLang="zh-CN" sz="1600" dirty="0">
                <a:solidFill>
                  <a:srgbClr val="0070C0"/>
                </a:solidFill>
                <a:latin typeface="Times New Roman" panose="02020603050405020304" pitchFamily="18" charset="0"/>
                <a:cs typeface="Times New Roman" panose="02020603050405020304" pitchFamily="18" charset="0"/>
              </a:rPr>
              <a:t>x </a:t>
            </a:r>
            <a:r>
              <a:rPr lang="zh-CN" altLang="en-US" sz="1600" dirty="0">
                <a:solidFill>
                  <a:srgbClr val="0070C0"/>
                </a:solidFill>
                <a:latin typeface="Times New Roman" panose="02020603050405020304" pitchFamily="18" charset="0"/>
                <a:cs typeface="Times New Roman" panose="02020603050405020304" pitchFamily="18" charset="0"/>
              </a:rPr>
              <a:t>的结点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a:t>
            </a:r>
            <a:endParaRPr lang="zh-CN" altLang="en-US" sz="1600" dirty="0">
              <a:solidFill>
                <a:srgbClr val="0070C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二叉树的类定义</a:t>
            </a:r>
          </a:p>
        </p:txBody>
      </p:sp>
    </p:spTree>
    <p:extLst>
      <p:ext uri="{BB962C8B-B14F-4D97-AF65-F5344CB8AC3E}">
        <p14:creationId xmlns:p14="http://schemas.microsoft.com/office/powerpoint/2010/main" val="22729779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1064124"/>
            <a:ext cx="7488832" cy="3507876"/>
          </a:xfrm>
        </p:spPr>
        <p:txBody>
          <a:bodyPr/>
          <a:lstStyle/>
          <a:p>
            <a:pPr marL="0" indent="0">
              <a:buNone/>
            </a:pPr>
            <a:r>
              <a:rPr lang="zh-CN" altLang="en-US" sz="1600" dirty="0">
                <a:solidFill>
                  <a:srgbClr val="C00000"/>
                </a:solidFill>
                <a:latin typeface="Times New Roman" panose="02020603050405020304" pitchFamily="18" charset="0"/>
                <a:cs typeface="Times New Roman" panose="02020603050405020304" pitchFamily="18" charset="0"/>
              </a:rPr>
              <a:t>   程序员可以根据实际需要定义二叉树的基本操作，本节仅介绍以下算法：</a:t>
            </a:r>
            <a:endParaRPr lang="en-US" altLang="zh-CN" sz="1600" dirty="0">
              <a:solidFill>
                <a:srgbClr val="C00000"/>
              </a:solidFill>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）创建二叉树的算法；</a:t>
            </a:r>
            <a:endParaRPr lang="en-US" altLang="zh-CN" sz="1600" dirty="0">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）计算二叉树的高度；</a:t>
            </a:r>
            <a:endParaRPr lang="en-US" altLang="zh-CN" sz="1600" dirty="0">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en-US" sz="1600" dirty="0">
                <a:latin typeface="Times New Roman" panose="02020603050405020304" pitchFamily="18" charset="0"/>
                <a:cs typeface="Times New Roman" panose="02020603050405020304" pitchFamily="18" charset="0"/>
              </a:rPr>
              <a:t>）计算二叉树的树叶数；</a:t>
            </a:r>
            <a:endParaRPr lang="en-US" altLang="zh-CN" sz="1600" dirty="0">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）查找二叉树。</a:t>
            </a:r>
          </a:p>
        </p:txBody>
      </p:sp>
      <p:sp>
        <p:nvSpPr>
          <p:cNvPr id="4" name="文本框 3"/>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二叉树的操作示例</a:t>
            </a:r>
          </a:p>
        </p:txBody>
      </p:sp>
    </p:spTree>
    <p:extLst>
      <p:ext uri="{BB962C8B-B14F-4D97-AF65-F5344CB8AC3E}">
        <p14:creationId xmlns:p14="http://schemas.microsoft.com/office/powerpoint/2010/main" val="1231183412"/>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9036496" cy="1219594"/>
          </a:xfrm>
        </p:spPr>
        <p:txBody>
          <a:bodyPr/>
          <a:lstStyle/>
          <a:p>
            <a:pPr>
              <a:lnSpc>
                <a:spcPts val="28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solidFill>
                  <a:srgbClr val="C00000"/>
                </a:solidFill>
                <a:latin typeface="Times New Roman" panose="02020603050405020304" pitchFamily="18" charset="0"/>
                <a:cs typeface="Times New Roman" panose="02020603050405020304" pitchFamily="18" charset="0"/>
              </a:rPr>
              <a:t>Rcreate</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函数递归创建二叉树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其过程为</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读入字符 </a:t>
            </a:r>
            <a:r>
              <a:rPr lang="en-US" altLang="zh-CN" sz="1600" dirty="0" err="1">
                <a:solidFill>
                  <a:srgbClr val="C00000"/>
                </a:solidFill>
                <a:latin typeface="Times New Roman" panose="02020603050405020304" pitchFamily="18" charset="0"/>
                <a:cs typeface="Times New Roman" panose="02020603050405020304" pitchFamily="18" charset="0"/>
              </a:rPr>
              <a:t>ch</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若 </a:t>
            </a:r>
            <a:r>
              <a:rPr lang="en-US" altLang="zh-CN" sz="1600" dirty="0" err="1">
                <a:solidFill>
                  <a:srgbClr val="C00000"/>
                </a:solidFill>
                <a:latin typeface="Times New Roman" panose="02020603050405020304" pitchFamily="18" charset="0"/>
                <a:cs typeface="Times New Roman" panose="02020603050405020304" pitchFamily="18" charset="0"/>
              </a:rPr>
              <a:t>ch</a:t>
            </a:r>
            <a:r>
              <a:rPr lang="en-US" altLang="zh-CN" sz="1600" dirty="0">
                <a:solidFill>
                  <a:srgbClr val="C00000"/>
                </a:solidFill>
                <a:latin typeface="Times New Roman" panose="02020603050405020304" pitchFamily="18" charset="0"/>
                <a:cs typeface="Times New Roman" panose="02020603050405020304" pitchFamily="18" charset="0"/>
              </a:rPr>
              <a:t> == ′.′, </a:t>
            </a:r>
            <a:r>
              <a:rPr lang="zh-CN" altLang="en-US" sz="1600" dirty="0">
                <a:solidFill>
                  <a:srgbClr val="C00000"/>
                </a:solidFill>
                <a:latin typeface="Times New Roman" panose="02020603050405020304" pitchFamily="18" charset="0"/>
                <a:cs typeface="Times New Roman" panose="02020603050405020304" pitchFamily="18" charset="0"/>
              </a:rPr>
              <a:t>则创建空二叉树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若 </a:t>
            </a:r>
            <a:r>
              <a:rPr lang="en-US" altLang="zh-CN" sz="1600" dirty="0" err="1">
                <a:solidFill>
                  <a:srgbClr val="C00000"/>
                </a:solidFill>
                <a:latin typeface="Times New Roman" panose="02020603050405020304" pitchFamily="18" charset="0"/>
                <a:cs typeface="Times New Roman" panose="02020603050405020304" pitchFamily="18" charset="0"/>
              </a:rPr>
              <a:t>ch</a:t>
            </a:r>
            <a:r>
              <a:rPr lang="en-US" altLang="zh-CN" sz="1600" dirty="0">
                <a:solidFill>
                  <a:srgbClr val="C00000"/>
                </a:solidFill>
                <a:latin typeface="Times New Roman" panose="02020603050405020304" pitchFamily="18" charset="0"/>
                <a:cs typeface="Times New Roman" panose="02020603050405020304" pitchFamily="18" charset="0"/>
              </a:rPr>
              <a:t>!= ′.′, </a:t>
            </a:r>
            <a:r>
              <a:rPr lang="zh-CN" altLang="en-US" sz="1600" dirty="0">
                <a:solidFill>
                  <a:srgbClr val="C00000"/>
                </a:solidFill>
                <a:latin typeface="Times New Roman" panose="02020603050405020304" pitchFamily="18" charset="0"/>
                <a:cs typeface="Times New Roman" panose="02020603050405020304" pitchFamily="18" charset="0"/>
              </a:rPr>
              <a:t>则先创建左子树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再创建右子树。</a:t>
            </a:r>
          </a:p>
        </p:txBody>
      </p:sp>
      <p:sp>
        <p:nvSpPr>
          <p:cNvPr id="4" name="文本框 3"/>
          <p:cNvSpPr txBox="1"/>
          <p:nvPr/>
        </p:nvSpPr>
        <p:spPr>
          <a:xfrm>
            <a:off x="395536" y="1757355"/>
            <a:ext cx="4608512" cy="2893100"/>
          </a:xfrm>
          <a:prstGeom prst="rect">
            <a:avLst/>
          </a:prstGeom>
          <a:noFill/>
        </p:spPr>
        <p:txBody>
          <a:bodyPr wrap="square" rtlCol="0">
            <a:spAutoFit/>
          </a:bodyPr>
          <a:lstStyle/>
          <a:p>
            <a:r>
              <a:rPr lang="en-US" altLang="zh-CN" sz="1600" dirty="0">
                <a:solidFill>
                  <a:srgbClr val="0066FF"/>
                </a:solidFill>
                <a:latin typeface="Times New Roman" panose="02020603050405020304" pitchFamily="18" charset="0"/>
                <a:cs typeface="Times New Roman" panose="02020603050405020304" pitchFamily="18" charset="0"/>
              </a:rPr>
              <a:t>void </a:t>
            </a:r>
            <a:r>
              <a:rPr lang="en-US" altLang="zh-CN" sz="1600" dirty="0" err="1">
                <a:solidFill>
                  <a:srgbClr val="0066FF"/>
                </a:solidFill>
                <a:latin typeface="Times New Roman" panose="02020603050405020304" pitchFamily="18" charset="0"/>
                <a:cs typeface="Times New Roman" panose="02020603050405020304" pitchFamily="18" charset="0"/>
              </a:rPr>
              <a:t>BiTree</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Rcreate</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BitNode</a:t>
            </a:r>
            <a:r>
              <a:rPr lang="en-US" altLang="zh-CN" sz="1600" dirty="0">
                <a:solidFill>
                  <a:srgbClr val="0066FF"/>
                </a:solidFill>
                <a:latin typeface="Times New Roman" panose="02020603050405020304" pitchFamily="18" charset="0"/>
                <a:cs typeface="Times New Roman" panose="02020603050405020304" pitchFamily="18" charset="0"/>
              </a:rPr>
              <a:t> ∗&amp;t){</a:t>
            </a:r>
          </a:p>
          <a:p>
            <a:r>
              <a:rPr lang="en-US" altLang="zh-CN" sz="1600" dirty="0">
                <a:solidFill>
                  <a:srgbClr val="0066FF"/>
                </a:solidFill>
                <a:latin typeface="Times New Roman" panose="02020603050405020304" pitchFamily="18" charset="0"/>
                <a:cs typeface="Times New Roman" panose="02020603050405020304" pitchFamily="18" charset="0"/>
              </a:rPr>
              <a:t>    char </a:t>
            </a:r>
            <a:r>
              <a:rPr lang="en-US" altLang="zh-CN" sz="1600" dirty="0" err="1">
                <a:solidFill>
                  <a:srgbClr val="0066FF"/>
                </a:solidFill>
                <a:latin typeface="Times New Roman" panose="02020603050405020304" pitchFamily="18" charset="0"/>
                <a:cs typeface="Times New Roman" panose="02020603050405020304" pitchFamily="18" charset="0"/>
              </a:rPr>
              <a:t>ch</a:t>
            </a:r>
            <a:r>
              <a:rPr lang="en-US" altLang="zh-CN" sz="1600" dirty="0">
                <a:solidFill>
                  <a:srgbClr val="0066FF"/>
                </a:solidFill>
                <a:latin typeface="Times New Roman" panose="02020603050405020304" pitchFamily="18" charset="0"/>
                <a:cs typeface="Times New Roman" panose="02020603050405020304" pitchFamily="18" charset="0"/>
              </a:rPr>
              <a:t>; </a:t>
            </a:r>
          </a:p>
          <a:p>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cin</a:t>
            </a:r>
            <a:r>
              <a:rPr lang="en-US" altLang="zh-CN" sz="1600" dirty="0">
                <a:solidFill>
                  <a:srgbClr val="0066FF"/>
                </a:solidFill>
                <a:latin typeface="Times New Roman" panose="02020603050405020304" pitchFamily="18" charset="0"/>
                <a:cs typeface="Times New Roman" panose="02020603050405020304" pitchFamily="18" charset="0"/>
              </a:rPr>
              <a:t>&gt;&gt;</a:t>
            </a:r>
            <a:r>
              <a:rPr lang="en-US" altLang="zh-CN" sz="1600" dirty="0" err="1">
                <a:solidFill>
                  <a:srgbClr val="0066FF"/>
                </a:solidFill>
                <a:latin typeface="Times New Roman" panose="02020603050405020304" pitchFamily="18" charset="0"/>
                <a:cs typeface="Times New Roman" panose="02020603050405020304" pitchFamily="18" charset="0"/>
              </a:rPr>
              <a:t>ch</a:t>
            </a:r>
            <a:r>
              <a:rPr lang="en-US" altLang="zh-CN" sz="1600" dirty="0">
                <a:solidFill>
                  <a:srgbClr val="0066FF"/>
                </a:solidFill>
                <a:latin typeface="Times New Roman" panose="02020603050405020304" pitchFamily="18" charset="0"/>
                <a:cs typeface="Times New Roman" panose="02020603050405020304" pitchFamily="18" charset="0"/>
              </a:rPr>
              <a:t>; </a:t>
            </a:r>
          </a:p>
          <a:p>
            <a:r>
              <a:rPr lang="en-US" altLang="zh-CN" sz="1600" dirty="0">
                <a:solidFill>
                  <a:srgbClr val="0066FF"/>
                </a:solidFill>
                <a:latin typeface="Times New Roman" panose="02020603050405020304" pitchFamily="18" charset="0"/>
                <a:cs typeface="Times New Roman" panose="02020603050405020304" pitchFamily="18" charset="0"/>
              </a:rPr>
              <a:t>    if(</a:t>
            </a:r>
            <a:r>
              <a:rPr lang="en-US" altLang="zh-CN" sz="1600" dirty="0" err="1">
                <a:solidFill>
                  <a:srgbClr val="0066FF"/>
                </a:solidFill>
                <a:latin typeface="Times New Roman" panose="02020603050405020304" pitchFamily="18" charset="0"/>
                <a:cs typeface="Times New Roman" panose="02020603050405020304" pitchFamily="18" charset="0"/>
              </a:rPr>
              <a:t>ch</a:t>
            </a:r>
            <a:r>
              <a:rPr lang="en-US" altLang="zh-CN" sz="1600" dirty="0">
                <a:solidFill>
                  <a:srgbClr val="0066FF"/>
                </a:solidFill>
                <a:latin typeface="Times New Roman" panose="02020603050405020304" pitchFamily="18" charset="0"/>
                <a:cs typeface="Times New Roman" panose="02020603050405020304" pitchFamily="18" charset="0"/>
              </a:rPr>
              <a:t> == ′. ′)   t =NULL; / / </a:t>
            </a:r>
            <a:r>
              <a:rPr lang="zh-CN" altLang="en-US" sz="1600" dirty="0">
                <a:solidFill>
                  <a:srgbClr val="0066FF"/>
                </a:solidFill>
                <a:latin typeface="Times New Roman" panose="02020603050405020304" pitchFamily="18" charset="0"/>
                <a:cs typeface="Times New Roman" panose="02020603050405020304" pitchFamily="18" charset="0"/>
              </a:rPr>
              <a:t>创建空二叉树 </a:t>
            </a:r>
            <a:endParaRPr lang="en-US" altLang="zh-CN" sz="1600" dirty="0">
              <a:solidFill>
                <a:srgbClr val="0066FF"/>
              </a:solidFill>
              <a:latin typeface="Times New Roman" panose="02020603050405020304" pitchFamily="18" charset="0"/>
              <a:cs typeface="Times New Roman" panose="02020603050405020304" pitchFamily="18" charset="0"/>
            </a:endParaRPr>
          </a:p>
          <a:p>
            <a:r>
              <a:rPr lang="en-US" altLang="zh-CN" sz="1600" dirty="0">
                <a:solidFill>
                  <a:srgbClr val="0066FF"/>
                </a:solidFill>
                <a:latin typeface="Times New Roman" panose="02020603050405020304" pitchFamily="18" charset="0"/>
                <a:cs typeface="Times New Roman" panose="02020603050405020304" pitchFamily="18" charset="0"/>
              </a:rPr>
              <a:t>    else{                           / / </a:t>
            </a:r>
            <a:r>
              <a:rPr lang="zh-CN" altLang="en-US" sz="1600" dirty="0">
                <a:solidFill>
                  <a:srgbClr val="0066FF"/>
                </a:solidFill>
                <a:latin typeface="Times New Roman" panose="02020603050405020304" pitchFamily="18" charset="0"/>
                <a:cs typeface="Times New Roman" panose="02020603050405020304" pitchFamily="18" charset="0"/>
              </a:rPr>
              <a:t>创建非空二叉树 </a:t>
            </a:r>
            <a:endParaRPr lang="en-US" altLang="zh-CN" sz="1600" dirty="0">
              <a:solidFill>
                <a:srgbClr val="0066FF"/>
              </a:solidFill>
              <a:latin typeface="Times New Roman" panose="02020603050405020304" pitchFamily="18" charset="0"/>
              <a:cs typeface="Times New Roman" panose="02020603050405020304" pitchFamily="18" charset="0"/>
            </a:endParaRPr>
          </a:p>
          <a:p>
            <a:r>
              <a:rPr lang="en-US" altLang="zh-CN" sz="1600" dirty="0">
                <a:solidFill>
                  <a:srgbClr val="0066FF"/>
                </a:solidFill>
                <a:latin typeface="Times New Roman" panose="02020603050405020304" pitchFamily="18" charset="0"/>
                <a:cs typeface="Times New Roman" panose="02020603050405020304" pitchFamily="18" charset="0"/>
              </a:rPr>
              <a:t>       t = new </a:t>
            </a:r>
            <a:r>
              <a:rPr lang="en-US" altLang="zh-CN" sz="1600" dirty="0" err="1">
                <a:solidFill>
                  <a:srgbClr val="0066FF"/>
                </a:solidFill>
                <a:latin typeface="Times New Roman" panose="02020603050405020304" pitchFamily="18" charset="0"/>
                <a:cs typeface="Times New Roman" panose="02020603050405020304" pitchFamily="18" charset="0"/>
              </a:rPr>
              <a:t>BitNode</a:t>
            </a:r>
            <a:r>
              <a:rPr lang="en-US" altLang="zh-CN" sz="1600" dirty="0">
                <a:solidFill>
                  <a:srgbClr val="0066FF"/>
                </a:solidFill>
                <a:latin typeface="Times New Roman" panose="02020603050405020304" pitchFamily="18" charset="0"/>
                <a:cs typeface="Times New Roman" panose="02020603050405020304" pitchFamily="18" charset="0"/>
              </a:rPr>
              <a:t>;    / / </a:t>
            </a:r>
            <a:r>
              <a:rPr lang="zh-CN" altLang="en-US" sz="1600" dirty="0">
                <a:solidFill>
                  <a:srgbClr val="0066FF"/>
                </a:solidFill>
                <a:latin typeface="Times New Roman" panose="02020603050405020304" pitchFamily="18" charset="0"/>
                <a:cs typeface="Times New Roman" panose="02020603050405020304" pitchFamily="18" charset="0"/>
              </a:rPr>
              <a:t>申请空间 </a:t>
            </a:r>
            <a:endParaRPr lang="en-US" altLang="zh-CN" sz="1600" dirty="0">
              <a:solidFill>
                <a:srgbClr val="0066FF"/>
              </a:solidFill>
              <a:latin typeface="Times New Roman" panose="02020603050405020304" pitchFamily="18" charset="0"/>
              <a:cs typeface="Times New Roman" panose="02020603050405020304" pitchFamily="18" charset="0"/>
            </a:endParaRPr>
          </a:p>
          <a:p>
            <a:r>
              <a:rPr lang="en-US" altLang="zh-CN" sz="1600" dirty="0">
                <a:solidFill>
                  <a:srgbClr val="0066FF"/>
                </a:solidFill>
                <a:latin typeface="Times New Roman" panose="02020603050405020304" pitchFamily="18" charset="0"/>
                <a:cs typeface="Times New Roman" panose="02020603050405020304" pitchFamily="18" charset="0"/>
              </a:rPr>
              <a:t>       t-&gt;data = </a:t>
            </a:r>
            <a:r>
              <a:rPr lang="en-US" altLang="zh-CN" sz="1600" dirty="0" err="1">
                <a:solidFill>
                  <a:srgbClr val="0066FF"/>
                </a:solidFill>
                <a:latin typeface="Times New Roman" panose="02020603050405020304" pitchFamily="18" charset="0"/>
                <a:cs typeface="Times New Roman" panose="02020603050405020304" pitchFamily="18" charset="0"/>
              </a:rPr>
              <a:t>ch</a:t>
            </a:r>
            <a:r>
              <a:rPr lang="en-US" altLang="zh-CN" sz="1600" dirty="0">
                <a:solidFill>
                  <a:srgbClr val="0066FF"/>
                </a:solidFill>
                <a:latin typeface="Times New Roman" panose="02020603050405020304" pitchFamily="18" charset="0"/>
                <a:cs typeface="Times New Roman" panose="02020603050405020304" pitchFamily="18" charset="0"/>
              </a:rPr>
              <a:t>; </a:t>
            </a:r>
          </a:p>
          <a:p>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Rcreate</a:t>
            </a:r>
            <a:r>
              <a:rPr lang="en-US" altLang="zh-CN" sz="1600" dirty="0">
                <a:solidFill>
                  <a:srgbClr val="0066FF"/>
                </a:solidFill>
                <a:latin typeface="Times New Roman" panose="02020603050405020304" pitchFamily="18" charset="0"/>
                <a:cs typeface="Times New Roman" panose="02020603050405020304" pitchFamily="18" charset="0"/>
              </a:rPr>
              <a:t>(t-&gt;</a:t>
            </a:r>
            <a:r>
              <a:rPr lang="en-US" altLang="zh-CN" sz="1600" dirty="0" err="1">
                <a:solidFill>
                  <a:srgbClr val="0066FF"/>
                </a:solidFill>
                <a:latin typeface="Times New Roman" panose="02020603050405020304" pitchFamily="18" charset="0"/>
                <a:cs typeface="Times New Roman" panose="02020603050405020304" pitchFamily="18" charset="0"/>
              </a:rPr>
              <a:t>lchild</a:t>
            </a:r>
            <a:r>
              <a:rPr lang="en-US" altLang="zh-CN" sz="1600" dirty="0">
                <a:solidFill>
                  <a:srgbClr val="0066FF"/>
                </a:solidFill>
                <a:latin typeface="Times New Roman" panose="02020603050405020304" pitchFamily="18" charset="0"/>
                <a:cs typeface="Times New Roman" panose="02020603050405020304" pitchFamily="18" charset="0"/>
              </a:rPr>
              <a:t>);  / / </a:t>
            </a:r>
            <a:r>
              <a:rPr lang="zh-CN" altLang="en-US" sz="1600" dirty="0">
                <a:solidFill>
                  <a:srgbClr val="0066FF"/>
                </a:solidFill>
                <a:latin typeface="Times New Roman" panose="02020603050405020304" pitchFamily="18" charset="0"/>
                <a:cs typeface="Times New Roman" panose="02020603050405020304" pitchFamily="18" charset="0"/>
              </a:rPr>
              <a:t>递归创建左子树     </a:t>
            </a:r>
            <a:endParaRPr lang="en-US" altLang="zh-CN" sz="1600" dirty="0">
              <a:solidFill>
                <a:srgbClr val="0066FF"/>
              </a:solidFill>
              <a:latin typeface="Times New Roman" panose="02020603050405020304" pitchFamily="18" charset="0"/>
              <a:cs typeface="Times New Roman" panose="02020603050405020304" pitchFamily="18" charset="0"/>
            </a:endParaRPr>
          </a:p>
          <a:p>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Rcreate</a:t>
            </a:r>
            <a:r>
              <a:rPr lang="en-US" altLang="zh-CN" sz="1600" dirty="0">
                <a:solidFill>
                  <a:srgbClr val="0066FF"/>
                </a:solidFill>
                <a:latin typeface="Times New Roman" panose="02020603050405020304" pitchFamily="18" charset="0"/>
                <a:cs typeface="Times New Roman" panose="02020603050405020304" pitchFamily="18" charset="0"/>
              </a:rPr>
              <a:t>(t-&gt;</a:t>
            </a:r>
            <a:r>
              <a:rPr lang="en-US" altLang="zh-CN" sz="1600" dirty="0" err="1">
                <a:solidFill>
                  <a:srgbClr val="0066FF"/>
                </a:solidFill>
                <a:latin typeface="Times New Roman" panose="02020603050405020304" pitchFamily="18" charset="0"/>
                <a:cs typeface="Times New Roman" panose="02020603050405020304" pitchFamily="18" charset="0"/>
              </a:rPr>
              <a:t>rchild</a:t>
            </a:r>
            <a:r>
              <a:rPr lang="en-US" altLang="zh-CN" sz="1600" dirty="0">
                <a:solidFill>
                  <a:srgbClr val="0066FF"/>
                </a:solidFill>
                <a:latin typeface="Times New Roman" panose="02020603050405020304" pitchFamily="18" charset="0"/>
                <a:cs typeface="Times New Roman" panose="02020603050405020304" pitchFamily="18" charset="0"/>
              </a:rPr>
              <a:t>);  / / </a:t>
            </a:r>
            <a:r>
              <a:rPr lang="zh-CN" altLang="en-US" sz="1600" dirty="0">
                <a:solidFill>
                  <a:srgbClr val="0066FF"/>
                </a:solidFill>
                <a:latin typeface="Times New Roman" panose="02020603050405020304" pitchFamily="18" charset="0"/>
                <a:cs typeface="Times New Roman" panose="02020603050405020304" pitchFamily="18" charset="0"/>
              </a:rPr>
              <a:t>递归创建右子树</a:t>
            </a:r>
            <a:endParaRPr lang="en-US" altLang="zh-CN" sz="1600" dirty="0">
              <a:solidFill>
                <a:srgbClr val="0066FF"/>
              </a:solidFill>
              <a:latin typeface="Times New Roman" panose="02020603050405020304" pitchFamily="18" charset="0"/>
              <a:cs typeface="Times New Roman" panose="02020603050405020304" pitchFamily="18" charset="0"/>
            </a:endParaRPr>
          </a:p>
          <a:p>
            <a:r>
              <a:rPr lang="en-US" altLang="zh-CN" sz="1600" dirty="0">
                <a:solidFill>
                  <a:srgbClr val="0066FF"/>
                </a:solidFill>
                <a:latin typeface="Times New Roman" panose="02020603050405020304" pitchFamily="18" charset="0"/>
                <a:cs typeface="Times New Roman" panose="02020603050405020304" pitchFamily="18" charset="0"/>
              </a:rPr>
              <a:t>   </a:t>
            </a:r>
            <a:r>
              <a:rPr lang="zh-CN" altLang="en-US" sz="1600" dirty="0">
                <a:solidFill>
                  <a:srgbClr val="0066FF"/>
                </a:solidFill>
                <a:latin typeface="Times New Roman" panose="02020603050405020304" pitchFamily="18" charset="0"/>
                <a:cs typeface="Times New Roman" panose="02020603050405020304" pitchFamily="18" charset="0"/>
              </a:rPr>
              <a:t> </a:t>
            </a:r>
            <a:r>
              <a:rPr lang="en-US" altLang="zh-CN" sz="1600" dirty="0">
                <a:solidFill>
                  <a:srgbClr val="0066FF"/>
                </a:solidFill>
                <a:latin typeface="Times New Roman" panose="02020603050405020304" pitchFamily="18" charset="0"/>
                <a:cs typeface="Times New Roman" panose="02020603050405020304" pitchFamily="18" charset="0"/>
              </a:rPr>
              <a:t>} </a:t>
            </a:r>
          </a:p>
          <a:p>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dirty="0">
                <a:solidFill>
                  <a:srgbClr val="0066FF"/>
                </a:solidFill>
                <a:latin typeface="Times New Roman" panose="02020603050405020304" pitchFamily="18" charset="0"/>
                <a:cs typeface="Times New Roman" panose="02020603050405020304" pitchFamily="18" charset="0"/>
              </a:rPr>
              <a:t> </a:t>
            </a:r>
            <a:endParaRPr lang="zh-CN" altLang="en-US" dirty="0">
              <a:solidFill>
                <a:srgbClr val="0066FF"/>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4716016" y="1995686"/>
            <a:ext cx="4176464" cy="1323439"/>
          </a:xfrm>
          <a:prstGeom prst="rect">
            <a:avLst/>
          </a:prstGeom>
          <a:noFill/>
        </p:spPr>
        <p:txBody>
          <a:bodyPr wrap="square" rtlCol="0">
            <a:spAutoFit/>
          </a:bodyPr>
          <a:lstStyle/>
          <a:p>
            <a:r>
              <a:rPr lang="en-US" altLang="zh-CN" sz="1600" dirty="0">
                <a:solidFill>
                  <a:srgbClr val="0066FF"/>
                </a:solidFill>
                <a:latin typeface="Times New Roman" panose="02020603050405020304" pitchFamily="18" charset="0"/>
                <a:cs typeface="Times New Roman" panose="02020603050405020304" pitchFamily="18" charset="0"/>
              </a:rPr>
              <a:t>void </a:t>
            </a:r>
            <a:r>
              <a:rPr lang="en-US" altLang="zh-CN" sz="1600" dirty="0" err="1">
                <a:solidFill>
                  <a:srgbClr val="0066FF"/>
                </a:solidFill>
                <a:latin typeface="Times New Roman" panose="02020603050405020304" pitchFamily="18" charset="0"/>
                <a:cs typeface="Times New Roman" panose="02020603050405020304" pitchFamily="18" charset="0"/>
              </a:rPr>
              <a:t>BiTree</a:t>
            </a: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RcreateBiTree</a:t>
            </a:r>
            <a:r>
              <a:rPr lang="en-US" altLang="zh-CN" sz="1600" dirty="0">
                <a:solidFill>
                  <a:srgbClr val="0066FF"/>
                </a:solidFill>
                <a:latin typeface="Times New Roman" panose="02020603050405020304" pitchFamily="18" charset="0"/>
                <a:cs typeface="Times New Roman" panose="02020603050405020304" pitchFamily="18" charset="0"/>
              </a:rPr>
              <a:t>(){ </a:t>
            </a:r>
          </a:p>
          <a:p>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BitNode</a:t>
            </a:r>
            <a:r>
              <a:rPr lang="en-US" altLang="zh-CN" sz="1600" dirty="0">
                <a:solidFill>
                  <a:srgbClr val="0066FF"/>
                </a:solidFill>
                <a:latin typeface="Times New Roman" panose="02020603050405020304" pitchFamily="18" charset="0"/>
                <a:cs typeface="Times New Roman" panose="02020603050405020304" pitchFamily="18" charset="0"/>
              </a:rPr>
              <a:t> ∗t; </a:t>
            </a:r>
          </a:p>
          <a:p>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Rcreate</a:t>
            </a:r>
            <a:r>
              <a:rPr lang="en-US" altLang="zh-CN" sz="1600" dirty="0">
                <a:solidFill>
                  <a:srgbClr val="0066FF"/>
                </a:solidFill>
                <a:latin typeface="Times New Roman" panose="02020603050405020304" pitchFamily="18" charset="0"/>
                <a:cs typeface="Times New Roman" panose="02020603050405020304" pitchFamily="18" charset="0"/>
              </a:rPr>
              <a:t>(t); / / </a:t>
            </a:r>
            <a:r>
              <a:rPr lang="zh-CN" altLang="en-US" sz="1600" dirty="0">
                <a:solidFill>
                  <a:srgbClr val="0066FF"/>
                </a:solidFill>
                <a:latin typeface="Times New Roman" panose="02020603050405020304" pitchFamily="18" charset="0"/>
                <a:cs typeface="Times New Roman" panose="02020603050405020304" pitchFamily="18" charset="0"/>
              </a:rPr>
              <a:t>递归创建二叉树 </a:t>
            </a:r>
            <a:endParaRPr lang="en-US" altLang="zh-CN" sz="1600" dirty="0">
              <a:solidFill>
                <a:srgbClr val="0066FF"/>
              </a:solidFill>
              <a:latin typeface="Times New Roman" panose="02020603050405020304" pitchFamily="18" charset="0"/>
              <a:cs typeface="Times New Roman" panose="02020603050405020304" pitchFamily="18" charset="0"/>
            </a:endParaRPr>
          </a:p>
          <a:p>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bt</a:t>
            </a:r>
            <a:r>
              <a:rPr lang="en-US" altLang="zh-CN" sz="1600" dirty="0">
                <a:solidFill>
                  <a:srgbClr val="0066FF"/>
                </a:solidFill>
                <a:latin typeface="Times New Roman" panose="02020603050405020304" pitchFamily="18" charset="0"/>
                <a:cs typeface="Times New Roman" panose="02020603050405020304" pitchFamily="18" charset="0"/>
              </a:rPr>
              <a:t> = t; / / </a:t>
            </a:r>
            <a:r>
              <a:rPr lang="zh-CN" altLang="en-US" sz="1600" dirty="0">
                <a:solidFill>
                  <a:srgbClr val="0066FF"/>
                </a:solidFill>
                <a:latin typeface="Times New Roman" panose="02020603050405020304" pitchFamily="18" charset="0"/>
                <a:cs typeface="Times New Roman" panose="02020603050405020304" pitchFamily="18" charset="0"/>
              </a:rPr>
              <a:t>将根结点指针赋值给私有成员 </a:t>
            </a:r>
            <a:r>
              <a:rPr lang="en-US" altLang="zh-CN" sz="1600" dirty="0" err="1">
                <a:solidFill>
                  <a:srgbClr val="0066FF"/>
                </a:solidFill>
                <a:latin typeface="Times New Roman" panose="02020603050405020304" pitchFamily="18" charset="0"/>
                <a:cs typeface="Times New Roman" panose="02020603050405020304" pitchFamily="18" charset="0"/>
              </a:rPr>
              <a:t>bt</a:t>
            </a:r>
            <a:r>
              <a:rPr lang="en-US" altLang="zh-CN" sz="1600" dirty="0">
                <a:solidFill>
                  <a:srgbClr val="0066FF"/>
                </a:solidFill>
                <a:latin typeface="Times New Roman" panose="02020603050405020304" pitchFamily="18" charset="0"/>
                <a:cs typeface="Times New Roman" panose="02020603050405020304" pitchFamily="18" charset="0"/>
              </a:rPr>
              <a:t> </a:t>
            </a:r>
          </a:p>
          <a:p>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en-US" sz="1600" dirty="0">
              <a:solidFill>
                <a:srgbClr val="0066FF"/>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创建二叉树</a:t>
            </a:r>
          </a:p>
        </p:txBody>
      </p:sp>
    </p:spTree>
    <p:extLst>
      <p:ext uri="{BB962C8B-B14F-4D97-AF65-F5344CB8AC3E}">
        <p14:creationId xmlns:p14="http://schemas.microsoft.com/office/powerpoint/2010/main" val="25473722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anim calcmode="lin" valueType="num">
                                      <p:cBhvr additive="base">
                                        <p:cTn id="2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 calcmode="lin" valueType="num">
                                      <p:cBhvr additive="base">
                                        <p:cTn id="3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 calcmode="lin" valueType="num">
                                      <p:cBhvr additive="base">
                                        <p:cTn id="4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 calcmode="lin" valueType="num">
                                      <p:cBhvr additive="base">
                                        <p:cTn id="47"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anim calcmode="lin" valueType="num">
                                      <p:cBhvr additive="base">
                                        <p:cTn id="53"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
                                            <p:txEl>
                                              <p:pRg st="8" end="8"/>
                                            </p:txEl>
                                          </p:spTgt>
                                        </p:tgtEl>
                                        <p:attrNameLst>
                                          <p:attrName>style.visibility</p:attrName>
                                        </p:attrNameLst>
                                      </p:cBhvr>
                                      <p:to>
                                        <p:strVal val="visible"/>
                                      </p:to>
                                    </p:set>
                                    <p:anim calcmode="lin" valueType="num">
                                      <p:cBhvr additive="base">
                                        <p:cTn id="5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8" end="8"/>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4">
                                            <p:txEl>
                                              <p:pRg st="9" end="9"/>
                                            </p:txEl>
                                          </p:spTgt>
                                        </p:tgtEl>
                                        <p:attrNameLst>
                                          <p:attrName>style.visibility</p:attrName>
                                        </p:attrNameLst>
                                      </p:cBhvr>
                                      <p:to>
                                        <p:strVal val="visible"/>
                                      </p:to>
                                    </p:set>
                                    <p:anim calcmode="lin" valueType="num">
                                      <p:cBhvr additive="base">
                                        <p:cTn id="63"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4">
                                            <p:txEl>
                                              <p:pRg st="9" end="9"/>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 calcmode="lin" valueType="num">
                                      <p:cBhvr additive="base">
                                        <p:cTn id="6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0" end="0"/>
                                            </p:txEl>
                                          </p:spTgt>
                                        </p:tgtEl>
                                        <p:attrNameLst>
                                          <p:attrName>style.visibility</p:attrName>
                                        </p:attrNameLst>
                                      </p:cBhvr>
                                      <p:to>
                                        <p:strVal val="visible"/>
                                      </p:to>
                                    </p:set>
                                    <p:anim calcmode="lin" valueType="num">
                                      <p:cBhvr additive="base">
                                        <p:cTn id="7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 end="1"/>
                                            </p:txEl>
                                          </p:spTgt>
                                        </p:tgtEl>
                                        <p:attrNameLst>
                                          <p:attrName>style.visibility</p:attrName>
                                        </p:attrNameLst>
                                      </p:cBhvr>
                                      <p:to>
                                        <p:strVal val="visible"/>
                                      </p:to>
                                    </p:set>
                                    <p:anim calcmode="lin" valueType="num">
                                      <p:cBhvr additive="base">
                                        <p:cTn id="7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2" end="2"/>
                                            </p:txEl>
                                          </p:spTgt>
                                        </p:tgtEl>
                                        <p:attrNameLst>
                                          <p:attrName>style.visibility</p:attrName>
                                        </p:attrNameLst>
                                      </p:cBhvr>
                                      <p:to>
                                        <p:strVal val="visible"/>
                                      </p:to>
                                    </p:set>
                                    <p:anim calcmode="lin" valueType="num">
                                      <p:cBhvr additive="base">
                                        <p:cTn id="8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3" end="3"/>
                                            </p:txEl>
                                          </p:spTgt>
                                        </p:tgtEl>
                                        <p:attrNameLst>
                                          <p:attrName>style.visibility</p:attrName>
                                        </p:attrNameLst>
                                      </p:cBhvr>
                                      <p:to>
                                        <p:strVal val="visible"/>
                                      </p:to>
                                    </p:set>
                                    <p:anim calcmode="lin" valueType="num">
                                      <p:cBhvr additive="base">
                                        <p:cTn id="9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5">
                                            <p:txEl>
                                              <p:pRg st="4" end="4"/>
                                            </p:txEl>
                                          </p:spTgt>
                                        </p:tgtEl>
                                        <p:attrNameLst>
                                          <p:attrName>style.visibility</p:attrName>
                                        </p:attrNameLst>
                                      </p:cBhvr>
                                      <p:to>
                                        <p:strVal val="visible"/>
                                      </p:to>
                                    </p:set>
                                    <p:anim calcmode="lin" valueType="num">
                                      <p:cBhvr additive="base">
                                        <p:cTn id="9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843558"/>
            <a:ext cx="8893496" cy="1224136"/>
          </a:xfrm>
        </p:spPr>
        <p:txBody>
          <a:bodyPr/>
          <a:lstStyle/>
          <a:p>
            <a:pPr algn="just">
              <a:lnSpc>
                <a:spcPts val="28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solidFill>
                  <a:srgbClr val="C00000"/>
                </a:solidFill>
                <a:latin typeface="Times New Roman" panose="02020603050405020304" pitchFamily="18" charset="0"/>
                <a:cs typeface="Times New Roman" panose="02020603050405020304" pitchFamily="18" charset="0"/>
              </a:rPr>
              <a:t>BTNodeDepth</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函数递归计算二叉树的树高</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其过程为</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判断二叉树 </a:t>
            </a:r>
            <a:r>
              <a:rPr lang="en-US" altLang="zh-CN" sz="1600" dirty="0">
                <a:solidFill>
                  <a:srgbClr val="C00000"/>
                </a:solidFill>
                <a:latin typeface="Times New Roman" panose="02020603050405020304" pitchFamily="18" charset="0"/>
                <a:cs typeface="Times New Roman" panose="02020603050405020304" pitchFamily="18" charset="0"/>
              </a:rPr>
              <a:t>t </a:t>
            </a:r>
            <a:r>
              <a:rPr lang="zh-CN" altLang="en-US" sz="1600" dirty="0">
                <a:solidFill>
                  <a:srgbClr val="C00000"/>
                </a:solidFill>
                <a:latin typeface="Times New Roman" panose="02020603050405020304" pitchFamily="18" charset="0"/>
                <a:cs typeface="Times New Roman" panose="02020603050405020304" pitchFamily="18" charset="0"/>
              </a:rPr>
              <a:t>是否为空树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若为空树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树高则为 </a:t>
            </a:r>
            <a:r>
              <a:rPr lang="en-US" altLang="zh-CN" sz="1600" dirty="0">
                <a:solidFill>
                  <a:srgbClr val="C00000"/>
                </a:solidFill>
                <a:latin typeface="Times New Roman" panose="02020603050405020304" pitchFamily="18" charset="0"/>
                <a:cs typeface="Times New Roman" panose="02020603050405020304" pitchFamily="18" charset="0"/>
              </a:rPr>
              <a:t>0; </a:t>
            </a:r>
            <a:r>
              <a:rPr lang="zh-CN" altLang="en-US" sz="1600" dirty="0">
                <a:solidFill>
                  <a:srgbClr val="C00000"/>
                </a:solidFill>
                <a:latin typeface="Times New Roman" panose="02020603050405020304" pitchFamily="18" charset="0"/>
                <a:cs typeface="Times New Roman" panose="02020603050405020304" pitchFamily="18" charset="0"/>
              </a:rPr>
              <a:t>若为非空树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则计算左子树的高度</a:t>
            </a:r>
            <a:r>
              <a:rPr lang="en-US" altLang="zh-CN" sz="1600" dirty="0">
                <a:solidFill>
                  <a:srgbClr val="C00000"/>
                </a:solidFill>
                <a:latin typeface="Times New Roman" panose="02020603050405020304" pitchFamily="18" charset="0"/>
                <a:cs typeface="Times New Roman" panose="02020603050405020304" pitchFamily="18" charset="0"/>
              </a:rPr>
              <a:t>m</a:t>
            </a:r>
            <a:r>
              <a:rPr lang="zh-CN" altLang="en-US" sz="1600" dirty="0">
                <a:solidFill>
                  <a:srgbClr val="C00000"/>
                </a:solidFill>
                <a:latin typeface="Times New Roman" panose="02020603050405020304" pitchFamily="18" charset="0"/>
                <a:cs typeface="Times New Roman" panose="02020603050405020304" pitchFamily="18" charset="0"/>
              </a:rPr>
              <a:t>和右子树的高度 </a:t>
            </a:r>
            <a:r>
              <a:rPr lang="en-US" altLang="zh-CN" sz="1600" dirty="0">
                <a:solidFill>
                  <a:srgbClr val="C00000"/>
                </a:solidFill>
                <a:latin typeface="Times New Roman" panose="02020603050405020304" pitchFamily="18" charset="0"/>
                <a:cs typeface="Times New Roman" panose="02020603050405020304" pitchFamily="18" charset="0"/>
              </a:rPr>
              <a:t>n; </a:t>
            </a:r>
            <a:r>
              <a:rPr lang="en-US" altLang="zh-CN" sz="1600" dirty="0" err="1">
                <a:solidFill>
                  <a:srgbClr val="C00000"/>
                </a:solidFill>
                <a:latin typeface="Times New Roman" panose="02020603050405020304" pitchFamily="18" charset="0"/>
                <a:cs typeface="Times New Roman" panose="02020603050405020304" pitchFamily="18" charset="0"/>
              </a:rPr>
              <a:t>m≥n</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返回</a:t>
            </a:r>
            <a:r>
              <a:rPr lang="en-US" altLang="zh-CN" sz="1600" dirty="0">
                <a:solidFill>
                  <a:srgbClr val="C00000"/>
                </a:solidFill>
                <a:latin typeface="Times New Roman" panose="02020603050405020304" pitchFamily="18" charset="0"/>
                <a:cs typeface="Times New Roman" panose="02020603050405020304" pitchFamily="18" charset="0"/>
              </a:rPr>
              <a:t>m</a:t>
            </a:r>
            <a:r>
              <a:rPr lang="zh-CN" altLang="en-US" sz="1600" dirty="0">
                <a:solidFill>
                  <a:srgbClr val="C00000"/>
                </a:solidFill>
                <a:latin typeface="Times New Roman" panose="02020603050405020304" pitchFamily="18" charset="0"/>
                <a:cs typeface="Times New Roman" panose="02020603050405020304" pitchFamily="18" charset="0"/>
              </a:rPr>
              <a:t>，否则返回</a:t>
            </a:r>
            <a:r>
              <a:rPr lang="en-US" altLang="zh-CN" sz="1600" dirty="0">
                <a:solidFill>
                  <a:srgbClr val="C00000"/>
                </a:solidFill>
                <a:latin typeface="Times New Roman" panose="02020603050405020304" pitchFamily="18" charset="0"/>
                <a:cs typeface="Times New Roman" panose="02020603050405020304" pitchFamily="18" charset="0"/>
              </a:rPr>
              <a:t>n.</a:t>
            </a:r>
            <a:endParaRPr lang="zh-CN" altLang="en-US" sz="1600"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611560" y="2067694"/>
                <a:ext cx="7956376" cy="2462534"/>
              </a:xfrm>
              <a:prstGeom prst="rect">
                <a:avLst/>
              </a:prstGeom>
              <a:noFill/>
            </p:spPr>
            <p:txBody>
              <a:bodyPr wrap="square" rtlCol="0">
                <a:spAutoFit/>
              </a:bodyPr>
              <a:lstStyle/>
              <a:p>
                <a:r>
                  <a:rPr lang="zh-CN" altLang="zh-CN" sz="1600" dirty="0">
                    <a:solidFill>
                      <a:srgbClr val="0066FF"/>
                    </a:solidFill>
                  </a:rPr>
                  <a:t>递归函数描述如下：</a:t>
                </a:r>
                <a:endParaRPr lang="en-US" altLang="zh-CN" sz="1600" dirty="0">
                  <a:solidFill>
                    <a:srgbClr val="0066FF"/>
                  </a:solidFill>
                </a:endParaRPr>
              </a:p>
              <a:p>
                <a:endParaRPr lang="zh-CN" altLang="zh-CN" sz="1600" dirty="0">
                  <a:solidFill>
                    <a:srgbClr val="0066FF"/>
                  </a:solidFill>
                </a:endParaRPr>
              </a:p>
              <a:p>
                <a:pPr/>
                <a14:m>
                  <m:oMathPara xmlns:m="http://schemas.openxmlformats.org/officeDocument/2006/math">
                    <m:oMathParaPr>
                      <m:jc m:val="centerGroup"/>
                    </m:oMathParaPr>
                    <m:oMath xmlns:m="http://schemas.openxmlformats.org/officeDocument/2006/math">
                      <m:d>
                        <m:dPr>
                          <m:begChr m:val="{"/>
                          <m:endChr m:val=""/>
                          <m:ctrlPr>
                            <a:rPr lang="zh-CN" altLang="zh-CN" i="1">
                              <a:solidFill>
                                <a:srgbClr val="0066FF"/>
                              </a:solidFill>
                              <a:latin typeface="Cambria Math" panose="02040503050406030204" pitchFamily="18" charset="0"/>
                            </a:rPr>
                          </m:ctrlPr>
                        </m:dPr>
                        <m:e>
                          <m:eqArr>
                            <m:eqArrPr>
                              <m:ctrlPr>
                                <a:rPr lang="zh-CN" altLang="zh-CN" i="1">
                                  <a:solidFill>
                                    <a:srgbClr val="0066FF"/>
                                  </a:solidFill>
                                  <a:latin typeface="Cambria Math" panose="02040503050406030204" pitchFamily="18" charset="0"/>
                                </a:rPr>
                              </m:ctrlPr>
                            </m:eqArrPr>
                            <m:e>
                              <m:r>
                                <m:rPr>
                                  <m:sty m:val="p"/>
                                </m:rPr>
                                <a:rPr lang="es-ES" altLang="zh-CN">
                                  <a:solidFill>
                                    <a:srgbClr val="0066FF"/>
                                  </a:solidFill>
                                  <a:latin typeface="Cambria Math" panose="02040503050406030204" pitchFamily="18" charset="0"/>
                                </a:rPr>
                                <m:t>BTNodeDepth</m:t>
                              </m:r>
                              <m:d>
                                <m:dPr>
                                  <m:ctrlPr>
                                    <a:rPr lang="zh-CN" altLang="zh-CN" i="1">
                                      <a:solidFill>
                                        <a:srgbClr val="0066FF"/>
                                      </a:solidFill>
                                      <a:latin typeface="Cambria Math" panose="02040503050406030204" pitchFamily="18" charset="0"/>
                                    </a:rPr>
                                  </m:ctrlPr>
                                </m:dPr>
                                <m:e>
                                  <m:r>
                                    <a:rPr lang="es-ES" altLang="zh-CN">
                                      <a:solidFill>
                                        <a:srgbClr val="0066FF"/>
                                      </a:solidFill>
                                      <a:latin typeface="Cambria Math" panose="02040503050406030204" pitchFamily="18" charset="0"/>
                                    </a:rPr>
                                    <m:t>∅</m:t>
                                  </m:r>
                                </m:e>
                              </m:d>
                              <m:r>
                                <a:rPr lang="es-ES" altLang="zh-CN">
                                  <a:solidFill>
                                    <a:srgbClr val="0066FF"/>
                                  </a:solidFill>
                                  <a:latin typeface="Cambria Math" panose="02040503050406030204" pitchFamily="18" charset="0"/>
                                </a:rPr>
                                <m:t>=0                                                                        </m:t>
                              </m:r>
                            </m:e>
                            <m:e>
                              <m:r>
                                <m:rPr>
                                  <m:sty m:val="p"/>
                                </m:rPr>
                                <a:rPr lang="es-ES" altLang="zh-CN">
                                  <a:solidFill>
                                    <a:srgbClr val="0066FF"/>
                                  </a:solidFill>
                                  <a:latin typeface="Cambria Math" panose="02040503050406030204" pitchFamily="18" charset="0"/>
                                </a:rPr>
                                <m:t>BTNodeDepth</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t</m:t>
                                  </m:r>
                                </m:e>
                              </m:d>
                              <m:r>
                                <a:rPr lang="es-ES" altLang="zh-CN">
                                  <a:solidFill>
                                    <a:srgbClr val="0066FF"/>
                                  </a:solidFill>
                                  <a:latin typeface="Cambria Math" panose="02040503050406030204" pitchFamily="18" charset="0"/>
                                </a:rPr>
                                <m:t>=</m:t>
                              </m:r>
                              <m:d>
                                <m:dPr>
                                  <m:begChr m:val="{"/>
                                  <m:endChr m:val=""/>
                                  <m:ctrlPr>
                                    <a:rPr lang="zh-CN" altLang="zh-CN" i="1">
                                      <a:solidFill>
                                        <a:srgbClr val="0066FF"/>
                                      </a:solidFill>
                                      <a:latin typeface="Cambria Math" panose="02040503050406030204" pitchFamily="18" charset="0"/>
                                    </a:rPr>
                                  </m:ctrlPr>
                                </m:dPr>
                                <m:e>
                                  <m:eqArr>
                                    <m:eqArrPr>
                                      <m:ctrlPr>
                                        <a:rPr lang="zh-CN" altLang="zh-CN" i="1">
                                          <a:solidFill>
                                            <a:srgbClr val="0066FF"/>
                                          </a:solidFill>
                                          <a:latin typeface="Cambria Math" panose="02040503050406030204" pitchFamily="18" charset="0"/>
                                        </a:rPr>
                                      </m:ctrlPr>
                                    </m:eqArrPr>
                                    <m:e>
                                      <m:r>
                                        <m:rPr>
                                          <m:sty m:val="p"/>
                                        </m:rPr>
                                        <a:rPr lang="es-ES" altLang="zh-CN">
                                          <a:solidFill>
                                            <a:srgbClr val="0066FF"/>
                                          </a:solidFill>
                                          <a:latin typeface="Cambria Math" panose="02040503050406030204" pitchFamily="18" charset="0"/>
                                        </a:rPr>
                                        <m:t>m</m:t>
                                      </m:r>
                                      <m:r>
                                        <a:rPr lang="es-ES" altLang="zh-CN">
                                          <a:solidFill>
                                            <a:srgbClr val="0066FF"/>
                                          </a:solidFill>
                                          <a:latin typeface="Cambria Math" panose="02040503050406030204" pitchFamily="18" charset="0"/>
                                        </a:rPr>
                                        <m:t>=1+</m:t>
                                      </m:r>
                                      <m:r>
                                        <m:rPr>
                                          <m:sty m:val="p"/>
                                        </m:rPr>
                                        <a:rPr lang="es-ES" altLang="zh-CN">
                                          <a:solidFill>
                                            <a:srgbClr val="0066FF"/>
                                          </a:solidFill>
                                          <a:latin typeface="Cambria Math" panose="02040503050406030204" pitchFamily="18" charset="0"/>
                                        </a:rPr>
                                        <m:t>BTNodeDepth</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t</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lchild</m:t>
                                          </m:r>
                                        </m:e>
                                      </m:d>
                                    </m:e>
                                    <m:e>
                                      <m:r>
                                        <m:rPr>
                                          <m:sty m:val="p"/>
                                        </m:rPr>
                                        <a:rPr lang="es-ES" altLang="zh-CN">
                                          <a:solidFill>
                                            <a:srgbClr val="0066FF"/>
                                          </a:solidFill>
                                          <a:latin typeface="Cambria Math" panose="02040503050406030204" pitchFamily="18" charset="0"/>
                                        </a:rPr>
                                        <m:t>n</m:t>
                                      </m:r>
                                      <m:r>
                                        <a:rPr lang="es-ES" altLang="zh-CN">
                                          <a:solidFill>
                                            <a:srgbClr val="0066FF"/>
                                          </a:solidFill>
                                          <a:latin typeface="Cambria Math" panose="02040503050406030204" pitchFamily="18" charset="0"/>
                                        </a:rPr>
                                        <m:t>=1+</m:t>
                                      </m:r>
                                      <m:r>
                                        <m:rPr>
                                          <m:sty m:val="p"/>
                                        </m:rPr>
                                        <a:rPr lang="es-ES" altLang="zh-CN">
                                          <a:solidFill>
                                            <a:srgbClr val="0066FF"/>
                                          </a:solidFill>
                                          <a:latin typeface="Cambria Math" panose="02040503050406030204" pitchFamily="18" charset="0"/>
                                        </a:rPr>
                                        <m:t>BTNodeDepth</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t</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rchild</m:t>
                                          </m:r>
                                        </m:e>
                                      </m:d>
                                    </m:e>
                                    <m:e>
                                      <m:r>
                                        <a:rPr lang="en-US" altLang="zh-CN" b="0" i="0" smtClean="0">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if</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m</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n</m:t>
                                          </m:r>
                                        </m:e>
                                      </m:d>
                                      <m:r>
                                        <m:rPr>
                                          <m:sty m:val="p"/>
                                        </m:rPr>
                                        <a:rPr lang="es-ES" altLang="zh-CN">
                                          <a:solidFill>
                                            <a:srgbClr val="0066FF"/>
                                          </a:solidFill>
                                          <a:latin typeface="Cambria Math" panose="02040503050406030204" pitchFamily="18" charset="0"/>
                                        </a:rPr>
                                        <m:t>return</m:t>
                                      </m:r>
                                      <m:r>
                                        <a:rPr lang="es-ES" altLang="zh-CN">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m</m:t>
                                      </m:r>
                                      <m:r>
                                        <a:rPr lang="es-ES" altLang="zh-CN">
                                          <a:solidFill>
                                            <a:srgbClr val="0066FF"/>
                                          </a:solidFill>
                                          <a:latin typeface="Cambria Math" panose="02040503050406030204" pitchFamily="18" charset="0"/>
                                        </a:rPr>
                                        <m:t>                                  </m:t>
                                      </m:r>
                                    </m:e>
                                    <m:e>
                                      <m:r>
                                        <a:rPr lang="en-US" altLang="zh-CN" b="0" i="1" smtClean="0">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else</m:t>
                                      </m:r>
                                      <m:r>
                                        <a:rPr lang="es-ES" altLang="zh-CN">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return</m:t>
                                      </m:r>
                                      <m:r>
                                        <a:rPr lang="es-ES" altLang="zh-CN">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n</m:t>
                                      </m:r>
                                      <m:r>
                                        <a:rPr lang="es-ES" altLang="zh-CN">
                                          <a:solidFill>
                                            <a:srgbClr val="0066FF"/>
                                          </a:solidFill>
                                          <a:latin typeface="Cambria Math" panose="02040503050406030204" pitchFamily="18" charset="0"/>
                                        </a:rPr>
                                        <m:t>                                              </m:t>
                                      </m:r>
                                    </m:e>
                                  </m:eqArr>
                                </m:e>
                              </m:d>
                            </m:e>
                          </m:eqArr>
                        </m:e>
                      </m:d>
                    </m:oMath>
                  </m:oMathPara>
                </a14:m>
                <a:endParaRPr lang="zh-CN" altLang="zh-CN" dirty="0"/>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611560" y="2067694"/>
                <a:ext cx="7956376" cy="2462534"/>
              </a:xfrm>
              <a:prstGeom prst="rect">
                <a:avLst/>
              </a:prstGeom>
              <a:blipFill>
                <a:blip r:embed="rId3"/>
                <a:stretch>
                  <a:fillRect l="-383" t="-990"/>
                </a:stretch>
              </a:blipFill>
            </p:spPr>
            <p:txBody>
              <a:bodyPr/>
              <a:lstStyle/>
              <a:p>
                <a:r>
                  <a:rPr lang="zh-CN" altLang="en-US">
                    <a:noFill/>
                  </a:rPr>
                  <a:t> </a:t>
                </a:r>
              </a:p>
            </p:txBody>
          </p:sp>
        </mc:Fallback>
      </mc:AlternateContent>
      <p:sp>
        <p:nvSpPr>
          <p:cNvPr id="5" name="文本框 4"/>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计算二叉树的高度</a:t>
            </a:r>
          </a:p>
        </p:txBody>
      </p:sp>
    </p:spTree>
    <p:extLst>
      <p:ext uri="{BB962C8B-B14F-4D97-AF65-F5344CB8AC3E}">
        <p14:creationId xmlns:p14="http://schemas.microsoft.com/office/powerpoint/2010/main" val="35232337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21831" y="987574"/>
            <a:ext cx="5934345" cy="3507876"/>
          </a:xfrm>
        </p:spPr>
        <p:txBody>
          <a:bodyPr/>
          <a:lstStyle/>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int BiTree::BTNodeDepth(BitNode *t){</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a:t>
            </a:r>
            <a:r>
              <a:rPr lang="zh-CN" altLang="zh-CN" sz="1600" dirty="0">
                <a:solidFill>
                  <a:srgbClr val="0066FF"/>
                </a:solidFill>
                <a:latin typeface="Times New Roman" panose="02020603050405020304" pitchFamily="18" charset="0"/>
                <a:ea typeface="+mn-ea"/>
                <a:cs typeface="Times New Roman" panose="02020603050405020304" pitchFamily="18" charset="0"/>
              </a:rPr>
              <a:t>递归计算二叉树树高</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if(t==NULL) return 0;</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else{</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int m=1+ BTNodeDepth(t-&gt;lchild);</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a:t>
            </a:r>
            <a:r>
              <a:rPr lang="zh-CN" altLang="zh-CN" sz="1600" dirty="0">
                <a:solidFill>
                  <a:srgbClr val="0066FF"/>
                </a:solidFill>
                <a:latin typeface="Times New Roman" panose="02020603050405020304" pitchFamily="18" charset="0"/>
                <a:ea typeface="+mn-ea"/>
                <a:cs typeface="Times New Roman" panose="02020603050405020304" pitchFamily="18" charset="0"/>
              </a:rPr>
              <a:t>计算左子树树高</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int n=1+ BTNodeDepth(t-&gt;rchild);</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a:t>
            </a:r>
            <a:r>
              <a:rPr lang="zh-CN" altLang="zh-CN" sz="1600" dirty="0">
                <a:solidFill>
                  <a:srgbClr val="0066FF"/>
                </a:solidFill>
                <a:latin typeface="Times New Roman" panose="02020603050405020304" pitchFamily="18" charset="0"/>
                <a:ea typeface="+mn-ea"/>
                <a:cs typeface="Times New Roman" panose="02020603050405020304" pitchFamily="18" charset="0"/>
              </a:rPr>
              <a:t>计算右子树树高</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if(m&gt;=n) return m; //</a:t>
            </a:r>
            <a:r>
              <a:rPr lang="zh-CN" altLang="zh-CN" sz="1600" dirty="0">
                <a:solidFill>
                  <a:srgbClr val="0066FF"/>
                </a:solidFill>
                <a:latin typeface="Times New Roman" panose="02020603050405020304" pitchFamily="18" charset="0"/>
                <a:ea typeface="+mn-ea"/>
                <a:cs typeface="Times New Roman" panose="02020603050405020304" pitchFamily="18" charset="0"/>
              </a:rPr>
              <a:t>比较左右子树高度</a:t>
            </a: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else return n;</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3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a:lnSpc>
                <a:spcPts val="2800"/>
              </a:lnSpc>
              <a:spcBef>
                <a:spcPts val="0"/>
              </a:spcBef>
            </a:pPr>
            <a:endParaRPr lang="zh-CN" altLang="en-US" sz="1800" dirty="0"/>
          </a:p>
        </p:txBody>
      </p:sp>
      <p:sp>
        <p:nvSpPr>
          <p:cNvPr id="4" name="文本框 3"/>
          <p:cNvSpPr txBox="1"/>
          <p:nvPr/>
        </p:nvSpPr>
        <p:spPr>
          <a:xfrm>
            <a:off x="4932040" y="1131590"/>
            <a:ext cx="4211960" cy="1846659"/>
          </a:xfrm>
          <a:prstGeom prst="rect">
            <a:avLst/>
          </a:prstGeom>
          <a:noFill/>
        </p:spPr>
        <p:txBody>
          <a:bodyPr wrap="square" rtlCol="0">
            <a:spAutoFit/>
          </a:bodyPr>
          <a:lstStyle/>
          <a:p>
            <a:r>
              <a:rPr lang="es-ES" altLang="zh-CN" sz="1600" dirty="0">
                <a:solidFill>
                  <a:srgbClr val="0066FF"/>
                </a:solidFill>
                <a:latin typeface="Times New Roman" panose="02020603050405020304" pitchFamily="18" charset="0"/>
                <a:cs typeface="Times New Roman" panose="02020603050405020304" pitchFamily="18" charset="0"/>
              </a:rPr>
              <a:t>int BiTree::BTNodeDepthBiTree(){    </a:t>
            </a:r>
          </a:p>
          <a:p>
            <a:r>
              <a:rPr lang="es-E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计算二叉树高度</a:t>
            </a:r>
          </a:p>
          <a:p>
            <a:r>
              <a:rPr lang="es-ES" altLang="zh-CN" sz="1600" dirty="0">
                <a:solidFill>
                  <a:srgbClr val="0066FF"/>
                </a:solidFill>
                <a:latin typeface="Times New Roman" panose="02020603050405020304" pitchFamily="18" charset="0"/>
                <a:cs typeface="Times New Roman" panose="02020603050405020304" pitchFamily="18" charset="0"/>
              </a:rPr>
              <a:t>   BitNode *p=bt;      //</a:t>
            </a:r>
            <a:r>
              <a:rPr lang="zh-CN" altLang="zh-CN" sz="1600" dirty="0">
                <a:solidFill>
                  <a:srgbClr val="0066FF"/>
                </a:solidFill>
                <a:latin typeface="Times New Roman" panose="02020603050405020304" pitchFamily="18" charset="0"/>
                <a:cs typeface="Times New Roman" panose="02020603050405020304" pitchFamily="18" charset="0"/>
              </a:rPr>
              <a:t>读取私有成员指针</a:t>
            </a:r>
            <a:r>
              <a:rPr lang="es-ES" altLang="zh-CN" sz="1600" dirty="0">
                <a:solidFill>
                  <a:srgbClr val="0066FF"/>
                </a:solidFill>
                <a:latin typeface="Times New Roman" panose="02020603050405020304" pitchFamily="18" charset="0"/>
                <a:cs typeface="Times New Roman" panose="02020603050405020304" pitchFamily="18" charset="0"/>
              </a:rPr>
              <a:t>bt</a:t>
            </a:r>
            <a:endParaRPr lang="zh-CN" altLang="zh-CN" sz="1600" dirty="0">
              <a:solidFill>
                <a:srgbClr val="0066FF"/>
              </a:solidFill>
              <a:latin typeface="Times New Roman" panose="02020603050405020304" pitchFamily="18" charset="0"/>
              <a:cs typeface="Times New Roman" panose="02020603050405020304" pitchFamily="18" charset="0"/>
            </a:endParaRPr>
          </a:p>
          <a:p>
            <a:r>
              <a:rPr lang="es-ES" altLang="zh-CN" sz="1600" dirty="0">
                <a:solidFill>
                  <a:srgbClr val="0066FF"/>
                </a:solidFill>
                <a:latin typeface="Times New Roman" panose="02020603050405020304" pitchFamily="18" charset="0"/>
                <a:cs typeface="Times New Roman" panose="02020603050405020304" pitchFamily="18" charset="0"/>
              </a:rPr>
              <a:t>   return BTNodeDepth(p); //</a:t>
            </a:r>
            <a:r>
              <a:rPr lang="zh-CN" altLang="zh-CN" sz="1600" dirty="0">
                <a:solidFill>
                  <a:srgbClr val="0066FF"/>
                </a:solidFill>
                <a:latin typeface="Times New Roman" panose="02020603050405020304" pitchFamily="18" charset="0"/>
                <a:cs typeface="Times New Roman" panose="02020603050405020304" pitchFamily="18" charset="0"/>
              </a:rPr>
              <a:t>调用计算二叉树高度的递归函数</a:t>
            </a:r>
          </a:p>
          <a:p>
            <a:r>
              <a:rPr lang="es-E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endParaRPr lang="zh-CN" altLang="en-US" dirty="0"/>
          </a:p>
        </p:txBody>
      </p:sp>
      <p:sp>
        <p:nvSpPr>
          <p:cNvPr id="5" name="文本框 4"/>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计算二叉树的高度</a:t>
            </a:r>
          </a:p>
        </p:txBody>
      </p:sp>
    </p:spTree>
    <p:extLst>
      <p:ext uri="{BB962C8B-B14F-4D97-AF65-F5344CB8AC3E}">
        <p14:creationId xmlns:p14="http://schemas.microsoft.com/office/powerpoint/2010/main" val="28845633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0" end="0"/>
                                            </p:txEl>
                                          </p:spTgt>
                                        </p:tgtEl>
                                        <p:attrNameLst>
                                          <p:attrName>style.visibility</p:attrName>
                                        </p:attrNameLst>
                                      </p:cBhvr>
                                      <p:to>
                                        <p:strVal val="visible"/>
                                      </p:to>
                                    </p:set>
                                    <p:anim calcmode="lin" valueType="num">
                                      <p:cBhvr additive="base">
                                        <p:cTn id="7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0" end="0"/>
                                            </p:txEl>
                                          </p:spTgt>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4">
                                            <p:txEl>
                                              <p:pRg st="1" end="1"/>
                                            </p:txEl>
                                          </p:spTgt>
                                        </p:tgtEl>
                                        <p:attrNameLst>
                                          <p:attrName>style.visibility</p:attrName>
                                        </p:attrNameLst>
                                      </p:cBhvr>
                                      <p:to>
                                        <p:strVal val="visible"/>
                                      </p:to>
                                    </p:set>
                                    <p:anim calcmode="lin" valueType="num">
                                      <p:cBhvr additive="base">
                                        <p:cTn id="8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4">
                                            <p:txEl>
                                              <p:pRg st="2" end="2"/>
                                            </p:txEl>
                                          </p:spTgt>
                                        </p:tgtEl>
                                        <p:attrNameLst>
                                          <p:attrName>style.visibility</p:attrName>
                                        </p:attrNameLst>
                                      </p:cBhvr>
                                      <p:to>
                                        <p:strVal val="visible"/>
                                      </p:to>
                                    </p:set>
                                    <p:animEffect transition="in" filter="fade">
                                      <p:cBhvr>
                                        <p:cTn id="89" dur="1000"/>
                                        <p:tgtEl>
                                          <p:spTgt spid="4">
                                            <p:txEl>
                                              <p:pRg st="2" end="2"/>
                                            </p:txEl>
                                          </p:spTgt>
                                        </p:tgtEl>
                                      </p:cBhvr>
                                    </p:animEffect>
                                    <p:anim calcmode="lin" valueType="num">
                                      <p:cBhvr>
                                        <p:cTn id="9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4">
                                            <p:txEl>
                                              <p:pRg st="3" end="3"/>
                                            </p:txEl>
                                          </p:spTgt>
                                        </p:tgtEl>
                                        <p:attrNameLst>
                                          <p:attrName>style.visibility</p:attrName>
                                        </p:attrNameLst>
                                      </p:cBhvr>
                                      <p:to>
                                        <p:strVal val="visible"/>
                                      </p:to>
                                    </p:set>
                                    <p:anim calcmode="lin" valueType="num">
                                      <p:cBhvr additive="base">
                                        <p:cTn id="96"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4">
                                            <p:txEl>
                                              <p:pRg st="3" end="3"/>
                                            </p:txEl>
                                          </p:spTgt>
                                        </p:tgtEl>
                                        <p:attrNameLst>
                                          <p:attrName>ppt_y</p:attrName>
                                        </p:attrNameLst>
                                      </p:cBhvr>
                                      <p:tavLst>
                                        <p:tav tm="0">
                                          <p:val>
                                            <p:strVal val="1+#ppt_h/2"/>
                                          </p:val>
                                        </p:tav>
                                        <p:tav tm="100000">
                                          <p:val>
                                            <p:strVal val="#ppt_y"/>
                                          </p:val>
                                        </p:tav>
                                      </p:tavLst>
                                    </p:anim>
                                  </p:childTnLst>
                                </p:cTn>
                              </p:par>
                              <p:par>
                                <p:cTn id="98" presetID="2" presetClass="entr" presetSubtype="4" fill="hold" nodeType="withEffect">
                                  <p:stCondLst>
                                    <p:cond delay="0"/>
                                  </p:stCondLst>
                                  <p:childTnLst>
                                    <p:set>
                                      <p:cBhvr>
                                        <p:cTn id="99" dur="1" fill="hold">
                                          <p:stCondLst>
                                            <p:cond delay="0"/>
                                          </p:stCondLst>
                                        </p:cTn>
                                        <p:tgtEl>
                                          <p:spTgt spid="4">
                                            <p:txEl>
                                              <p:pRg st="4" end="4"/>
                                            </p:txEl>
                                          </p:spTgt>
                                        </p:tgtEl>
                                        <p:attrNameLst>
                                          <p:attrName>style.visibility</p:attrName>
                                        </p:attrNameLst>
                                      </p:cBhvr>
                                      <p:to>
                                        <p:strVal val="visible"/>
                                      </p:to>
                                    </p:set>
                                    <p:anim calcmode="lin" valueType="num">
                                      <p:cBhvr additive="base">
                                        <p:cTn id="100"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01"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8640960" cy="1363610"/>
          </a:xfrm>
        </p:spPr>
        <p:txBody>
          <a:bodyPr/>
          <a:lstStyle/>
          <a:p>
            <a:pPr algn="just"/>
            <a:r>
              <a:rPr lang="en-US" altLang="zh-CN" sz="1600" dirty="0">
                <a:solidFill>
                  <a:srgbClr val="C00000"/>
                </a:solidFill>
                <a:latin typeface="Times New Roman" panose="02020603050405020304" pitchFamily="18" charset="0"/>
                <a:cs typeface="Times New Roman" panose="02020603050405020304" pitchFamily="18" charset="0"/>
              </a:rPr>
              <a:t>    </a:t>
            </a:r>
            <a:r>
              <a:rPr lang="en-US" altLang="zh-CN" sz="1600" dirty="0" err="1">
                <a:solidFill>
                  <a:srgbClr val="C00000"/>
                </a:solidFill>
                <a:latin typeface="Times New Roman" panose="02020603050405020304" pitchFamily="18" charset="0"/>
                <a:cs typeface="Times New Roman" panose="02020603050405020304" pitchFamily="18" charset="0"/>
              </a:rPr>
              <a:t>BTNodeLeaf</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计算二叉树的树叶数</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其过程为</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判断 </a:t>
            </a:r>
            <a:r>
              <a:rPr lang="en-US" altLang="zh-CN" sz="1600" dirty="0">
                <a:solidFill>
                  <a:srgbClr val="C00000"/>
                </a:solidFill>
                <a:latin typeface="Times New Roman" panose="02020603050405020304" pitchFamily="18" charset="0"/>
                <a:cs typeface="Times New Roman" panose="02020603050405020304" pitchFamily="18" charset="0"/>
              </a:rPr>
              <a:t>t </a:t>
            </a:r>
            <a:r>
              <a:rPr lang="zh-CN" altLang="en-US" sz="1600" dirty="0">
                <a:solidFill>
                  <a:srgbClr val="C00000"/>
                </a:solidFill>
                <a:latin typeface="Times New Roman" panose="02020603050405020304" pitchFamily="18" charset="0"/>
                <a:cs typeface="Times New Roman" panose="02020603050405020304" pitchFamily="18" charset="0"/>
              </a:rPr>
              <a:t>是否为空树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若为空树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则树叶数为</a:t>
            </a:r>
            <a:r>
              <a:rPr lang="en-US" altLang="zh-CN" sz="1600" dirty="0">
                <a:solidFill>
                  <a:srgbClr val="C00000"/>
                </a:solidFill>
                <a:latin typeface="Times New Roman" panose="02020603050405020304" pitchFamily="18" charset="0"/>
                <a:cs typeface="Times New Roman" panose="02020603050405020304" pitchFamily="18" charset="0"/>
              </a:rPr>
              <a:t>0; </a:t>
            </a:r>
            <a:r>
              <a:rPr lang="zh-CN" altLang="en-US" sz="1600" dirty="0">
                <a:solidFill>
                  <a:srgbClr val="C00000"/>
                </a:solidFill>
                <a:latin typeface="Times New Roman" panose="02020603050405020304" pitchFamily="18" charset="0"/>
                <a:cs typeface="Times New Roman" panose="02020603050405020304" pitchFamily="18" charset="0"/>
              </a:rPr>
              <a:t>若为非空树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则计算左子树的树叶数</a:t>
            </a:r>
            <a:r>
              <a:rPr lang="en-US" altLang="zh-CN" sz="1600" dirty="0">
                <a:solidFill>
                  <a:srgbClr val="C00000"/>
                </a:solidFill>
                <a:latin typeface="Times New Roman" panose="02020603050405020304" pitchFamily="18" charset="0"/>
                <a:cs typeface="Times New Roman" panose="02020603050405020304" pitchFamily="18" charset="0"/>
              </a:rPr>
              <a:t>m</a:t>
            </a:r>
            <a:r>
              <a:rPr lang="zh-CN" altLang="en-US" sz="1600" dirty="0">
                <a:solidFill>
                  <a:srgbClr val="C00000"/>
                </a:solidFill>
                <a:latin typeface="Times New Roman" panose="02020603050405020304" pitchFamily="18" charset="0"/>
                <a:cs typeface="Times New Roman" panose="02020603050405020304" pitchFamily="18" charset="0"/>
              </a:rPr>
              <a:t>和右子树的树叶数</a:t>
            </a:r>
            <a:r>
              <a:rPr lang="en-US" altLang="zh-CN" sz="1600" dirty="0">
                <a:solidFill>
                  <a:srgbClr val="C00000"/>
                </a:solidFill>
                <a:latin typeface="Times New Roman" panose="02020603050405020304" pitchFamily="18" charset="0"/>
                <a:cs typeface="Times New Roman" panose="02020603050405020304" pitchFamily="18" charset="0"/>
              </a:rPr>
              <a:t>n, </a:t>
            </a:r>
            <a:r>
              <a:rPr lang="en-US" altLang="zh-CN" sz="1600" dirty="0" err="1">
                <a:solidFill>
                  <a:srgbClr val="C00000"/>
                </a:solidFill>
                <a:latin typeface="Times New Roman" panose="02020603050405020304" pitchFamily="18" charset="0"/>
                <a:cs typeface="Times New Roman" panose="02020603050405020304" pitchFamily="18" charset="0"/>
              </a:rPr>
              <a:t>m+n</a:t>
            </a:r>
            <a:r>
              <a:rPr lang="en-US" altLang="zh-CN" sz="1600" dirty="0">
                <a:solidFill>
                  <a:srgbClr val="C00000"/>
                </a:solidFill>
                <a:latin typeface="Times New Roman" panose="02020603050405020304" pitchFamily="18" charset="0"/>
                <a:cs typeface="Times New Roman" panose="02020603050405020304" pitchFamily="18" charset="0"/>
              </a:rPr>
              <a:t>=0 </a:t>
            </a:r>
            <a:r>
              <a:rPr lang="zh-CN" altLang="en-US" sz="1600" dirty="0">
                <a:solidFill>
                  <a:srgbClr val="C00000"/>
                </a:solidFill>
                <a:latin typeface="Times New Roman" panose="02020603050405020304" pitchFamily="18" charset="0"/>
                <a:cs typeface="Times New Roman" panose="02020603050405020304" pitchFamily="18" charset="0"/>
              </a:rPr>
              <a:t>时返回 </a:t>
            </a:r>
            <a:r>
              <a:rPr lang="en-US" altLang="zh-CN" sz="1600" dirty="0">
                <a:solidFill>
                  <a:srgbClr val="C00000"/>
                </a:solidFill>
                <a:latin typeface="Times New Roman" panose="02020603050405020304" pitchFamily="18" charset="0"/>
                <a:cs typeface="Times New Roman" panose="02020603050405020304" pitchFamily="18" charset="0"/>
              </a:rPr>
              <a:t>1, m+n≠0 </a:t>
            </a:r>
            <a:r>
              <a:rPr lang="zh-CN" altLang="en-US" sz="1600" dirty="0">
                <a:solidFill>
                  <a:srgbClr val="C00000"/>
                </a:solidFill>
                <a:latin typeface="Times New Roman" panose="02020603050405020304" pitchFamily="18" charset="0"/>
                <a:cs typeface="Times New Roman" panose="02020603050405020304" pitchFamily="18" charset="0"/>
              </a:rPr>
              <a:t>返回 </a:t>
            </a:r>
            <a:r>
              <a:rPr lang="en-US" altLang="zh-CN" sz="1600" dirty="0" err="1">
                <a:solidFill>
                  <a:srgbClr val="C00000"/>
                </a:solidFill>
                <a:latin typeface="Times New Roman" panose="02020603050405020304" pitchFamily="18" charset="0"/>
                <a:cs typeface="Times New Roman" panose="02020603050405020304" pitchFamily="18" charset="0"/>
              </a:rPr>
              <a:t>m+n</a:t>
            </a:r>
            <a:r>
              <a:rPr lang="en-US" altLang="zh-CN" sz="1600" dirty="0">
                <a:solidFill>
                  <a:srgbClr val="C00000"/>
                </a:solidFill>
                <a:latin typeface="Times New Roman" panose="02020603050405020304" pitchFamily="18" charset="0"/>
                <a:cs typeface="Times New Roman" panose="02020603050405020304" pitchFamily="18" charset="0"/>
              </a:rPr>
              <a:t>.</a:t>
            </a:r>
            <a:endParaRPr lang="zh-CN" altLang="en-US" sz="1600" dirty="0">
              <a:solidFill>
                <a:srgbClr val="C0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287524" y="2211710"/>
                <a:ext cx="8280920" cy="2516651"/>
              </a:xfrm>
              <a:prstGeom prst="rect">
                <a:avLst/>
              </a:prstGeom>
              <a:noFill/>
            </p:spPr>
            <p:txBody>
              <a:bodyPr wrap="square" rtlCol="0">
                <a:spAutoFit/>
              </a:bodyPr>
              <a:lstStyle/>
              <a:p>
                <a:r>
                  <a:rPr lang="zh-CN" altLang="zh-CN" sz="1600" dirty="0">
                    <a:solidFill>
                      <a:srgbClr val="0066FF"/>
                    </a:solidFill>
                  </a:rPr>
                  <a:t>其递归函数描述如下：</a:t>
                </a:r>
                <a:endParaRPr lang="en-US" altLang="zh-CN" sz="1600" dirty="0">
                  <a:solidFill>
                    <a:srgbClr val="0066FF"/>
                  </a:solidFill>
                </a:endParaRPr>
              </a:p>
              <a:p>
                <a:endParaRPr lang="zh-CN" altLang="zh-CN" dirty="0">
                  <a:solidFill>
                    <a:srgbClr val="0066FF"/>
                  </a:solidFill>
                </a:endParaRPr>
              </a:p>
              <a:p>
                <a:pPr/>
                <a14:m>
                  <m:oMathPara xmlns:m="http://schemas.openxmlformats.org/officeDocument/2006/math">
                    <m:oMathParaPr>
                      <m:jc m:val="centerGroup"/>
                    </m:oMathParaPr>
                    <m:oMath xmlns:m="http://schemas.openxmlformats.org/officeDocument/2006/math">
                      <m:d>
                        <m:dPr>
                          <m:begChr m:val="{"/>
                          <m:endChr m:val=""/>
                          <m:ctrlPr>
                            <a:rPr lang="zh-CN" altLang="zh-CN" i="1">
                              <a:solidFill>
                                <a:srgbClr val="0066FF"/>
                              </a:solidFill>
                              <a:latin typeface="Cambria Math" panose="02040503050406030204" pitchFamily="18" charset="0"/>
                            </a:rPr>
                          </m:ctrlPr>
                        </m:dPr>
                        <m:e>
                          <m:eqArr>
                            <m:eqArrPr>
                              <m:ctrlPr>
                                <a:rPr lang="zh-CN" altLang="zh-CN" i="1">
                                  <a:solidFill>
                                    <a:srgbClr val="0066FF"/>
                                  </a:solidFill>
                                  <a:latin typeface="Cambria Math" panose="02040503050406030204" pitchFamily="18" charset="0"/>
                                </a:rPr>
                              </m:ctrlPr>
                            </m:eqArrPr>
                            <m:e>
                              <m:r>
                                <m:rPr>
                                  <m:sty m:val="p"/>
                                </m:rPr>
                                <a:rPr lang="es-ES" altLang="zh-CN">
                                  <a:solidFill>
                                    <a:srgbClr val="0066FF"/>
                                  </a:solidFill>
                                  <a:latin typeface="Cambria Math" panose="02040503050406030204" pitchFamily="18" charset="0"/>
                                </a:rPr>
                                <m:t>BTNodeLeaf</m:t>
                              </m:r>
                              <m:d>
                                <m:dPr>
                                  <m:ctrlPr>
                                    <a:rPr lang="zh-CN" altLang="zh-CN" i="1">
                                      <a:solidFill>
                                        <a:srgbClr val="0066FF"/>
                                      </a:solidFill>
                                      <a:latin typeface="Cambria Math" panose="02040503050406030204" pitchFamily="18" charset="0"/>
                                    </a:rPr>
                                  </m:ctrlPr>
                                </m:dPr>
                                <m:e>
                                  <m:r>
                                    <a:rPr lang="es-ES" altLang="zh-CN">
                                      <a:solidFill>
                                        <a:srgbClr val="0066FF"/>
                                      </a:solidFill>
                                      <a:latin typeface="Cambria Math" panose="02040503050406030204" pitchFamily="18" charset="0"/>
                                    </a:rPr>
                                    <m:t>∅</m:t>
                                  </m:r>
                                </m:e>
                              </m:d>
                              <m:r>
                                <a:rPr lang="es-ES" altLang="zh-CN">
                                  <a:solidFill>
                                    <a:srgbClr val="0066FF"/>
                                  </a:solidFill>
                                  <a:latin typeface="Cambria Math" panose="02040503050406030204" pitchFamily="18" charset="0"/>
                                </a:rPr>
                                <m:t>=0                                                                                     </m:t>
                              </m:r>
                            </m:e>
                            <m:e>
                              <m:r>
                                <m:rPr>
                                  <m:sty m:val="p"/>
                                </m:rPr>
                                <a:rPr lang="es-ES" altLang="zh-CN">
                                  <a:solidFill>
                                    <a:srgbClr val="0066FF"/>
                                  </a:solidFill>
                                  <a:latin typeface="Cambria Math" panose="02040503050406030204" pitchFamily="18" charset="0"/>
                                </a:rPr>
                                <m:t>BTNodeLeaf</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t</m:t>
                                  </m:r>
                                </m:e>
                              </m:d>
                              <m:r>
                                <a:rPr lang="es-ES" altLang="zh-CN">
                                  <a:solidFill>
                                    <a:srgbClr val="0066FF"/>
                                  </a:solidFill>
                                  <a:latin typeface="Cambria Math" panose="02040503050406030204" pitchFamily="18" charset="0"/>
                                </a:rPr>
                                <m:t>=</m:t>
                              </m:r>
                              <m:d>
                                <m:dPr>
                                  <m:begChr m:val="{"/>
                                  <m:endChr m:val=""/>
                                  <m:ctrlPr>
                                    <a:rPr lang="zh-CN" altLang="zh-CN" i="1">
                                      <a:solidFill>
                                        <a:srgbClr val="0066FF"/>
                                      </a:solidFill>
                                      <a:latin typeface="Cambria Math" panose="02040503050406030204" pitchFamily="18" charset="0"/>
                                    </a:rPr>
                                  </m:ctrlPr>
                                </m:dPr>
                                <m:e>
                                  <m:eqArr>
                                    <m:eqArrPr>
                                      <m:ctrlPr>
                                        <a:rPr lang="zh-CN" altLang="zh-CN" i="1">
                                          <a:solidFill>
                                            <a:srgbClr val="0066FF"/>
                                          </a:solidFill>
                                          <a:latin typeface="Cambria Math" panose="02040503050406030204" pitchFamily="18" charset="0"/>
                                        </a:rPr>
                                      </m:ctrlPr>
                                    </m:eqArrPr>
                                    <m:e>
                                      <m:r>
                                        <m:rPr>
                                          <m:sty m:val="p"/>
                                        </m:rPr>
                                        <a:rPr lang="es-ES" altLang="zh-CN">
                                          <a:solidFill>
                                            <a:srgbClr val="0066FF"/>
                                          </a:solidFill>
                                          <a:latin typeface="Cambria Math" panose="02040503050406030204" pitchFamily="18" charset="0"/>
                                        </a:rPr>
                                        <m:t>m</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BTNodeLeaf</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t</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lchild</m:t>
                                          </m:r>
                                        </m:e>
                                      </m:d>
                                      <m:r>
                                        <a:rPr lang="es-ES" altLang="zh-CN">
                                          <a:solidFill>
                                            <a:srgbClr val="0066FF"/>
                                          </a:solidFill>
                                          <a:latin typeface="Cambria Math" panose="02040503050406030204" pitchFamily="18" charset="0"/>
                                        </a:rPr>
                                        <m:t>                          </m:t>
                                      </m:r>
                                    </m:e>
                                    <m:e>
                                      <m:r>
                                        <m:rPr>
                                          <m:sty m:val="p"/>
                                        </m:rPr>
                                        <a:rPr lang="es-ES" altLang="zh-CN">
                                          <a:solidFill>
                                            <a:srgbClr val="0066FF"/>
                                          </a:solidFill>
                                          <a:latin typeface="Cambria Math" panose="02040503050406030204" pitchFamily="18" charset="0"/>
                                        </a:rPr>
                                        <m:t>n</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BTNodeLeaf</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t</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rchild</m:t>
                                          </m:r>
                                        </m:e>
                                      </m:d>
                                      <m:r>
                                        <a:rPr lang="es-ES" altLang="zh-CN">
                                          <a:solidFill>
                                            <a:srgbClr val="0066FF"/>
                                          </a:solidFill>
                                          <a:latin typeface="Cambria Math" panose="02040503050406030204" pitchFamily="18" charset="0"/>
                                        </a:rPr>
                                        <m:t>                           </m:t>
                                      </m:r>
                                    </m:e>
                                    <m:e>
                                      <m:r>
                                        <m:rPr>
                                          <m:sty m:val="p"/>
                                        </m:rPr>
                                        <a:rPr lang="es-ES" altLang="zh-CN">
                                          <a:solidFill>
                                            <a:srgbClr val="0066FF"/>
                                          </a:solidFill>
                                          <a:latin typeface="Cambria Math" panose="02040503050406030204" pitchFamily="18" charset="0"/>
                                        </a:rPr>
                                        <m:t>if</m:t>
                                      </m:r>
                                      <m:d>
                                        <m:dPr>
                                          <m:ctrlPr>
                                            <a:rPr lang="zh-CN" altLang="zh-CN" i="1">
                                              <a:solidFill>
                                                <a:srgbClr val="0066FF"/>
                                              </a:solidFill>
                                              <a:latin typeface="Cambria Math" panose="02040503050406030204" pitchFamily="18" charset="0"/>
                                            </a:rPr>
                                          </m:ctrlPr>
                                        </m:dPr>
                                        <m:e>
                                          <m:r>
                                            <m:rPr>
                                              <m:sty m:val="p"/>
                                            </m:rPr>
                                            <a:rPr lang="es-ES" altLang="zh-CN">
                                              <a:solidFill>
                                                <a:srgbClr val="0066FF"/>
                                              </a:solidFill>
                                              <a:latin typeface="Cambria Math" panose="02040503050406030204" pitchFamily="18" charset="0"/>
                                            </a:rPr>
                                            <m:t>m</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n</m:t>
                                          </m:r>
                                          <m:r>
                                            <a:rPr lang="es-ES" altLang="zh-CN">
                                              <a:solidFill>
                                                <a:srgbClr val="0066FF"/>
                                              </a:solidFill>
                                              <a:latin typeface="Cambria Math" panose="02040503050406030204" pitchFamily="18" charset="0"/>
                                            </a:rPr>
                                            <m:t>==0</m:t>
                                          </m:r>
                                        </m:e>
                                      </m:d>
                                      <m:r>
                                        <a:rPr lang="en-US" altLang="zh-CN" b="0" i="0" smtClean="0">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return</m:t>
                                      </m:r>
                                      <m:r>
                                        <a:rPr lang="es-ES" altLang="zh-CN">
                                          <a:solidFill>
                                            <a:srgbClr val="0066FF"/>
                                          </a:solidFill>
                                          <a:latin typeface="Cambria Math" panose="02040503050406030204" pitchFamily="18" charset="0"/>
                                        </a:rPr>
                                        <m:t> 1                                     </m:t>
                                      </m:r>
                                    </m:e>
                                    <m:e>
                                      <m:r>
                                        <m:rPr>
                                          <m:sty m:val="p"/>
                                        </m:rPr>
                                        <a:rPr lang="es-ES" altLang="zh-CN">
                                          <a:solidFill>
                                            <a:srgbClr val="0066FF"/>
                                          </a:solidFill>
                                          <a:latin typeface="Cambria Math" panose="02040503050406030204" pitchFamily="18" charset="0"/>
                                        </a:rPr>
                                        <m:t>else</m:t>
                                      </m:r>
                                      <m:r>
                                        <a:rPr lang="es-ES" altLang="zh-CN">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return</m:t>
                                      </m:r>
                                      <m:r>
                                        <a:rPr lang="es-ES" altLang="zh-CN">
                                          <a:solidFill>
                                            <a:srgbClr val="0066FF"/>
                                          </a:solidFill>
                                          <a:latin typeface="Cambria Math" panose="02040503050406030204" pitchFamily="18" charset="0"/>
                                        </a:rPr>
                                        <m:t> </m:t>
                                      </m:r>
                                      <m:r>
                                        <m:rPr>
                                          <m:sty m:val="p"/>
                                        </m:rPr>
                                        <a:rPr lang="es-ES" altLang="zh-CN">
                                          <a:solidFill>
                                            <a:srgbClr val="0066FF"/>
                                          </a:solidFill>
                                          <a:latin typeface="Cambria Math" panose="02040503050406030204" pitchFamily="18" charset="0"/>
                                        </a:rPr>
                                        <m:t>m</m:t>
                                      </m:r>
                                      <m:r>
                                        <a:rPr lang="es-ES" altLang="zh-CN">
                                          <a:solidFill>
                                            <a:srgbClr val="0066FF"/>
                                          </a:solidFill>
                                          <a:latin typeface="Cambria Math" panose="02040503050406030204" pitchFamily="18" charset="0"/>
                                        </a:rPr>
                                        <m:t>+</m:t>
                                      </m:r>
                                      <m:r>
                                        <m:rPr>
                                          <m:sty m:val="p"/>
                                        </m:rPr>
                                        <a:rPr lang="es-ES" altLang="zh-CN">
                                          <a:solidFill>
                                            <a:srgbClr val="0066FF"/>
                                          </a:solidFill>
                                          <a:latin typeface="Cambria Math" panose="02040503050406030204" pitchFamily="18" charset="0"/>
                                        </a:rPr>
                                        <m:t>n</m:t>
                                      </m:r>
                                      <m:r>
                                        <a:rPr lang="es-ES" altLang="zh-CN">
                                          <a:solidFill>
                                            <a:srgbClr val="0066FF"/>
                                          </a:solidFill>
                                          <a:latin typeface="Cambria Math" panose="02040503050406030204" pitchFamily="18" charset="0"/>
                                        </a:rPr>
                                        <m:t>                                                  </m:t>
                                      </m:r>
                                    </m:e>
                                  </m:eqArr>
                                </m:e>
                              </m:d>
                            </m:e>
                          </m:eqArr>
                        </m:e>
                      </m:d>
                    </m:oMath>
                  </m:oMathPara>
                </a14:m>
                <a:endParaRPr lang="zh-CN" altLang="zh-CN" dirty="0"/>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287524" y="2211710"/>
                <a:ext cx="8280920" cy="2516651"/>
              </a:xfrm>
              <a:prstGeom prst="rect">
                <a:avLst/>
              </a:prstGeom>
              <a:blipFill>
                <a:blip r:embed="rId2"/>
                <a:stretch>
                  <a:fillRect l="-368" t="-969"/>
                </a:stretch>
              </a:blipFill>
            </p:spPr>
            <p:txBody>
              <a:bodyPr/>
              <a:lstStyle/>
              <a:p>
                <a:r>
                  <a:rPr lang="zh-CN" altLang="en-US">
                    <a:noFill/>
                  </a:rPr>
                  <a:t> </a:t>
                </a:r>
              </a:p>
            </p:txBody>
          </p:sp>
        </mc:Fallback>
      </mc:AlternateContent>
      <p:sp>
        <p:nvSpPr>
          <p:cNvPr id="5" name="文本框 4"/>
          <p:cNvSpPr txBox="1"/>
          <p:nvPr/>
        </p:nvSpPr>
        <p:spPr>
          <a:xfrm>
            <a:off x="612366" y="123478"/>
            <a:ext cx="25194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计算二叉树的树叶数</a:t>
            </a:r>
          </a:p>
        </p:txBody>
      </p:sp>
    </p:spTree>
    <p:extLst>
      <p:ext uri="{BB962C8B-B14F-4D97-AF65-F5344CB8AC3E}">
        <p14:creationId xmlns:p14="http://schemas.microsoft.com/office/powerpoint/2010/main" val="11757993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60040" y="1064124"/>
            <a:ext cx="4355976" cy="3507876"/>
          </a:xfrm>
        </p:spPr>
        <p:txBody>
          <a:bodyPr/>
          <a:lstStyle/>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int BiTree:: BTNodeLeaf (BitNode *t){</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递归计算二叉树的树叶数</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if(t==NULL) return 0;</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else{</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计算左子树的树叶数</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int m= BTNodeLeaf (t-&gt;lchild); </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计算右子树的树叶数</a:t>
            </a:r>
            <a:endParaRPr lang="es-ES"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int n= BTNodeLeaf (t-&gt;rchild); </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if(m+n==0) return 1; //</a:t>
            </a:r>
            <a:r>
              <a:rPr lang="zh-CN" altLang="zh-CN" sz="1600" dirty="0">
                <a:solidFill>
                  <a:srgbClr val="0066FF"/>
                </a:solidFill>
                <a:latin typeface="Times New Roman" panose="02020603050405020304" pitchFamily="18" charset="0"/>
                <a:cs typeface="Times New Roman" panose="02020603050405020304" pitchFamily="18" charset="0"/>
              </a:rPr>
              <a:t>比较左右子树的树叶数</a:t>
            </a: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else return m+n;</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  }</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a:lnSpc>
                <a:spcPts val="2400"/>
              </a:lnSpc>
              <a:spcBef>
                <a:spcPts val="0"/>
              </a:spcBef>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4803340" y="1064124"/>
            <a:ext cx="4355976" cy="1846659"/>
          </a:xfrm>
          <a:prstGeom prst="rect">
            <a:avLst/>
          </a:prstGeom>
          <a:noFill/>
        </p:spPr>
        <p:txBody>
          <a:bodyPr wrap="square" rtlCol="0">
            <a:spAutoFit/>
          </a:bodyPr>
          <a:lstStyle/>
          <a:p>
            <a:r>
              <a:rPr lang="es-ES" altLang="zh-CN" sz="1600" dirty="0">
                <a:solidFill>
                  <a:srgbClr val="0066FF"/>
                </a:solidFill>
              </a:rPr>
              <a:t>int BiTree:: BTNodeLeafBiTree (){ </a:t>
            </a:r>
          </a:p>
          <a:p>
            <a:r>
              <a:rPr lang="es-ES" altLang="zh-CN" sz="1600" dirty="0">
                <a:solidFill>
                  <a:srgbClr val="0066FF"/>
                </a:solidFill>
              </a:rPr>
              <a:t>         //</a:t>
            </a:r>
            <a:r>
              <a:rPr lang="zh-CN" altLang="zh-CN" sz="1600" dirty="0">
                <a:solidFill>
                  <a:srgbClr val="0066FF"/>
                </a:solidFill>
              </a:rPr>
              <a:t>计算二叉树的树叶数</a:t>
            </a:r>
          </a:p>
          <a:p>
            <a:r>
              <a:rPr lang="es-ES" altLang="zh-CN" sz="1600" dirty="0">
                <a:solidFill>
                  <a:srgbClr val="0066FF"/>
                </a:solidFill>
              </a:rPr>
              <a:t>   BitNode *p=bt;     //</a:t>
            </a:r>
            <a:r>
              <a:rPr lang="zh-CN" altLang="zh-CN" sz="1600" dirty="0">
                <a:solidFill>
                  <a:srgbClr val="0066FF"/>
                </a:solidFill>
              </a:rPr>
              <a:t>读取私有成员指针</a:t>
            </a:r>
            <a:r>
              <a:rPr lang="es-ES" altLang="zh-CN" sz="1600" dirty="0">
                <a:solidFill>
                  <a:srgbClr val="0066FF"/>
                </a:solidFill>
              </a:rPr>
              <a:t>bt</a:t>
            </a:r>
            <a:endParaRPr lang="zh-CN" altLang="zh-CN" sz="1600" dirty="0">
              <a:solidFill>
                <a:srgbClr val="0066FF"/>
              </a:solidFill>
            </a:endParaRPr>
          </a:p>
          <a:p>
            <a:r>
              <a:rPr lang="es-ES" altLang="zh-CN" sz="1600" dirty="0">
                <a:solidFill>
                  <a:srgbClr val="0066FF"/>
                </a:solidFill>
              </a:rPr>
              <a:t>   return BTNodeLeaf(p); //</a:t>
            </a:r>
            <a:r>
              <a:rPr lang="zh-CN" altLang="zh-CN" sz="1600" dirty="0">
                <a:solidFill>
                  <a:srgbClr val="0066FF"/>
                </a:solidFill>
              </a:rPr>
              <a:t>调用计算二叉树的树叶数的递归函数</a:t>
            </a:r>
          </a:p>
          <a:p>
            <a:r>
              <a:rPr lang="es-ES" altLang="zh-CN" sz="1600" dirty="0">
                <a:solidFill>
                  <a:srgbClr val="0066FF"/>
                </a:solidFill>
              </a:rPr>
              <a:t>}</a:t>
            </a:r>
            <a:endParaRPr lang="zh-CN" altLang="zh-CN" sz="1600" dirty="0">
              <a:solidFill>
                <a:srgbClr val="0066FF"/>
              </a:solidFill>
            </a:endParaRPr>
          </a:p>
          <a:p>
            <a:endParaRPr lang="zh-CN" altLang="en-US" dirty="0"/>
          </a:p>
        </p:txBody>
      </p:sp>
      <p:sp>
        <p:nvSpPr>
          <p:cNvPr id="5" name="文本框 4"/>
          <p:cNvSpPr txBox="1"/>
          <p:nvPr/>
        </p:nvSpPr>
        <p:spPr>
          <a:xfrm>
            <a:off x="612366" y="123478"/>
            <a:ext cx="25194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计算二叉树的树叶数</a:t>
            </a:r>
          </a:p>
        </p:txBody>
      </p:sp>
    </p:spTree>
    <p:extLst>
      <p:ext uri="{BB962C8B-B14F-4D97-AF65-F5344CB8AC3E}">
        <p14:creationId xmlns:p14="http://schemas.microsoft.com/office/powerpoint/2010/main" val="6262396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0" y="987574"/>
            <a:ext cx="9144000" cy="1507626"/>
          </a:xfrm>
        </p:spPr>
        <p:txBody>
          <a:bodyPr/>
          <a:lstStyle/>
          <a:p>
            <a:pPr algn="just">
              <a:lnSpc>
                <a:spcPts val="26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solidFill>
                  <a:srgbClr val="C00000"/>
                </a:solidFill>
                <a:latin typeface="Times New Roman" panose="02020603050405020304" pitchFamily="18" charset="0"/>
                <a:cs typeface="Times New Roman" panose="02020603050405020304" pitchFamily="18" charset="0"/>
              </a:rPr>
              <a:t>SearchNode</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函数在二叉树</a:t>
            </a:r>
            <a:r>
              <a:rPr lang="en-US" altLang="zh-CN" sz="1600" dirty="0">
                <a:solidFill>
                  <a:srgbClr val="C00000"/>
                </a:solidFill>
                <a:latin typeface="Times New Roman" panose="02020603050405020304" pitchFamily="18" charset="0"/>
                <a:cs typeface="Times New Roman" panose="02020603050405020304" pitchFamily="18" charset="0"/>
              </a:rPr>
              <a:t>t</a:t>
            </a:r>
            <a:r>
              <a:rPr lang="zh-CN" altLang="en-US" sz="1600" dirty="0">
                <a:solidFill>
                  <a:srgbClr val="C00000"/>
                </a:solidFill>
                <a:latin typeface="Times New Roman" panose="02020603050405020304" pitchFamily="18" charset="0"/>
                <a:cs typeface="Times New Roman" panose="02020603050405020304" pitchFamily="18" charset="0"/>
              </a:rPr>
              <a:t>中查找值等于</a:t>
            </a:r>
            <a:r>
              <a:rPr lang="en-US" altLang="zh-CN" sz="1600" dirty="0">
                <a:solidFill>
                  <a:srgbClr val="C00000"/>
                </a:solidFill>
                <a:latin typeface="Times New Roman" panose="02020603050405020304" pitchFamily="18" charset="0"/>
                <a:cs typeface="Times New Roman" panose="02020603050405020304" pitchFamily="18" charset="0"/>
              </a:rPr>
              <a:t>x</a:t>
            </a:r>
            <a:r>
              <a:rPr lang="zh-CN" altLang="en-US" sz="1600" dirty="0">
                <a:solidFill>
                  <a:srgbClr val="C00000"/>
                </a:solidFill>
                <a:latin typeface="Times New Roman" panose="02020603050405020304" pitchFamily="18" charset="0"/>
                <a:cs typeface="Times New Roman" panose="02020603050405020304" pitchFamily="18" charset="0"/>
              </a:rPr>
              <a:t>的结点</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假设树中无相同结点</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若找到 该结点时返回其首地址</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否则返回</a:t>
            </a:r>
            <a:r>
              <a:rPr lang="en-US" altLang="zh-CN" sz="1600" dirty="0">
                <a:solidFill>
                  <a:srgbClr val="C00000"/>
                </a:solidFill>
                <a:latin typeface="Times New Roman" panose="02020603050405020304" pitchFamily="18" charset="0"/>
                <a:cs typeface="Times New Roman" panose="02020603050405020304" pitchFamily="18" charset="0"/>
              </a:rPr>
              <a:t>NULL</a:t>
            </a:r>
            <a:r>
              <a:rPr lang="zh-CN" altLang="en-US" sz="1600" dirty="0">
                <a:solidFill>
                  <a:srgbClr val="C00000"/>
                </a:solidFill>
                <a:latin typeface="Times New Roman" panose="02020603050405020304" pitchFamily="18" charset="0"/>
                <a:cs typeface="Times New Roman" panose="02020603050405020304" pitchFamily="18" charset="0"/>
              </a:rPr>
              <a:t>。 其算法步骤如下</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判断</a:t>
            </a:r>
            <a:r>
              <a:rPr lang="en-US" altLang="zh-CN" sz="1600" dirty="0">
                <a:solidFill>
                  <a:srgbClr val="C00000"/>
                </a:solidFill>
                <a:latin typeface="Times New Roman" panose="02020603050405020304" pitchFamily="18" charset="0"/>
                <a:cs typeface="Times New Roman" panose="02020603050405020304" pitchFamily="18" charset="0"/>
              </a:rPr>
              <a:t>t</a:t>
            </a:r>
            <a:r>
              <a:rPr lang="zh-CN" altLang="en-US" sz="1600" dirty="0">
                <a:solidFill>
                  <a:srgbClr val="C00000"/>
                </a:solidFill>
                <a:latin typeface="Times New Roman" panose="02020603050405020304" pitchFamily="18" charset="0"/>
                <a:cs typeface="Times New Roman" panose="02020603050405020304" pitchFamily="18" charset="0"/>
              </a:rPr>
              <a:t>是否为空树</a:t>
            </a:r>
            <a:r>
              <a:rPr lang="en-US" altLang="zh-CN" sz="1600" dirty="0">
                <a:solidFill>
                  <a:srgbClr val="C00000"/>
                </a:solidFill>
                <a:latin typeface="Times New Roman" panose="02020603050405020304" pitchFamily="18" charset="0"/>
                <a:cs typeface="Times New Roman" panose="02020603050405020304" pitchFamily="18" charset="0"/>
              </a:rPr>
              <a:t>, (1)</a:t>
            </a:r>
            <a:r>
              <a:rPr lang="zh-CN" altLang="en-US" sz="1600" dirty="0">
                <a:solidFill>
                  <a:srgbClr val="C00000"/>
                </a:solidFill>
                <a:latin typeface="Times New Roman" panose="02020603050405020304" pitchFamily="18" charset="0"/>
                <a:cs typeface="Times New Roman" panose="02020603050405020304" pitchFamily="18" charset="0"/>
              </a:rPr>
              <a:t>若为空树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则返回</a:t>
            </a:r>
            <a:r>
              <a:rPr lang="en-US" altLang="zh-CN" sz="1600" dirty="0">
                <a:solidFill>
                  <a:srgbClr val="C00000"/>
                </a:solidFill>
                <a:latin typeface="Times New Roman" panose="02020603050405020304" pitchFamily="18" charset="0"/>
                <a:cs typeface="Times New Roman" panose="02020603050405020304" pitchFamily="18" charset="0"/>
              </a:rPr>
              <a:t>NULL; (2)</a:t>
            </a:r>
            <a:r>
              <a:rPr lang="zh-CN" altLang="en-US" sz="1600" dirty="0">
                <a:solidFill>
                  <a:srgbClr val="C00000"/>
                </a:solidFill>
                <a:latin typeface="Times New Roman" panose="02020603050405020304" pitchFamily="18" charset="0"/>
                <a:cs typeface="Times New Roman" panose="02020603050405020304" pitchFamily="18" charset="0"/>
              </a:rPr>
              <a:t>若为非空树</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则在</a:t>
            </a:r>
            <a:r>
              <a:rPr lang="en-US" altLang="zh-CN" sz="1600" dirty="0">
                <a:solidFill>
                  <a:srgbClr val="C00000"/>
                </a:solidFill>
                <a:latin typeface="Times New Roman" panose="02020603050405020304" pitchFamily="18" charset="0"/>
                <a:cs typeface="Times New Roman" panose="02020603050405020304" pitchFamily="18" charset="0"/>
              </a:rPr>
              <a:t>t-&gt;data ==x </a:t>
            </a:r>
            <a:r>
              <a:rPr lang="zh-CN" altLang="en-US" sz="1600" dirty="0">
                <a:solidFill>
                  <a:srgbClr val="C00000"/>
                </a:solidFill>
                <a:latin typeface="Times New Roman" panose="02020603050405020304" pitchFamily="18" charset="0"/>
                <a:cs typeface="Times New Roman" panose="02020603050405020304" pitchFamily="18" charset="0"/>
              </a:rPr>
              <a:t>时返回 </a:t>
            </a:r>
            <a:r>
              <a:rPr lang="en-US" altLang="zh-CN" sz="1600" dirty="0">
                <a:solidFill>
                  <a:srgbClr val="C00000"/>
                </a:solidFill>
                <a:latin typeface="Times New Roman" panose="02020603050405020304" pitchFamily="18" charset="0"/>
                <a:cs typeface="Times New Roman" panose="02020603050405020304" pitchFamily="18" charset="0"/>
              </a:rPr>
              <a:t>t, t-&gt;</a:t>
            </a:r>
            <a:r>
              <a:rPr lang="en-US" altLang="zh-CN" sz="1600" dirty="0" err="1">
                <a:solidFill>
                  <a:srgbClr val="C00000"/>
                </a:solidFill>
                <a:latin typeface="Times New Roman" panose="02020603050405020304" pitchFamily="18" charset="0"/>
                <a:cs typeface="Times New Roman" panose="02020603050405020304" pitchFamily="18" charset="0"/>
              </a:rPr>
              <a:t>data≠x</a:t>
            </a:r>
            <a:r>
              <a:rPr lang="zh-CN" altLang="en-US" sz="1600" dirty="0">
                <a:solidFill>
                  <a:srgbClr val="C00000"/>
                </a:solidFill>
                <a:latin typeface="Times New Roman" panose="02020603050405020304" pitchFamily="18" charset="0"/>
                <a:cs typeface="Times New Roman" panose="02020603050405020304" pitchFamily="18" charset="0"/>
              </a:rPr>
              <a:t>时</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在左子树中查找</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en-US" sz="1600" dirty="0">
                <a:solidFill>
                  <a:srgbClr val="C00000"/>
                </a:solidFill>
                <a:latin typeface="Times New Roman" panose="02020603050405020304" pitchFamily="18" charset="0"/>
                <a:cs typeface="Times New Roman" panose="02020603050405020304" pitchFamily="18" charset="0"/>
              </a:rPr>
              <a:t>否则在右子树中查找。</a:t>
            </a:r>
          </a:p>
        </p:txBody>
      </p:sp>
      <mc:AlternateContent xmlns:mc="http://schemas.openxmlformats.org/markup-compatibility/2006" xmlns:a14="http://schemas.microsoft.com/office/drawing/2010/main">
        <mc:Choice Requires="a14">
          <p:sp>
            <p:nvSpPr>
              <p:cNvPr id="4" name="文本框 3"/>
              <p:cNvSpPr txBox="1"/>
              <p:nvPr/>
            </p:nvSpPr>
            <p:spPr>
              <a:xfrm>
                <a:off x="107504" y="2495200"/>
                <a:ext cx="8640960" cy="2254079"/>
              </a:xfrm>
              <a:prstGeom prst="rect">
                <a:avLst/>
              </a:prstGeom>
              <a:noFill/>
            </p:spPr>
            <p:txBody>
              <a:bodyPr wrap="square" rtlCol="0">
                <a:spAutoFit/>
              </a:bodyPr>
              <a:lstStyle/>
              <a:p>
                <a:r>
                  <a:rPr lang="zh-CN" altLang="zh-CN" sz="1600" dirty="0"/>
                  <a:t>其递归函数描述如下：</a:t>
                </a:r>
              </a:p>
              <a:p>
                <a:pPr/>
                <a14:m>
                  <m:oMathPara xmlns:m="http://schemas.openxmlformats.org/officeDocument/2006/math">
                    <m:oMathParaPr>
                      <m:jc m:val="centerGroup"/>
                    </m:oMathParaPr>
                    <m:oMath xmlns:m="http://schemas.openxmlformats.org/officeDocument/2006/math">
                      <m:r>
                        <a:rPr lang="es-ES" altLang="zh-CN" i="1">
                          <a:latin typeface="Cambria Math" panose="02040503050406030204" pitchFamily="18" charset="0"/>
                        </a:rPr>
                        <m:t>         </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m:rPr>
                                  <m:sty m:val="p"/>
                                </m:rPr>
                                <a:rPr lang="es-ES" altLang="zh-CN">
                                  <a:latin typeface="Cambria Math" panose="02040503050406030204" pitchFamily="18" charset="0"/>
                                </a:rPr>
                                <m:t>SearchNode</m:t>
                              </m:r>
                              <m:d>
                                <m:dPr>
                                  <m:ctrlPr>
                                    <a:rPr lang="zh-CN" altLang="zh-CN" i="1">
                                      <a:latin typeface="Cambria Math" panose="02040503050406030204" pitchFamily="18" charset="0"/>
                                    </a:rPr>
                                  </m:ctrlPr>
                                </m:dPr>
                                <m:e>
                                  <m:r>
                                    <a:rPr lang="es-ES" altLang="zh-CN">
                                      <a:latin typeface="Cambria Math" panose="02040503050406030204" pitchFamily="18" charset="0"/>
                                    </a:rPr>
                                    <m:t>∅</m:t>
                                  </m:r>
                                </m:e>
                              </m:d>
                              <m:r>
                                <a:rPr lang="es-ES" altLang="zh-CN">
                                  <a:latin typeface="Cambria Math" panose="02040503050406030204" pitchFamily="18" charset="0"/>
                                </a:rPr>
                                <m:t>=</m:t>
                              </m:r>
                              <m:r>
                                <m:rPr>
                                  <m:sty m:val="p"/>
                                </m:rPr>
                                <a:rPr lang="es-ES" altLang="zh-CN">
                                  <a:latin typeface="Cambria Math" panose="02040503050406030204" pitchFamily="18" charset="0"/>
                                </a:rPr>
                                <m:t>NULL</m:t>
                              </m:r>
                              <m:r>
                                <a:rPr lang="es-ES" altLang="zh-CN">
                                  <a:latin typeface="Cambria Math" panose="02040503050406030204" pitchFamily="18" charset="0"/>
                                </a:rPr>
                                <m:t>                                                                                                                    </m:t>
                              </m:r>
                            </m:e>
                            <m:e>
                              <m:r>
                                <m:rPr>
                                  <m:sty m:val="p"/>
                                </m:rPr>
                                <a:rPr lang="es-ES" altLang="zh-CN">
                                  <a:latin typeface="Cambria Math" panose="02040503050406030204" pitchFamily="18" charset="0"/>
                                </a:rPr>
                                <m:t>SearchNode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t</m:t>
                                  </m:r>
                                </m:e>
                              </m:d>
                              <m:r>
                                <a:rPr lang="es-ES" altLang="zh-CN">
                                  <a:latin typeface="Cambria Math" panose="02040503050406030204" pitchFamily="18" charset="0"/>
                                </a:rPr>
                                <m:t>=</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m:rPr>
                                          <m:sty m:val="p"/>
                                        </m:rPr>
                                        <a:rPr lang="es-ES" altLang="zh-CN">
                                          <a:latin typeface="Cambria Math" panose="02040503050406030204" pitchFamily="18" charset="0"/>
                                        </a:rPr>
                                        <m:t>t</m:t>
                                      </m:r>
                                      <m:r>
                                        <a:rPr lang="es-ES" altLang="zh-CN">
                                          <a:latin typeface="Cambria Math" panose="02040503050406030204" pitchFamily="18" charset="0"/>
                                        </a:rPr>
                                        <m:t>                                                                          </m:t>
                                      </m:r>
                                      <m:r>
                                        <a:rPr lang="zh-CN" altLang="zh-CN">
                                          <a:latin typeface="Cambria Math" panose="02040503050406030204" pitchFamily="18" charset="0"/>
                                        </a:rPr>
                                        <m:t>若</m:t>
                                      </m:r>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data</m:t>
                                      </m:r>
                                      <m:r>
                                        <a:rPr lang="es-ES" altLang="zh-CN">
                                          <a:latin typeface="Cambria Math" panose="02040503050406030204" pitchFamily="18" charset="0"/>
                                        </a:rPr>
                                        <m:t>==</m:t>
                                      </m:r>
                                      <m:r>
                                        <m:rPr>
                                          <m:sty m:val="p"/>
                                        </m:rPr>
                                        <a:rPr lang="es-ES" altLang="zh-CN">
                                          <a:latin typeface="Cambria Math" panose="02040503050406030204" pitchFamily="18" charset="0"/>
                                        </a:rPr>
                                        <m:t>x</m:t>
                                      </m:r>
                                      <m:r>
                                        <a:rPr lang="es-ES" altLang="zh-CN">
                                          <a:latin typeface="Cambria Math" panose="02040503050406030204" pitchFamily="18" charset="0"/>
                                        </a:rPr>
                                        <m:t>            </m:t>
                                      </m:r>
                                    </m:e>
                                    <m:e>
                                      <m:r>
                                        <m:rPr>
                                          <m:sty m:val="p"/>
                                        </m:rPr>
                                        <a:rPr lang="es-ES" altLang="zh-CN">
                                          <a:latin typeface="Cambria Math" panose="02040503050406030204" pitchFamily="18" charset="0"/>
                                        </a:rPr>
                                        <m:t>p</m:t>
                                      </m:r>
                                      <m:r>
                                        <a:rPr lang="es-ES" altLang="zh-CN">
                                          <a:latin typeface="Cambria Math" panose="02040503050406030204" pitchFamily="18" charset="0"/>
                                        </a:rPr>
                                        <m:t>=</m:t>
                                      </m:r>
                                      <m:r>
                                        <m:rPr>
                                          <m:sty m:val="p"/>
                                        </m:rPr>
                                        <a:rPr lang="es-ES" altLang="zh-CN">
                                          <a:latin typeface="Cambria Math" panose="02040503050406030204" pitchFamily="18" charset="0"/>
                                        </a:rPr>
                                        <m:t>SearchNode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lchild</m:t>
                                          </m:r>
                                          <m:r>
                                            <a:rPr lang="es-ES" altLang="zh-CN">
                                              <a:latin typeface="Cambria Math" panose="02040503050406030204" pitchFamily="18" charset="0"/>
                                            </a:rPr>
                                            <m:t>,</m:t>
                                          </m:r>
                                          <m:r>
                                            <m:rPr>
                                              <m:sty m:val="p"/>
                                            </m:rPr>
                                            <a:rPr lang="es-ES" altLang="zh-CN">
                                              <a:latin typeface="Cambria Math" panose="02040503050406030204" pitchFamily="18" charset="0"/>
                                            </a:rPr>
                                            <m:t>x</m:t>
                                          </m:r>
                                        </m:e>
                                      </m:d>
                                      <m:r>
                                        <a:rPr lang="es-ES" altLang="zh-CN">
                                          <a:latin typeface="Cambria Math" panose="02040503050406030204" pitchFamily="18" charset="0"/>
                                        </a:rPr>
                                        <m:t>                                                               </m:t>
                                      </m:r>
                                    </m:e>
                                    <m:e>
                                      <m:r>
                                        <m:rPr>
                                          <m:sty m:val="p"/>
                                        </m:rPr>
                                        <a:rPr lang="es-ES" altLang="zh-CN">
                                          <a:latin typeface="Cambria Math" panose="02040503050406030204" pitchFamily="18" charset="0"/>
                                        </a:rPr>
                                        <m:t>return</m:t>
                                      </m:r>
                                      <m:r>
                                        <a:rPr lang="es-ES" altLang="zh-CN">
                                          <a:latin typeface="Cambria Math" panose="02040503050406030204" pitchFamily="18" charset="0"/>
                                        </a:rPr>
                                        <m:t> </m:t>
                                      </m:r>
                                      <m:r>
                                        <m:rPr>
                                          <m:sty m:val="p"/>
                                        </m:rPr>
                                        <a:rPr lang="es-ES" altLang="zh-CN">
                                          <a:latin typeface="Cambria Math" panose="02040503050406030204" pitchFamily="18" charset="0"/>
                                        </a:rPr>
                                        <m:t>p</m:t>
                                      </m:r>
                                      <m:r>
                                        <a:rPr lang="es-ES" altLang="zh-CN">
                                          <a:latin typeface="Cambria Math" panose="02040503050406030204" pitchFamily="18" charset="0"/>
                                        </a:rPr>
                                        <m:t>                                                            </m:t>
                                      </m:r>
                                      <m:r>
                                        <a:rPr lang="zh-CN" altLang="zh-CN">
                                          <a:latin typeface="Cambria Math" panose="02040503050406030204" pitchFamily="18" charset="0"/>
                                        </a:rPr>
                                        <m:t>若</m:t>
                                      </m:r>
                                      <m:r>
                                        <m:rPr>
                                          <m:sty m:val="p"/>
                                        </m:rPr>
                                        <a:rPr lang="es-ES" altLang="zh-CN">
                                          <a:latin typeface="Cambria Math" panose="02040503050406030204" pitchFamily="18" charset="0"/>
                                        </a:rPr>
                                        <m:t>p</m:t>
                                      </m:r>
                                      <m:r>
                                        <a:rPr lang="es-ES" altLang="zh-CN">
                                          <a:latin typeface="Cambria Math" panose="02040503050406030204" pitchFamily="18" charset="0"/>
                                        </a:rPr>
                                        <m:t>!=</m:t>
                                      </m:r>
                                      <m:r>
                                        <m:rPr>
                                          <m:sty m:val="p"/>
                                        </m:rPr>
                                        <a:rPr lang="es-ES" altLang="zh-CN">
                                          <a:latin typeface="Cambria Math" panose="02040503050406030204" pitchFamily="18" charset="0"/>
                                        </a:rPr>
                                        <m:t>NULL</m:t>
                                      </m:r>
                                      <m:r>
                                        <a:rPr lang="es-ES" altLang="zh-CN">
                                          <a:latin typeface="Cambria Math" panose="02040503050406030204" pitchFamily="18" charset="0"/>
                                        </a:rPr>
                                        <m:t>                     </m:t>
                                      </m:r>
                                    </m:e>
                                    <m:e>
                                      <m:r>
                                        <m:rPr>
                                          <m:sty m:val="p"/>
                                        </m:rPr>
                                        <a:rPr lang="es-ES" altLang="zh-CN">
                                          <a:latin typeface="Cambria Math" panose="02040503050406030204" pitchFamily="18" charset="0"/>
                                        </a:rPr>
                                        <m:t>return</m:t>
                                      </m:r>
                                      <m:r>
                                        <a:rPr lang="es-ES" altLang="zh-CN">
                                          <a:latin typeface="Cambria Math" panose="02040503050406030204" pitchFamily="18" charset="0"/>
                                        </a:rPr>
                                        <m:t> </m:t>
                                      </m:r>
                                      <m:r>
                                        <m:rPr>
                                          <m:sty m:val="p"/>
                                        </m:rPr>
                                        <a:rPr lang="es-ES" altLang="zh-CN">
                                          <a:latin typeface="Cambria Math" panose="02040503050406030204" pitchFamily="18" charset="0"/>
                                        </a:rPr>
                                        <m:t>SearchNode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rchild</m:t>
                                          </m:r>
                                          <m:r>
                                            <a:rPr lang="es-ES" altLang="zh-CN">
                                              <a:latin typeface="Cambria Math" panose="02040503050406030204" pitchFamily="18" charset="0"/>
                                            </a:rPr>
                                            <m:t>,</m:t>
                                          </m:r>
                                          <m:r>
                                            <m:rPr>
                                              <m:sty m:val="p"/>
                                            </m:rPr>
                                            <a:rPr lang="es-ES" altLang="zh-CN">
                                              <a:latin typeface="Cambria Math" panose="02040503050406030204" pitchFamily="18" charset="0"/>
                                            </a:rPr>
                                            <m:t>x</m:t>
                                          </m:r>
                                        </m:e>
                                      </m:d>
                                      <m:r>
                                        <a:rPr lang="es-ES" altLang="zh-CN">
                                          <a:latin typeface="Cambria Math" panose="02040503050406030204" pitchFamily="18" charset="0"/>
                                        </a:rPr>
                                        <m:t>          </m:t>
                                      </m:r>
                                      <m:r>
                                        <a:rPr lang="en-US" altLang="zh-CN" b="0" i="0" smtClean="0">
                                          <a:latin typeface="Cambria Math" panose="02040503050406030204" pitchFamily="18" charset="0"/>
                                        </a:rPr>
                                        <m:t>    </m:t>
                                      </m:r>
                                      <m:r>
                                        <a:rPr lang="zh-CN" altLang="zh-CN">
                                          <a:latin typeface="Cambria Math" panose="02040503050406030204" pitchFamily="18" charset="0"/>
                                        </a:rPr>
                                        <m:t>若</m:t>
                                      </m:r>
                                      <m:r>
                                        <m:rPr>
                                          <m:sty m:val="p"/>
                                        </m:rPr>
                                        <a:rPr lang="es-ES" altLang="zh-CN">
                                          <a:latin typeface="Cambria Math" panose="02040503050406030204" pitchFamily="18" charset="0"/>
                                        </a:rPr>
                                        <m:t>p</m:t>
                                      </m:r>
                                      <m:r>
                                        <a:rPr lang="es-ES" altLang="zh-CN">
                                          <a:latin typeface="Cambria Math" panose="02040503050406030204" pitchFamily="18" charset="0"/>
                                        </a:rPr>
                                        <m:t>==</m:t>
                                      </m:r>
                                      <m:r>
                                        <m:rPr>
                                          <m:sty m:val="p"/>
                                        </m:rPr>
                                        <a:rPr lang="es-ES" altLang="zh-CN">
                                          <a:latin typeface="Cambria Math" panose="02040503050406030204" pitchFamily="18" charset="0"/>
                                        </a:rPr>
                                        <m:t>NULL</m:t>
                                      </m:r>
                                      <m:r>
                                        <a:rPr lang="es-ES" altLang="zh-CN">
                                          <a:latin typeface="Cambria Math" panose="02040503050406030204" pitchFamily="18" charset="0"/>
                                        </a:rPr>
                                        <m:t>                   </m:t>
                                      </m:r>
                                    </m:e>
                                  </m:eqArr>
                                </m:e>
                              </m:d>
                            </m:e>
                          </m:eqArr>
                        </m:e>
                      </m:d>
                    </m:oMath>
                  </m:oMathPara>
                </a14:m>
                <a:endParaRPr lang="zh-CN" altLang="zh-CN" dirty="0"/>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107504" y="2495200"/>
                <a:ext cx="8640960" cy="2254079"/>
              </a:xfrm>
              <a:prstGeom prst="rect">
                <a:avLst/>
              </a:prstGeom>
              <a:blipFill>
                <a:blip r:embed="rId2"/>
                <a:stretch>
                  <a:fillRect l="-423" t="-1081"/>
                </a:stretch>
              </a:blipFill>
            </p:spPr>
            <p:txBody>
              <a:bodyPr/>
              <a:lstStyle/>
              <a:p>
                <a:r>
                  <a:rPr lang="zh-CN" altLang="en-US">
                    <a:noFill/>
                  </a:rPr>
                  <a:t> </a:t>
                </a:r>
              </a:p>
            </p:txBody>
          </p:sp>
        </mc:Fallback>
      </mc:AlternateContent>
      <p:sp>
        <p:nvSpPr>
          <p:cNvPr id="5" name="文本框 4"/>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查找二叉树</a:t>
            </a:r>
          </a:p>
        </p:txBody>
      </p:sp>
    </p:spTree>
    <p:extLst>
      <p:ext uri="{BB962C8B-B14F-4D97-AF65-F5344CB8AC3E}">
        <p14:creationId xmlns:p14="http://schemas.microsoft.com/office/powerpoint/2010/main" val="14552106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15566"/>
            <a:ext cx="5256584" cy="3888432"/>
          </a:xfrm>
        </p:spPr>
        <p:txBody>
          <a:bodyPr/>
          <a:lstStyle/>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BitNode *BiTree::SearchNode(BitNode *t,char x){</a:t>
            </a: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a:t>
            </a:r>
            <a:r>
              <a:rPr lang="zh-CN" altLang="zh-CN" sz="1600" dirty="0">
                <a:solidFill>
                  <a:srgbClr val="0066FF"/>
                </a:solidFill>
                <a:latin typeface="Times New Roman" panose="02020603050405020304" pitchFamily="18" charset="0"/>
                <a:ea typeface="+mn-ea"/>
                <a:cs typeface="Times New Roman" panose="02020603050405020304" pitchFamily="18" charset="0"/>
              </a:rPr>
              <a:t>递归查找结点</a:t>
            </a:r>
            <a:r>
              <a:rPr lang="es-ES" altLang="zh-CN" sz="1600" dirty="0">
                <a:solidFill>
                  <a:srgbClr val="0066FF"/>
                </a:solidFill>
                <a:latin typeface="Times New Roman" panose="02020603050405020304" pitchFamily="18" charset="0"/>
                <a:ea typeface="+mn-ea"/>
                <a:cs typeface="Times New Roman" panose="02020603050405020304" pitchFamily="18" charset="0"/>
              </a:rPr>
              <a:t>x</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BitNode *p;</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if(t==NULL)  return NULL;   //</a:t>
            </a:r>
            <a:r>
              <a:rPr lang="zh-CN" altLang="zh-CN" sz="1600" dirty="0">
                <a:solidFill>
                  <a:srgbClr val="0066FF"/>
                </a:solidFill>
                <a:latin typeface="Times New Roman" panose="02020603050405020304" pitchFamily="18" charset="0"/>
                <a:ea typeface="+mn-ea"/>
                <a:cs typeface="Times New Roman" panose="02020603050405020304" pitchFamily="18" charset="0"/>
              </a:rPr>
              <a:t>空二叉树，返回</a:t>
            </a:r>
            <a:r>
              <a:rPr lang="es-ES" altLang="zh-CN" sz="1600" dirty="0">
                <a:solidFill>
                  <a:srgbClr val="0066FF"/>
                </a:solidFill>
                <a:latin typeface="Times New Roman" panose="02020603050405020304" pitchFamily="18" charset="0"/>
                <a:ea typeface="+mn-ea"/>
                <a:cs typeface="Times New Roman" panose="02020603050405020304" pitchFamily="18" charset="0"/>
              </a:rPr>
              <a:t>NULL</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if(t-&gt;data==x)  return t;</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else{</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p=SearchNode(t-&gt;lchild,x);  //</a:t>
            </a:r>
            <a:r>
              <a:rPr lang="zh-CN" altLang="zh-CN" sz="1600" dirty="0">
                <a:solidFill>
                  <a:srgbClr val="0066FF"/>
                </a:solidFill>
                <a:latin typeface="Times New Roman" panose="02020603050405020304" pitchFamily="18" charset="0"/>
                <a:ea typeface="+mn-ea"/>
                <a:cs typeface="Times New Roman" panose="02020603050405020304" pitchFamily="18" charset="0"/>
              </a:rPr>
              <a:t>递归查找左子树</a:t>
            </a: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if(p!=NULL)  return p;</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else return SearchNode(t-&gt;rchild,x); //</a:t>
            </a:r>
            <a:r>
              <a:rPr lang="zh-CN" altLang="zh-CN" sz="1600" dirty="0">
                <a:solidFill>
                  <a:srgbClr val="0066FF"/>
                </a:solidFill>
                <a:latin typeface="Times New Roman" panose="02020603050405020304" pitchFamily="18" charset="0"/>
                <a:ea typeface="+mn-ea"/>
                <a:cs typeface="Times New Roman" panose="02020603050405020304" pitchFamily="18" charset="0"/>
              </a:rPr>
              <a:t>递归查找右子树</a:t>
            </a: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   }</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marL="0" indent="0">
              <a:lnSpc>
                <a:spcPts val="2600"/>
              </a:lnSpc>
              <a:spcBef>
                <a:spcPts val="0"/>
              </a:spcBef>
              <a:buNone/>
            </a:pPr>
            <a:r>
              <a:rPr lang="es-ES" altLang="zh-CN" sz="1600" dirty="0">
                <a:solidFill>
                  <a:srgbClr val="0066FF"/>
                </a:solidFill>
                <a:latin typeface="Times New Roman" panose="02020603050405020304" pitchFamily="18" charset="0"/>
                <a:ea typeface="+mn-ea"/>
                <a:cs typeface="Times New Roman" panose="02020603050405020304" pitchFamily="18" charset="0"/>
              </a:rPr>
              <a:t>}</a:t>
            </a:r>
            <a:endParaRPr lang="zh-CN" altLang="zh-CN" sz="1600" dirty="0">
              <a:solidFill>
                <a:srgbClr val="0066FF"/>
              </a:solidFill>
              <a:latin typeface="Times New Roman" panose="02020603050405020304" pitchFamily="18" charset="0"/>
              <a:ea typeface="+mn-ea"/>
              <a:cs typeface="Times New Roman" panose="02020603050405020304" pitchFamily="18" charset="0"/>
            </a:endParaRPr>
          </a:p>
          <a:p>
            <a:pPr>
              <a:lnSpc>
                <a:spcPts val="2600"/>
              </a:lnSpc>
              <a:spcBef>
                <a:spcPts val="0"/>
              </a:spcBef>
            </a:pPr>
            <a:endParaRPr lang="zh-CN" altLang="en-US" sz="1800" dirty="0">
              <a:latin typeface="Times New Roman" panose="02020603050405020304" pitchFamily="18" charset="0"/>
              <a:ea typeface="隶书" panose="02010509060101010101" pitchFamily="49" charset="-122"/>
              <a:cs typeface="Times New Roman" panose="02020603050405020304" pitchFamily="18" charset="0"/>
            </a:endParaRPr>
          </a:p>
        </p:txBody>
      </p:sp>
      <p:sp>
        <p:nvSpPr>
          <p:cNvPr id="4" name="文本框 3"/>
          <p:cNvSpPr txBox="1"/>
          <p:nvPr/>
        </p:nvSpPr>
        <p:spPr>
          <a:xfrm>
            <a:off x="4716016" y="1563638"/>
            <a:ext cx="4248472" cy="1846659"/>
          </a:xfrm>
          <a:prstGeom prst="rect">
            <a:avLst/>
          </a:prstGeom>
          <a:solidFill>
            <a:schemeClr val="bg1">
              <a:lumMod val="75000"/>
            </a:schemeClr>
          </a:solidFill>
        </p:spPr>
        <p:txBody>
          <a:bodyPr wrap="square" rtlCol="0">
            <a:spAutoFit/>
          </a:bodyPr>
          <a:lstStyle/>
          <a:p>
            <a:r>
              <a:rPr lang="es-ES" altLang="zh-CN" sz="1600" dirty="0">
                <a:solidFill>
                  <a:srgbClr val="0066FF"/>
                </a:solidFill>
                <a:latin typeface="Times New Roman" panose="02020603050405020304" pitchFamily="18" charset="0"/>
                <a:cs typeface="Times New Roman" panose="02020603050405020304" pitchFamily="18" charset="0"/>
              </a:rPr>
              <a:t>BitNode *BiTree::SearchNodeBit(char x){</a:t>
            </a:r>
          </a:p>
          <a:p>
            <a:r>
              <a:rPr lang="es-E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查找结点</a:t>
            </a:r>
            <a:r>
              <a:rPr lang="es-ES" altLang="zh-CN" sz="1600" dirty="0">
                <a:solidFill>
                  <a:srgbClr val="0066FF"/>
                </a:solidFill>
                <a:latin typeface="Times New Roman" panose="02020603050405020304" pitchFamily="18" charset="0"/>
                <a:cs typeface="Times New Roman" panose="02020603050405020304" pitchFamily="18" charset="0"/>
              </a:rPr>
              <a:t>x</a:t>
            </a:r>
            <a:endParaRPr lang="zh-CN" altLang="zh-CN" sz="1600" dirty="0">
              <a:solidFill>
                <a:srgbClr val="0066FF"/>
              </a:solidFill>
              <a:latin typeface="Times New Roman" panose="02020603050405020304" pitchFamily="18" charset="0"/>
              <a:cs typeface="Times New Roman" panose="02020603050405020304" pitchFamily="18" charset="0"/>
            </a:endParaRPr>
          </a:p>
          <a:p>
            <a:r>
              <a:rPr lang="es-ES" altLang="zh-CN" sz="1600" dirty="0">
                <a:solidFill>
                  <a:srgbClr val="0066FF"/>
                </a:solidFill>
                <a:latin typeface="Times New Roman" panose="02020603050405020304" pitchFamily="18" charset="0"/>
                <a:cs typeface="Times New Roman" panose="02020603050405020304" pitchFamily="18" charset="0"/>
              </a:rPr>
              <a:t>   BitNode *p=bt;       //</a:t>
            </a:r>
            <a:r>
              <a:rPr lang="zh-CN" altLang="zh-CN" sz="1600" dirty="0">
                <a:solidFill>
                  <a:srgbClr val="0066FF"/>
                </a:solidFill>
                <a:latin typeface="Times New Roman" panose="02020603050405020304" pitchFamily="18" charset="0"/>
                <a:cs typeface="Times New Roman" panose="02020603050405020304" pitchFamily="18" charset="0"/>
              </a:rPr>
              <a:t>读取私有成员指针</a:t>
            </a:r>
            <a:r>
              <a:rPr lang="es-ES" altLang="zh-CN" sz="1600" dirty="0">
                <a:solidFill>
                  <a:srgbClr val="0066FF"/>
                </a:solidFill>
                <a:latin typeface="Times New Roman" panose="02020603050405020304" pitchFamily="18" charset="0"/>
                <a:cs typeface="Times New Roman" panose="02020603050405020304" pitchFamily="18" charset="0"/>
              </a:rPr>
              <a:t>bt</a:t>
            </a:r>
            <a:endParaRPr lang="zh-CN" altLang="zh-CN" sz="1600" dirty="0">
              <a:solidFill>
                <a:srgbClr val="0066FF"/>
              </a:solidFill>
              <a:latin typeface="Times New Roman" panose="02020603050405020304" pitchFamily="18" charset="0"/>
              <a:cs typeface="Times New Roman" panose="02020603050405020304" pitchFamily="18" charset="0"/>
            </a:endParaRPr>
          </a:p>
          <a:p>
            <a:r>
              <a:rPr lang="es-ES" altLang="zh-CN" sz="1600" dirty="0">
                <a:solidFill>
                  <a:srgbClr val="0066FF"/>
                </a:solidFill>
                <a:latin typeface="Times New Roman" panose="02020603050405020304" pitchFamily="18" charset="0"/>
                <a:cs typeface="Times New Roman" panose="02020603050405020304" pitchFamily="18" charset="0"/>
              </a:rPr>
              <a:t>   return SearchNode(p, x); //</a:t>
            </a:r>
            <a:r>
              <a:rPr lang="zh-CN" altLang="zh-CN" sz="1600" dirty="0">
                <a:solidFill>
                  <a:srgbClr val="0066FF"/>
                </a:solidFill>
                <a:latin typeface="Times New Roman" panose="02020603050405020304" pitchFamily="18" charset="0"/>
                <a:cs typeface="Times New Roman" panose="02020603050405020304" pitchFamily="18" charset="0"/>
              </a:rPr>
              <a:t>调用查找结点的递归函数</a:t>
            </a:r>
          </a:p>
          <a:p>
            <a:r>
              <a:rPr lang="es-E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endParaRPr lang="zh-CN" altLang="en-US" dirty="0"/>
          </a:p>
        </p:txBody>
      </p:sp>
      <p:sp>
        <p:nvSpPr>
          <p:cNvPr id="5" name="文本框 4"/>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查找二叉树</a:t>
            </a:r>
          </a:p>
        </p:txBody>
      </p:sp>
    </p:spTree>
    <p:extLst>
      <p:ext uri="{BB962C8B-B14F-4D97-AF65-F5344CB8AC3E}">
        <p14:creationId xmlns:p14="http://schemas.microsoft.com/office/powerpoint/2010/main" val="12499789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059832" y="1794391"/>
            <a:ext cx="5688632" cy="800930"/>
          </a:xfrm>
        </p:spPr>
        <p:txBody>
          <a:bodyPr/>
          <a:lstStyle/>
          <a:p>
            <a:r>
              <a:rPr lang="zh-CN" altLang="en-US" dirty="0"/>
              <a:t>二叉树的遍历</a:t>
            </a:r>
          </a:p>
        </p:txBody>
      </p:sp>
      <p:sp>
        <p:nvSpPr>
          <p:cNvPr id="5" name="文本占位符 4"/>
          <p:cNvSpPr>
            <a:spLocks noGrp="1"/>
          </p:cNvSpPr>
          <p:nvPr>
            <p:ph type="body" sz="quarter" idx="11"/>
          </p:nvPr>
        </p:nvSpPr>
        <p:spPr/>
        <p:txBody>
          <a:bodyPr/>
          <a:lstStyle/>
          <a:p>
            <a:r>
              <a:rPr lang="en-US" altLang="zh-CN" dirty="0"/>
              <a:t>04</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3207113"/>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717474"/>
            <a:ext cx="6300192" cy="2808312"/>
          </a:xfrm>
        </p:spPr>
        <p:txBody>
          <a:bodyPr/>
          <a:lstStyle/>
          <a:p>
            <a:pPr algn="just">
              <a:lnSpc>
                <a:spcPts val="3000"/>
              </a:lnSpc>
              <a:spcBef>
                <a:spcPts val="0"/>
              </a:spcBef>
            </a:pPr>
            <a:r>
              <a:rPr lang="zh-CN" altLang="en-US" sz="1600" dirty="0">
                <a:solidFill>
                  <a:srgbClr val="FF0000"/>
                </a:solidFill>
              </a:rPr>
              <a:t>二叉树的遍历是按照一定次序访问二叉树中的所有结点</a:t>
            </a:r>
            <a:r>
              <a:rPr lang="en-US" altLang="zh-CN" sz="1600" dirty="0">
                <a:solidFill>
                  <a:srgbClr val="FF0000"/>
                </a:solidFill>
              </a:rPr>
              <a:t>, </a:t>
            </a:r>
            <a:r>
              <a:rPr lang="zh-CN" altLang="en-US" sz="1600" dirty="0">
                <a:solidFill>
                  <a:srgbClr val="FF0000"/>
                </a:solidFill>
              </a:rPr>
              <a:t>且每个结点仅被访问一次的过程。</a:t>
            </a:r>
            <a:endParaRPr lang="en-US" altLang="zh-CN" sz="1600" dirty="0">
              <a:solidFill>
                <a:srgbClr val="FF0000"/>
              </a:solidFill>
            </a:endParaRPr>
          </a:p>
          <a:p>
            <a:pPr algn="just">
              <a:lnSpc>
                <a:spcPts val="3000"/>
              </a:lnSpc>
              <a:spcBef>
                <a:spcPts val="0"/>
              </a:spcBef>
            </a:pPr>
            <a:r>
              <a:rPr lang="zh-CN" altLang="en-US" sz="1600" dirty="0"/>
              <a:t>由二叉树的递归定义知</a:t>
            </a:r>
            <a:r>
              <a:rPr lang="en-US" altLang="zh-CN" sz="1600" dirty="0"/>
              <a:t>, </a:t>
            </a:r>
            <a:r>
              <a:rPr lang="zh-CN" altLang="en-US" sz="1600" dirty="0"/>
              <a:t>二叉树有根结点</a:t>
            </a:r>
            <a:r>
              <a:rPr lang="en-US" altLang="zh-CN" sz="1600" dirty="0"/>
              <a:t>(D)</a:t>
            </a:r>
            <a:r>
              <a:rPr lang="zh-CN" altLang="en-US" sz="1600" dirty="0"/>
              <a:t>、 左子树</a:t>
            </a:r>
            <a:r>
              <a:rPr lang="en-US" altLang="zh-CN" sz="1600" dirty="0"/>
              <a:t>(L)</a:t>
            </a:r>
            <a:r>
              <a:rPr lang="zh-CN" altLang="en-US" sz="1600" dirty="0"/>
              <a:t>和右子树</a:t>
            </a:r>
            <a:r>
              <a:rPr lang="en-US" altLang="zh-CN" sz="1600" dirty="0"/>
              <a:t>(R)3</a:t>
            </a:r>
            <a:r>
              <a:rPr lang="zh-CN" altLang="en-US" sz="1600" dirty="0"/>
              <a:t>个基本单元组成</a:t>
            </a:r>
            <a:r>
              <a:rPr lang="en-US" altLang="zh-CN" sz="1600" dirty="0"/>
              <a:t>, </a:t>
            </a:r>
            <a:r>
              <a:rPr lang="zh-CN" altLang="en-US" sz="1600" dirty="0"/>
              <a:t>如图所示。 如果以 </a:t>
            </a:r>
            <a:r>
              <a:rPr lang="en-US" altLang="zh-CN" sz="1600" dirty="0"/>
              <a:t>L</a:t>
            </a:r>
            <a:r>
              <a:rPr lang="zh-CN" altLang="en-US" sz="1600" dirty="0"/>
              <a:t>、 </a:t>
            </a:r>
            <a:r>
              <a:rPr lang="en-US" altLang="zh-CN" sz="1600" dirty="0"/>
              <a:t>D</a:t>
            </a:r>
            <a:r>
              <a:rPr lang="zh-CN" altLang="en-US" sz="1600" dirty="0"/>
              <a:t>、 </a:t>
            </a:r>
            <a:r>
              <a:rPr lang="en-US" altLang="zh-CN" sz="1600" dirty="0"/>
              <a:t>R </a:t>
            </a:r>
            <a:r>
              <a:rPr lang="zh-CN" altLang="en-US" sz="1600" dirty="0"/>
              <a:t>分别表示遍历左子树、 遍历根结点和遍历右子树</a:t>
            </a:r>
            <a:r>
              <a:rPr lang="en-US" altLang="zh-CN" sz="1600" dirty="0"/>
              <a:t>, </a:t>
            </a:r>
            <a:r>
              <a:rPr lang="zh-CN" altLang="en-US" sz="1600" dirty="0"/>
              <a:t>则遍历整个二叉树有 </a:t>
            </a:r>
            <a:r>
              <a:rPr lang="en-US" altLang="zh-CN" sz="1600" dirty="0"/>
              <a:t>DLR</a:t>
            </a:r>
            <a:r>
              <a:rPr lang="zh-CN" altLang="en-US" sz="1600" dirty="0"/>
              <a:t>、 </a:t>
            </a:r>
            <a:r>
              <a:rPr lang="en-US" altLang="zh-CN" sz="1600" dirty="0"/>
              <a:t>LDR</a:t>
            </a:r>
            <a:r>
              <a:rPr lang="zh-CN" altLang="en-US" sz="1600" dirty="0"/>
              <a:t>、 </a:t>
            </a:r>
            <a:r>
              <a:rPr lang="en-US" altLang="zh-CN" sz="1600" dirty="0"/>
              <a:t>LRD</a:t>
            </a:r>
            <a:r>
              <a:rPr lang="zh-CN" altLang="en-US" sz="1600" dirty="0"/>
              <a:t>、 </a:t>
            </a:r>
            <a:r>
              <a:rPr lang="en-US" altLang="zh-CN" sz="1600" dirty="0"/>
              <a:t>DRL</a:t>
            </a:r>
            <a:r>
              <a:rPr lang="zh-CN" altLang="en-US" sz="1600" dirty="0"/>
              <a:t>、 </a:t>
            </a:r>
            <a:r>
              <a:rPr lang="en-US" altLang="zh-CN" sz="1600" dirty="0"/>
              <a:t>RDL</a:t>
            </a:r>
            <a:r>
              <a:rPr lang="zh-CN" altLang="en-US" sz="1600" dirty="0"/>
              <a:t>、 </a:t>
            </a:r>
            <a:r>
              <a:rPr lang="en-US" altLang="zh-CN" sz="1600" dirty="0"/>
              <a:t>RLD </a:t>
            </a:r>
            <a:r>
              <a:rPr lang="zh-CN" altLang="en-US" sz="1600" dirty="0"/>
              <a:t>六种遍历方案。 </a:t>
            </a:r>
            <a:endParaRPr lang="en-US" altLang="zh-CN" sz="1600" dirty="0"/>
          </a:p>
          <a:p>
            <a:pPr algn="just">
              <a:lnSpc>
                <a:spcPts val="3000"/>
              </a:lnSpc>
              <a:spcBef>
                <a:spcPts val="0"/>
              </a:spcBef>
            </a:pPr>
            <a:r>
              <a:rPr lang="zh-CN" altLang="en-US" sz="1600" dirty="0"/>
              <a:t>若规定先左后右</a:t>
            </a:r>
            <a:r>
              <a:rPr lang="en-US" altLang="zh-CN" sz="1600" dirty="0"/>
              <a:t>, </a:t>
            </a:r>
            <a:r>
              <a:rPr lang="zh-CN" altLang="en-US" sz="1600" dirty="0"/>
              <a:t>则只有 </a:t>
            </a:r>
            <a:r>
              <a:rPr lang="en-US" altLang="zh-CN" sz="1600" dirty="0"/>
              <a:t>DLR</a:t>
            </a:r>
            <a:r>
              <a:rPr lang="zh-CN" altLang="en-US" sz="1600" dirty="0"/>
              <a:t>、 </a:t>
            </a:r>
            <a:r>
              <a:rPr lang="en-US" altLang="zh-CN" sz="1600" dirty="0"/>
              <a:t>LDR</a:t>
            </a:r>
            <a:r>
              <a:rPr lang="zh-CN" altLang="en-US" sz="1600" dirty="0"/>
              <a:t>、 </a:t>
            </a:r>
            <a:r>
              <a:rPr lang="en-US" altLang="zh-CN" sz="1600" dirty="0"/>
              <a:t>LRD </a:t>
            </a:r>
            <a:r>
              <a:rPr lang="zh-CN" altLang="en-US" sz="1600" dirty="0"/>
              <a:t>三种遍历方案</a:t>
            </a:r>
            <a:r>
              <a:rPr lang="en-US" altLang="zh-CN" sz="1600" dirty="0"/>
              <a:t>, </a:t>
            </a:r>
            <a:r>
              <a:rPr lang="zh-CN" altLang="en-US" sz="1600" dirty="0"/>
              <a:t>通常分别称它们为：</a:t>
            </a:r>
            <a:r>
              <a:rPr lang="zh-CN" altLang="en-US" sz="1600" dirty="0">
                <a:solidFill>
                  <a:srgbClr val="C00000"/>
                </a:solidFill>
              </a:rPr>
              <a:t>先</a:t>
            </a:r>
            <a:r>
              <a:rPr lang="en-US" altLang="zh-CN" sz="1600" dirty="0">
                <a:solidFill>
                  <a:srgbClr val="C00000"/>
                </a:solidFill>
              </a:rPr>
              <a:t>(</a:t>
            </a:r>
            <a:r>
              <a:rPr lang="zh-CN" altLang="en-US" sz="1600" dirty="0">
                <a:solidFill>
                  <a:srgbClr val="C00000"/>
                </a:solidFill>
              </a:rPr>
              <a:t>根</a:t>
            </a:r>
            <a:r>
              <a:rPr lang="en-US" altLang="zh-CN" sz="1600" dirty="0">
                <a:solidFill>
                  <a:srgbClr val="C00000"/>
                </a:solidFill>
              </a:rPr>
              <a:t>)</a:t>
            </a:r>
            <a:r>
              <a:rPr lang="zh-CN" altLang="en-US" sz="1600" dirty="0">
                <a:solidFill>
                  <a:srgbClr val="C00000"/>
                </a:solidFill>
              </a:rPr>
              <a:t>序遍历</a:t>
            </a:r>
            <a:r>
              <a:rPr lang="zh-CN" altLang="en-US" sz="1600" dirty="0"/>
              <a:t>、</a:t>
            </a:r>
            <a:r>
              <a:rPr lang="zh-CN" altLang="en-US" sz="1600" dirty="0">
                <a:solidFill>
                  <a:srgbClr val="0070C0"/>
                </a:solidFill>
              </a:rPr>
              <a:t>中</a:t>
            </a:r>
            <a:r>
              <a:rPr lang="en-US" altLang="zh-CN" sz="1600" dirty="0">
                <a:solidFill>
                  <a:srgbClr val="0070C0"/>
                </a:solidFill>
              </a:rPr>
              <a:t>(</a:t>
            </a:r>
            <a:r>
              <a:rPr lang="zh-CN" altLang="en-US" sz="1600" dirty="0">
                <a:solidFill>
                  <a:srgbClr val="0070C0"/>
                </a:solidFill>
              </a:rPr>
              <a:t>根</a:t>
            </a:r>
            <a:r>
              <a:rPr lang="en-US" altLang="zh-CN" sz="1600" dirty="0">
                <a:solidFill>
                  <a:srgbClr val="0070C0"/>
                </a:solidFill>
              </a:rPr>
              <a:t>)</a:t>
            </a:r>
            <a:r>
              <a:rPr lang="zh-CN" altLang="en-US" sz="1600" dirty="0">
                <a:solidFill>
                  <a:srgbClr val="0070C0"/>
                </a:solidFill>
              </a:rPr>
              <a:t>序遍历</a:t>
            </a:r>
            <a:r>
              <a:rPr lang="zh-CN" altLang="en-US" sz="1600" dirty="0"/>
              <a:t>和</a:t>
            </a:r>
            <a:r>
              <a:rPr lang="zh-CN" altLang="en-US" sz="1600" dirty="0">
                <a:solidFill>
                  <a:srgbClr val="002060"/>
                </a:solidFill>
              </a:rPr>
              <a:t>后</a:t>
            </a:r>
            <a:r>
              <a:rPr lang="en-US" altLang="zh-CN" sz="1600" dirty="0">
                <a:solidFill>
                  <a:srgbClr val="002060"/>
                </a:solidFill>
              </a:rPr>
              <a:t>(</a:t>
            </a:r>
            <a:r>
              <a:rPr lang="zh-CN" altLang="en-US" sz="1600" dirty="0">
                <a:solidFill>
                  <a:srgbClr val="002060"/>
                </a:solidFill>
              </a:rPr>
              <a:t>根</a:t>
            </a:r>
            <a:r>
              <a:rPr lang="en-US" altLang="zh-CN" sz="1600" dirty="0">
                <a:solidFill>
                  <a:srgbClr val="002060"/>
                </a:solidFill>
              </a:rPr>
              <a:t>)</a:t>
            </a:r>
            <a:r>
              <a:rPr lang="zh-CN" altLang="en-US" sz="1600" dirty="0">
                <a:solidFill>
                  <a:srgbClr val="002060"/>
                </a:solidFill>
              </a:rPr>
              <a:t>序遍历。</a:t>
            </a:r>
          </a:p>
        </p:txBody>
      </p:sp>
      <p:pic>
        <p:nvPicPr>
          <p:cNvPr id="5" name="图片 4"/>
          <p:cNvPicPr>
            <a:picLocks noChangeAspect="1"/>
          </p:cNvPicPr>
          <p:nvPr/>
        </p:nvPicPr>
        <p:blipFill>
          <a:blip r:embed="rId2"/>
          <a:stretch>
            <a:fillRect/>
          </a:stretch>
        </p:blipFill>
        <p:spPr>
          <a:xfrm>
            <a:off x="6407696" y="1635646"/>
            <a:ext cx="2727230" cy="1296144"/>
          </a:xfrm>
          <a:prstGeom prst="rect">
            <a:avLst/>
          </a:prstGeom>
        </p:spPr>
      </p:pic>
      <p:sp>
        <p:nvSpPr>
          <p:cNvPr id="6" name="文本框 5"/>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遍历的定义与分类</a:t>
            </a:r>
          </a:p>
        </p:txBody>
      </p:sp>
    </p:spTree>
    <p:extLst>
      <p:ext uri="{BB962C8B-B14F-4D97-AF65-F5344CB8AC3E}">
        <p14:creationId xmlns:p14="http://schemas.microsoft.com/office/powerpoint/2010/main" val="40283769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755576" y="1203598"/>
            <a:ext cx="3672408" cy="3507876"/>
          </a:xfrm>
        </p:spPr>
        <p:txBody>
          <a:bodyPr/>
          <a:lstStyle/>
          <a:p>
            <a:pPr marL="0" indent="0">
              <a:buNone/>
            </a:pPr>
            <a:r>
              <a:rPr lang="zh-CN" altLang="en-US" sz="1600" dirty="0"/>
              <a:t>先序遍历二叉树的过程如下</a:t>
            </a:r>
            <a:r>
              <a:rPr lang="en-US" altLang="zh-CN" sz="1600" dirty="0"/>
              <a:t>: </a:t>
            </a:r>
          </a:p>
          <a:p>
            <a:pPr marL="0" indent="0">
              <a:buNone/>
            </a:pPr>
            <a:r>
              <a:rPr lang="en-US" altLang="zh-CN" sz="1600" dirty="0"/>
              <a:t>(1)</a:t>
            </a:r>
            <a:r>
              <a:rPr lang="zh-CN" altLang="en-US" sz="1600" dirty="0"/>
              <a:t>访问根结点</a:t>
            </a:r>
            <a:r>
              <a:rPr lang="en-US" altLang="zh-CN" sz="1600" dirty="0"/>
              <a:t>;</a:t>
            </a:r>
          </a:p>
          <a:p>
            <a:pPr marL="0" indent="0">
              <a:buNone/>
            </a:pPr>
            <a:r>
              <a:rPr lang="en-US" altLang="zh-CN" sz="1600" dirty="0"/>
              <a:t>(2)</a:t>
            </a:r>
            <a:r>
              <a:rPr lang="zh-CN" altLang="en-US" sz="1600" dirty="0"/>
              <a:t>先序遍历左子树</a:t>
            </a:r>
            <a:r>
              <a:rPr lang="en-US" altLang="zh-CN" sz="1600" dirty="0"/>
              <a:t>;</a:t>
            </a:r>
          </a:p>
          <a:p>
            <a:pPr marL="0" indent="0">
              <a:buNone/>
            </a:pPr>
            <a:r>
              <a:rPr lang="en-US" altLang="zh-CN" sz="1600" dirty="0"/>
              <a:t>(3)</a:t>
            </a:r>
            <a:r>
              <a:rPr lang="zh-CN" altLang="en-US" sz="1600" dirty="0"/>
              <a:t>先序遍历右子树。</a:t>
            </a:r>
          </a:p>
        </p:txBody>
      </p:sp>
      <p:pic>
        <p:nvPicPr>
          <p:cNvPr id="4" name="图片 3"/>
          <p:cNvPicPr>
            <a:picLocks noChangeAspect="1"/>
          </p:cNvPicPr>
          <p:nvPr/>
        </p:nvPicPr>
        <p:blipFill>
          <a:blip r:embed="rId2"/>
          <a:stretch>
            <a:fillRect/>
          </a:stretch>
        </p:blipFill>
        <p:spPr>
          <a:xfrm>
            <a:off x="5148064" y="1064124"/>
            <a:ext cx="2549443" cy="1684663"/>
          </a:xfrm>
          <a:prstGeom prst="rect">
            <a:avLst/>
          </a:prstGeom>
        </p:spPr>
      </p:pic>
      <p:sp>
        <p:nvSpPr>
          <p:cNvPr id="7" name="文本框 6"/>
          <p:cNvSpPr txBox="1"/>
          <p:nvPr/>
        </p:nvSpPr>
        <p:spPr>
          <a:xfrm>
            <a:off x="4788024" y="3219822"/>
            <a:ext cx="4032448" cy="369332"/>
          </a:xfrm>
          <a:prstGeom prst="rect">
            <a:avLst/>
          </a:prstGeom>
          <a:noFill/>
        </p:spPr>
        <p:txBody>
          <a:bodyPr wrap="square" rtlCol="0">
            <a:spAutoFit/>
          </a:bodyPr>
          <a:lstStyle/>
          <a:p>
            <a:r>
              <a:rPr lang="zh-CN" altLang="en-US" dirty="0">
                <a:solidFill>
                  <a:srgbClr val="002060"/>
                </a:solidFill>
                <a:latin typeface="隶书" panose="02010509060101010101" pitchFamily="49" charset="-122"/>
                <a:ea typeface="隶书" panose="02010509060101010101" pitchFamily="49" charset="-122"/>
              </a:rPr>
              <a:t> 二叉树的先序序列为 </a:t>
            </a:r>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ABJDGCEHF</a:t>
            </a:r>
            <a:endParaRPr lang="zh-CN" altLang="en-US"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6" name="文本框 5"/>
          <p:cNvSpPr txBox="1"/>
          <p:nvPr/>
        </p:nvSpPr>
        <p:spPr>
          <a:xfrm>
            <a:off x="612366" y="123478"/>
            <a:ext cx="122333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先序遍历</a:t>
            </a:r>
          </a:p>
        </p:txBody>
      </p:sp>
    </p:spTree>
    <p:extLst>
      <p:ext uri="{BB962C8B-B14F-4D97-AF65-F5344CB8AC3E}">
        <p14:creationId xmlns:p14="http://schemas.microsoft.com/office/powerpoint/2010/main" val="31676160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3861871" cy="3507876"/>
          </a:xfrm>
        </p:spPr>
        <p:txBody>
          <a:bodyPr/>
          <a:lstStyle/>
          <a:p>
            <a:pPr marL="0" indent="0">
              <a:buNone/>
            </a:pPr>
            <a:r>
              <a:rPr lang="zh-CN" altLang="en-US" sz="1600" dirty="0"/>
              <a:t>中序遍历二叉树的过程如下</a:t>
            </a:r>
            <a:r>
              <a:rPr lang="en-US" altLang="zh-CN" sz="1600" dirty="0"/>
              <a:t>: </a:t>
            </a:r>
          </a:p>
          <a:p>
            <a:pPr marL="0" indent="0">
              <a:buNone/>
            </a:pPr>
            <a:r>
              <a:rPr lang="en-US" altLang="zh-CN" sz="1600" dirty="0"/>
              <a:t>(1)</a:t>
            </a:r>
            <a:r>
              <a:rPr lang="zh-CN" altLang="en-US" sz="1600" dirty="0"/>
              <a:t>中序遍历左子树</a:t>
            </a:r>
            <a:r>
              <a:rPr lang="en-US" altLang="zh-CN" sz="1600" dirty="0"/>
              <a:t>;</a:t>
            </a:r>
          </a:p>
          <a:p>
            <a:pPr marL="0" indent="0">
              <a:buNone/>
            </a:pPr>
            <a:r>
              <a:rPr lang="en-US" altLang="zh-CN" sz="1600" dirty="0"/>
              <a:t>(2)</a:t>
            </a:r>
            <a:r>
              <a:rPr lang="zh-CN" altLang="en-US" sz="1600" dirty="0"/>
              <a:t>访问根结点</a:t>
            </a:r>
            <a:r>
              <a:rPr lang="en-US" altLang="zh-CN" sz="1600" dirty="0"/>
              <a:t>;</a:t>
            </a:r>
          </a:p>
          <a:p>
            <a:pPr marL="0" indent="0">
              <a:buNone/>
            </a:pPr>
            <a:r>
              <a:rPr lang="en-US" altLang="zh-CN" sz="1600" dirty="0"/>
              <a:t>(3)</a:t>
            </a:r>
            <a:r>
              <a:rPr lang="zh-CN" altLang="en-US" sz="1600" dirty="0"/>
              <a:t>中序遍历右子树</a:t>
            </a:r>
            <a:r>
              <a:rPr lang="en-US" altLang="zh-CN" sz="1600" dirty="0"/>
              <a:t>.</a:t>
            </a:r>
            <a:endParaRPr lang="zh-CN" altLang="en-US" sz="1600" dirty="0"/>
          </a:p>
        </p:txBody>
      </p:sp>
      <p:pic>
        <p:nvPicPr>
          <p:cNvPr id="4" name="图片 3"/>
          <p:cNvPicPr>
            <a:picLocks noChangeAspect="1"/>
          </p:cNvPicPr>
          <p:nvPr/>
        </p:nvPicPr>
        <p:blipFill>
          <a:blip r:embed="rId3"/>
          <a:stretch>
            <a:fillRect/>
          </a:stretch>
        </p:blipFill>
        <p:spPr>
          <a:xfrm>
            <a:off x="4848177" y="1133399"/>
            <a:ext cx="2549443" cy="1684663"/>
          </a:xfrm>
          <a:prstGeom prst="rect">
            <a:avLst/>
          </a:prstGeom>
        </p:spPr>
      </p:pic>
      <p:sp>
        <p:nvSpPr>
          <p:cNvPr id="5" name="文本框 4"/>
          <p:cNvSpPr txBox="1"/>
          <p:nvPr/>
        </p:nvSpPr>
        <p:spPr>
          <a:xfrm>
            <a:off x="4572000" y="3207801"/>
            <a:ext cx="4032448" cy="369332"/>
          </a:xfrm>
          <a:prstGeom prst="rect">
            <a:avLst/>
          </a:prstGeom>
          <a:noFill/>
        </p:spPr>
        <p:txBody>
          <a:bodyPr wrap="square" rtlCol="0">
            <a:spAutoFit/>
          </a:bodyPr>
          <a:lstStyle/>
          <a:p>
            <a:r>
              <a:rPr lang="zh-CN" altLang="en-US" dirty="0">
                <a:solidFill>
                  <a:srgbClr val="002060"/>
                </a:solidFill>
                <a:latin typeface="隶书" panose="02010509060101010101" pitchFamily="49" charset="-122"/>
                <a:ea typeface="隶书" panose="02010509060101010101" pitchFamily="49" charset="-122"/>
              </a:rPr>
              <a:t> 二叉树的中序序列为 </a:t>
            </a:r>
            <a:r>
              <a:rPr lang="en-US" altLang="zh-CN" dirty="0">
                <a:solidFill>
                  <a:srgbClr val="C00000"/>
                </a:solidFill>
                <a:latin typeface="Times New Roman" panose="02020603050405020304" pitchFamily="18" charset="0"/>
                <a:cs typeface="Times New Roman" panose="02020603050405020304" pitchFamily="18" charset="0"/>
              </a:rPr>
              <a:t>JBGDAEHCF</a:t>
            </a:r>
            <a:endParaRPr lang="zh-CN" altLang="en-US"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6" name="文本框 5"/>
          <p:cNvSpPr txBox="1"/>
          <p:nvPr/>
        </p:nvSpPr>
        <p:spPr>
          <a:xfrm>
            <a:off x="612366" y="123478"/>
            <a:ext cx="122333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中序遍历</a:t>
            </a:r>
          </a:p>
        </p:txBody>
      </p:sp>
    </p:spTree>
    <p:extLst>
      <p:ext uri="{BB962C8B-B14F-4D97-AF65-F5344CB8AC3E}">
        <p14:creationId xmlns:p14="http://schemas.microsoft.com/office/powerpoint/2010/main" val="19656456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3357815" cy="3507876"/>
          </a:xfrm>
        </p:spPr>
        <p:txBody>
          <a:bodyPr/>
          <a:lstStyle/>
          <a:p>
            <a:pPr marL="0" indent="0">
              <a:buNone/>
            </a:pPr>
            <a:r>
              <a:rPr lang="zh-CN" altLang="en-US" sz="1600" dirty="0"/>
              <a:t>后序遍历二叉树的过程如下</a:t>
            </a:r>
            <a:r>
              <a:rPr lang="en-US" altLang="zh-CN" sz="1600" dirty="0"/>
              <a:t>: </a:t>
            </a:r>
          </a:p>
          <a:p>
            <a:pPr marL="0" indent="0">
              <a:buNone/>
            </a:pPr>
            <a:r>
              <a:rPr lang="en-US" altLang="zh-CN" sz="1600" dirty="0"/>
              <a:t>(1)</a:t>
            </a:r>
            <a:r>
              <a:rPr lang="zh-CN" altLang="en-US" sz="1600" dirty="0"/>
              <a:t>后序遍历左子树；</a:t>
            </a:r>
            <a:endParaRPr lang="en-US" altLang="zh-CN" sz="1600" dirty="0"/>
          </a:p>
          <a:p>
            <a:pPr marL="0" indent="0">
              <a:buNone/>
            </a:pPr>
            <a:r>
              <a:rPr lang="en-US" altLang="zh-CN" sz="1600" dirty="0"/>
              <a:t>(2)</a:t>
            </a:r>
            <a:r>
              <a:rPr lang="zh-CN" altLang="en-US" sz="1600" dirty="0"/>
              <a:t>后序遍历右子树</a:t>
            </a:r>
            <a:r>
              <a:rPr lang="en-US" altLang="zh-CN" sz="1600" dirty="0"/>
              <a:t>; </a:t>
            </a:r>
          </a:p>
          <a:p>
            <a:pPr marL="0" indent="0">
              <a:buNone/>
            </a:pPr>
            <a:r>
              <a:rPr lang="en-US" altLang="zh-CN" sz="1600" dirty="0"/>
              <a:t>(3)</a:t>
            </a:r>
            <a:r>
              <a:rPr lang="zh-CN" altLang="en-US" sz="1600" dirty="0"/>
              <a:t>访问根结点。 </a:t>
            </a:r>
          </a:p>
        </p:txBody>
      </p:sp>
      <p:pic>
        <p:nvPicPr>
          <p:cNvPr id="4" name="图片 3"/>
          <p:cNvPicPr>
            <a:picLocks noChangeAspect="1"/>
          </p:cNvPicPr>
          <p:nvPr/>
        </p:nvPicPr>
        <p:blipFill>
          <a:blip r:embed="rId2"/>
          <a:stretch>
            <a:fillRect/>
          </a:stretch>
        </p:blipFill>
        <p:spPr>
          <a:xfrm>
            <a:off x="4848177" y="1133399"/>
            <a:ext cx="2549443" cy="1684663"/>
          </a:xfrm>
          <a:prstGeom prst="rect">
            <a:avLst/>
          </a:prstGeom>
        </p:spPr>
      </p:pic>
      <p:sp>
        <p:nvSpPr>
          <p:cNvPr id="5" name="文本框 4"/>
          <p:cNvSpPr txBox="1"/>
          <p:nvPr/>
        </p:nvSpPr>
        <p:spPr>
          <a:xfrm>
            <a:off x="4572000" y="3207801"/>
            <a:ext cx="4032448" cy="369332"/>
          </a:xfrm>
          <a:prstGeom prst="rect">
            <a:avLst/>
          </a:prstGeom>
          <a:noFill/>
        </p:spPr>
        <p:txBody>
          <a:bodyPr wrap="square" rtlCol="0">
            <a:spAutoFit/>
          </a:bodyPr>
          <a:lstStyle/>
          <a:p>
            <a:r>
              <a:rPr lang="zh-CN" altLang="en-US" dirty="0">
                <a:solidFill>
                  <a:srgbClr val="002060"/>
                </a:solidFill>
                <a:latin typeface="隶书" panose="02010509060101010101" pitchFamily="49" charset="-122"/>
                <a:ea typeface="隶书" panose="02010509060101010101" pitchFamily="49" charset="-122"/>
              </a:rPr>
              <a:t> 二叉树的后序序列为</a:t>
            </a:r>
            <a:r>
              <a:rPr lang="zh-CN" altLang="en-US" dirty="0"/>
              <a:t> </a:t>
            </a:r>
            <a:r>
              <a:rPr lang="en-US" altLang="zh-CN" dirty="0">
                <a:solidFill>
                  <a:srgbClr val="C00000"/>
                </a:solidFill>
                <a:latin typeface="Times New Roman" panose="02020603050405020304" pitchFamily="18" charset="0"/>
                <a:cs typeface="Times New Roman" panose="02020603050405020304" pitchFamily="18" charset="0"/>
              </a:rPr>
              <a:t>JGDBHEFCA</a:t>
            </a:r>
            <a:endParaRPr lang="zh-CN" altLang="en-US"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6" name="文本框 5"/>
          <p:cNvSpPr txBox="1"/>
          <p:nvPr/>
        </p:nvSpPr>
        <p:spPr>
          <a:xfrm>
            <a:off x="612366" y="123478"/>
            <a:ext cx="122333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后序遍历</a:t>
            </a:r>
          </a:p>
        </p:txBody>
      </p:sp>
    </p:spTree>
    <p:extLst>
      <p:ext uri="{BB962C8B-B14F-4D97-AF65-F5344CB8AC3E}">
        <p14:creationId xmlns:p14="http://schemas.microsoft.com/office/powerpoint/2010/main" val="16587506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ppt_x"/>
                                          </p:val>
                                        </p:tav>
                                        <p:tav tm="100000">
                                          <p:val>
                                            <p:strVal val="#ppt_x"/>
                                          </p:val>
                                        </p:tav>
                                      </p:tavLst>
                                    </p:anim>
                                    <p:anim calcmode="lin" valueType="num">
                                      <p:cBhvr additive="base">
                                        <p:cTn id="3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539552" y="1059582"/>
            <a:ext cx="4149903" cy="3507876"/>
          </a:xfrm>
        </p:spPr>
        <p:txBody>
          <a:bodyPr/>
          <a:lstStyle/>
          <a:p>
            <a:pPr marL="0" indent="0">
              <a:buNone/>
            </a:pPr>
            <a:r>
              <a:rPr lang="zh-CN" altLang="en-US" sz="1600" dirty="0">
                <a:latin typeface="Times New Roman" panose="02020603050405020304" pitchFamily="18" charset="0"/>
                <a:cs typeface="Times New Roman" panose="02020603050405020304" pitchFamily="18" charset="0"/>
              </a:rPr>
              <a:t>二叉树非空</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设二叉树的高度为 </a:t>
            </a:r>
            <a:r>
              <a:rPr lang="en-US" altLang="zh-CN" sz="1600" dirty="0">
                <a:latin typeface="Times New Roman" panose="02020603050405020304" pitchFamily="18" charset="0"/>
                <a:cs typeface="Times New Roman" panose="02020603050405020304" pitchFamily="18" charset="0"/>
              </a:rPr>
              <a:t>h </a:t>
            </a:r>
            <a:r>
              <a:rPr lang="zh-CN" altLang="en-US" sz="1600" dirty="0">
                <a:latin typeface="Times New Roman" panose="02020603050405020304" pitchFamily="18" charset="0"/>
                <a:cs typeface="Times New Roman" panose="02020603050405020304" pitchFamily="18" charset="0"/>
              </a:rPr>
              <a:t>时</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层次遍历二叉树的过程如下</a:t>
            </a:r>
            <a:r>
              <a:rPr lang="en-US" altLang="zh-CN" sz="1600" dirty="0">
                <a:latin typeface="Times New Roman" panose="02020603050405020304" pitchFamily="18" charset="0"/>
                <a:cs typeface="Times New Roman" panose="02020603050405020304" pitchFamily="18" charset="0"/>
              </a:rPr>
              <a:t>: </a:t>
            </a: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）先访问根结点</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第 </a:t>
            </a:r>
            <a:r>
              <a:rPr lang="en-US" altLang="zh-CN" sz="16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层</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buNone/>
            </a:pPr>
            <a:r>
              <a:rPr lang="en-US" altLang="zh-CN" sz="1600" dirty="0">
                <a:latin typeface="Times New Roman" panose="02020603050405020304" pitchFamily="18" charset="0"/>
                <a:cs typeface="Times New Roman" panose="02020603050405020304" pitchFamily="18" charset="0"/>
              </a:rPr>
              <a:t> (2</a:t>
            </a:r>
            <a:r>
              <a:rPr lang="zh-CN" altLang="en-US" sz="1600" dirty="0">
                <a:latin typeface="Times New Roman" panose="02020603050405020304" pitchFamily="18" charset="0"/>
                <a:cs typeface="Times New Roman" panose="02020603050405020304" pitchFamily="18" charset="0"/>
              </a:rPr>
              <a:t>）再从左向右依次访问每层结点。</a:t>
            </a:r>
          </a:p>
        </p:txBody>
      </p:sp>
      <p:pic>
        <p:nvPicPr>
          <p:cNvPr id="4" name="图片 3"/>
          <p:cNvPicPr>
            <a:picLocks noChangeAspect="1"/>
          </p:cNvPicPr>
          <p:nvPr/>
        </p:nvPicPr>
        <p:blipFill>
          <a:blip r:embed="rId2"/>
          <a:stretch>
            <a:fillRect/>
          </a:stretch>
        </p:blipFill>
        <p:spPr>
          <a:xfrm>
            <a:off x="5508104" y="915566"/>
            <a:ext cx="2549443" cy="1684663"/>
          </a:xfrm>
          <a:prstGeom prst="rect">
            <a:avLst/>
          </a:prstGeom>
        </p:spPr>
      </p:pic>
      <p:sp>
        <p:nvSpPr>
          <p:cNvPr id="5" name="文本框 4"/>
          <p:cNvSpPr txBox="1"/>
          <p:nvPr/>
        </p:nvSpPr>
        <p:spPr>
          <a:xfrm>
            <a:off x="5076056" y="2868853"/>
            <a:ext cx="3816424" cy="369332"/>
          </a:xfrm>
          <a:prstGeom prst="rect">
            <a:avLst/>
          </a:prstGeom>
          <a:noFill/>
        </p:spPr>
        <p:txBody>
          <a:bodyPr wrap="square" rtlCol="0">
            <a:spAutoFit/>
          </a:bodyPr>
          <a:lstStyle/>
          <a:p>
            <a:r>
              <a:rPr lang="zh-CN" altLang="en-US" dirty="0">
                <a:latin typeface="隶书" panose="02010509060101010101" pitchFamily="49" charset="-122"/>
                <a:ea typeface="隶书" panose="02010509060101010101" pitchFamily="49" charset="-122"/>
              </a:rPr>
              <a:t>二叉树的层次序列为 </a:t>
            </a:r>
            <a:r>
              <a:rPr lang="en-US" altLang="zh-CN" dirty="0">
                <a:solidFill>
                  <a:srgbClr val="C00000"/>
                </a:solidFill>
                <a:latin typeface="隶书" panose="02010509060101010101" pitchFamily="49" charset="-122"/>
                <a:ea typeface="隶书" panose="02010509060101010101" pitchFamily="49" charset="-122"/>
                <a:cs typeface="Times New Roman" panose="02020603050405020304" pitchFamily="18" charset="0"/>
              </a:rPr>
              <a:t>ABCJDEFGH</a:t>
            </a:r>
            <a:endParaRPr lang="zh-CN" altLang="en-US" dirty="0">
              <a:latin typeface="隶书" panose="02010509060101010101" pitchFamily="49" charset="-122"/>
              <a:ea typeface="隶书" panose="02010509060101010101" pitchFamily="49" charset="-122"/>
            </a:endParaRPr>
          </a:p>
        </p:txBody>
      </p:sp>
      <p:sp>
        <p:nvSpPr>
          <p:cNvPr id="6" name="文本框 5"/>
          <p:cNvSpPr txBox="1"/>
          <p:nvPr/>
        </p:nvSpPr>
        <p:spPr>
          <a:xfrm>
            <a:off x="612366" y="123478"/>
            <a:ext cx="122333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层次遍历</a:t>
            </a:r>
          </a:p>
        </p:txBody>
      </p:sp>
    </p:spTree>
    <p:extLst>
      <p:ext uri="{BB962C8B-B14F-4D97-AF65-F5344CB8AC3E}">
        <p14:creationId xmlns:p14="http://schemas.microsoft.com/office/powerpoint/2010/main" val="987249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476186" y="1064124"/>
            <a:ext cx="4743885" cy="3507876"/>
          </a:xfrm>
        </p:spPr>
        <p:txBody>
          <a:bodyPr/>
          <a:lstStyle/>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void </a:t>
            </a:r>
            <a:r>
              <a:rPr lang="en-US" altLang="zh-CN" sz="1600" dirty="0" err="1">
                <a:solidFill>
                  <a:srgbClr val="0070C0"/>
                </a:solidFill>
                <a:latin typeface="Times New Roman" panose="02020603050405020304" pitchFamily="18" charset="0"/>
                <a:cs typeface="Times New Roman" panose="02020603050405020304" pitchFamily="18" charset="0"/>
              </a:rPr>
              <a:t>BiTree</a:t>
            </a: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InTraverse</a:t>
            </a: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∗t){</a:t>
            </a: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 / </a:t>
            </a:r>
            <a:r>
              <a:rPr lang="zh-CN" altLang="en-US" sz="1600" dirty="0">
                <a:solidFill>
                  <a:srgbClr val="0070C0"/>
                </a:solidFill>
                <a:latin typeface="Times New Roman" panose="02020603050405020304" pitchFamily="18" charset="0"/>
                <a:cs typeface="Times New Roman" panose="02020603050405020304" pitchFamily="18" charset="0"/>
              </a:rPr>
              <a:t>中序遍历递归函数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if(t){ </a:t>
            </a: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InTraverse</a:t>
            </a:r>
            <a:r>
              <a:rPr lang="en-US" altLang="zh-CN" sz="1600" dirty="0">
                <a:solidFill>
                  <a:srgbClr val="0070C0"/>
                </a:solidFill>
                <a:latin typeface="Times New Roman" panose="02020603050405020304" pitchFamily="18" charset="0"/>
                <a:cs typeface="Times New Roman" panose="02020603050405020304" pitchFamily="18" charset="0"/>
              </a:rPr>
              <a:t>(t-&gt;</a:t>
            </a:r>
            <a:r>
              <a:rPr lang="en-US" altLang="zh-CN" sz="1600" dirty="0" err="1">
                <a:solidFill>
                  <a:srgbClr val="0070C0"/>
                </a:solidFill>
                <a:latin typeface="Times New Roman" panose="02020603050405020304" pitchFamily="18" charset="0"/>
                <a:cs typeface="Times New Roman" panose="02020603050405020304" pitchFamily="18" charset="0"/>
              </a:rPr>
              <a:t>lchild</a:t>
            </a:r>
            <a:r>
              <a:rPr lang="en-US" altLang="zh-CN" sz="1600" dirty="0">
                <a:solidFill>
                  <a:srgbClr val="0070C0"/>
                </a:solidFill>
                <a:latin typeface="Times New Roman" panose="02020603050405020304" pitchFamily="18" charset="0"/>
                <a:cs typeface="Times New Roman" panose="02020603050405020304" pitchFamily="18" charset="0"/>
              </a:rPr>
              <a:t>); / / </a:t>
            </a:r>
            <a:r>
              <a:rPr lang="zh-CN" altLang="en-US" sz="1600" dirty="0">
                <a:solidFill>
                  <a:srgbClr val="0070C0"/>
                </a:solidFill>
                <a:latin typeface="Times New Roman" panose="02020603050405020304" pitchFamily="18" charset="0"/>
                <a:cs typeface="Times New Roman" panose="02020603050405020304" pitchFamily="18" charset="0"/>
              </a:rPr>
              <a:t>中序遍历左子树     </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cout</a:t>
            </a:r>
            <a:r>
              <a:rPr lang="en-US" altLang="zh-CN" sz="1600" dirty="0">
                <a:solidFill>
                  <a:srgbClr val="0070C0"/>
                </a:solidFill>
                <a:latin typeface="Times New Roman" panose="02020603050405020304" pitchFamily="18" charset="0"/>
                <a:cs typeface="Times New Roman" panose="02020603050405020304" pitchFamily="18" charset="0"/>
              </a:rPr>
              <a:t>&lt;&lt;t-&gt;data; / / </a:t>
            </a:r>
            <a:r>
              <a:rPr lang="zh-CN" altLang="en-US" sz="1600" dirty="0">
                <a:solidFill>
                  <a:srgbClr val="0070C0"/>
                </a:solidFill>
                <a:latin typeface="Times New Roman" panose="02020603050405020304" pitchFamily="18" charset="0"/>
                <a:cs typeface="Times New Roman" panose="02020603050405020304" pitchFamily="18" charset="0"/>
              </a:rPr>
              <a:t>访问根结点</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InTraverse</a:t>
            </a:r>
            <a:r>
              <a:rPr lang="en-US" altLang="zh-CN" sz="1600" dirty="0">
                <a:solidFill>
                  <a:srgbClr val="0070C0"/>
                </a:solidFill>
                <a:latin typeface="Times New Roman" panose="02020603050405020304" pitchFamily="18" charset="0"/>
                <a:cs typeface="Times New Roman" panose="02020603050405020304" pitchFamily="18" charset="0"/>
              </a:rPr>
              <a:t>(t-&gt;</a:t>
            </a:r>
            <a:r>
              <a:rPr lang="en-US" altLang="zh-CN" sz="1600" dirty="0" err="1">
                <a:solidFill>
                  <a:srgbClr val="0070C0"/>
                </a:solidFill>
                <a:latin typeface="Times New Roman" panose="02020603050405020304" pitchFamily="18" charset="0"/>
                <a:cs typeface="Times New Roman" panose="02020603050405020304" pitchFamily="18" charset="0"/>
              </a:rPr>
              <a:t>rchild</a:t>
            </a:r>
            <a:r>
              <a:rPr lang="en-US" altLang="zh-CN" sz="1600" dirty="0">
                <a:solidFill>
                  <a:srgbClr val="0070C0"/>
                </a:solidFill>
                <a:latin typeface="Times New Roman" panose="02020603050405020304" pitchFamily="18" charset="0"/>
                <a:cs typeface="Times New Roman" panose="02020603050405020304" pitchFamily="18" charset="0"/>
              </a:rPr>
              <a:t>); / / </a:t>
            </a:r>
            <a:r>
              <a:rPr lang="zh-CN" altLang="en-US" sz="1600" dirty="0">
                <a:solidFill>
                  <a:srgbClr val="0070C0"/>
                </a:solidFill>
                <a:latin typeface="Times New Roman" panose="02020603050405020304" pitchFamily="18" charset="0"/>
                <a:cs typeface="Times New Roman" panose="02020603050405020304" pitchFamily="18" charset="0"/>
              </a:rPr>
              <a:t>中序遍历右子树</a:t>
            </a:r>
            <a:endParaRPr lang="en-US"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 </a:t>
            </a:r>
            <a:r>
              <a:rPr lang="en-US" altLang="zh-CN" sz="1600" dirty="0">
                <a:solidFill>
                  <a:srgbClr val="0070C0"/>
                </a:solidFill>
                <a:latin typeface="Times New Roman" panose="02020603050405020304" pitchFamily="18" charset="0"/>
                <a:cs typeface="Times New Roman" panose="02020603050405020304" pitchFamily="18" charset="0"/>
              </a:rPr>
              <a:t>}</a:t>
            </a:r>
          </a:p>
          <a:p>
            <a:pPr marL="0" indent="0">
              <a:lnSpc>
                <a:spcPts val="3000"/>
              </a:lnSpc>
              <a:spcBef>
                <a:spcPts val="0"/>
              </a:spcBef>
              <a:buNone/>
            </a:pPr>
            <a:r>
              <a:rPr lang="en-US" altLang="zh-CN" sz="1600" dirty="0">
                <a:solidFill>
                  <a:srgbClr val="0070C0"/>
                </a:solidFill>
                <a:latin typeface="Times New Roman" panose="02020603050405020304" pitchFamily="18" charset="0"/>
                <a:cs typeface="Times New Roman" panose="02020603050405020304" pitchFamily="18" charset="0"/>
              </a:rPr>
              <a:t> } </a:t>
            </a:r>
          </a:p>
        </p:txBody>
      </p:sp>
      <p:sp>
        <p:nvSpPr>
          <p:cNvPr id="4" name="文本框 3"/>
          <p:cNvSpPr txBox="1"/>
          <p:nvPr/>
        </p:nvSpPr>
        <p:spPr>
          <a:xfrm>
            <a:off x="5364088" y="1064124"/>
            <a:ext cx="2963375" cy="2292935"/>
          </a:xfrm>
          <a:prstGeom prst="rect">
            <a:avLst/>
          </a:prstGeom>
          <a:noFill/>
        </p:spPr>
        <p:txBody>
          <a:bodyPr wrap="none" rtlCol="0">
            <a:spAutoFit/>
          </a:bodyPr>
          <a:lstStyle/>
          <a:p>
            <a:pPr>
              <a:lnSpc>
                <a:spcPts val="3000"/>
              </a:lnSpc>
              <a:spcBef>
                <a:spcPts val="0"/>
              </a:spcBef>
            </a:pPr>
            <a:r>
              <a:rPr lang="en-US" altLang="zh-CN" sz="1600" dirty="0">
                <a:solidFill>
                  <a:srgbClr val="0070C0"/>
                </a:solidFill>
                <a:latin typeface="Times New Roman" panose="02020603050405020304" pitchFamily="18" charset="0"/>
                <a:cs typeface="Times New Roman" panose="02020603050405020304" pitchFamily="18" charset="0"/>
              </a:rPr>
              <a:t>void </a:t>
            </a:r>
            <a:r>
              <a:rPr lang="en-US" altLang="zh-CN" sz="1600" dirty="0" err="1">
                <a:solidFill>
                  <a:srgbClr val="0070C0"/>
                </a:solidFill>
                <a:latin typeface="Times New Roman" panose="02020603050405020304" pitchFamily="18" charset="0"/>
                <a:cs typeface="Times New Roman" panose="02020603050405020304" pitchFamily="18" charset="0"/>
              </a:rPr>
              <a:t>BiTree</a:t>
            </a:r>
            <a:r>
              <a:rPr lang="en-US" altLang="zh-CN" sz="1600" dirty="0">
                <a:solidFill>
                  <a:srgbClr val="0070C0"/>
                </a:solidFill>
                <a:latin typeface="Times New Roman" panose="02020603050405020304" pitchFamily="18" charset="0"/>
                <a:cs typeface="Times New Roman" panose="02020603050405020304" pitchFamily="18" charset="0"/>
              </a:rPr>
              <a:t>::</a:t>
            </a:r>
            <a:r>
              <a:rPr lang="en-US" altLang="zh-CN" sz="1600" dirty="0" err="1">
                <a:solidFill>
                  <a:srgbClr val="0070C0"/>
                </a:solidFill>
                <a:latin typeface="Times New Roman" panose="02020603050405020304" pitchFamily="18" charset="0"/>
                <a:cs typeface="Times New Roman" panose="02020603050405020304" pitchFamily="18" charset="0"/>
              </a:rPr>
              <a:t>InTraverseBiTree</a:t>
            </a:r>
            <a:r>
              <a:rPr lang="en-US" altLang="zh-CN" sz="1600" dirty="0">
                <a:solidFill>
                  <a:srgbClr val="0070C0"/>
                </a:solidFill>
                <a:latin typeface="Times New Roman" panose="02020603050405020304" pitchFamily="18" charset="0"/>
                <a:cs typeface="Times New Roman" panose="02020603050405020304" pitchFamily="18" charset="0"/>
              </a:rPr>
              <a:t>(){</a:t>
            </a:r>
          </a:p>
          <a:p>
            <a:pPr>
              <a:lnSpc>
                <a:spcPts val="3000"/>
              </a:lnSpc>
              <a:spcBef>
                <a:spcPts val="0"/>
              </a:spcBef>
            </a:pPr>
            <a:r>
              <a:rPr lang="en-US" altLang="zh-CN" sz="1600" dirty="0">
                <a:solidFill>
                  <a:srgbClr val="0070C0"/>
                </a:solidFill>
                <a:latin typeface="Times New Roman" panose="02020603050405020304" pitchFamily="18" charset="0"/>
                <a:cs typeface="Times New Roman" panose="02020603050405020304" pitchFamily="18" charset="0"/>
              </a:rPr>
              <a:t>    / / </a:t>
            </a:r>
            <a:r>
              <a:rPr lang="zh-CN" altLang="en-US" sz="1600" dirty="0">
                <a:solidFill>
                  <a:srgbClr val="0070C0"/>
                </a:solidFill>
                <a:latin typeface="Times New Roman" panose="02020603050405020304" pitchFamily="18" charset="0"/>
                <a:cs typeface="Times New Roman" panose="02020603050405020304" pitchFamily="18" charset="0"/>
              </a:rPr>
              <a:t>中序遍历二叉树  </a:t>
            </a:r>
            <a:endParaRPr lang="en-US" altLang="zh-CN" sz="1600" dirty="0">
              <a:solidFill>
                <a:srgbClr val="0070C0"/>
              </a:solidFill>
              <a:latin typeface="Times New Roman" panose="02020603050405020304" pitchFamily="18" charset="0"/>
              <a:cs typeface="Times New Roman" panose="02020603050405020304" pitchFamily="18" charset="0"/>
            </a:endParaRPr>
          </a:p>
          <a:p>
            <a:pPr>
              <a:lnSpc>
                <a:spcPts val="3000"/>
              </a:lnSpc>
              <a:spcBef>
                <a:spcPts val="0"/>
              </a:spcBef>
            </a:pPr>
            <a:r>
              <a:rPr lang="en-US" altLang="zh-CN" sz="1600" dirty="0">
                <a:solidFill>
                  <a:srgbClr val="0070C0"/>
                </a:solidFill>
                <a:latin typeface="Times New Roman" panose="02020603050405020304" pitchFamily="18" charset="0"/>
                <a:cs typeface="Times New Roman" panose="02020603050405020304" pitchFamily="18" charset="0"/>
              </a:rPr>
              <a:t>   </a:t>
            </a:r>
            <a:r>
              <a:rPr lang="zh-CN" altLang="en-US"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BitNode</a:t>
            </a:r>
            <a:r>
              <a:rPr lang="en-US" altLang="zh-CN" sz="1600" dirty="0">
                <a:solidFill>
                  <a:srgbClr val="0070C0"/>
                </a:solidFill>
                <a:latin typeface="Times New Roman" panose="02020603050405020304" pitchFamily="18" charset="0"/>
                <a:cs typeface="Times New Roman" panose="02020603050405020304" pitchFamily="18" charset="0"/>
              </a:rPr>
              <a:t> ∗p = </a:t>
            </a:r>
            <a:r>
              <a:rPr lang="en-US" altLang="zh-CN" sz="1600" dirty="0" err="1">
                <a:solidFill>
                  <a:srgbClr val="0070C0"/>
                </a:solidFill>
                <a:latin typeface="Times New Roman" panose="02020603050405020304" pitchFamily="18" charset="0"/>
                <a:cs typeface="Times New Roman" panose="02020603050405020304" pitchFamily="18" charset="0"/>
              </a:rPr>
              <a:t>bt</a:t>
            </a:r>
            <a:r>
              <a:rPr lang="en-US" altLang="zh-CN" sz="1600" dirty="0">
                <a:solidFill>
                  <a:srgbClr val="0070C0"/>
                </a:solidFill>
                <a:latin typeface="Times New Roman" panose="02020603050405020304" pitchFamily="18" charset="0"/>
                <a:cs typeface="Times New Roman" panose="02020603050405020304" pitchFamily="18" charset="0"/>
              </a:rPr>
              <a:t>; </a:t>
            </a:r>
          </a:p>
          <a:p>
            <a:pPr>
              <a:lnSpc>
                <a:spcPts val="3000"/>
              </a:lnSpc>
              <a:spcBef>
                <a:spcPts val="0"/>
              </a:spcBef>
            </a:pPr>
            <a:r>
              <a:rPr lang="en-US" altLang="zh-CN" sz="1600" dirty="0">
                <a:solidFill>
                  <a:srgbClr val="0070C0"/>
                </a:solidFill>
                <a:latin typeface="Times New Roman" panose="02020603050405020304" pitchFamily="18" charset="0"/>
                <a:cs typeface="Times New Roman" panose="02020603050405020304" pitchFamily="18" charset="0"/>
              </a:rPr>
              <a:t>    </a:t>
            </a:r>
            <a:r>
              <a:rPr lang="en-US" altLang="zh-CN" sz="1600" dirty="0" err="1">
                <a:solidFill>
                  <a:srgbClr val="0070C0"/>
                </a:solidFill>
                <a:latin typeface="Times New Roman" panose="02020603050405020304" pitchFamily="18" charset="0"/>
                <a:cs typeface="Times New Roman" panose="02020603050405020304" pitchFamily="18" charset="0"/>
              </a:rPr>
              <a:t>InTraverse</a:t>
            </a:r>
            <a:r>
              <a:rPr lang="en-US" altLang="zh-CN" sz="1600" dirty="0">
                <a:solidFill>
                  <a:srgbClr val="0070C0"/>
                </a:solidFill>
                <a:latin typeface="Times New Roman" panose="02020603050405020304" pitchFamily="18" charset="0"/>
                <a:cs typeface="Times New Roman" panose="02020603050405020304" pitchFamily="18" charset="0"/>
              </a:rPr>
              <a:t>(p);</a:t>
            </a:r>
          </a:p>
          <a:p>
            <a:pPr>
              <a:lnSpc>
                <a:spcPts val="3000"/>
              </a:lnSpc>
              <a:spcBef>
                <a:spcPts val="0"/>
              </a:spcBef>
            </a:pPr>
            <a:r>
              <a:rPr lang="en-US" altLang="zh-CN" sz="1600" dirty="0">
                <a:solidFill>
                  <a:srgbClr val="0070C0"/>
                </a:solidFill>
                <a:latin typeface="Times New Roman" panose="02020603050405020304" pitchFamily="18" charset="0"/>
                <a:cs typeface="Times New Roman" panose="02020603050405020304" pitchFamily="18" charset="0"/>
              </a:rPr>
              <a:t>} </a:t>
            </a:r>
            <a:endParaRPr lang="zh-CN" altLang="en-US" sz="1600" dirty="0">
              <a:solidFill>
                <a:srgbClr val="0070C0"/>
              </a:solidFill>
              <a:latin typeface="Times New Roman" panose="02020603050405020304" pitchFamily="18" charset="0"/>
              <a:cs typeface="Times New Roman" panose="02020603050405020304" pitchFamily="18" charset="0"/>
            </a:endParaRPr>
          </a:p>
          <a:p>
            <a:endParaRPr lang="zh-CN" altLang="en-US" dirty="0"/>
          </a:p>
        </p:txBody>
      </p:sp>
      <p:sp>
        <p:nvSpPr>
          <p:cNvPr id="5" name="文本框 4"/>
          <p:cNvSpPr txBox="1"/>
          <p:nvPr/>
        </p:nvSpPr>
        <p:spPr>
          <a:xfrm>
            <a:off x="611560" y="3939902"/>
            <a:ext cx="7128792" cy="400110"/>
          </a:xfrm>
          <a:prstGeom prst="rect">
            <a:avLst/>
          </a:prstGeom>
          <a:noFill/>
        </p:spPr>
        <p:txBody>
          <a:bodyPr wrap="square" rtlCol="0">
            <a:spAutoFit/>
          </a:bodyPr>
          <a:lstStyle/>
          <a:p>
            <a:r>
              <a:rPr lang="zh-CN" altLang="en-US" sz="2000" dirty="0">
                <a:solidFill>
                  <a:srgbClr val="C00000"/>
                </a:solidFill>
                <a:latin typeface="隶书" panose="02010509060101010101" pitchFamily="49" charset="-122"/>
                <a:ea typeface="隶书" panose="02010509060101010101" pitchFamily="49" charset="-122"/>
              </a:rPr>
              <a:t>先序遍历和后序遍历类似</a:t>
            </a:r>
          </a:p>
        </p:txBody>
      </p:sp>
      <p:sp>
        <p:nvSpPr>
          <p:cNvPr id="6" name="文本框 5"/>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二叉树遍历的递归算法</a:t>
            </a:r>
          </a:p>
        </p:txBody>
      </p:sp>
    </p:spTree>
    <p:extLst>
      <p:ext uri="{BB962C8B-B14F-4D97-AF65-F5344CB8AC3E}">
        <p14:creationId xmlns:p14="http://schemas.microsoft.com/office/powerpoint/2010/main" val="37468009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 calcmode="lin" valueType="num">
                                      <p:cBhvr additive="base">
                                        <p:cTn id="4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0" end="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
                                            <p:txEl>
                                              <p:pRg st="1" end="1"/>
                                            </p:txEl>
                                          </p:spTgt>
                                        </p:tgtEl>
                                        <p:attrNameLst>
                                          <p:attrName>style.visibility</p:attrName>
                                        </p:attrNameLst>
                                      </p:cBhvr>
                                      <p:to>
                                        <p:strVal val="visible"/>
                                      </p:to>
                                    </p:set>
                                    <p:anim calcmode="lin" valueType="num">
                                      <p:cBhvr additive="base">
                                        <p:cTn id="5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
                                            <p:txEl>
                                              <p:pRg st="2" end="2"/>
                                            </p:txEl>
                                          </p:spTgt>
                                        </p:tgtEl>
                                        <p:attrNameLst>
                                          <p:attrName>style.visibility</p:attrName>
                                        </p:attrNameLst>
                                      </p:cBhvr>
                                      <p:to>
                                        <p:strVal val="visible"/>
                                      </p:to>
                                    </p:set>
                                    <p:anim calcmode="lin" valueType="num">
                                      <p:cBhvr additive="base">
                                        <p:cTn id="5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
                                            <p:txEl>
                                              <p:pRg st="3" end="3"/>
                                            </p:txEl>
                                          </p:spTgt>
                                        </p:tgtEl>
                                        <p:attrNameLst>
                                          <p:attrName>style.visibility</p:attrName>
                                        </p:attrNameLst>
                                      </p:cBhvr>
                                      <p:to>
                                        <p:strVal val="visible"/>
                                      </p:to>
                                    </p:set>
                                    <p:anim calcmode="lin" valueType="num">
                                      <p:cBhvr additive="base">
                                        <p:cTn id="6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4">
                                            <p:txEl>
                                              <p:pRg st="4" end="4"/>
                                            </p:txEl>
                                          </p:spTgt>
                                        </p:tgtEl>
                                        <p:attrNameLst>
                                          <p:attrName>style.visibility</p:attrName>
                                        </p:attrNameLst>
                                      </p:cBhvr>
                                      <p:to>
                                        <p:strVal val="visible"/>
                                      </p:to>
                                    </p:set>
                                    <p:anim calcmode="lin" valueType="num">
                                      <p:cBhvr additive="base">
                                        <p:cTn id="6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5"/>
                                        </p:tgtEl>
                                        <p:attrNameLst>
                                          <p:attrName>style.visibility</p:attrName>
                                        </p:attrNameLst>
                                      </p:cBhvr>
                                      <p:to>
                                        <p:strVal val="visible"/>
                                      </p:to>
                                    </p:set>
                                    <p:anim calcmode="lin" valueType="num">
                                      <p:cBhvr additive="base">
                                        <p:cTn id="75" dur="500" fill="hold"/>
                                        <p:tgtEl>
                                          <p:spTgt spid="5"/>
                                        </p:tgtEl>
                                        <p:attrNameLst>
                                          <p:attrName>ppt_x</p:attrName>
                                        </p:attrNameLst>
                                      </p:cBhvr>
                                      <p:tavLst>
                                        <p:tav tm="0">
                                          <p:val>
                                            <p:strVal val="#ppt_x"/>
                                          </p:val>
                                        </p:tav>
                                        <p:tav tm="100000">
                                          <p:val>
                                            <p:strVal val="#ppt_x"/>
                                          </p:val>
                                        </p:tav>
                                      </p:tavLst>
                                    </p:anim>
                                    <p:anim calcmode="lin" valueType="num">
                                      <p:cBhvr additive="base">
                                        <p:cTn id="7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quarter" idx="11"/>
          </p:nvPr>
        </p:nvSpPr>
        <p:spPr>
          <a:xfrm>
            <a:off x="179512" y="987574"/>
            <a:ext cx="8928992" cy="1224136"/>
          </a:xfrm>
        </p:spPr>
        <p:txBody>
          <a:bodyPr/>
          <a:lstStyle/>
          <a:p>
            <a:pPr marL="0" indent="0">
              <a:buNone/>
            </a:pPr>
            <a:r>
              <a:rPr lang="zh-CN" altLang="en-US" sz="1600" dirty="0">
                <a:solidFill>
                  <a:srgbClr val="C00000"/>
                </a:solidFill>
                <a:latin typeface="Times New Roman" panose="02020603050405020304" pitchFamily="18" charset="0"/>
                <a:cs typeface="Times New Roman" panose="02020603050405020304" pitchFamily="18" charset="0"/>
              </a:rPr>
              <a:t>例</a:t>
            </a:r>
            <a:r>
              <a:rPr lang="en-US" altLang="zh-CN" sz="1600" dirty="0">
                <a:solidFill>
                  <a:srgbClr val="C00000"/>
                </a:solidFill>
                <a:latin typeface="Times New Roman" panose="02020603050405020304" pitchFamily="18" charset="0"/>
                <a:cs typeface="Times New Roman" panose="02020603050405020304" pitchFamily="18" charset="0"/>
              </a:rPr>
              <a:t>1</a:t>
            </a:r>
            <a:r>
              <a:rPr lang="zh-CN" altLang="en-US" sz="1600" dirty="0">
                <a:solidFill>
                  <a:srgbClr val="C00000"/>
                </a:solidFill>
                <a:latin typeface="Times New Roman" panose="02020603050405020304" pitchFamily="18" charset="0"/>
                <a:cs typeface="Times New Roman" panose="02020603050405020304" pitchFamily="18" charset="0"/>
              </a:rPr>
              <a:t>：已知二叉树采用二叉链表存储结构存储</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en-US" sz="1600" dirty="0">
                <a:solidFill>
                  <a:srgbClr val="C00000"/>
                </a:solidFill>
                <a:latin typeface="Times New Roman" panose="02020603050405020304" pitchFamily="18" charset="0"/>
                <a:cs typeface="Times New Roman" panose="02020603050405020304" pitchFamily="18" charset="0"/>
              </a:rPr>
              <a:t>设计一个交换二叉树左右子树的递归算法。</a:t>
            </a:r>
            <a:endParaRPr lang="zh-CN" altLang="zh-CN" sz="1600" dirty="0">
              <a:solidFill>
                <a:srgbClr val="C00000"/>
              </a:solidFill>
              <a:latin typeface="Times New Roman" panose="02020603050405020304" pitchFamily="18" charset="0"/>
              <a:cs typeface="Times New Roman" panose="02020603050405020304" pitchFamily="18" charset="0"/>
            </a:endParaRPr>
          </a:p>
          <a:p>
            <a:pPr marL="0" indent="0">
              <a:buNone/>
            </a:pPr>
            <a:r>
              <a:rPr lang="zh-CN" altLang="zh-CN" sz="1600" dirty="0">
                <a:solidFill>
                  <a:srgbClr val="0066FF"/>
                </a:solidFill>
                <a:latin typeface="Times New Roman" panose="02020603050405020304" pitchFamily="18" charset="0"/>
                <a:cs typeface="Times New Roman" panose="02020603050405020304" pitchFamily="18" charset="0"/>
              </a:rPr>
              <a:t>解</a:t>
            </a:r>
            <a:r>
              <a:rPr lang="zh-CN" altLang="zh-CN" sz="1600" dirty="0">
                <a:latin typeface="Times New Roman" panose="02020603050405020304" pitchFamily="18" charset="0"/>
                <a:cs typeface="Times New Roman" panose="02020603050405020304" pitchFamily="18" charset="0"/>
              </a:rPr>
              <a:t>：</a:t>
            </a:r>
            <a:r>
              <a:rPr lang="zh-CN" altLang="zh-CN" sz="1600" dirty="0">
                <a:solidFill>
                  <a:srgbClr val="0066FF"/>
                </a:solidFill>
                <a:latin typeface="Times New Roman" panose="02020603050405020304" pitchFamily="18" charset="0"/>
                <a:cs typeface="Times New Roman" panose="02020603050405020304" pitchFamily="18" charset="0"/>
              </a:rPr>
              <a:t>二叉树左右子树交换的递归模型如下：</a:t>
            </a:r>
          </a:p>
        </p:txBody>
      </p:sp>
      <mc:AlternateContent xmlns:mc="http://schemas.openxmlformats.org/markup-compatibility/2006" xmlns:a14="http://schemas.microsoft.com/office/drawing/2010/main">
        <mc:Choice Requires="a14">
          <p:sp>
            <p:nvSpPr>
              <p:cNvPr id="7" name="矩形 6"/>
              <p:cNvSpPr/>
              <p:nvPr/>
            </p:nvSpPr>
            <p:spPr>
              <a:xfrm>
                <a:off x="0" y="2139702"/>
                <a:ext cx="5452455" cy="19850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latin typeface="Cambria Math" panose="02040503050406030204" pitchFamily="18" charset="0"/>
                            </a:rPr>
                          </m:ctrlPr>
                        </m:dPr>
                        <m:e>
                          <m:eqArr>
                            <m:eqArrPr>
                              <m:ctrlPr>
                                <a:rPr lang="zh-CN" altLang="en-US" i="1">
                                  <a:latin typeface="Cambria Math" panose="02040503050406030204" pitchFamily="18" charset="0"/>
                                </a:rPr>
                              </m:ctrlPr>
                            </m:eqArrPr>
                            <m:e>
                              <m:r>
                                <a:rPr lang="zh-CN" altLang="en-US">
                                  <a:latin typeface="Cambria Math" panose="02040503050406030204" pitchFamily="18" charset="0"/>
                                </a:rPr>
                                <m:t>&amp;</m:t>
                              </m:r>
                              <m:r>
                                <a:rPr lang="zh-CN" altLang="en-US" i="1">
                                  <a:latin typeface="Cambria Math" panose="02040503050406030204" pitchFamily="18" charset="0"/>
                                </a:rPr>
                                <m:t>𝐶h𝑎𝑛𝑔𝑆𝑢𝑏𝑇𝑟𝑒𝑒</m:t>
                              </m:r>
                              <m:d>
                                <m:dPr>
                                  <m:ctrlPr>
                                    <a:rPr lang="zh-CN" altLang="en-US" i="1">
                                      <a:latin typeface="Cambria Math" panose="02040503050406030204" pitchFamily="18" charset="0"/>
                                    </a:rPr>
                                  </m:ctrlPr>
                                </m:dPr>
                                <m:e>
                                  <m:r>
                                    <a:rPr lang="zh-CN" altLang="en-US">
                                      <a:latin typeface="Cambria Math" panose="02040503050406030204" pitchFamily="18" charset="0"/>
                                    </a:rPr>
                                    <m:t>∅</m:t>
                                  </m:r>
                                </m:e>
                              </m:d>
                              <m:r>
                                <a:rPr lang="zh-CN" altLang="en-US">
                                  <a:latin typeface="Cambria Math" panose="02040503050406030204" pitchFamily="18" charset="0"/>
                                </a:rPr>
                                <m:t>=</m:t>
                              </m:r>
                              <m:r>
                                <a:rPr lang="zh-CN" altLang="en-US" i="1">
                                  <a:latin typeface="Cambria Math" panose="02040503050406030204" pitchFamily="18" charset="0"/>
                                </a:rPr>
                                <m:t>𝑁𝑈𝐿𝐿</m:t>
                              </m:r>
                              <m:r>
                                <a:rPr lang="zh-CN" altLang="en-US">
                                  <a:latin typeface="Cambria Math" panose="02040503050406030204" pitchFamily="18" charset="0"/>
                                </a:rPr>
                                <m:t>                                             </m:t>
                              </m:r>
                            </m:e>
                            <m:e>
                              <m:r>
                                <a:rPr lang="zh-CN" altLang="en-US">
                                  <a:latin typeface="Cambria Math" panose="02040503050406030204" pitchFamily="18" charset="0"/>
                                </a:rPr>
                                <m:t>&amp;</m:t>
                              </m:r>
                              <m:r>
                                <a:rPr lang="zh-CN" altLang="en-US" i="1">
                                  <a:latin typeface="Cambria Math" panose="02040503050406030204" pitchFamily="18" charset="0"/>
                                </a:rPr>
                                <m:t>𝐶h𝑎𝑛𝑔𝑆𝑢𝑏𝑇𝑟𝑒𝑒</m:t>
                              </m:r>
                              <m:d>
                                <m:dPr>
                                  <m:ctrlPr>
                                    <a:rPr lang="zh-CN" altLang="en-US" i="1">
                                      <a:latin typeface="Cambria Math" panose="02040503050406030204" pitchFamily="18" charset="0"/>
                                    </a:rPr>
                                  </m:ctrlPr>
                                </m:dPr>
                                <m:e>
                                  <m:r>
                                    <m:rPr>
                                      <m:sty m:val="p"/>
                                    </m:rPr>
                                    <a:rPr lang="zh-CN" altLang="en-US">
                                      <a:latin typeface="Cambria Math" panose="02040503050406030204" pitchFamily="18" charset="0"/>
                                    </a:rPr>
                                    <m:t>t</m:t>
                                  </m:r>
                                </m:e>
                              </m:d>
                              <m:r>
                                <a:rPr lang="zh-CN" altLang="en-US">
                                  <a:latin typeface="Cambria Math" panose="02040503050406030204" pitchFamily="18" charset="0"/>
                                </a:rPr>
                                <m:t>=</m:t>
                              </m:r>
                              <m:d>
                                <m:dPr>
                                  <m:begChr m:val="{"/>
                                  <m:endChr m:val=""/>
                                  <m:ctrlPr>
                                    <a:rPr lang="zh-CN" altLang="en-US" i="1">
                                      <a:latin typeface="Cambria Math" panose="02040503050406030204" pitchFamily="18" charset="0"/>
                                    </a:rPr>
                                  </m:ctrlPr>
                                </m:dPr>
                                <m:e>
                                  <m:eqArr>
                                    <m:eqArrPr>
                                      <m:ctrlPr>
                                        <a:rPr lang="zh-CN" altLang="en-US" i="1">
                                          <a:latin typeface="Cambria Math" panose="02040503050406030204" pitchFamily="18" charset="0"/>
                                        </a:rPr>
                                      </m:ctrlPr>
                                    </m:eqArrPr>
                                    <m:e>
                                      <m:r>
                                        <a:rPr lang="zh-CN" altLang="en-US">
                                          <a:latin typeface="Cambria Math" panose="02040503050406030204" pitchFamily="18" charset="0"/>
                                        </a:rPr>
                                        <m:t>&amp;</m:t>
                                      </m:r>
                                    </m:e>
                                    <m:e>
                                      <m:r>
                                        <a:rPr lang="zh-CN" altLang="en-US" i="1">
                                          <a:latin typeface="Cambria Math" panose="02040503050406030204" pitchFamily="18" charset="0"/>
                                        </a:rPr>
                                        <m:t>𝑡𝑒𝑚𝑝</m:t>
                                      </m:r>
                                      <m:r>
                                        <a:rPr lang="zh-CN" altLang="en-US">
                                          <a:latin typeface="Cambria Math" panose="02040503050406030204" pitchFamily="18" charset="0"/>
                                        </a:rPr>
                                        <m:t>=</m:t>
                                      </m:r>
                                      <m:r>
                                        <a:rPr lang="zh-CN" altLang="en-US"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𝑙𝑐h𝑖𝑙𝑑</m:t>
                                      </m:r>
                                      <m:r>
                                        <a:rPr lang="zh-CN" altLang="en-US">
                                          <a:latin typeface="Cambria Math" panose="02040503050406030204" pitchFamily="18" charset="0"/>
                                        </a:rPr>
                                        <m:t>                 </m:t>
                                      </m:r>
                                    </m:e>
                                    <m:e>
                                      <m:r>
                                        <a:rPr lang="zh-CN" altLang="en-US">
                                          <a:latin typeface="Cambria Math" panose="02040503050406030204" pitchFamily="18" charset="0"/>
                                        </a:rPr>
                                        <m:t>&amp;</m:t>
                                      </m:r>
                                      <m:r>
                                        <a:rPr lang="zh-CN" altLang="en-US"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𝑙𝑐h𝑖𝑙𝑑</m:t>
                                      </m:r>
                                      <m:r>
                                        <a:rPr lang="zh-CN" altLang="en-US">
                                          <a:latin typeface="Cambria Math" panose="02040503050406030204" pitchFamily="18" charset="0"/>
                                        </a:rPr>
                                        <m:t>=</m:t>
                                      </m:r>
                                      <m:r>
                                        <a:rPr lang="zh-CN" altLang="en-US"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𝑟𝑐h𝑖𝑙𝑑</m:t>
                                      </m:r>
                                      <m:r>
                                        <a:rPr lang="zh-CN" altLang="en-US">
                                          <a:latin typeface="Cambria Math" panose="02040503050406030204" pitchFamily="18" charset="0"/>
                                        </a:rPr>
                                        <m:t>       </m:t>
                                      </m:r>
                                    </m:e>
                                    <m:e>
                                      <m:r>
                                        <a:rPr lang="zh-CN" altLang="en-US">
                                          <a:latin typeface="Cambria Math" panose="02040503050406030204" pitchFamily="18" charset="0"/>
                                        </a:rPr>
                                        <m:t>&amp;</m:t>
                                      </m:r>
                                      <m:r>
                                        <a:rPr lang="zh-CN" altLang="en-US" i="1">
                                          <a:latin typeface="Cambria Math" panose="02040503050406030204" pitchFamily="18" charset="0"/>
                                        </a:rPr>
                                        <m:t>𝑡</m:t>
                                      </m:r>
                                      <m:r>
                                        <a:rPr lang="zh-CN" altLang="en-US">
                                          <a:latin typeface="Cambria Math" panose="02040503050406030204" pitchFamily="18" charset="0"/>
                                        </a:rPr>
                                        <m:t>→</m:t>
                                      </m:r>
                                      <m:r>
                                        <a:rPr lang="zh-CN" altLang="en-US" i="1">
                                          <a:latin typeface="Cambria Math" panose="02040503050406030204" pitchFamily="18" charset="0"/>
                                        </a:rPr>
                                        <m:t>𝑟𝑐h𝑖𝑙𝑑</m:t>
                                      </m:r>
                                      <m:r>
                                        <a:rPr lang="zh-CN" altLang="en-US">
                                          <a:latin typeface="Cambria Math" panose="02040503050406030204" pitchFamily="18" charset="0"/>
                                        </a:rPr>
                                        <m:t>=</m:t>
                                      </m:r>
                                      <m:r>
                                        <a:rPr lang="zh-CN" altLang="en-US" i="1">
                                          <a:latin typeface="Cambria Math" panose="02040503050406030204" pitchFamily="18" charset="0"/>
                                        </a:rPr>
                                        <m:t>𝑡𝑒𝑚𝑝</m:t>
                                      </m:r>
                                      <m:r>
                                        <a:rPr lang="zh-CN" altLang="en-US">
                                          <a:latin typeface="Cambria Math" panose="02040503050406030204" pitchFamily="18" charset="0"/>
                                        </a:rPr>
                                        <m:t>                </m:t>
                                      </m:r>
                                    </m:e>
                                    <m:e>
                                      <m:r>
                                        <a:rPr lang="zh-CN" altLang="en-US">
                                          <a:latin typeface="Cambria Math" panose="02040503050406030204" pitchFamily="18" charset="0"/>
                                        </a:rPr>
                                        <m:t>&amp;</m:t>
                                      </m:r>
                                      <m:r>
                                        <a:rPr lang="zh-CN" altLang="en-US" i="1">
                                          <a:latin typeface="Cambria Math" panose="02040503050406030204" pitchFamily="18" charset="0"/>
                                        </a:rPr>
                                        <m:t>𝐶h𝑎𝑛𝑔𝑆𝑢𝑏𝑇𝑟𝑒𝑒</m:t>
                                      </m:r>
                                      <m:d>
                                        <m:dPr>
                                          <m:ctrlPr>
                                            <a:rPr lang="zh-CN" altLang="en-US" i="1">
                                              <a:latin typeface="Cambria Math" panose="02040503050406030204" pitchFamily="18" charset="0"/>
                                            </a:rPr>
                                          </m:ctrlPr>
                                        </m:dPr>
                                        <m:e>
                                          <m:r>
                                            <m:rPr>
                                              <m:sty m:val="p"/>
                                            </m:rPr>
                                            <a:rPr lang="zh-CN" altLang="en-US">
                                              <a:latin typeface="Cambria Math" panose="02040503050406030204" pitchFamily="18" charset="0"/>
                                            </a:rPr>
                                            <m:t>t</m:t>
                                          </m:r>
                                          <m:r>
                                            <a:rPr lang="zh-CN" altLang="en-US">
                                              <a:latin typeface="Cambria Math" panose="02040503050406030204" pitchFamily="18" charset="0"/>
                                            </a:rPr>
                                            <m:t>→</m:t>
                                          </m:r>
                                          <m:r>
                                            <m:rPr>
                                              <m:sty m:val="p"/>
                                            </m:rPr>
                                            <a:rPr lang="zh-CN" altLang="en-US">
                                              <a:latin typeface="Cambria Math" panose="02040503050406030204" pitchFamily="18" charset="0"/>
                                            </a:rPr>
                                            <m:t>lchild</m:t>
                                          </m:r>
                                        </m:e>
                                      </m:d>
                                    </m:e>
                                    <m:e>
                                      <m:r>
                                        <a:rPr lang="zh-CN" altLang="en-US">
                                          <a:latin typeface="Cambria Math" panose="02040503050406030204" pitchFamily="18" charset="0"/>
                                        </a:rPr>
                                        <m:t>&amp;</m:t>
                                      </m:r>
                                      <m:r>
                                        <a:rPr lang="zh-CN" altLang="en-US" i="1">
                                          <a:latin typeface="Cambria Math" panose="02040503050406030204" pitchFamily="18" charset="0"/>
                                        </a:rPr>
                                        <m:t>𝐶h𝑎𝑛𝑔𝑆𝑢𝑏𝑇𝑟𝑒𝑒</m:t>
                                      </m:r>
                                      <m:d>
                                        <m:dPr>
                                          <m:ctrlPr>
                                            <a:rPr lang="zh-CN" altLang="en-US" i="1">
                                              <a:latin typeface="Cambria Math" panose="02040503050406030204" pitchFamily="18" charset="0"/>
                                            </a:rPr>
                                          </m:ctrlPr>
                                        </m:dPr>
                                        <m:e>
                                          <m:r>
                                            <m:rPr>
                                              <m:sty m:val="p"/>
                                            </m:rPr>
                                            <a:rPr lang="zh-CN" altLang="en-US">
                                              <a:latin typeface="Cambria Math" panose="02040503050406030204" pitchFamily="18" charset="0"/>
                                            </a:rPr>
                                            <m:t>t</m:t>
                                          </m:r>
                                          <m:r>
                                            <a:rPr lang="zh-CN" altLang="en-US">
                                              <a:latin typeface="Cambria Math" panose="02040503050406030204" pitchFamily="18" charset="0"/>
                                            </a:rPr>
                                            <m:t>→</m:t>
                                          </m:r>
                                          <m:r>
                                            <m:rPr>
                                              <m:sty m:val="p"/>
                                            </m:rPr>
                                            <a:rPr lang="zh-CN" altLang="en-US">
                                              <a:latin typeface="Cambria Math" panose="02040503050406030204" pitchFamily="18" charset="0"/>
                                            </a:rPr>
                                            <m:t>rchild</m:t>
                                          </m:r>
                                        </m:e>
                                      </m:d>
                                    </m:e>
                                  </m:eqArr>
                                </m:e>
                              </m:d>
                            </m:e>
                          </m:eqArr>
                        </m:e>
                      </m:d>
                    </m:oMath>
                  </m:oMathPara>
                </a14:m>
                <a:endParaRPr lang="zh-CN" altLang="en-US" dirty="0">
                  <a:latin typeface="Times New Roman" panose="02020603050405020304" pitchFamily="18" charset="0"/>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0" y="2139702"/>
                <a:ext cx="5452455" cy="1985095"/>
              </a:xfrm>
              <a:prstGeom prst="rect">
                <a:avLst/>
              </a:prstGeom>
              <a:blipFill>
                <a:blip r:embed="rId2"/>
                <a:stretch>
                  <a:fillRect/>
                </a:stretch>
              </a:blipFill>
            </p:spPr>
            <p:txBody>
              <a:bodyPr/>
              <a:lstStyle/>
              <a:p>
                <a:r>
                  <a:rPr lang="zh-CN" altLang="en-US">
                    <a:noFill/>
                  </a:rPr>
                  <a:t> </a:t>
                </a:r>
              </a:p>
            </p:txBody>
          </p:sp>
        </mc:Fallback>
      </mc:AlternateContent>
      <p:sp>
        <p:nvSpPr>
          <p:cNvPr id="8" name="文本框 7"/>
          <p:cNvSpPr txBox="1"/>
          <p:nvPr/>
        </p:nvSpPr>
        <p:spPr>
          <a:xfrm>
            <a:off x="5292080" y="1563638"/>
            <a:ext cx="3744416" cy="3139321"/>
          </a:xfrm>
          <a:prstGeom prst="rect">
            <a:avLst/>
          </a:prstGeom>
          <a:noFill/>
        </p:spPr>
        <p:txBody>
          <a:bodyPr wrap="square" rtlCol="0">
            <a:spAutoFit/>
          </a:bodyPr>
          <a:lstStyle/>
          <a:p>
            <a:r>
              <a:rPr lang="es-ES" altLang="zh-CN" dirty="0">
                <a:solidFill>
                  <a:srgbClr val="0066FF"/>
                </a:solidFill>
                <a:latin typeface="Times New Roman" panose="02020603050405020304" pitchFamily="18" charset="0"/>
                <a:cs typeface="Times New Roman" panose="02020603050405020304" pitchFamily="18" charset="0"/>
              </a:rPr>
              <a:t>void ChangeSubTree(BitNode *&amp;t){</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BitNode *temp;</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if(t){</a:t>
            </a:r>
          </a:p>
          <a:p>
            <a:r>
              <a:rPr lang="es-ES" altLang="zh-CN" dirty="0">
                <a:solidFill>
                  <a:srgbClr val="0066FF"/>
                </a:solidFill>
                <a:latin typeface="Times New Roman" panose="02020603050405020304" pitchFamily="18" charset="0"/>
                <a:cs typeface="Times New Roman" panose="02020603050405020304" pitchFamily="18" charset="0"/>
              </a:rPr>
              <a:t>       temp=t-&gt;lchild;</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t-&gt;lchild=t-&gt;rchild;</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t-&gt;rchild=temp;</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ChangeSubTree(t-&gt;lchild);</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ChangeSubTree(t-&gt;rchild);</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   }</a:t>
            </a:r>
            <a:endParaRPr lang="zh-CN" altLang="zh-CN" dirty="0">
              <a:solidFill>
                <a:srgbClr val="0066FF"/>
              </a:solidFill>
              <a:latin typeface="Times New Roman" panose="02020603050405020304" pitchFamily="18" charset="0"/>
              <a:cs typeface="Times New Roman" panose="02020603050405020304" pitchFamily="18" charset="0"/>
            </a:endParaRPr>
          </a:p>
          <a:p>
            <a:r>
              <a:rPr lang="es-ES" altLang="zh-CN" dirty="0">
                <a:solidFill>
                  <a:srgbClr val="0066FF"/>
                </a:solidFill>
                <a:latin typeface="Times New Roman" panose="02020603050405020304" pitchFamily="18" charset="0"/>
                <a:cs typeface="Times New Roman" panose="02020603050405020304" pitchFamily="18" charset="0"/>
              </a:rPr>
              <a:t>}</a:t>
            </a:r>
            <a:endParaRPr lang="zh-CN" altLang="zh-CN" dirty="0">
              <a:solidFill>
                <a:srgbClr val="0066FF"/>
              </a:solidFill>
              <a:latin typeface="Times New Roman" panose="02020603050405020304" pitchFamily="18" charset="0"/>
              <a:cs typeface="Times New Roman" panose="02020603050405020304" pitchFamily="18" charset="0"/>
            </a:endParaRPr>
          </a:p>
          <a:p>
            <a:endParaRPr lang="zh-CN" altLang="en-US" dirty="0"/>
          </a:p>
        </p:txBody>
      </p:sp>
      <p:sp>
        <p:nvSpPr>
          <p:cNvPr id="9" name="文本框 8"/>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7455012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 calcmode="lin" valueType="num">
                                      <p:cBhvr additive="base">
                                        <p:cTn id="25"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1" end="1"/>
                                            </p:txEl>
                                          </p:spTgt>
                                        </p:tgtEl>
                                        <p:attrNameLst>
                                          <p:attrName>style.visibility</p:attrName>
                                        </p:attrNameLst>
                                      </p:cBhvr>
                                      <p:to>
                                        <p:strVal val="visible"/>
                                      </p:to>
                                    </p:set>
                                    <p:anim calcmode="lin" valueType="num">
                                      <p:cBhvr additive="base">
                                        <p:cTn id="3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fade">
                                      <p:cBhvr>
                                        <p:cTn id="37" dur="1000"/>
                                        <p:tgtEl>
                                          <p:spTgt spid="8">
                                            <p:txEl>
                                              <p:pRg st="2" end="2"/>
                                            </p:txEl>
                                          </p:spTgt>
                                        </p:tgtEl>
                                      </p:cBhvr>
                                    </p:animEffect>
                                    <p:anim calcmode="lin" valueType="num">
                                      <p:cBhvr>
                                        <p:cTn id="3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8">
                                            <p:txEl>
                                              <p:pRg st="3" end="3"/>
                                            </p:txEl>
                                          </p:spTgt>
                                        </p:tgtEl>
                                        <p:attrNameLst>
                                          <p:attrName>style.visibility</p:attrName>
                                        </p:attrNameLst>
                                      </p:cBhvr>
                                      <p:to>
                                        <p:strVal val="visible"/>
                                      </p:to>
                                    </p:set>
                                    <p:animEffect transition="in" filter="fade">
                                      <p:cBhvr>
                                        <p:cTn id="44" dur="1000"/>
                                        <p:tgtEl>
                                          <p:spTgt spid="8">
                                            <p:txEl>
                                              <p:pRg st="3" end="3"/>
                                            </p:txEl>
                                          </p:spTgt>
                                        </p:tgtEl>
                                      </p:cBhvr>
                                    </p:animEffect>
                                    <p:anim calcmode="lin" valueType="num">
                                      <p:cBhvr>
                                        <p:cTn id="4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8">
                                            <p:txEl>
                                              <p:pRg st="4" end="4"/>
                                            </p:txEl>
                                          </p:spTgt>
                                        </p:tgtEl>
                                        <p:attrNameLst>
                                          <p:attrName>style.visibility</p:attrName>
                                        </p:attrNameLst>
                                      </p:cBhvr>
                                      <p:to>
                                        <p:strVal val="visible"/>
                                      </p:to>
                                    </p:set>
                                    <p:anim calcmode="lin" valueType="num">
                                      <p:cBhvr additive="base">
                                        <p:cTn id="5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8">
                                            <p:txEl>
                                              <p:pRg st="5" end="5"/>
                                            </p:txEl>
                                          </p:spTgt>
                                        </p:tgtEl>
                                        <p:attrNameLst>
                                          <p:attrName>style.visibility</p:attrName>
                                        </p:attrNameLst>
                                      </p:cBhvr>
                                      <p:to>
                                        <p:strVal val="visible"/>
                                      </p:to>
                                    </p:set>
                                    <p:anim calcmode="lin" valueType="num">
                                      <p:cBhvr additive="base">
                                        <p:cTn id="5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8">
                                            <p:txEl>
                                              <p:pRg st="6" end="6"/>
                                            </p:txEl>
                                          </p:spTgt>
                                        </p:tgtEl>
                                        <p:attrNameLst>
                                          <p:attrName>style.visibility</p:attrName>
                                        </p:attrNameLst>
                                      </p:cBhvr>
                                      <p:to>
                                        <p:strVal val="visible"/>
                                      </p:to>
                                    </p:set>
                                    <p:anim calcmode="lin" valueType="num">
                                      <p:cBhvr additive="base">
                                        <p:cTn id="6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8">
                                            <p:txEl>
                                              <p:pRg st="7" end="7"/>
                                            </p:txEl>
                                          </p:spTgt>
                                        </p:tgtEl>
                                        <p:attrNameLst>
                                          <p:attrName>style.visibility</p:attrName>
                                        </p:attrNameLst>
                                      </p:cBhvr>
                                      <p:to>
                                        <p:strVal val="visible"/>
                                      </p:to>
                                    </p:set>
                                    <p:anim calcmode="lin" valueType="num">
                                      <p:cBhvr additive="base">
                                        <p:cTn id="6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8">
                                            <p:txEl>
                                              <p:pRg st="7" end="7"/>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8">
                                            <p:txEl>
                                              <p:pRg st="8" end="8"/>
                                            </p:txEl>
                                          </p:spTgt>
                                        </p:tgtEl>
                                        <p:attrNameLst>
                                          <p:attrName>style.visibility</p:attrName>
                                        </p:attrNameLst>
                                      </p:cBhvr>
                                      <p:to>
                                        <p:strVal val="visible"/>
                                      </p:to>
                                    </p:set>
                                    <p:anim calcmode="lin" valueType="num">
                                      <p:cBhvr additive="base">
                                        <p:cTn id="73"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8">
                                            <p:txEl>
                                              <p:pRg st="8" end="8"/>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8">
                                            <p:txEl>
                                              <p:pRg st="9" end="9"/>
                                            </p:txEl>
                                          </p:spTgt>
                                        </p:tgtEl>
                                        <p:attrNameLst>
                                          <p:attrName>style.visibility</p:attrName>
                                        </p:attrNameLst>
                                      </p:cBhvr>
                                      <p:to>
                                        <p:strVal val="visible"/>
                                      </p:to>
                                    </p:set>
                                    <p:anim calcmode="lin" valueType="num">
                                      <p:cBhvr additive="base">
                                        <p:cTn id="77"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66570" y="699542"/>
                <a:ext cx="8610860" cy="1296144"/>
              </a:xfrm>
            </p:spPr>
            <p:txBody>
              <a:bodyPr/>
              <a:lstStyle/>
              <a:p>
                <a:pPr marL="0" indent="0" algn="just">
                  <a:lnSpc>
                    <a:spcPct val="1000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例</a:t>
                </a:r>
                <a:r>
                  <a:rPr lang="es-ES" altLang="zh-CN" sz="1600" dirty="0">
                    <a:solidFill>
                      <a:srgbClr val="C00000"/>
                    </a:solidFill>
                    <a:latin typeface="Times New Roman" panose="02020603050405020304" pitchFamily="18" charset="0"/>
                    <a:cs typeface="Times New Roman" panose="02020603050405020304" pitchFamily="18" charset="0"/>
                  </a:rPr>
                  <a:t>2</a:t>
                </a:r>
                <a:r>
                  <a:rPr lang="zh-CN" altLang="en-US" sz="1600" dirty="0">
                    <a:solidFill>
                      <a:srgbClr val="C00000"/>
                    </a:solidFill>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已知二叉树采用二叉链表存储结构存储，请设计一个判断两棵二叉树是否相似的算法。若相似返回</a:t>
                </a:r>
                <a:r>
                  <a:rPr lang="es-ES" altLang="zh-CN" sz="1600" dirty="0">
                    <a:solidFill>
                      <a:srgbClr val="C00000"/>
                    </a:solidFill>
                    <a:latin typeface="Times New Roman" panose="02020603050405020304" pitchFamily="18" charset="0"/>
                    <a:cs typeface="Times New Roman" panose="02020603050405020304" pitchFamily="18" charset="0"/>
                  </a:rPr>
                  <a:t>1</a:t>
                </a:r>
                <a:r>
                  <a:rPr lang="zh-CN" altLang="zh-CN" sz="1600" dirty="0">
                    <a:solidFill>
                      <a:srgbClr val="C00000"/>
                    </a:solidFill>
                    <a:latin typeface="Times New Roman" panose="02020603050405020304" pitchFamily="18" charset="0"/>
                    <a:cs typeface="Times New Roman" panose="02020603050405020304" pitchFamily="18" charset="0"/>
                  </a:rPr>
                  <a:t>，否则返回</a:t>
                </a:r>
                <a:r>
                  <a:rPr lang="es-ES" altLang="zh-CN" sz="1600" dirty="0">
                    <a:solidFill>
                      <a:srgbClr val="C00000"/>
                    </a:solidFill>
                    <a:latin typeface="Times New Roman" panose="02020603050405020304" pitchFamily="18" charset="0"/>
                    <a:cs typeface="Times New Roman" panose="02020603050405020304" pitchFamily="18" charset="0"/>
                  </a:rPr>
                  <a:t>0</a:t>
                </a:r>
                <a:r>
                  <a:rPr lang="zh-CN" altLang="zh-CN" sz="1600" dirty="0">
                    <a:solidFill>
                      <a:srgbClr val="C00000"/>
                    </a:solidFill>
                    <a:latin typeface="Times New Roman" panose="02020603050405020304" pitchFamily="18" charset="0"/>
                    <a:cs typeface="Times New Roman" panose="02020603050405020304" pitchFamily="18" charset="0"/>
                  </a:rPr>
                  <a:t>。所谓两棵二叉树</a:t>
                </a:r>
                <a14:m>
                  <m:oMath xmlns:m="http://schemas.openxmlformats.org/officeDocument/2006/math">
                    <m:r>
                      <m:rPr>
                        <m:sty m:val="p"/>
                      </m:rPr>
                      <a:rPr lang="es-ES" altLang="zh-CN" sz="1600">
                        <a:solidFill>
                          <a:srgbClr val="C00000"/>
                        </a:solidFill>
                        <a:latin typeface="Cambria Math" panose="02040503050406030204" pitchFamily="18" charset="0"/>
                        <a:ea typeface="隶书" panose="02010509060101010101" pitchFamily="49" charset="-122"/>
                      </a:rPr>
                      <m:t>s</m:t>
                    </m:r>
                    <m:r>
                      <a:rPr lang="zh-CN" altLang="zh-CN" sz="1600">
                        <a:solidFill>
                          <a:srgbClr val="C00000"/>
                        </a:solidFill>
                        <a:latin typeface="Cambria Math" panose="02040503050406030204" pitchFamily="18" charset="0"/>
                        <a:ea typeface="隶书" panose="02010509060101010101" pitchFamily="49" charset="-122"/>
                      </a:rPr>
                      <m:t>和</m:t>
                    </m:r>
                    <m:r>
                      <m:rPr>
                        <m:sty m:val="p"/>
                      </m:rPr>
                      <a:rPr lang="es-ES" altLang="zh-CN" sz="1600">
                        <a:solidFill>
                          <a:srgbClr val="C00000"/>
                        </a:solidFill>
                        <a:latin typeface="Cambria Math" panose="02040503050406030204" pitchFamily="18" charset="0"/>
                        <a:ea typeface="隶书" panose="02010509060101010101" pitchFamily="49" charset="-122"/>
                      </a:rPr>
                      <m:t>t</m:t>
                    </m:r>
                  </m:oMath>
                </a14:m>
                <a:r>
                  <a:rPr lang="zh-CN" altLang="zh-CN" sz="1600" dirty="0">
                    <a:solidFill>
                      <a:srgbClr val="C00000"/>
                    </a:solidFill>
                    <a:latin typeface="Times New Roman" panose="02020603050405020304" pitchFamily="18" charset="0"/>
                    <a:cs typeface="Times New Roman" panose="02020603050405020304" pitchFamily="18" charset="0"/>
                  </a:rPr>
                  <a:t>相似是指</a:t>
                </a:r>
                <a14:m>
                  <m:oMath xmlns:m="http://schemas.openxmlformats.org/officeDocument/2006/math">
                    <m:r>
                      <m:rPr>
                        <m:sty m:val="p"/>
                      </m:rPr>
                      <a:rPr lang="es-ES" altLang="zh-CN" sz="1600">
                        <a:solidFill>
                          <a:srgbClr val="C00000"/>
                        </a:solidFill>
                        <a:latin typeface="Cambria Math" panose="02040503050406030204" pitchFamily="18" charset="0"/>
                        <a:ea typeface="隶书" panose="02010509060101010101" pitchFamily="49" charset="-122"/>
                      </a:rPr>
                      <m:t>s</m:t>
                    </m:r>
                    <m:r>
                      <a:rPr lang="zh-CN" altLang="zh-CN" sz="1600">
                        <a:solidFill>
                          <a:srgbClr val="C00000"/>
                        </a:solidFill>
                        <a:latin typeface="Cambria Math" panose="02040503050406030204" pitchFamily="18" charset="0"/>
                        <a:ea typeface="隶书" panose="02010509060101010101" pitchFamily="49" charset="-122"/>
                      </a:rPr>
                      <m:t>和</m:t>
                    </m:r>
                    <m:r>
                      <m:rPr>
                        <m:sty m:val="p"/>
                      </m:rPr>
                      <a:rPr lang="es-ES" altLang="zh-CN" sz="1600">
                        <a:solidFill>
                          <a:srgbClr val="C00000"/>
                        </a:solidFill>
                        <a:latin typeface="Cambria Math" panose="02040503050406030204" pitchFamily="18" charset="0"/>
                        <a:ea typeface="隶书" panose="02010509060101010101" pitchFamily="49" charset="-122"/>
                      </a:rPr>
                      <m:t>t</m:t>
                    </m:r>
                  </m:oMath>
                </a14:m>
                <a:r>
                  <a:rPr lang="zh-CN" altLang="zh-CN" sz="1600" dirty="0">
                    <a:solidFill>
                      <a:srgbClr val="C00000"/>
                    </a:solidFill>
                    <a:latin typeface="Times New Roman" panose="02020603050405020304" pitchFamily="18" charset="0"/>
                    <a:cs typeface="Times New Roman" panose="02020603050405020304" pitchFamily="18" charset="0"/>
                  </a:rPr>
                  <a:t>均为空的二叉树；或者</a:t>
                </a:r>
                <a14:m>
                  <m:oMath xmlns:m="http://schemas.openxmlformats.org/officeDocument/2006/math">
                    <m:r>
                      <m:rPr>
                        <m:sty m:val="p"/>
                      </m:rPr>
                      <a:rPr lang="es-ES" altLang="zh-CN" sz="1600">
                        <a:solidFill>
                          <a:srgbClr val="C00000"/>
                        </a:solidFill>
                        <a:latin typeface="Cambria Math" panose="02040503050406030204" pitchFamily="18" charset="0"/>
                      </a:rPr>
                      <m:t>s</m:t>
                    </m:r>
                    <m:r>
                      <a:rPr lang="zh-CN" altLang="zh-CN" sz="1600">
                        <a:solidFill>
                          <a:srgbClr val="C00000"/>
                        </a:solidFill>
                        <a:latin typeface="Cambria Math" panose="02040503050406030204" pitchFamily="18" charset="0"/>
                      </a:rPr>
                      <m:t>和</m:t>
                    </m:r>
                    <m:r>
                      <m:rPr>
                        <m:sty m:val="p"/>
                      </m:rPr>
                      <a:rPr lang="es-ES" altLang="zh-CN" sz="1600">
                        <a:solidFill>
                          <a:srgbClr val="C00000"/>
                        </a:solidFill>
                        <a:latin typeface="Cambria Math" panose="02040503050406030204" pitchFamily="18" charset="0"/>
                      </a:rPr>
                      <m:t>t</m:t>
                    </m:r>
                  </m:oMath>
                </a14:m>
                <a:r>
                  <a:rPr lang="zh-CN" altLang="zh-CN" sz="1600" dirty="0">
                    <a:solidFill>
                      <a:srgbClr val="C00000"/>
                    </a:solidFill>
                    <a:latin typeface="Times New Roman" panose="02020603050405020304" pitchFamily="18" charset="0"/>
                    <a:cs typeface="Times New Roman" panose="02020603050405020304" pitchFamily="18" charset="0"/>
                  </a:rPr>
                  <a:t>的根结点相似（值可以不同），且左子树和右子树分别相似。</a:t>
                </a:r>
              </a:p>
              <a:p>
                <a:pPr algn="just"/>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66570" y="699542"/>
                <a:ext cx="8610860" cy="1296144"/>
              </a:xfrm>
              <a:blipFill>
                <a:blip r:embed="rId2"/>
                <a:stretch>
                  <a:fillRect l="-708" t="-2830" r="-6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580077" y="1563638"/>
                <a:ext cx="4032448" cy="1894878"/>
              </a:xfrm>
              <a:prstGeom prst="rect">
                <a:avLst/>
              </a:prstGeom>
              <a:noFill/>
            </p:spPr>
            <p:txBody>
              <a:bodyPr wrap="square" rtlCol="0">
                <a:spAutoFit/>
              </a:bodyPr>
              <a:lstStyle/>
              <a:p>
                <a:pPr algn="ctr"/>
                <a:r>
                  <a:rPr lang="zh-CN" altLang="zh-CN" dirty="0">
                    <a:latin typeface="隶书" panose="02010509060101010101" pitchFamily="49" charset="-122"/>
                    <a:ea typeface="隶书" panose="02010509060101010101" pitchFamily="49" charset="-122"/>
                  </a:rPr>
                  <a:t>判断两棵二叉树相似的递归模型如下：</a:t>
                </a:r>
              </a:p>
              <a:p>
                <a:pPr algn="ctr"/>
                <a14:m>
                  <m:oMathPara xmlns:m="http://schemas.openxmlformats.org/officeDocument/2006/math">
                    <m:oMathParaPr>
                      <m:jc m:val="left"/>
                    </m:oMathParaPr>
                    <m:oMath xmlns:m="http://schemas.openxmlformats.org/officeDocument/2006/math">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m:rPr>
                                  <m:sty m:val="p"/>
                                </m:rPr>
                                <a:rPr lang="es-ES" altLang="zh-CN">
                                  <a:latin typeface="Cambria Math" panose="02040503050406030204" pitchFamily="18" charset="0"/>
                                </a:rPr>
                                <m:t>Alike</m:t>
                              </m:r>
                              <m:d>
                                <m:dPr>
                                  <m:ctrlPr>
                                    <a:rPr lang="zh-CN" altLang="zh-CN" i="1">
                                      <a:latin typeface="Cambria Math" panose="02040503050406030204" pitchFamily="18" charset="0"/>
                                    </a:rPr>
                                  </m:ctrlPr>
                                </m:dPr>
                                <m:e>
                                  <m:r>
                                    <a:rPr lang="es-ES" altLang="zh-CN">
                                      <a:latin typeface="Cambria Math" panose="02040503050406030204" pitchFamily="18" charset="0"/>
                                    </a:rPr>
                                    <m:t>∅,∅</m:t>
                                  </m:r>
                                </m:e>
                              </m:d>
                              <m:r>
                                <a:rPr lang="es-ES" altLang="zh-CN">
                                  <a:latin typeface="Cambria Math" panose="02040503050406030204" pitchFamily="18" charset="0"/>
                                </a:rPr>
                                <m:t>=1 </m:t>
                              </m:r>
                              <m:r>
                                <a:rPr lang="en-US" altLang="zh-CN" b="0" i="0" smtClean="0">
                                  <a:latin typeface="Cambria Math" panose="02040503050406030204" pitchFamily="18" charset="0"/>
                                </a:rPr>
                                <m:t>                                                              </m:t>
                              </m:r>
                              <m:r>
                                <a:rPr lang="es-ES" altLang="zh-CN">
                                  <a:latin typeface="Cambria Math" panose="02040503050406030204" pitchFamily="18" charset="0"/>
                                </a:rPr>
                                <m:t>                                                 </m:t>
                              </m:r>
                            </m:e>
                            <m:e>
                              <m:r>
                                <m:rPr>
                                  <m:sty m:val="p"/>
                                </m:rPr>
                                <a:rPr lang="es-ES" altLang="zh-CN">
                                  <a:latin typeface="Cambria Math" panose="02040503050406030204" pitchFamily="18" charset="0"/>
                                </a:rPr>
                                <m:t>Alike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s</m:t>
                                  </m:r>
                                  <m:r>
                                    <a:rPr lang="es-ES" altLang="zh-CN">
                                      <a:latin typeface="Cambria Math" panose="02040503050406030204" pitchFamily="18" charset="0"/>
                                    </a:rPr>
                                    <m:t>,∅</m:t>
                                  </m:r>
                                </m:e>
                              </m:d>
                              <m:r>
                                <a:rPr lang="es-ES" altLang="zh-CN">
                                  <a:latin typeface="Cambria Math" panose="02040503050406030204" pitchFamily="18" charset="0"/>
                                </a:rPr>
                                <m:t>=0     </m:t>
                              </m:r>
                              <m:r>
                                <a:rPr lang="en-US" altLang="zh-CN" b="0" i="0" smtClean="0">
                                  <a:latin typeface="Cambria Math" panose="02040503050406030204" pitchFamily="18" charset="0"/>
                                </a:rPr>
                                <m:t>                                                               </m:t>
                              </m:r>
                              <m:r>
                                <a:rPr lang="es-ES" altLang="zh-CN">
                                  <a:latin typeface="Cambria Math" panose="02040503050406030204" pitchFamily="18" charset="0"/>
                                </a:rPr>
                                <m:t>                                             </m:t>
                              </m:r>
                            </m:e>
                            <m:e>
                              <m:r>
                                <m:rPr>
                                  <m:sty m:val="p"/>
                                </m:rPr>
                                <a:rPr lang="es-ES" altLang="zh-CN">
                                  <a:latin typeface="Cambria Math" panose="02040503050406030204" pitchFamily="18" charset="0"/>
                                </a:rPr>
                                <m:t>Alike</m:t>
                              </m:r>
                              <m:d>
                                <m:dPr>
                                  <m:ctrlPr>
                                    <a:rPr lang="zh-CN" altLang="zh-CN" i="1">
                                      <a:latin typeface="Cambria Math" panose="02040503050406030204" pitchFamily="18" charset="0"/>
                                    </a:rPr>
                                  </m:ctrlPr>
                                </m:dPr>
                                <m:e>
                                  <m:r>
                                    <a:rPr lang="es-ES" altLang="zh-CN">
                                      <a:latin typeface="Cambria Math" panose="02040503050406030204" pitchFamily="18" charset="0"/>
                                    </a:rPr>
                                    <m:t>∅,</m:t>
                                  </m:r>
                                  <m:r>
                                    <m:rPr>
                                      <m:sty m:val="p"/>
                                    </m:rPr>
                                    <a:rPr lang="es-ES" altLang="zh-CN">
                                      <a:latin typeface="Cambria Math" panose="02040503050406030204" pitchFamily="18" charset="0"/>
                                    </a:rPr>
                                    <m:t>t</m:t>
                                  </m:r>
                                </m:e>
                              </m:d>
                              <m:r>
                                <a:rPr lang="es-ES" altLang="zh-CN">
                                  <a:latin typeface="Cambria Math" panose="02040503050406030204" pitchFamily="18" charset="0"/>
                                </a:rPr>
                                <m:t>=0  </m:t>
                              </m:r>
                              <m:r>
                                <a:rPr lang="en-US" altLang="zh-CN" b="0" i="0" smtClean="0">
                                  <a:latin typeface="Cambria Math" panose="02040503050406030204" pitchFamily="18" charset="0"/>
                                </a:rPr>
                                <m:t>                                                             </m:t>
                              </m:r>
                              <m:r>
                                <a:rPr lang="es-ES" altLang="zh-CN">
                                  <a:latin typeface="Cambria Math" panose="02040503050406030204" pitchFamily="18" charset="0"/>
                                </a:rPr>
                                <m:t>                                                 </m:t>
                              </m:r>
                            </m:e>
                            <m:e>
                              <m:r>
                                <m:rPr>
                                  <m:sty m:val="p"/>
                                </m:rPr>
                                <a:rPr lang="es-ES" altLang="zh-CN">
                                  <a:latin typeface="Cambria Math" panose="02040503050406030204" pitchFamily="18" charset="0"/>
                                </a:rPr>
                                <m:t>Alike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t</m:t>
                                  </m:r>
                                </m:e>
                              </m:d>
                              <m:r>
                                <a:rPr lang="es-ES" altLang="zh-CN">
                                  <a:latin typeface="Cambria Math" panose="02040503050406030204" pitchFamily="18" charset="0"/>
                                </a:rPr>
                                <m:t>=</m:t>
                              </m:r>
                              <m:r>
                                <m:rPr>
                                  <m:sty m:val="p"/>
                                </m:rPr>
                                <a:rPr lang="es-ES" altLang="zh-CN">
                                  <a:latin typeface="Cambria Math" panose="02040503050406030204" pitchFamily="18" charset="0"/>
                                </a:rPr>
                                <m:t>Alike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lchild</m:t>
                                  </m:r>
                                  <m:r>
                                    <a:rPr lang="es-ES" altLang="zh-CN">
                                      <a:latin typeface="Cambria Math" panose="02040503050406030204" pitchFamily="18" charset="0"/>
                                    </a:rPr>
                                    <m:t>,</m:t>
                                  </m:r>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n-US" altLang="zh-CN" b="0" i="0" smtClean="0">
                                      <a:latin typeface="Cambria Math" panose="02040503050406030204" pitchFamily="18" charset="0"/>
                                    </a:rPr>
                                    <m:t>l</m:t>
                                  </m:r>
                                  <m:r>
                                    <m:rPr>
                                      <m:sty m:val="p"/>
                                    </m:rPr>
                                    <a:rPr lang="es-ES" altLang="zh-CN">
                                      <a:latin typeface="Cambria Math" panose="02040503050406030204" pitchFamily="18" charset="0"/>
                                    </a:rPr>
                                    <m:t>child</m:t>
                                  </m:r>
                                </m:e>
                              </m:d>
                              <m:r>
                                <a:rPr lang="en-US" altLang="zh-CN" b="0" i="1" smtClean="0">
                                  <a:latin typeface="Cambria Math" panose="02040503050406030204" pitchFamily="18" charset="0"/>
                                </a:rPr>
                                <m:t> </m:t>
                              </m:r>
                              <m:r>
                                <a:rPr lang="en-US" altLang="zh-CN" b="0" i="0" smtClean="0">
                                  <a:latin typeface="Cambria Math" panose="02040503050406030204" pitchFamily="18" charset="0"/>
                                </a:rPr>
                                <m:t> </m:t>
                              </m:r>
                              <m:r>
                                <m:rPr>
                                  <m:sty m:val="p"/>
                                </m:rPr>
                                <a:rPr lang="es-ES" altLang="zh-CN">
                                  <a:latin typeface="Cambria Math" panose="02040503050406030204" pitchFamily="18" charset="0"/>
                                </a:rPr>
                                <m:t>and</m:t>
                              </m:r>
                              <m:r>
                                <a:rPr lang="en-US" altLang="zh-CN" b="0" i="0" smtClean="0">
                                  <a:latin typeface="Cambria Math" panose="02040503050406030204" pitchFamily="18" charset="0"/>
                                </a:rPr>
                                <m:t>  </m:t>
                              </m:r>
                              <m:r>
                                <m:rPr>
                                  <m:sty m:val="p"/>
                                </m:rPr>
                                <a:rPr lang="es-ES" altLang="zh-CN">
                                  <a:latin typeface="Cambria Math" panose="02040503050406030204" pitchFamily="18" charset="0"/>
                                </a:rPr>
                                <m:t>Alike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rchild</m:t>
                                  </m:r>
                                  <m:r>
                                    <a:rPr lang="es-ES" altLang="zh-CN">
                                      <a:latin typeface="Cambria Math" panose="02040503050406030204" pitchFamily="18" charset="0"/>
                                    </a:rPr>
                                    <m:t>,</m:t>
                                  </m:r>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rchild</m:t>
                                  </m:r>
                                </m:e>
                              </m:d>
                              <m:r>
                                <a:rPr lang="es-ES" altLang="zh-CN">
                                  <a:latin typeface="Cambria Math" panose="02040503050406030204" pitchFamily="18" charset="0"/>
                                </a:rPr>
                                <m:t> </m:t>
                              </m:r>
                            </m:e>
                          </m:eqArr>
                        </m:e>
                      </m:d>
                    </m:oMath>
                  </m:oMathPara>
                </a14:m>
                <a:endParaRPr lang="zh-CN" altLang="zh-CN" dirty="0"/>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580077" y="1563638"/>
                <a:ext cx="4032448" cy="1894878"/>
              </a:xfrm>
              <a:prstGeom prst="rect">
                <a:avLst/>
              </a:prstGeom>
              <a:blipFill>
                <a:blip r:embed="rId3"/>
                <a:stretch>
                  <a:fillRect l="-1208" t="-1935" r="-84894"/>
                </a:stretch>
              </a:blipFill>
            </p:spPr>
            <p:txBody>
              <a:bodyPr/>
              <a:lstStyle/>
              <a:p>
                <a:r>
                  <a:rPr lang="zh-CN" altLang="en-US">
                    <a:noFill/>
                  </a:rPr>
                  <a:t> </a:t>
                </a:r>
              </a:p>
            </p:txBody>
          </p:sp>
        </mc:Fallback>
      </mc:AlternateContent>
      <p:sp>
        <p:nvSpPr>
          <p:cNvPr id="5" name="文本框 4"/>
          <p:cNvSpPr txBox="1"/>
          <p:nvPr/>
        </p:nvSpPr>
        <p:spPr>
          <a:xfrm>
            <a:off x="580077" y="3363838"/>
            <a:ext cx="6300192" cy="1323439"/>
          </a:xfrm>
          <a:prstGeom prst="rect">
            <a:avLst/>
          </a:prstGeom>
          <a:solidFill>
            <a:schemeClr val="accent2">
              <a:lumMod val="20000"/>
              <a:lumOff val="80000"/>
            </a:schemeClr>
          </a:solidFill>
        </p:spPr>
        <p:txBody>
          <a:bodyPr wrap="square" rtlCol="0">
            <a:spAutoFit/>
          </a:bodyPr>
          <a:lstStyle/>
          <a:p>
            <a:r>
              <a:rPr lang="es-ES" altLang="zh-CN" sz="1600" dirty="0">
                <a:solidFill>
                  <a:srgbClr val="002060"/>
                </a:solidFill>
              </a:rPr>
              <a:t>int Alike(BitNode *s,BitNode *t){</a:t>
            </a:r>
            <a:endParaRPr lang="zh-CN" altLang="zh-CN" sz="1600" dirty="0">
              <a:solidFill>
                <a:srgbClr val="002060"/>
              </a:solidFill>
            </a:endParaRPr>
          </a:p>
          <a:p>
            <a:r>
              <a:rPr lang="es-ES" altLang="zh-CN" sz="1600" dirty="0">
                <a:solidFill>
                  <a:srgbClr val="002060"/>
                </a:solidFill>
              </a:rPr>
              <a:t>   if(s==NULL&amp;&amp;t==NULL) return 1;    </a:t>
            </a:r>
            <a:endParaRPr lang="zh-CN" altLang="zh-CN" sz="1600" dirty="0">
              <a:solidFill>
                <a:srgbClr val="002060"/>
              </a:solidFill>
            </a:endParaRPr>
          </a:p>
          <a:p>
            <a:r>
              <a:rPr lang="es-ES" altLang="zh-CN" sz="1600" dirty="0">
                <a:solidFill>
                  <a:srgbClr val="002060"/>
                </a:solidFill>
              </a:rPr>
              <a:t>   else if(s==NULL||t==NULL) return 0;</a:t>
            </a:r>
            <a:endParaRPr lang="zh-CN" altLang="zh-CN" sz="1600" dirty="0">
              <a:solidFill>
                <a:srgbClr val="002060"/>
              </a:solidFill>
            </a:endParaRPr>
          </a:p>
          <a:p>
            <a:r>
              <a:rPr lang="es-ES" altLang="zh-CN" sz="1600" dirty="0">
                <a:solidFill>
                  <a:srgbClr val="002060"/>
                </a:solidFill>
              </a:rPr>
              <a:t>   else return Alike(s-&gt;lchild,t-&gt;lchild)&amp;&amp;Alike(s-&gt;rchild,t-&gt;rchild);</a:t>
            </a:r>
            <a:endParaRPr lang="zh-CN" altLang="zh-CN" sz="1600" dirty="0">
              <a:solidFill>
                <a:srgbClr val="002060"/>
              </a:solidFill>
            </a:endParaRPr>
          </a:p>
          <a:p>
            <a:r>
              <a:rPr lang="es-ES" altLang="zh-CN" sz="1600" dirty="0">
                <a:solidFill>
                  <a:srgbClr val="002060"/>
                </a:solidFill>
              </a:rPr>
              <a:t>}</a:t>
            </a:r>
            <a:endParaRPr lang="zh-CN" altLang="zh-CN" sz="1600" dirty="0">
              <a:solidFill>
                <a:srgbClr val="002060"/>
              </a:solidFill>
            </a:endParaRPr>
          </a:p>
        </p:txBody>
      </p:sp>
      <p:sp>
        <p:nvSpPr>
          <p:cNvPr id="6" name="文本框 5"/>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31160103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1000"/>
                                        <p:tgtEl>
                                          <p:spTgt spid="5">
                                            <p:txEl>
                                              <p:pRg st="0" end="0"/>
                                            </p:txEl>
                                          </p:spTgt>
                                        </p:tgtEl>
                                      </p:cBhvr>
                                    </p:animEffect>
                                    <p:anim calcmode="lin" valueType="num">
                                      <p:cBhvr>
                                        <p:cTn id="2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1000"/>
                                        <p:tgtEl>
                                          <p:spTgt spid="5">
                                            <p:txEl>
                                              <p:pRg st="1" end="1"/>
                                            </p:txEl>
                                          </p:spTgt>
                                        </p:tgtEl>
                                      </p:cBhvr>
                                    </p:animEffect>
                                    <p:anim calcmode="lin" valueType="num">
                                      <p:cBhvr>
                                        <p:cTn id="34"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anim calcmode="lin" valueType="num">
                                      <p:cBhvr additive="base">
                                        <p:cTn id="40"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5">
                                            <p:txEl>
                                              <p:pRg st="3" end="3"/>
                                            </p:txEl>
                                          </p:spTgt>
                                        </p:tgtEl>
                                        <p:attrNameLst>
                                          <p:attrName>style.visibility</p:attrName>
                                        </p:attrNameLst>
                                      </p:cBhvr>
                                      <p:to>
                                        <p:strVal val="visible"/>
                                      </p:to>
                                    </p:set>
                                    <p:animEffect transition="in" filter="fade">
                                      <p:cBhvr>
                                        <p:cTn id="46" dur="1000"/>
                                        <p:tgtEl>
                                          <p:spTgt spid="5">
                                            <p:txEl>
                                              <p:pRg st="3" end="3"/>
                                            </p:txEl>
                                          </p:spTgt>
                                        </p:tgtEl>
                                      </p:cBhvr>
                                    </p:animEffect>
                                    <p:anim calcmode="lin" valueType="num">
                                      <p:cBhvr>
                                        <p:cTn id="47"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8" dur="1000" fill="hold"/>
                                        <p:tgtEl>
                                          <p:spTgt spid="5">
                                            <p:txEl>
                                              <p:pRg st="3" end="3"/>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animEffect transition="in" filter="fade">
                                      <p:cBhvr>
                                        <p:cTn id="51" dur="1000"/>
                                        <p:tgtEl>
                                          <p:spTgt spid="5">
                                            <p:txEl>
                                              <p:pRg st="4" end="4"/>
                                            </p:txEl>
                                          </p:spTgt>
                                        </p:tgtEl>
                                      </p:cBhvr>
                                    </p:animEffect>
                                    <p:anim calcmode="lin" valueType="num">
                                      <p:cBhvr>
                                        <p:cTn id="5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5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9036496" cy="1075578"/>
              </a:xfrm>
            </p:spPr>
            <p:txBody>
              <a:bodyPr/>
              <a:lstStyle/>
              <a:p>
                <a:pPr marL="0" indent="0">
                  <a:lnSpc>
                    <a:spcPts val="30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例</a:t>
                </a:r>
                <a:r>
                  <a:rPr lang="es-ES" altLang="zh-CN" sz="1600" dirty="0">
                    <a:solidFill>
                      <a:srgbClr val="C00000"/>
                    </a:solidFill>
                    <a:latin typeface="Times New Roman" panose="02020603050405020304" pitchFamily="18" charset="0"/>
                    <a:cs typeface="Times New Roman" panose="02020603050405020304" pitchFamily="18" charset="0"/>
                  </a:rPr>
                  <a:t>3</a:t>
                </a:r>
                <a:r>
                  <a:rPr lang="zh-CN" altLang="en-US" sz="1600" dirty="0">
                    <a:solidFill>
                      <a:srgbClr val="C00000"/>
                    </a:solidFill>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已知二叉树采用二叉链表存储结构存储，设计一个将二叉树</a:t>
                </a:r>
                <a14:m>
                  <m:oMath xmlns:m="http://schemas.openxmlformats.org/officeDocument/2006/math">
                    <m:r>
                      <m:rPr>
                        <m:sty m:val="p"/>
                      </m:rPr>
                      <a:rPr lang="es-ES" altLang="zh-CN" sz="1600">
                        <a:solidFill>
                          <a:srgbClr val="C00000"/>
                        </a:solidFill>
                        <a:latin typeface="Cambria Math" panose="02040503050406030204" pitchFamily="18" charset="0"/>
                      </a:rPr>
                      <m:t>s</m:t>
                    </m:r>
                  </m:oMath>
                </a14:m>
                <a:r>
                  <a:rPr lang="zh-CN" altLang="zh-CN" sz="1600" dirty="0">
                    <a:solidFill>
                      <a:srgbClr val="C00000"/>
                    </a:solidFill>
                    <a:latin typeface="Times New Roman" panose="02020603050405020304" pitchFamily="18" charset="0"/>
                    <a:cs typeface="Times New Roman" panose="02020603050405020304" pitchFamily="18" charset="0"/>
                  </a:rPr>
                  <a:t>拷贝给</a:t>
                </a:r>
                <a14:m>
                  <m:oMath xmlns:m="http://schemas.openxmlformats.org/officeDocument/2006/math">
                    <m:r>
                      <m:rPr>
                        <m:sty m:val="p"/>
                      </m:rPr>
                      <a:rPr lang="es-ES" altLang="zh-CN" sz="1600">
                        <a:solidFill>
                          <a:srgbClr val="C00000"/>
                        </a:solidFill>
                        <a:latin typeface="Cambria Math" panose="02040503050406030204" pitchFamily="18" charset="0"/>
                      </a:rPr>
                      <m:t>t</m:t>
                    </m:r>
                  </m:oMath>
                </a14:m>
                <a:r>
                  <a:rPr lang="zh-CN" altLang="zh-CN" sz="1600" dirty="0">
                    <a:solidFill>
                      <a:srgbClr val="C00000"/>
                    </a:solidFill>
                    <a:latin typeface="Times New Roman" panose="02020603050405020304" pitchFamily="18" charset="0"/>
                    <a:cs typeface="Times New Roman" panose="02020603050405020304" pitchFamily="18" charset="0"/>
                  </a:rPr>
                  <a:t>的递归算法。</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9036496" cy="1075578"/>
              </a:xfrm>
              <a:blipFill>
                <a:blip r:embed="rId2"/>
                <a:stretch>
                  <a:fillRect l="-6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30261" y="2211710"/>
                <a:ext cx="3672408" cy="2271648"/>
              </a:xfrm>
              <a:prstGeom prst="rect">
                <a:avLst/>
              </a:prstGeom>
              <a:noFill/>
            </p:spPr>
            <p:txBody>
              <a:bodyPr wrap="square" rtlCol="0">
                <a:spAutoFit/>
              </a:bodyPr>
              <a:lstStyle/>
              <a:p>
                <a:r>
                  <a:rPr lang="zh-CN" altLang="zh-CN" dirty="0">
                    <a:latin typeface="隶书" panose="02010509060101010101" pitchFamily="49" charset="-122"/>
                    <a:ea typeface="隶书" panose="02010509060101010101" pitchFamily="49" charset="-122"/>
                  </a:rPr>
                  <a:t>二叉树持拷贝的递归模型如下：</a:t>
                </a:r>
              </a:p>
              <a:p>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m:rPr>
                                  <m:sty m:val="p"/>
                                </m:rPr>
                                <a:rPr lang="es-ES" altLang="zh-CN">
                                  <a:latin typeface="Cambria Math" panose="02040503050406030204" pitchFamily="18" charset="0"/>
                                </a:rPr>
                                <m:t>CopyBiTree</m:t>
                              </m:r>
                              <m:d>
                                <m:dPr>
                                  <m:ctrlPr>
                                    <a:rPr lang="zh-CN" altLang="zh-CN" i="1">
                                      <a:latin typeface="Cambria Math" panose="02040503050406030204" pitchFamily="18" charset="0"/>
                                    </a:rPr>
                                  </m:ctrlPr>
                                </m:dPr>
                                <m:e>
                                  <m:r>
                                    <a:rPr lang="es-ES" altLang="zh-CN">
                                      <a:latin typeface="Cambria Math" panose="02040503050406030204" pitchFamily="18" charset="0"/>
                                    </a:rPr>
                                    <m:t>∅,</m:t>
                                  </m:r>
                                  <m:r>
                                    <m:rPr>
                                      <m:sty m:val="p"/>
                                    </m:rPr>
                                    <a:rPr lang="es-ES" altLang="zh-CN">
                                      <a:latin typeface="Cambria Math" panose="02040503050406030204" pitchFamily="18" charset="0"/>
                                    </a:rPr>
                                    <m:t>t</m:t>
                                  </m:r>
                                </m:e>
                              </m:d>
                              <m:r>
                                <a:rPr lang="es-ES" altLang="zh-CN">
                                  <a:latin typeface="Cambria Math" panose="02040503050406030204" pitchFamily="18" charset="0"/>
                                </a:rPr>
                                <m:t>=∅     (</m:t>
                              </m:r>
                              <m:r>
                                <a:rPr lang="zh-CN" altLang="zh-CN">
                                  <a:latin typeface="Cambria Math" panose="02040503050406030204" pitchFamily="18" charset="0"/>
                                </a:rPr>
                                <m:t>即</m:t>
                              </m:r>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NULL</m:t>
                              </m:r>
                              <m:r>
                                <a:rPr lang="es-ES" altLang="zh-CN">
                                  <a:latin typeface="Cambria Math" panose="02040503050406030204" pitchFamily="18" charset="0"/>
                                </a:rPr>
                                <m:t>)                                    </m:t>
                              </m:r>
                            </m:e>
                            <m:e>
                              <m:r>
                                <m:rPr>
                                  <m:sty m:val="p"/>
                                </m:rPr>
                                <a:rPr lang="es-ES" altLang="zh-CN">
                                  <a:latin typeface="Cambria Math" panose="02040503050406030204" pitchFamily="18" charset="0"/>
                                </a:rPr>
                                <m:t>CopyBiTree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t</m:t>
                                  </m:r>
                                </m:e>
                              </m:d>
                              <m:r>
                                <a:rPr lang="es-ES" altLang="zh-CN">
                                  <a:latin typeface="Cambria Math" panose="02040503050406030204" pitchFamily="18" charset="0"/>
                                </a:rPr>
                                <m:t>=</m:t>
                              </m:r>
                              <m:d>
                                <m:dPr>
                                  <m:begChr m:val="{"/>
                                  <m:endChr m:val=""/>
                                  <m:ctrlPr>
                                    <a:rPr lang="zh-CN" altLang="zh-CN" i="1">
                                      <a:latin typeface="Cambria Math" panose="02040503050406030204" pitchFamily="18" charset="0"/>
                                    </a:rPr>
                                  </m:ctrlPr>
                                </m:dPr>
                                <m:e>
                                  <m:eqArr>
                                    <m:eqArrPr>
                                      <m:ctrlPr>
                                        <a:rPr lang="zh-CN" altLang="zh-CN" i="1">
                                          <a:latin typeface="Cambria Math" panose="02040503050406030204" pitchFamily="18" charset="0"/>
                                        </a:rPr>
                                      </m:ctrlPr>
                                    </m:eqArrPr>
                                    <m:e>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new</m:t>
                                      </m:r>
                                      <m:r>
                                        <a:rPr lang="es-ES" altLang="zh-CN">
                                          <a:latin typeface="Cambria Math" panose="02040503050406030204" pitchFamily="18" charset="0"/>
                                        </a:rPr>
                                        <m:t> </m:t>
                                      </m:r>
                                      <m:r>
                                        <m:rPr>
                                          <m:sty m:val="p"/>
                                        </m:rPr>
                                        <a:rPr lang="es-ES" altLang="zh-CN">
                                          <a:latin typeface="Cambria Math" panose="02040503050406030204" pitchFamily="18" charset="0"/>
                                        </a:rPr>
                                        <m:t>BitNode</m:t>
                                      </m:r>
                                      <m:r>
                                        <a:rPr lang="es-ES" altLang="zh-CN">
                                          <a:latin typeface="Cambria Math" panose="02040503050406030204" pitchFamily="18" charset="0"/>
                                        </a:rPr>
                                        <m:t>                                  </m:t>
                                      </m:r>
                                    </m:e>
                                    <m:e>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data</m:t>
                                      </m:r>
                                      <m:r>
                                        <a:rPr lang="es-ES" altLang="zh-CN">
                                          <a:latin typeface="Cambria Math" panose="02040503050406030204" pitchFamily="18" charset="0"/>
                                        </a:rPr>
                                        <m:t>=</m:t>
                                      </m:r>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data</m:t>
                                      </m:r>
                                      <m:r>
                                        <a:rPr lang="es-ES" altLang="zh-CN">
                                          <a:latin typeface="Cambria Math" panose="02040503050406030204" pitchFamily="18" charset="0"/>
                                        </a:rPr>
                                        <m:t>                           </m:t>
                                      </m:r>
                                    </m:e>
                                    <m:e>
                                      <m:r>
                                        <m:rPr>
                                          <m:sty m:val="p"/>
                                        </m:rPr>
                                        <a:rPr lang="es-ES" altLang="zh-CN">
                                          <a:latin typeface="Cambria Math" panose="02040503050406030204" pitchFamily="18" charset="0"/>
                                        </a:rPr>
                                        <m:t>CopyBiTree</m:t>
                                      </m:r>
                                      <m:d>
                                        <m:dPr>
                                          <m:ctrlPr>
                                            <a:rPr lang="zh-CN" altLang="zh-CN" i="1">
                                              <a:latin typeface="Cambria Math" panose="02040503050406030204" pitchFamily="18" charset="0"/>
                                            </a:rPr>
                                          </m:ctrlPr>
                                        </m:dPr>
                                        <m:e>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lchild</m:t>
                                          </m:r>
                                          <m:r>
                                            <a:rPr lang="es-ES" altLang="zh-CN">
                                              <a:latin typeface="Cambria Math" panose="02040503050406030204" pitchFamily="18" charset="0"/>
                                            </a:rPr>
                                            <m:t>,</m:t>
                                          </m:r>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lchild</m:t>
                                          </m:r>
                                        </m:e>
                                      </m:d>
                                    </m:e>
                                    <m:e>
                                      <m:r>
                                        <m:rPr>
                                          <m:sty m:val="p"/>
                                        </m:rPr>
                                        <a:rPr lang="es-ES" altLang="zh-CN">
                                          <a:latin typeface="Cambria Math" panose="02040503050406030204" pitchFamily="18" charset="0"/>
                                        </a:rPr>
                                        <m:t>CopyBiTree</m:t>
                                      </m:r>
                                      <m:r>
                                        <a:rPr lang="es-ES" altLang="zh-CN">
                                          <a:latin typeface="Cambria Math" panose="02040503050406030204" pitchFamily="18" charset="0"/>
                                        </a:rPr>
                                        <m:t>(</m:t>
                                      </m:r>
                                      <m:r>
                                        <m:rPr>
                                          <m:sty m:val="p"/>
                                        </m:rPr>
                                        <a:rPr lang="es-ES" altLang="zh-CN">
                                          <a:latin typeface="Cambria Math" panose="02040503050406030204" pitchFamily="18" charset="0"/>
                                        </a:rPr>
                                        <m:t>s</m:t>
                                      </m:r>
                                      <m:r>
                                        <a:rPr lang="es-ES" altLang="zh-CN">
                                          <a:latin typeface="Cambria Math" panose="02040503050406030204" pitchFamily="18" charset="0"/>
                                        </a:rPr>
                                        <m:t>→</m:t>
                                      </m:r>
                                      <m:r>
                                        <m:rPr>
                                          <m:sty m:val="p"/>
                                        </m:rPr>
                                        <a:rPr lang="es-ES" altLang="zh-CN">
                                          <a:latin typeface="Cambria Math" panose="02040503050406030204" pitchFamily="18" charset="0"/>
                                        </a:rPr>
                                        <m:t>rchild</m:t>
                                      </m:r>
                                      <m:r>
                                        <a:rPr lang="es-ES" altLang="zh-CN">
                                          <a:latin typeface="Cambria Math" panose="02040503050406030204" pitchFamily="18" charset="0"/>
                                        </a:rPr>
                                        <m:t>,</m:t>
                                      </m:r>
                                      <m:r>
                                        <m:rPr>
                                          <m:sty m:val="p"/>
                                        </m:rPr>
                                        <a:rPr lang="es-ES" altLang="zh-CN">
                                          <a:latin typeface="Cambria Math" panose="02040503050406030204" pitchFamily="18" charset="0"/>
                                        </a:rPr>
                                        <m:t>t</m:t>
                                      </m:r>
                                      <m:r>
                                        <a:rPr lang="es-ES" altLang="zh-CN">
                                          <a:latin typeface="Cambria Math" panose="02040503050406030204" pitchFamily="18" charset="0"/>
                                        </a:rPr>
                                        <m:t>→</m:t>
                                      </m:r>
                                      <m:r>
                                        <m:rPr>
                                          <m:sty m:val="p"/>
                                        </m:rPr>
                                        <a:rPr lang="es-ES" altLang="zh-CN">
                                          <a:latin typeface="Cambria Math" panose="02040503050406030204" pitchFamily="18" charset="0"/>
                                        </a:rPr>
                                        <m:t>rchild</m:t>
                                      </m:r>
                                      <m:r>
                                        <a:rPr lang="en-US" altLang="zh-CN" b="0" i="1" smtClean="0">
                                          <a:latin typeface="Cambria Math" panose="02040503050406030204" pitchFamily="18" charset="0"/>
                                        </a:rPr>
                                        <m:t>)</m:t>
                                      </m:r>
                                    </m:e>
                                  </m:eqArr>
                                </m:e>
                              </m:d>
                            </m:e>
                          </m:eqArr>
                        </m:e>
                      </m:d>
                    </m:oMath>
                  </m:oMathPara>
                </a14:m>
                <a:endParaRPr lang="zh-CN" altLang="zh-CN" dirty="0"/>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130261" y="2211710"/>
                <a:ext cx="3672408" cy="2271648"/>
              </a:xfrm>
              <a:prstGeom prst="rect">
                <a:avLst/>
              </a:prstGeom>
              <a:blipFill rotWithShape="0">
                <a:blip r:embed="rId3"/>
                <a:stretch>
                  <a:fillRect l="-1327" t="-1613" r="-55390"/>
                </a:stretch>
              </a:blipFill>
            </p:spPr>
            <p:txBody>
              <a:bodyPr/>
              <a:lstStyle/>
              <a:p>
                <a:r>
                  <a:rPr lang="zh-CN" altLang="en-US">
                    <a:noFill/>
                  </a:rPr>
                  <a:t> </a:t>
                </a:r>
              </a:p>
            </p:txBody>
          </p:sp>
        </mc:Fallback>
      </mc:AlternateContent>
      <p:sp>
        <p:nvSpPr>
          <p:cNvPr id="5" name="文本框 4"/>
          <p:cNvSpPr txBox="1"/>
          <p:nvPr/>
        </p:nvSpPr>
        <p:spPr>
          <a:xfrm>
            <a:off x="4932040" y="847040"/>
            <a:ext cx="3923928" cy="2585323"/>
          </a:xfrm>
          <a:prstGeom prst="rect">
            <a:avLst/>
          </a:prstGeom>
          <a:solidFill>
            <a:schemeClr val="accent2">
              <a:lumMod val="40000"/>
              <a:lumOff val="60000"/>
            </a:schemeClr>
          </a:solidFill>
        </p:spPr>
        <p:txBody>
          <a:bodyPr wrap="square" rtlCol="0">
            <a:spAutoFit/>
          </a:bodyPr>
          <a:lstStyle/>
          <a:p>
            <a:r>
              <a:rPr lang="es-ES" altLang="zh-CN" sz="1600" dirty="0">
                <a:solidFill>
                  <a:srgbClr val="002060"/>
                </a:solidFill>
                <a:latin typeface="Times New Roman" panose="02020603050405020304" pitchFamily="18" charset="0"/>
                <a:cs typeface="Times New Roman" panose="02020603050405020304" pitchFamily="18" charset="0"/>
              </a:rPr>
              <a:t>void CopyBitree(BitNode *s,BitNode *&amp;t){</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if(s==NULL) t=NULL;</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else{</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t=new BitNode;</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t-&gt;data=s-&gt;data;</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CopyBiTree(s-&gt;lchild,t-&gt;lchild);</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CopyBiTree(s-&gt;rchild,t-&gt;rchild);</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   }</a:t>
            </a:r>
            <a:endParaRPr lang="zh-CN" altLang="zh-CN" sz="1600" dirty="0">
              <a:solidFill>
                <a:srgbClr val="002060"/>
              </a:solidFill>
              <a:latin typeface="Times New Roman" panose="02020603050405020304" pitchFamily="18" charset="0"/>
              <a:cs typeface="Times New Roman" panose="02020603050405020304" pitchFamily="18" charset="0"/>
            </a:endParaRPr>
          </a:p>
          <a:p>
            <a:r>
              <a:rPr lang="es-E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6" name="文本框 5"/>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28583915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xEl>
                                              <p:pRg st="0" end="0"/>
                                            </p:txEl>
                                          </p:spTgt>
                                        </p:tgtEl>
                                        <p:attrNameLst>
                                          <p:attrName>style.visibility</p:attrName>
                                        </p:attrNameLst>
                                      </p:cBhvr>
                                      <p:to>
                                        <p:strVal val="visible"/>
                                      </p:to>
                                    </p:set>
                                    <p:animEffect transition="in" filter="fade">
                                      <p:cBhvr>
                                        <p:cTn id="26" dur="1000"/>
                                        <p:tgtEl>
                                          <p:spTgt spid="5">
                                            <p:txEl>
                                              <p:pRg st="0" end="0"/>
                                            </p:txEl>
                                          </p:spTgt>
                                        </p:tgtEl>
                                      </p:cBhvr>
                                    </p:animEffect>
                                    <p:anim calcmode="lin" valueType="num">
                                      <p:cBhvr>
                                        <p:cTn id="2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1000"/>
                                        <p:tgtEl>
                                          <p:spTgt spid="5">
                                            <p:txEl>
                                              <p:pRg st="1" end="1"/>
                                            </p:txEl>
                                          </p:spTgt>
                                        </p:tgtEl>
                                      </p:cBhvr>
                                    </p:animEffect>
                                    <p:anim calcmode="lin" valueType="num">
                                      <p:cBhvr>
                                        <p:cTn id="34"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animEffect transition="in" filter="fade">
                                      <p:cBhvr>
                                        <p:cTn id="40" dur="1000"/>
                                        <p:tgtEl>
                                          <p:spTgt spid="5">
                                            <p:txEl>
                                              <p:pRg st="2" end="2"/>
                                            </p:txEl>
                                          </p:spTgt>
                                        </p:tgtEl>
                                      </p:cBhvr>
                                    </p:animEffect>
                                    <p:anim calcmode="lin" valueType="num">
                                      <p:cBhvr>
                                        <p:cTn id="41"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Effect transition="in" filter="fade">
                                      <p:cBhvr>
                                        <p:cTn id="47" dur="1000"/>
                                        <p:tgtEl>
                                          <p:spTgt spid="5">
                                            <p:txEl>
                                              <p:pRg st="3" end="3"/>
                                            </p:txEl>
                                          </p:spTgt>
                                        </p:tgtEl>
                                      </p:cBhvr>
                                    </p:animEffect>
                                    <p:anim calcmode="lin" valueType="num">
                                      <p:cBhvr>
                                        <p:cTn id="4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5">
                                            <p:txEl>
                                              <p:pRg st="4" end="4"/>
                                            </p:txEl>
                                          </p:spTgt>
                                        </p:tgtEl>
                                        <p:attrNameLst>
                                          <p:attrName>style.visibility</p:attrName>
                                        </p:attrNameLst>
                                      </p:cBhvr>
                                      <p:to>
                                        <p:strVal val="visible"/>
                                      </p:to>
                                    </p:set>
                                    <p:animEffect transition="in" filter="fade">
                                      <p:cBhvr>
                                        <p:cTn id="54" dur="1000"/>
                                        <p:tgtEl>
                                          <p:spTgt spid="5">
                                            <p:txEl>
                                              <p:pRg st="4" end="4"/>
                                            </p:txEl>
                                          </p:spTgt>
                                        </p:tgtEl>
                                      </p:cBhvr>
                                    </p:animEffect>
                                    <p:anim calcmode="lin" valueType="num">
                                      <p:cBhvr>
                                        <p:cTn id="5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5">
                                            <p:txEl>
                                              <p:pRg st="5" end="5"/>
                                            </p:txEl>
                                          </p:spTgt>
                                        </p:tgtEl>
                                        <p:attrNameLst>
                                          <p:attrName>style.visibility</p:attrName>
                                        </p:attrNameLst>
                                      </p:cBhvr>
                                      <p:to>
                                        <p:strVal val="visible"/>
                                      </p:to>
                                    </p:set>
                                    <p:animEffect transition="in" filter="fade">
                                      <p:cBhvr>
                                        <p:cTn id="61" dur="1000"/>
                                        <p:tgtEl>
                                          <p:spTgt spid="5">
                                            <p:txEl>
                                              <p:pRg st="5" end="5"/>
                                            </p:txEl>
                                          </p:spTgt>
                                        </p:tgtEl>
                                      </p:cBhvr>
                                    </p:animEffect>
                                    <p:anim calcmode="lin" valueType="num">
                                      <p:cBhvr>
                                        <p:cTn id="6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63"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5">
                                            <p:txEl>
                                              <p:pRg st="6" end="6"/>
                                            </p:txEl>
                                          </p:spTgt>
                                        </p:tgtEl>
                                        <p:attrNameLst>
                                          <p:attrName>style.visibility</p:attrName>
                                        </p:attrNameLst>
                                      </p:cBhvr>
                                      <p:to>
                                        <p:strVal val="visible"/>
                                      </p:to>
                                    </p:set>
                                    <p:animEffect transition="in" filter="fade">
                                      <p:cBhvr>
                                        <p:cTn id="68" dur="1000"/>
                                        <p:tgtEl>
                                          <p:spTgt spid="5">
                                            <p:txEl>
                                              <p:pRg st="6" end="6"/>
                                            </p:txEl>
                                          </p:spTgt>
                                        </p:tgtEl>
                                      </p:cBhvr>
                                    </p:animEffect>
                                    <p:anim calcmode="lin" valueType="num">
                                      <p:cBhvr>
                                        <p:cTn id="6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70" dur="1000" fill="hold"/>
                                        <p:tgtEl>
                                          <p:spTgt spid="5">
                                            <p:txEl>
                                              <p:pRg st="6" end="6"/>
                                            </p:txEl>
                                          </p:spTgt>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5">
                                            <p:txEl>
                                              <p:pRg st="7" end="7"/>
                                            </p:txEl>
                                          </p:spTgt>
                                        </p:tgtEl>
                                        <p:attrNameLst>
                                          <p:attrName>style.visibility</p:attrName>
                                        </p:attrNameLst>
                                      </p:cBhvr>
                                      <p:to>
                                        <p:strVal val="visible"/>
                                      </p:to>
                                    </p:set>
                                    <p:animEffect transition="in" filter="fade">
                                      <p:cBhvr>
                                        <p:cTn id="73" dur="1000"/>
                                        <p:tgtEl>
                                          <p:spTgt spid="5">
                                            <p:txEl>
                                              <p:pRg st="7" end="7"/>
                                            </p:txEl>
                                          </p:spTgt>
                                        </p:tgtEl>
                                      </p:cBhvr>
                                    </p:animEffect>
                                    <p:anim calcmode="lin" valueType="num">
                                      <p:cBhvr>
                                        <p:cTn id="74"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75" dur="1000" fill="hold"/>
                                        <p:tgtEl>
                                          <p:spTgt spid="5">
                                            <p:txEl>
                                              <p:pRg st="7" end="7"/>
                                            </p:txEl>
                                          </p:spTgt>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5">
                                            <p:txEl>
                                              <p:pRg st="8" end="8"/>
                                            </p:txEl>
                                          </p:spTgt>
                                        </p:tgtEl>
                                        <p:attrNameLst>
                                          <p:attrName>style.visibility</p:attrName>
                                        </p:attrNameLst>
                                      </p:cBhvr>
                                      <p:to>
                                        <p:strVal val="visible"/>
                                      </p:to>
                                    </p:set>
                                    <p:animEffect transition="in" filter="fade">
                                      <p:cBhvr>
                                        <p:cTn id="78" dur="1000"/>
                                        <p:tgtEl>
                                          <p:spTgt spid="5">
                                            <p:txEl>
                                              <p:pRg st="8" end="8"/>
                                            </p:txEl>
                                          </p:spTgt>
                                        </p:tgtEl>
                                      </p:cBhvr>
                                    </p:animEffect>
                                    <p:anim calcmode="lin" valueType="num">
                                      <p:cBhvr>
                                        <p:cTn id="79"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80"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791580" y="1131590"/>
            <a:ext cx="7560840" cy="3507876"/>
          </a:xfrm>
        </p:spPr>
        <p:txBody>
          <a:bodyPr/>
          <a:lstStyle/>
          <a:p>
            <a:pPr>
              <a:lnSpc>
                <a:spcPts val="3000"/>
              </a:lnSpc>
              <a:spcBef>
                <a:spcPts val="0"/>
              </a:spcBef>
            </a:pPr>
            <a:r>
              <a:rPr lang="zh-CN" altLang="zh-CN" sz="1600" dirty="0">
                <a:latin typeface="Times New Roman" panose="02020603050405020304" pitchFamily="18" charset="0"/>
                <a:cs typeface="Times New Roman" panose="02020603050405020304" pitchFamily="18" charset="0"/>
              </a:rPr>
              <a:t>为了把一个递归过程改为一个非递归过程，需要利用一个工作栈，记录遍历时的回退路径。</a:t>
            </a:r>
          </a:p>
          <a:p>
            <a:pPr>
              <a:lnSpc>
                <a:spcPts val="3000"/>
              </a:lnSpc>
              <a:spcBef>
                <a:spcPts val="0"/>
              </a:spcBef>
            </a:pPr>
            <a:r>
              <a:rPr lang="zh-CN" altLang="zh-CN" sz="1600" dirty="0">
                <a:latin typeface="Times New Roman" panose="02020603050405020304" pitchFamily="18" charset="0"/>
                <a:cs typeface="Times New Roman" panose="02020603050405020304" pitchFamily="18" charset="0"/>
              </a:rPr>
              <a:t>利用第</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章顺序栈的定义</a:t>
            </a:r>
            <a:r>
              <a:rPr lang="zh-CN" altLang="en-US" sz="1600" dirty="0">
                <a:latin typeface="Times New Roman" panose="02020603050405020304" pitchFamily="18" charset="0"/>
                <a:cs typeface="Times New Roman" panose="02020603050405020304" pitchFamily="18" charset="0"/>
              </a:rPr>
              <a:t>实现二叉树</a:t>
            </a:r>
            <a:r>
              <a:rPr lang="zh-CN" altLang="zh-CN" sz="1600" dirty="0">
                <a:latin typeface="Times New Roman" panose="02020603050405020304" pitchFamily="18" charset="0"/>
                <a:cs typeface="Times New Roman" panose="02020603050405020304" pitchFamily="18" charset="0"/>
              </a:rPr>
              <a:t>遍历的非递归算法</a:t>
            </a:r>
            <a:r>
              <a:rPr lang="zh-CN" altLang="en-US"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a:lnSpc>
                <a:spcPts val="3000"/>
              </a:lnSpc>
              <a:spcBef>
                <a:spcPts val="0"/>
              </a:spcBef>
            </a:pPr>
            <a:endParaRPr lang="zh-CN" altLang="en-US" sz="1800" dirty="0">
              <a:latin typeface="隶书" panose="02010509060101010101" pitchFamily="49" charset="-122"/>
              <a:ea typeface="隶书" panose="02010509060101010101" pitchFamily="49" charset="-122"/>
            </a:endParaRPr>
          </a:p>
        </p:txBody>
      </p:sp>
      <p:sp>
        <p:nvSpPr>
          <p:cNvPr id="4" name="文本框 3"/>
          <p:cNvSpPr txBox="1"/>
          <p:nvPr/>
        </p:nvSpPr>
        <p:spPr>
          <a:xfrm>
            <a:off x="612366" y="123478"/>
            <a:ext cx="302353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二叉树遍历的非递归算法</a:t>
            </a:r>
          </a:p>
        </p:txBody>
      </p:sp>
    </p:spTree>
    <p:extLst>
      <p:ext uri="{BB962C8B-B14F-4D97-AF65-F5344CB8AC3E}">
        <p14:creationId xmlns:p14="http://schemas.microsoft.com/office/powerpoint/2010/main" val="9006767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23528" y="1064124"/>
            <a:ext cx="4752528" cy="2875778"/>
          </a:xfrm>
        </p:spPr>
        <p:txBody>
          <a:bodyPr/>
          <a:lstStyle/>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先序遍历的算法流程如下：</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）用工作指针</a:t>
            </a:r>
            <a:r>
              <a:rPr lang="en-U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指向当前需处理的结点；</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）访问该结点，该结点入栈，并将</a:t>
            </a:r>
            <a:r>
              <a:rPr lang="en-U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指向左孩子，循环处理左子树；</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）当该结点无左孩子时表示栈顶结点无左子树，栈顶结点退栈，并将</a:t>
            </a:r>
            <a:r>
              <a:rPr lang="en-U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指向刚出栈结点的右孩子；</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）对右子树进行相同处理；</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）重复上述过程，直到栈为空为止。</a:t>
            </a:r>
          </a:p>
          <a:p>
            <a:pPr marL="0" indent="0">
              <a:lnSpc>
                <a:spcPts val="3000"/>
              </a:lnSpc>
              <a:spcBef>
                <a:spcPts val="0"/>
              </a:spcBef>
              <a:buNone/>
            </a:pPr>
            <a:endParaRPr lang="zh-CN" altLang="en-US" sz="1800" dirty="0">
              <a:latin typeface="隶书" panose="02010509060101010101" pitchFamily="49" charset="-122"/>
              <a:ea typeface="隶书" panose="02010509060101010101" pitchFamily="49" charset="-122"/>
            </a:endParaRPr>
          </a:p>
        </p:txBody>
      </p:sp>
      <p:sp>
        <p:nvSpPr>
          <p:cNvPr id="4" name="文本框 3"/>
          <p:cNvSpPr txBox="1"/>
          <p:nvPr/>
        </p:nvSpPr>
        <p:spPr>
          <a:xfrm>
            <a:off x="5076056" y="771550"/>
            <a:ext cx="4032448" cy="4247317"/>
          </a:xfrm>
          <a:prstGeom prst="rect">
            <a:avLst/>
          </a:prstGeom>
          <a:noFill/>
        </p:spPr>
        <p:txBody>
          <a:bodyPr wrap="square" rtlCol="0">
            <a:spAutoFit/>
          </a:bodyPr>
          <a:lstStyle/>
          <a:p>
            <a:r>
              <a:rPr lang="es-ES" altLang="zh-CN" dirty="0">
                <a:solidFill>
                  <a:srgbClr val="0070C0"/>
                </a:solidFill>
                <a:latin typeface="Times New Roman" panose="02020603050405020304" pitchFamily="18" charset="0"/>
                <a:cs typeface="Times New Roman" panose="02020603050405020304" pitchFamily="18" charset="0"/>
              </a:rPr>
              <a:t>void PreTraverse(BitNode *t){</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BitNode *p=t;</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SqStack s;</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while(p||!s.EmptyStack())</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if(p){ </a:t>
            </a:r>
            <a:r>
              <a:rPr lang="es-ES" altLang="zh-CN" sz="1200" dirty="0">
                <a:solidFill>
                  <a:srgbClr val="0070C0"/>
                </a:solidFill>
                <a:latin typeface="Times New Roman" panose="02020603050405020304" pitchFamily="18" charset="0"/>
                <a:cs typeface="Times New Roman" panose="02020603050405020304" pitchFamily="18" charset="0"/>
              </a:rPr>
              <a:t>//</a:t>
            </a:r>
            <a:r>
              <a:rPr lang="zh-CN" altLang="zh-CN" sz="1200" dirty="0">
                <a:solidFill>
                  <a:srgbClr val="0070C0"/>
                </a:solidFill>
                <a:latin typeface="Times New Roman" panose="02020603050405020304" pitchFamily="18" charset="0"/>
                <a:cs typeface="Times New Roman" panose="02020603050405020304" pitchFamily="18" charset="0"/>
              </a:rPr>
              <a:t>访问根结点，根指针入栈，遍历左子树</a:t>
            </a:r>
          </a:p>
          <a:p>
            <a:r>
              <a:rPr lang="es-ES" altLang="zh-CN" dirty="0">
                <a:solidFill>
                  <a:srgbClr val="0070C0"/>
                </a:solidFill>
                <a:latin typeface="Times New Roman" panose="02020603050405020304" pitchFamily="18" charset="0"/>
                <a:cs typeface="Times New Roman" panose="02020603050405020304" pitchFamily="18" charset="0"/>
              </a:rPr>
              <a:t>           cout&lt;&lt;p-&gt;data;    //</a:t>
            </a:r>
            <a:r>
              <a:rPr lang="zh-CN" altLang="zh-CN" dirty="0">
                <a:solidFill>
                  <a:srgbClr val="0070C0"/>
                </a:solidFill>
                <a:latin typeface="Times New Roman" panose="02020603050405020304" pitchFamily="18" charset="0"/>
                <a:cs typeface="Times New Roman" panose="02020603050405020304" pitchFamily="18" charset="0"/>
              </a:rPr>
              <a:t>访问结点</a:t>
            </a:r>
          </a:p>
          <a:p>
            <a:r>
              <a:rPr lang="es-ES" altLang="zh-CN" dirty="0">
                <a:solidFill>
                  <a:srgbClr val="0070C0"/>
                </a:solidFill>
                <a:latin typeface="Times New Roman" panose="02020603050405020304" pitchFamily="18" charset="0"/>
                <a:cs typeface="Times New Roman" panose="02020603050405020304" pitchFamily="18" charset="0"/>
              </a:rPr>
              <a:t>           s.Push(p);</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p=p-&gt;lchild;</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else{  //</a:t>
            </a:r>
            <a:r>
              <a:rPr lang="zh-CN" altLang="zh-CN" dirty="0">
                <a:solidFill>
                  <a:srgbClr val="0070C0"/>
                </a:solidFill>
                <a:latin typeface="Times New Roman" panose="02020603050405020304" pitchFamily="18" charset="0"/>
                <a:cs typeface="Times New Roman" panose="02020603050405020304" pitchFamily="18" charset="0"/>
              </a:rPr>
              <a:t>根指针退栈，遍历右子树</a:t>
            </a:r>
          </a:p>
          <a:p>
            <a:r>
              <a:rPr lang="es-ES" altLang="zh-CN" dirty="0">
                <a:solidFill>
                  <a:srgbClr val="0070C0"/>
                </a:solidFill>
                <a:latin typeface="Times New Roman" panose="02020603050405020304" pitchFamily="18" charset="0"/>
                <a:cs typeface="Times New Roman" panose="02020603050405020304" pitchFamily="18" charset="0"/>
              </a:rPr>
              <a:t>           s.Pop(p);</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p=p-&gt;rchild;</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a:t>
            </a:r>
            <a:endParaRPr lang="zh-CN" altLang="zh-CN" dirty="0">
              <a:solidFill>
                <a:srgbClr val="0070C0"/>
              </a:solidFill>
              <a:latin typeface="Times New Roman" panose="02020603050405020304" pitchFamily="18" charset="0"/>
              <a:cs typeface="Times New Roman" panose="02020603050405020304" pitchFamily="18" charset="0"/>
            </a:endParaRPr>
          </a:p>
          <a:p>
            <a:endParaRPr lang="zh-CN" altLang="en-US" dirty="0">
              <a:solidFill>
                <a:srgbClr val="0070C0"/>
              </a:solidFill>
            </a:endParaRPr>
          </a:p>
        </p:txBody>
      </p:sp>
      <p:sp>
        <p:nvSpPr>
          <p:cNvPr id="5" name="文本框 4"/>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先序遍历的非递归算法</a:t>
            </a:r>
          </a:p>
        </p:txBody>
      </p:sp>
    </p:spTree>
    <p:extLst>
      <p:ext uri="{BB962C8B-B14F-4D97-AF65-F5344CB8AC3E}">
        <p14:creationId xmlns:p14="http://schemas.microsoft.com/office/powerpoint/2010/main" val="16486999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5" end="5"/>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xEl>
                                              <p:pRg st="6" end="6"/>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8" end="8"/>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xEl>
                                              <p:pRg st="9" end="9"/>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
                                            <p:txEl>
                                              <p:pRg st="11" end="11"/>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844361"/>
            <a:ext cx="4628267" cy="3507876"/>
          </a:xfrm>
        </p:spPr>
        <p:txBody>
          <a:bodyPr/>
          <a:lstStyle/>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中序遍历的算法流程如下：</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）用工作指针</a:t>
            </a:r>
            <a:r>
              <a:rPr lang="en-U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指向当前需处理的结点，</a:t>
            </a:r>
            <a:r>
              <a:rPr lang="en-U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入栈；</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）扫描该结点的左子树上的所有结点并将它们一一进栈；</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）当该结点无左孩子时表示栈顶结点无左子树，栈顶结点退栈，访问该结点，并将</a:t>
            </a:r>
            <a:r>
              <a:rPr lang="en-U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指向刚出栈结点的右孩子；</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）对右子树进行相同处理；</a:t>
            </a:r>
          </a:p>
          <a:p>
            <a:pPr marL="0" indent="0" algn="just">
              <a:lnSpc>
                <a:spcPts val="3000"/>
              </a:lnSpc>
              <a:spcBef>
                <a:spcPts val="0"/>
              </a:spcBef>
              <a:buNone/>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5</a:t>
            </a:r>
            <a:r>
              <a:rPr lang="zh-CN" altLang="zh-CN" sz="1600" dirty="0">
                <a:latin typeface="Times New Roman" panose="02020603050405020304" pitchFamily="18" charset="0"/>
                <a:cs typeface="Times New Roman" panose="02020603050405020304" pitchFamily="18" charset="0"/>
              </a:rPr>
              <a:t>）重复上述过程，直到栈为空为止。</a:t>
            </a:r>
          </a:p>
          <a:p>
            <a:pPr marL="0" indent="0">
              <a:lnSpc>
                <a:spcPts val="3000"/>
              </a:lnSpc>
              <a:spcBef>
                <a:spcPts val="0"/>
              </a:spcBef>
              <a:buNone/>
            </a:pPr>
            <a:endParaRPr lang="zh-CN" altLang="en-US" sz="1800" dirty="0">
              <a:latin typeface="隶书" panose="02010509060101010101" pitchFamily="49" charset="-122"/>
              <a:ea typeface="隶书" panose="02010509060101010101" pitchFamily="49" charset="-122"/>
            </a:endParaRPr>
          </a:p>
        </p:txBody>
      </p:sp>
      <p:sp>
        <p:nvSpPr>
          <p:cNvPr id="4" name="文本框 3"/>
          <p:cNvSpPr txBox="1"/>
          <p:nvPr/>
        </p:nvSpPr>
        <p:spPr>
          <a:xfrm>
            <a:off x="5076056" y="843558"/>
            <a:ext cx="3888432" cy="4247317"/>
          </a:xfrm>
          <a:prstGeom prst="rect">
            <a:avLst/>
          </a:prstGeom>
          <a:solidFill>
            <a:schemeClr val="accent2">
              <a:lumMod val="40000"/>
              <a:lumOff val="60000"/>
            </a:schemeClr>
          </a:solidFill>
        </p:spPr>
        <p:txBody>
          <a:bodyPr wrap="square" rtlCol="0">
            <a:spAutoFit/>
          </a:bodyPr>
          <a:lstStyle/>
          <a:p>
            <a:r>
              <a:rPr lang="es-ES" altLang="zh-CN" dirty="0">
                <a:solidFill>
                  <a:srgbClr val="0070C0"/>
                </a:solidFill>
                <a:latin typeface="Times New Roman" panose="02020603050405020304" pitchFamily="18" charset="0"/>
                <a:cs typeface="Times New Roman" panose="02020603050405020304" pitchFamily="18" charset="0"/>
              </a:rPr>
              <a:t>void InTraverse(BitNode *t){</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BitNode *p=t;</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SqStack s;</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while(p||!s.EmptyStack())</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if(p){  //</a:t>
            </a:r>
            <a:r>
              <a:rPr lang="zh-CN" altLang="zh-CN" dirty="0">
                <a:solidFill>
                  <a:srgbClr val="0070C0"/>
                </a:solidFill>
                <a:latin typeface="Times New Roman" panose="02020603050405020304" pitchFamily="18" charset="0"/>
                <a:cs typeface="Times New Roman" panose="02020603050405020304" pitchFamily="18" charset="0"/>
              </a:rPr>
              <a:t>根指针入栈，遍历左子树</a:t>
            </a:r>
          </a:p>
          <a:p>
            <a:r>
              <a:rPr lang="es-ES" altLang="zh-CN" dirty="0">
                <a:solidFill>
                  <a:srgbClr val="0070C0"/>
                </a:solidFill>
                <a:latin typeface="Times New Roman" panose="02020603050405020304" pitchFamily="18" charset="0"/>
                <a:cs typeface="Times New Roman" panose="02020603050405020304" pitchFamily="18" charset="0"/>
              </a:rPr>
              <a:t>           s.Push(p);</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p=p-&gt;lchild;</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else{ </a:t>
            </a:r>
            <a:r>
              <a:rPr lang="es-ES" altLang="zh-CN" sz="1200" dirty="0">
                <a:solidFill>
                  <a:srgbClr val="0070C0"/>
                </a:solidFill>
                <a:latin typeface="Times New Roman" panose="02020603050405020304" pitchFamily="18" charset="0"/>
                <a:cs typeface="Times New Roman" panose="02020603050405020304" pitchFamily="18" charset="0"/>
              </a:rPr>
              <a:t>//</a:t>
            </a:r>
            <a:r>
              <a:rPr lang="zh-CN" altLang="zh-CN" sz="1200" dirty="0">
                <a:solidFill>
                  <a:srgbClr val="0070C0"/>
                </a:solidFill>
                <a:latin typeface="Times New Roman" panose="02020603050405020304" pitchFamily="18" charset="0"/>
                <a:cs typeface="Times New Roman" panose="02020603050405020304" pitchFamily="18" charset="0"/>
              </a:rPr>
              <a:t>根指针退栈，访问结点，遍历右子树</a:t>
            </a:r>
          </a:p>
          <a:p>
            <a:r>
              <a:rPr lang="es-ES" altLang="zh-CN" dirty="0">
                <a:solidFill>
                  <a:srgbClr val="0070C0"/>
                </a:solidFill>
                <a:latin typeface="Times New Roman" panose="02020603050405020304" pitchFamily="18" charset="0"/>
                <a:cs typeface="Times New Roman" panose="02020603050405020304" pitchFamily="18" charset="0"/>
              </a:rPr>
              <a:t>           s.Pop(p);</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cout&lt;&lt;p-&gt;data;   //</a:t>
            </a:r>
            <a:r>
              <a:rPr lang="zh-CN" altLang="zh-CN" dirty="0">
                <a:solidFill>
                  <a:srgbClr val="0070C0"/>
                </a:solidFill>
                <a:latin typeface="Times New Roman" panose="02020603050405020304" pitchFamily="18" charset="0"/>
                <a:cs typeface="Times New Roman" panose="02020603050405020304" pitchFamily="18" charset="0"/>
              </a:rPr>
              <a:t>访问结点</a:t>
            </a:r>
          </a:p>
          <a:p>
            <a:r>
              <a:rPr lang="es-ES" altLang="zh-CN" dirty="0">
                <a:solidFill>
                  <a:srgbClr val="0070C0"/>
                </a:solidFill>
                <a:latin typeface="Times New Roman" panose="02020603050405020304" pitchFamily="18" charset="0"/>
                <a:cs typeface="Times New Roman" panose="02020603050405020304" pitchFamily="18" charset="0"/>
              </a:rPr>
              <a:t>           p=p-&gt;rchild;</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       }</a:t>
            </a:r>
            <a:endParaRPr lang="zh-CN" altLang="zh-CN" dirty="0">
              <a:solidFill>
                <a:srgbClr val="0070C0"/>
              </a:solidFill>
              <a:latin typeface="Times New Roman" panose="02020603050405020304" pitchFamily="18" charset="0"/>
              <a:cs typeface="Times New Roman" panose="02020603050405020304" pitchFamily="18" charset="0"/>
            </a:endParaRPr>
          </a:p>
          <a:p>
            <a:r>
              <a:rPr lang="es-ES" altLang="zh-CN" dirty="0">
                <a:solidFill>
                  <a:srgbClr val="0070C0"/>
                </a:solidFill>
                <a:latin typeface="Times New Roman" panose="02020603050405020304" pitchFamily="18" charset="0"/>
                <a:cs typeface="Times New Roman" panose="02020603050405020304" pitchFamily="18" charset="0"/>
              </a:rPr>
              <a:t>}</a:t>
            </a:r>
            <a:endParaRPr lang="zh-CN" altLang="zh-CN" dirty="0">
              <a:solidFill>
                <a:srgbClr val="0070C0"/>
              </a:solidFill>
              <a:latin typeface="Times New Roman" panose="02020603050405020304" pitchFamily="18" charset="0"/>
              <a:cs typeface="Times New Roman" panose="02020603050405020304" pitchFamily="18" charset="0"/>
            </a:endParaRPr>
          </a:p>
          <a:p>
            <a:endParaRPr lang="zh-CN" altLang="en-US" dirty="0">
              <a:solidFill>
                <a:srgbClr val="0070C0"/>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中序遍历的非递归算法</a:t>
            </a:r>
          </a:p>
        </p:txBody>
      </p:sp>
    </p:spTree>
    <p:extLst>
      <p:ext uri="{BB962C8B-B14F-4D97-AF65-F5344CB8AC3E}">
        <p14:creationId xmlns:p14="http://schemas.microsoft.com/office/powerpoint/2010/main" val="26097884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3" end="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5" end="5"/>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xEl>
                                              <p:pRg st="6" end="6"/>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
                                            <p:txEl>
                                              <p:pRg st="7" end="7"/>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
                                            <p:txEl>
                                              <p:pRg st="8" end="8"/>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xEl>
                                              <p:pRg st="9" end="9"/>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
                                            <p:txEl>
                                              <p:pRg st="10" end="10"/>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
                                            <p:txEl>
                                              <p:pRg st="11" end="11"/>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971600" y="843558"/>
            <a:ext cx="7137400" cy="3507876"/>
          </a:xfrm>
        </p:spPr>
        <p:txBody>
          <a:bodyPr/>
          <a:lstStyle/>
          <a:p>
            <a:pPr marL="0" indent="0" algn="just">
              <a:lnSpc>
                <a:spcPts val="3000"/>
              </a:lnSpc>
              <a:spcBef>
                <a:spcPts val="0"/>
              </a:spcBef>
              <a:buNone/>
            </a:pPr>
            <a:r>
              <a:rPr lang="zh-CN" altLang="en-US" sz="1600" dirty="0">
                <a:latin typeface="Times New Roman" panose="02020603050405020304" pitchFamily="18" charset="0"/>
                <a:cs typeface="Times New Roman" panose="02020603050405020304" pitchFamily="18" charset="0"/>
              </a:rPr>
              <a:t>后序遍历的算法流程如下</a:t>
            </a:r>
            <a:r>
              <a:rPr lang="en-US" altLang="zh-CN" sz="1600" dirty="0">
                <a:latin typeface="Times New Roman" panose="02020603050405020304" pitchFamily="18" charset="0"/>
                <a:cs typeface="Times New Roman" panose="02020603050405020304" pitchFamily="18" charset="0"/>
              </a:rPr>
              <a:t>: </a:t>
            </a:r>
          </a:p>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用工作指针 </a:t>
            </a:r>
            <a:r>
              <a:rPr lang="en-US" altLang="zh-CN" sz="1600" dirty="0">
                <a:latin typeface="Times New Roman" panose="02020603050405020304" pitchFamily="18" charset="0"/>
                <a:cs typeface="Times New Roman" panose="02020603050405020304" pitchFamily="18" charset="0"/>
              </a:rPr>
              <a:t>p </a:t>
            </a:r>
            <a:r>
              <a:rPr lang="zh-CN" altLang="en-US" sz="1600" dirty="0">
                <a:latin typeface="Times New Roman" panose="02020603050405020304" pitchFamily="18" charset="0"/>
                <a:cs typeface="Times New Roman" panose="02020603050405020304" pitchFamily="18" charset="0"/>
              </a:rPr>
              <a:t>指向当前需处理的结点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并置标志位 </a:t>
            </a:r>
            <a:r>
              <a:rPr lang="en-US" altLang="zh-CN" sz="1600" dirty="0">
                <a:latin typeface="Times New Roman" panose="02020603050405020304" pitchFamily="18" charset="0"/>
                <a:cs typeface="Times New Roman" panose="02020603050405020304" pitchFamily="18" charset="0"/>
              </a:rPr>
              <a:t>flag = 0 (</a:t>
            </a:r>
            <a:r>
              <a:rPr lang="zh-CN" altLang="en-US" sz="1600" dirty="0">
                <a:latin typeface="Times New Roman" panose="02020603050405020304" pitchFamily="18" charset="0"/>
                <a:cs typeface="Times New Roman" panose="02020603050405020304" pitchFamily="18" charset="0"/>
              </a:rPr>
              <a:t>表示第一次入栈</a:t>
            </a:r>
            <a:r>
              <a:rPr lang="en-US" altLang="zh-CN" sz="1600" dirty="0">
                <a:latin typeface="Times New Roman" panose="02020603050405020304" pitchFamily="18" charset="0"/>
                <a:cs typeface="Times New Roman" panose="02020603050405020304" pitchFamily="18" charset="0"/>
              </a:rPr>
              <a:t>), p </a:t>
            </a:r>
            <a:r>
              <a:rPr lang="zh-CN" altLang="en-US" sz="1600" dirty="0">
                <a:latin typeface="Times New Roman" panose="02020603050405020304" pitchFamily="18" charset="0"/>
                <a:cs typeface="Times New Roman" panose="02020603050405020304" pitchFamily="18" charset="0"/>
              </a:rPr>
              <a:t>入栈</a:t>
            </a:r>
            <a:r>
              <a:rPr lang="en-US" altLang="zh-CN" sz="1600" dirty="0">
                <a:latin typeface="Times New Roman" panose="02020603050405020304" pitchFamily="18" charset="0"/>
                <a:cs typeface="Times New Roman" panose="02020603050405020304" pitchFamily="18" charset="0"/>
              </a:rPr>
              <a:t>; </a:t>
            </a:r>
          </a:p>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扫描该结点左子树上的所有结点并将它们一一进栈</a:t>
            </a:r>
            <a:r>
              <a:rPr lang="en-US" altLang="zh-CN" sz="1600" dirty="0">
                <a:latin typeface="Times New Roman" panose="02020603050405020304" pitchFamily="18" charset="0"/>
                <a:cs typeface="Times New Roman" panose="02020603050405020304" pitchFamily="18" charset="0"/>
              </a:rPr>
              <a:t>; </a:t>
            </a:r>
          </a:p>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(3)</a:t>
            </a:r>
            <a:r>
              <a:rPr lang="zh-CN" altLang="en-US" sz="1600" dirty="0">
                <a:latin typeface="Times New Roman" panose="02020603050405020304" pitchFamily="18" charset="0"/>
                <a:cs typeface="Times New Roman" panose="02020603050405020304" pitchFamily="18" charset="0"/>
              </a:rPr>
              <a:t>当该结点无左孩子时表示栈顶结点无左子树</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则该结点出栈</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并判断标志位的值</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若 </a:t>
            </a:r>
            <a:r>
              <a:rPr lang="en-US" altLang="zh-CN" sz="1600" dirty="0">
                <a:latin typeface="Times New Roman" panose="02020603050405020304" pitchFamily="18" charset="0"/>
                <a:cs typeface="Times New Roman" panose="02020603050405020304" pitchFamily="18" charset="0"/>
              </a:rPr>
              <a:t>flag = 0, </a:t>
            </a:r>
            <a:r>
              <a:rPr lang="zh-CN" altLang="en-US" sz="1600" dirty="0">
                <a:latin typeface="Times New Roman" panose="02020603050405020304" pitchFamily="18" charset="0"/>
                <a:cs typeface="Times New Roman" panose="02020603050405020304" pitchFamily="18" charset="0"/>
              </a:rPr>
              <a:t>则置 </a:t>
            </a:r>
            <a:r>
              <a:rPr lang="en-US" altLang="zh-CN" sz="1600" dirty="0">
                <a:latin typeface="Times New Roman" panose="02020603050405020304" pitchFamily="18" charset="0"/>
                <a:cs typeface="Times New Roman" panose="02020603050405020304" pitchFamily="18" charset="0"/>
              </a:rPr>
              <a:t>flag = 1(</a:t>
            </a:r>
            <a:r>
              <a:rPr lang="zh-CN" altLang="en-US" sz="1600" dirty="0">
                <a:latin typeface="Times New Roman" panose="02020603050405020304" pitchFamily="18" charset="0"/>
                <a:cs typeface="Times New Roman" panose="02020603050405020304" pitchFamily="18" charset="0"/>
              </a:rPr>
              <a:t>表示该结点第二次入栈</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该结点入栈</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并将 </a:t>
            </a:r>
            <a:r>
              <a:rPr lang="en-US" altLang="zh-CN" sz="1600" dirty="0">
                <a:latin typeface="Times New Roman" panose="02020603050405020304" pitchFamily="18" charset="0"/>
                <a:cs typeface="Times New Roman" panose="02020603050405020304" pitchFamily="18" charset="0"/>
              </a:rPr>
              <a:t>p </a:t>
            </a:r>
            <a:r>
              <a:rPr lang="zh-CN" altLang="en-US" sz="1600" dirty="0">
                <a:latin typeface="Times New Roman" panose="02020603050405020304" pitchFamily="18" charset="0"/>
                <a:cs typeface="Times New Roman" panose="02020603050405020304" pitchFamily="18" charset="0"/>
              </a:rPr>
              <a:t>指向刚出栈结点的右孩子</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若 </a:t>
            </a:r>
            <a:r>
              <a:rPr lang="en-US" altLang="zh-CN" sz="1600" dirty="0">
                <a:latin typeface="Times New Roman" panose="02020603050405020304" pitchFamily="18" charset="0"/>
                <a:cs typeface="Times New Roman" panose="02020603050405020304" pitchFamily="18" charset="0"/>
              </a:rPr>
              <a:t>flag = 1, </a:t>
            </a:r>
            <a:r>
              <a:rPr lang="zh-CN" altLang="en-US" sz="1600" dirty="0">
                <a:latin typeface="Times New Roman" panose="02020603050405020304" pitchFamily="18" charset="0"/>
                <a:cs typeface="Times New Roman" panose="02020603050405020304" pitchFamily="18" charset="0"/>
              </a:rPr>
              <a:t>则访问该结点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置 </a:t>
            </a:r>
            <a:r>
              <a:rPr lang="en-US" altLang="zh-CN" sz="1600" dirty="0">
                <a:latin typeface="Times New Roman" panose="02020603050405020304" pitchFamily="18" charset="0"/>
                <a:cs typeface="Times New Roman" panose="02020603050405020304" pitchFamily="18" charset="0"/>
              </a:rPr>
              <a:t>p =NULL; </a:t>
            </a:r>
          </a:p>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对右子树进行相同处理</a:t>
            </a:r>
            <a:r>
              <a:rPr lang="en-US" altLang="zh-CN" sz="1600" dirty="0">
                <a:latin typeface="Times New Roman" panose="02020603050405020304" pitchFamily="18" charset="0"/>
                <a:cs typeface="Times New Roman" panose="02020603050405020304" pitchFamily="18" charset="0"/>
              </a:rPr>
              <a:t>; </a:t>
            </a:r>
          </a:p>
          <a:p>
            <a:pPr marL="0" indent="0" algn="just">
              <a:lnSpc>
                <a:spcPts val="3000"/>
              </a:lnSpc>
              <a:spcBef>
                <a:spcPts val="0"/>
              </a:spcBef>
              <a:buNone/>
            </a:pPr>
            <a:r>
              <a:rPr lang="en-US" altLang="zh-CN" sz="1600" dirty="0">
                <a:latin typeface="Times New Roman" panose="02020603050405020304" pitchFamily="18" charset="0"/>
                <a:cs typeface="Times New Roman" panose="02020603050405020304" pitchFamily="18" charset="0"/>
              </a:rPr>
              <a:t>(5)</a:t>
            </a:r>
            <a:r>
              <a:rPr lang="zh-CN" altLang="en-US" sz="1600" dirty="0">
                <a:latin typeface="Times New Roman" panose="02020603050405020304" pitchFamily="18" charset="0"/>
                <a:cs typeface="Times New Roman" panose="02020603050405020304" pitchFamily="18" charset="0"/>
              </a:rPr>
              <a:t>重复上述过程</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直到栈为空为止。</a:t>
            </a:r>
          </a:p>
        </p:txBody>
      </p:sp>
      <p:sp>
        <p:nvSpPr>
          <p:cNvPr id="4" name="文本框 3"/>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后序遍历的非递归算法</a:t>
            </a:r>
          </a:p>
        </p:txBody>
      </p:sp>
    </p:spTree>
    <p:extLst>
      <p:ext uri="{BB962C8B-B14F-4D97-AF65-F5344CB8AC3E}">
        <p14:creationId xmlns:p14="http://schemas.microsoft.com/office/powerpoint/2010/main" val="42092588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87574"/>
            <a:ext cx="3816424" cy="3507876"/>
          </a:xfrm>
        </p:spPr>
        <p:txBody>
          <a:bodyPr/>
          <a:lstStyle/>
          <a:p>
            <a:pPr marL="0" indent="0">
              <a:lnSpc>
                <a:spcPts val="3000"/>
              </a:lnSpc>
              <a:spcBef>
                <a:spcPts val="0"/>
              </a:spcBef>
              <a:buNone/>
            </a:pPr>
            <a:r>
              <a:rPr lang="zh-CN" altLang="zh-CN" sz="1800" dirty="0">
                <a:latin typeface="Times New Roman" panose="02020603050405020304" pitchFamily="18" charset="0"/>
                <a:cs typeface="Times New Roman" panose="02020603050405020304" pitchFamily="18" charset="0"/>
              </a:rPr>
              <a:t>顺序栈中元素类型改为</a:t>
            </a:r>
            <a:r>
              <a:rPr lang="en-US" altLang="zh-CN" sz="1800" dirty="0" err="1">
                <a:latin typeface="Times New Roman" panose="02020603050405020304" pitchFamily="18" charset="0"/>
                <a:cs typeface="Times New Roman" panose="02020603050405020304" pitchFamily="18" charset="0"/>
              </a:rPr>
              <a:t>BitNodeFlag</a:t>
            </a:r>
            <a:endParaRPr lang="en-US" altLang="zh-CN" sz="1800" dirty="0">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800" dirty="0" err="1">
                <a:latin typeface="Times New Roman" panose="02020603050405020304" pitchFamily="18" charset="0"/>
                <a:cs typeface="Times New Roman" panose="02020603050405020304" pitchFamily="18" charset="0"/>
              </a:rPr>
              <a:t>typedef</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struct</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BitNode</a:t>
            </a:r>
            <a:r>
              <a:rPr lang="en-US" altLang="zh-CN" sz="1800" dirty="0">
                <a:latin typeface="Times New Roman" panose="02020603050405020304" pitchFamily="18" charset="0"/>
                <a:cs typeface="Times New Roman" panose="02020603050405020304" pitchFamily="18" charset="0"/>
              </a:rPr>
              <a:t> *pointer;</a:t>
            </a:r>
            <a:endParaRPr lang="zh-CN" altLang="zh-CN" sz="1800" dirty="0">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flag;</a:t>
            </a:r>
            <a:endParaRPr lang="zh-CN" altLang="zh-CN" sz="1800" dirty="0">
              <a:latin typeface="Times New Roman" panose="02020603050405020304" pitchFamily="18" charset="0"/>
              <a:cs typeface="Times New Roman" panose="02020603050405020304" pitchFamily="18" charset="0"/>
            </a:endParaRPr>
          </a:p>
          <a:p>
            <a:pPr marL="0" indent="0">
              <a:lnSpc>
                <a:spcPts val="3000"/>
              </a:lnSpc>
              <a:spcBef>
                <a:spcPts val="0"/>
              </a:spcBef>
              <a:buNone/>
            </a:pP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BitNodeFlag</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2039416" y="674385"/>
            <a:ext cx="3672408" cy="4221669"/>
          </a:xfrm>
          <a:prstGeom prst="rect">
            <a:avLst/>
          </a:prstGeom>
          <a:solidFill>
            <a:schemeClr val="accent2">
              <a:lumMod val="40000"/>
              <a:lumOff val="60000"/>
            </a:schemeClr>
          </a:solidFill>
        </p:spPr>
        <p:txBody>
          <a:bodyPr wrap="square" rtlCol="0">
            <a:spAutoFit/>
          </a:bodyPr>
          <a:lstStyle/>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void PostTraverse(BitNode *t){</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BitNodeFlag bf;</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BitNode</a:t>
            </a:r>
            <a:r>
              <a:rPr lang="en-US" altLang="zh-CN" dirty="0">
                <a:solidFill>
                  <a:srgbClr val="0070C0"/>
                </a:solidFill>
                <a:latin typeface="Times New Roman" panose="02020603050405020304" pitchFamily="18" charset="0"/>
                <a:cs typeface="Times New Roman" panose="02020603050405020304" pitchFamily="18" charset="0"/>
              </a:rPr>
              <a:t> *p=t;</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SqStack s;</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while(p||!s.EmptyStack())</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if(p){ </a:t>
            </a:r>
            <a:r>
              <a:rPr lang="es-ES" altLang="zh-CN" sz="1600" dirty="0">
                <a:solidFill>
                  <a:srgbClr val="0070C0"/>
                </a:solidFill>
                <a:latin typeface="Times New Roman" panose="02020603050405020304" pitchFamily="18" charset="0"/>
                <a:cs typeface="Times New Roman" panose="02020603050405020304" pitchFamily="18" charset="0"/>
              </a:rPr>
              <a:t>//</a:t>
            </a:r>
            <a:r>
              <a:rPr lang="zh-CN" altLang="zh-CN" sz="1600" dirty="0">
                <a:solidFill>
                  <a:srgbClr val="0070C0"/>
                </a:solidFill>
                <a:latin typeface="Times New Roman" panose="02020603050405020304" pitchFamily="18" charset="0"/>
                <a:cs typeface="Times New Roman" panose="02020603050405020304" pitchFamily="18" charset="0"/>
              </a:rPr>
              <a:t>根指针入栈，遍历左子树</a:t>
            </a: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bf.pointer=p;</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bf.flag=0;</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s.Push(bf);</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p=p-&gt;lchild;</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r>
              <a:rPr lang="es-ES" altLang="zh-CN" dirty="0">
                <a:solidFill>
                  <a:srgbClr val="0070C0"/>
                </a:solidFill>
                <a:latin typeface="Times New Roman" panose="02020603050405020304" pitchFamily="18" charset="0"/>
                <a:cs typeface="Times New Roman" panose="02020603050405020304" pitchFamily="18" charset="0"/>
              </a:rPr>
              <a:t>       }</a:t>
            </a:r>
          </a:p>
          <a:p>
            <a:pPr>
              <a:lnSpc>
                <a:spcPts val="2300"/>
              </a:lnSpc>
              <a:spcBef>
                <a:spcPts val="0"/>
              </a:spcBef>
            </a:pPr>
            <a:endParaRPr lang="es-ES"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300"/>
              </a:lnSpc>
              <a:spcBef>
                <a:spcPts val="0"/>
              </a:spcBef>
            </a:pPr>
            <a:endParaRPr lang="zh-CN" altLang="en-US"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5706924" y="494791"/>
            <a:ext cx="3329572" cy="4401205"/>
          </a:xfrm>
          <a:prstGeom prst="rect">
            <a:avLst/>
          </a:prstGeom>
          <a:solidFill>
            <a:srgbClr val="FFC000"/>
          </a:solidFill>
        </p:spPr>
        <p:txBody>
          <a:bodyPr wrap="square" rtlCol="0">
            <a:spAutoFit/>
          </a:bodyPr>
          <a:lstStyle/>
          <a:p>
            <a:pPr>
              <a:lnSpc>
                <a:spcPts val="2400"/>
              </a:lnSpc>
            </a:pPr>
            <a:r>
              <a:rPr lang="es-ES" altLang="zh-CN" dirty="0"/>
              <a:t>  else{</a:t>
            </a:r>
            <a:r>
              <a:rPr lang="es-ES" altLang="zh-CN" sz="1200" dirty="0"/>
              <a:t>//</a:t>
            </a:r>
            <a:r>
              <a:rPr lang="zh-CN" altLang="zh-CN" sz="1200" dirty="0"/>
              <a:t>根指针退栈，遍历右子树</a:t>
            </a:r>
          </a:p>
          <a:p>
            <a:pPr>
              <a:lnSpc>
                <a:spcPts val="2400"/>
              </a:lnSpc>
            </a:pPr>
            <a:r>
              <a:rPr lang="es-ES" altLang="zh-CN" dirty="0"/>
              <a:t>       s.Pop(bf);</a:t>
            </a:r>
            <a:endParaRPr lang="zh-CN" altLang="zh-CN" dirty="0"/>
          </a:p>
          <a:p>
            <a:pPr>
              <a:lnSpc>
                <a:spcPts val="2400"/>
              </a:lnSpc>
            </a:pPr>
            <a:r>
              <a:rPr lang="es-ES" altLang="zh-CN" dirty="0"/>
              <a:t>       if(bf.flag==0){  </a:t>
            </a:r>
          </a:p>
          <a:p>
            <a:pPr>
              <a:lnSpc>
                <a:spcPts val="2400"/>
              </a:lnSpc>
            </a:pPr>
            <a:r>
              <a:rPr lang="es-ES" altLang="zh-CN" dirty="0"/>
              <a:t>    </a:t>
            </a:r>
            <a:r>
              <a:rPr lang="es-ES" altLang="zh-CN" sz="1400" dirty="0"/>
              <a:t>//</a:t>
            </a:r>
            <a:r>
              <a:rPr lang="zh-CN" altLang="zh-CN" sz="1400" dirty="0"/>
              <a:t>右子树未处理，</a:t>
            </a:r>
            <a:r>
              <a:rPr lang="es-ES" altLang="zh-CN" sz="1400" dirty="0"/>
              <a:t>p</a:t>
            </a:r>
            <a:r>
              <a:rPr lang="zh-CN" altLang="zh-CN" sz="1400" dirty="0"/>
              <a:t>再次入栈</a:t>
            </a:r>
          </a:p>
          <a:p>
            <a:pPr>
              <a:lnSpc>
                <a:spcPts val="2400"/>
              </a:lnSpc>
            </a:pPr>
            <a:r>
              <a:rPr lang="es-ES" altLang="zh-CN" dirty="0"/>
              <a:t>          bf.flag=1;</a:t>
            </a:r>
            <a:endParaRPr lang="zh-CN" altLang="zh-CN" dirty="0"/>
          </a:p>
          <a:p>
            <a:pPr>
              <a:lnSpc>
                <a:spcPts val="2400"/>
              </a:lnSpc>
            </a:pPr>
            <a:r>
              <a:rPr lang="es-ES" altLang="zh-CN" dirty="0"/>
              <a:t>          s.Push(bf);</a:t>
            </a:r>
            <a:endParaRPr lang="zh-CN" altLang="zh-CN" dirty="0"/>
          </a:p>
          <a:p>
            <a:pPr>
              <a:lnSpc>
                <a:spcPts val="2400"/>
              </a:lnSpc>
            </a:pPr>
            <a:r>
              <a:rPr lang="es-ES" altLang="zh-CN" dirty="0"/>
              <a:t>          p=bf.pointer-&gt;rchild;</a:t>
            </a:r>
            <a:endParaRPr lang="zh-CN" altLang="zh-CN" dirty="0"/>
          </a:p>
          <a:p>
            <a:pPr>
              <a:lnSpc>
                <a:spcPts val="2400"/>
              </a:lnSpc>
            </a:pPr>
            <a:r>
              <a:rPr lang="es-ES" altLang="zh-CN" dirty="0"/>
              <a:t>       }</a:t>
            </a:r>
            <a:endParaRPr lang="zh-CN" altLang="zh-CN" dirty="0"/>
          </a:p>
          <a:p>
            <a:pPr>
              <a:lnSpc>
                <a:spcPts val="2400"/>
              </a:lnSpc>
            </a:pPr>
            <a:r>
              <a:rPr lang="es-ES" altLang="zh-CN" dirty="0"/>
              <a:t>       else{ </a:t>
            </a:r>
            <a:r>
              <a:rPr lang="es-ES" altLang="zh-CN" sz="1400" dirty="0"/>
              <a:t>//</a:t>
            </a:r>
            <a:r>
              <a:rPr lang="zh-CN" altLang="zh-CN" sz="1400" dirty="0"/>
              <a:t>右子树已处理结束</a:t>
            </a:r>
            <a:r>
              <a:rPr lang="en-US" altLang="zh-CN" sz="1400" dirty="0"/>
              <a:t>,</a:t>
            </a:r>
            <a:r>
              <a:rPr lang="zh-CN" altLang="en-US" sz="1400" dirty="0"/>
              <a:t>访问根</a:t>
            </a:r>
            <a:endParaRPr lang="zh-CN" altLang="zh-CN" sz="1400" dirty="0"/>
          </a:p>
          <a:p>
            <a:pPr>
              <a:lnSpc>
                <a:spcPts val="2400"/>
              </a:lnSpc>
            </a:pPr>
            <a:r>
              <a:rPr lang="es-ES" altLang="zh-CN" dirty="0"/>
              <a:t>           cout&lt;&lt;bf.pointer-&gt;data; </a:t>
            </a:r>
          </a:p>
          <a:p>
            <a:pPr>
              <a:lnSpc>
                <a:spcPts val="2400"/>
              </a:lnSpc>
            </a:pPr>
            <a:r>
              <a:rPr lang="es-ES" altLang="zh-CN" dirty="0"/>
              <a:t>           p=NULL;</a:t>
            </a:r>
            <a:endParaRPr lang="zh-CN" altLang="zh-CN" dirty="0"/>
          </a:p>
          <a:p>
            <a:pPr>
              <a:lnSpc>
                <a:spcPts val="2400"/>
              </a:lnSpc>
            </a:pPr>
            <a:r>
              <a:rPr lang="es-ES" altLang="zh-CN" dirty="0"/>
              <a:t>         }</a:t>
            </a:r>
            <a:endParaRPr lang="zh-CN" altLang="zh-CN" dirty="0"/>
          </a:p>
          <a:p>
            <a:pPr>
              <a:lnSpc>
                <a:spcPts val="2400"/>
              </a:lnSpc>
            </a:pPr>
            <a:r>
              <a:rPr lang="es-ES" altLang="zh-CN" dirty="0"/>
              <a:t>   }</a:t>
            </a:r>
            <a:endParaRPr lang="en-US" altLang="zh-CN" dirty="0"/>
          </a:p>
          <a:p>
            <a:pPr>
              <a:lnSpc>
                <a:spcPts val="2400"/>
              </a:lnSpc>
            </a:pPr>
            <a:r>
              <a:rPr lang="es-ES" altLang="zh-CN" dirty="0"/>
              <a:t>} </a:t>
            </a:r>
            <a:endParaRPr lang="zh-CN" altLang="zh-CN" dirty="0"/>
          </a:p>
        </p:txBody>
      </p:sp>
      <p:sp>
        <p:nvSpPr>
          <p:cNvPr id="6" name="文本框 5"/>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后序遍历的非递归算法</a:t>
            </a:r>
          </a:p>
        </p:txBody>
      </p:sp>
    </p:spTree>
    <p:extLst>
      <p:ext uri="{BB962C8B-B14F-4D97-AF65-F5344CB8AC3E}">
        <p14:creationId xmlns:p14="http://schemas.microsoft.com/office/powerpoint/2010/main" val="22239765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15566"/>
            <a:ext cx="4032447" cy="3507876"/>
          </a:xfrm>
        </p:spPr>
        <p:txBody>
          <a:bodyPr/>
          <a:lstStyle/>
          <a:p>
            <a:pPr algn="just"/>
            <a:r>
              <a:rPr lang="zh-CN" altLang="en-US" sz="1600" dirty="0"/>
              <a:t>层次遍历访问完某一层的结点后</a:t>
            </a:r>
            <a:r>
              <a:rPr lang="en-US" altLang="zh-CN" sz="1600" dirty="0"/>
              <a:t>,</a:t>
            </a:r>
            <a:r>
              <a:rPr lang="zh-CN" altLang="en-US" sz="1600" dirty="0"/>
              <a:t>再按照它们的访问次序对各结点的左、右子树顺序访问。 如此一层一层地访问</a:t>
            </a:r>
            <a:r>
              <a:rPr lang="en-US" altLang="zh-CN" sz="1600" dirty="0"/>
              <a:t>,</a:t>
            </a:r>
            <a:r>
              <a:rPr lang="zh-CN" altLang="en-US" sz="1600" dirty="0"/>
              <a:t>先访问的结点其左、右孩子也要先访问。层次遍历过程可以用队列来实现。</a:t>
            </a:r>
            <a:endParaRPr lang="en-US" altLang="zh-CN" sz="1600" dirty="0"/>
          </a:p>
          <a:p>
            <a:pPr algn="just"/>
            <a:r>
              <a:rPr lang="zh-CN" altLang="en-US" sz="1600" dirty="0"/>
              <a:t>利用第</a:t>
            </a:r>
            <a:r>
              <a:rPr lang="en-US" altLang="zh-CN" sz="1600" dirty="0"/>
              <a:t>3</a:t>
            </a:r>
            <a:r>
              <a:rPr lang="zh-CN" altLang="en-US" sz="1600" dirty="0"/>
              <a:t>章队列的定义</a:t>
            </a:r>
            <a:r>
              <a:rPr lang="en-US" altLang="zh-CN" sz="1600" dirty="0"/>
              <a:t>,</a:t>
            </a:r>
            <a:r>
              <a:rPr lang="zh-CN" altLang="en-US" sz="1600" dirty="0"/>
              <a:t>层次遍历非递归算法的 </a:t>
            </a:r>
            <a:r>
              <a:rPr lang="en-US" altLang="zh-CN" sz="1600" dirty="0"/>
              <a:t>C++</a:t>
            </a:r>
            <a:r>
              <a:rPr lang="zh-CN" altLang="en-US" sz="1600" dirty="0"/>
              <a:t>语言描述如下</a:t>
            </a:r>
            <a:r>
              <a:rPr lang="en-US" altLang="zh-CN" sz="1600" dirty="0"/>
              <a:t>:</a:t>
            </a:r>
            <a:endParaRPr lang="zh-CN" altLang="en-US" sz="1600" dirty="0"/>
          </a:p>
        </p:txBody>
      </p:sp>
      <p:sp>
        <p:nvSpPr>
          <p:cNvPr id="5" name="文本框 4"/>
          <p:cNvSpPr txBox="1"/>
          <p:nvPr/>
        </p:nvSpPr>
        <p:spPr>
          <a:xfrm>
            <a:off x="4572000" y="771550"/>
            <a:ext cx="4464496" cy="3662541"/>
          </a:xfrm>
          <a:prstGeom prst="rect">
            <a:avLst/>
          </a:prstGeom>
          <a:noFill/>
        </p:spPr>
        <p:txBody>
          <a:bodyPr wrap="square" rtlCol="0">
            <a:spAutoFit/>
          </a:bodyPr>
          <a:lstStyle/>
          <a:p>
            <a:r>
              <a:rPr lang="en-US" altLang="zh-CN" sz="1600" dirty="0">
                <a:solidFill>
                  <a:srgbClr val="0070C0"/>
                </a:solidFill>
                <a:latin typeface="Times New Roman" panose="02020603050405020304" pitchFamily="18" charset="0"/>
                <a:cs typeface="Times New Roman" panose="02020603050405020304" pitchFamily="18" charset="0"/>
              </a:rPr>
              <a:t>void Level</a:t>
            </a:r>
            <a:r>
              <a:rPr lang="es-ES" altLang="zh-CN" sz="1600" dirty="0">
                <a:solidFill>
                  <a:srgbClr val="0070C0"/>
                </a:solidFill>
                <a:latin typeface="Times New Roman" panose="02020603050405020304" pitchFamily="18" charset="0"/>
                <a:cs typeface="Times New Roman" panose="02020603050405020304" pitchFamily="18" charset="0"/>
              </a:rPr>
              <a:t>Traverse(BitNode *t){</a:t>
            </a:r>
            <a:endParaRPr lang="zh-CN" altLang="zh-CN" sz="1600" dirty="0">
              <a:solidFill>
                <a:srgbClr val="0070C0"/>
              </a:solidFill>
              <a:latin typeface="Times New Roman" panose="02020603050405020304" pitchFamily="18" charset="0"/>
              <a:cs typeface="Times New Roman" panose="02020603050405020304" pitchFamily="18" charset="0"/>
            </a:endParaRPr>
          </a:p>
          <a:p>
            <a:r>
              <a:rPr lang="es-ES" altLang="zh-CN" sz="1600" dirty="0">
                <a:solidFill>
                  <a:srgbClr val="0070C0"/>
                </a:solidFill>
                <a:latin typeface="Times New Roman" panose="02020603050405020304" pitchFamily="18" charset="0"/>
                <a:cs typeface="Times New Roman" panose="02020603050405020304" pitchFamily="18" charset="0"/>
              </a:rPr>
              <a:t>   BitNode *p=t;</a:t>
            </a:r>
            <a:endParaRPr lang="zh-CN" altLang="zh-CN" sz="1600" dirty="0">
              <a:solidFill>
                <a:srgbClr val="0070C0"/>
              </a:solidFill>
              <a:latin typeface="Times New Roman" panose="02020603050405020304" pitchFamily="18" charset="0"/>
              <a:cs typeface="Times New Roman" panose="02020603050405020304" pitchFamily="18" charset="0"/>
            </a:endParaRPr>
          </a:p>
          <a:p>
            <a:r>
              <a:rPr lang="es-ES" altLang="zh-CN" sz="1600" dirty="0">
                <a:solidFill>
                  <a:srgbClr val="0070C0"/>
                </a:solidFill>
                <a:latin typeface="Times New Roman" panose="02020603050405020304" pitchFamily="18" charset="0"/>
                <a:cs typeface="Times New Roman" panose="02020603050405020304" pitchFamily="18" charset="0"/>
              </a:rPr>
              <a:t>   LinkQueue q;          //</a:t>
            </a:r>
            <a:r>
              <a:rPr lang="zh-CN" altLang="zh-CN" sz="1600" dirty="0">
                <a:solidFill>
                  <a:srgbClr val="0070C0"/>
                </a:solidFill>
                <a:latin typeface="Times New Roman" panose="02020603050405020304" pitchFamily="18" charset="0"/>
                <a:cs typeface="Times New Roman" panose="02020603050405020304" pitchFamily="18" charset="0"/>
              </a:rPr>
              <a:t>初始化建立空队列</a:t>
            </a:r>
          </a:p>
          <a:p>
            <a:r>
              <a:rPr lang="es-ES" altLang="zh-CN" sz="1600" dirty="0">
                <a:solidFill>
                  <a:srgbClr val="0070C0"/>
                </a:solidFill>
                <a:latin typeface="Times New Roman" panose="02020603050405020304" pitchFamily="18" charset="0"/>
                <a:cs typeface="Times New Roman" panose="02020603050405020304" pitchFamily="18" charset="0"/>
              </a:rPr>
              <a:t>   if(p)  q.Enqueue(p);           //</a:t>
            </a:r>
            <a:r>
              <a:rPr lang="zh-CN" altLang="zh-CN" sz="1600" dirty="0">
                <a:solidFill>
                  <a:srgbClr val="0070C0"/>
                </a:solidFill>
                <a:latin typeface="Times New Roman" panose="02020603050405020304" pitchFamily="18" charset="0"/>
                <a:cs typeface="Times New Roman" panose="02020603050405020304" pitchFamily="18" charset="0"/>
              </a:rPr>
              <a:t>根结点入队</a:t>
            </a:r>
          </a:p>
          <a:p>
            <a:r>
              <a:rPr lang="es-ES" altLang="zh-CN" sz="1600" dirty="0">
                <a:solidFill>
                  <a:srgbClr val="0070C0"/>
                </a:solidFill>
                <a:latin typeface="Times New Roman" panose="02020603050405020304" pitchFamily="18" charset="0"/>
                <a:cs typeface="Times New Roman" panose="02020603050405020304" pitchFamily="18" charset="0"/>
              </a:rPr>
              <a:t>   while(!q.EmptyQueue()){</a:t>
            </a:r>
            <a:endParaRPr lang="zh-CN" altLang="zh-CN" sz="1600" dirty="0">
              <a:solidFill>
                <a:srgbClr val="0070C0"/>
              </a:solidFill>
              <a:latin typeface="Times New Roman" panose="02020603050405020304" pitchFamily="18" charset="0"/>
              <a:cs typeface="Times New Roman" panose="02020603050405020304" pitchFamily="18" charset="0"/>
            </a:endParaRPr>
          </a:p>
          <a:p>
            <a:r>
              <a:rPr lang="es-ES" altLang="zh-CN" sz="1600" dirty="0">
                <a:solidFill>
                  <a:srgbClr val="0070C0"/>
                </a:solidFill>
                <a:latin typeface="Times New Roman" panose="02020603050405020304" pitchFamily="18" charset="0"/>
                <a:cs typeface="Times New Roman" panose="02020603050405020304" pitchFamily="18" charset="0"/>
              </a:rPr>
              <a:t>      q.DeQueue(p);                     //</a:t>
            </a:r>
            <a:r>
              <a:rPr lang="zh-CN" altLang="zh-CN" sz="1600" dirty="0">
                <a:solidFill>
                  <a:srgbClr val="0070C0"/>
                </a:solidFill>
                <a:latin typeface="Times New Roman" panose="02020603050405020304" pitchFamily="18" charset="0"/>
                <a:cs typeface="Times New Roman" panose="02020603050405020304" pitchFamily="18" charset="0"/>
              </a:rPr>
              <a:t>出队</a:t>
            </a:r>
          </a:p>
          <a:p>
            <a:r>
              <a:rPr lang="es-ES" altLang="zh-CN" sz="1600" dirty="0">
                <a:solidFill>
                  <a:srgbClr val="0070C0"/>
                </a:solidFill>
                <a:latin typeface="Times New Roman" panose="02020603050405020304" pitchFamily="18" charset="0"/>
                <a:cs typeface="Times New Roman" panose="02020603050405020304" pitchFamily="18" charset="0"/>
              </a:rPr>
              <a:t>      cout&lt;&lt;p-&gt;data;              //</a:t>
            </a:r>
            <a:r>
              <a:rPr lang="zh-CN" altLang="zh-CN" sz="1600" dirty="0">
                <a:solidFill>
                  <a:srgbClr val="0070C0"/>
                </a:solidFill>
                <a:latin typeface="Times New Roman" panose="02020603050405020304" pitchFamily="18" charset="0"/>
                <a:cs typeface="Times New Roman" panose="02020603050405020304" pitchFamily="18" charset="0"/>
              </a:rPr>
              <a:t>访问结点</a:t>
            </a:r>
          </a:p>
          <a:p>
            <a:r>
              <a:rPr lang="es-ES" altLang="zh-CN" sz="1600" dirty="0">
                <a:solidFill>
                  <a:srgbClr val="0070C0"/>
                </a:solidFill>
                <a:latin typeface="Times New Roman" panose="02020603050405020304" pitchFamily="18" charset="0"/>
                <a:cs typeface="Times New Roman" panose="02020603050405020304" pitchFamily="18" charset="0"/>
              </a:rPr>
              <a:t>      if(p-&gt;lchild) q.EnQueue(p-&gt;lchild);  </a:t>
            </a:r>
          </a:p>
          <a:p>
            <a:r>
              <a:rPr lang="es-ES" altLang="zh-CN" sz="1600" dirty="0">
                <a:solidFill>
                  <a:srgbClr val="0070C0"/>
                </a:solidFill>
                <a:latin typeface="Times New Roman" panose="02020603050405020304" pitchFamily="18" charset="0"/>
                <a:cs typeface="Times New Roman" panose="02020603050405020304" pitchFamily="18" charset="0"/>
              </a:rPr>
              <a:t>        //</a:t>
            </a:r>
            <a:r>
              <a:rPr lang="zh-CN" altLang="zh-CN" sz="1600" dirty="0">
                <a:solidFill>
                  <a:srgbClr val="0070C0"/>
                </a:solidFill>
                <a:latin typeface="Times New Roman" panose="02020603050405020304" pitchFamily="18" charset="0"/>
                <a:cs typeface="Times New Roman" panose="02020603050405020304" pitchFamily="18" charset="0"/>
              </a:rPr>
              <a:t>左子树根结点入队</a:t>
            </a:r>
          </a:p>
          <a:p>
            <a:r>
              <a:rPr lang="es-ES" altLang="zh-CN" sz="1600" dirty="0">
                <a:solidFill>
                  <a:srgbClr val="0070C0"/>
                </a:solidFill>
                <a:latin typeface="Times New Roman" panose="02020603050405020304" pitchFamily="18" charset="0"/>
                <a:cs typeface="Times New Roman" panose="02020603050405020304" pitchFamily="18" charset="0"/>
              </a:rPr>
              <a:t>      if(p-&gt;rchild) q.EnQueue(p-&gt;rchild);   </a:t>
            </a:r>
          </a:p>
          <a:p>
            <a:r>
              <a:rPr lang="es-ES" altLang="zh-CN" sz="1600" dirty="0">
                <a:solidFill>
                  <a:srgbClr val="0070C0"/>
                </a:solidFill>
                <a:latin typeface="Times New Roman" panose="02020603050405020304" pitchFamily="18" charset="0"/>
                <a:cs typeface="Times New Roman" panose="02020603050405020304" pitchFamily="18" charset="0"/>
              </a:rPr>
              <a:t>       //</a:t>
            </a:r>
            <a:r>
              <a:rPr lang="zh-CN" altLang="zh-CN" sz="1600" dirty="0">
                <a:solidFill>
                  <a:srgbClr val="0070C0"/>
                </a:solidFill>
                <a:latin typeface="Times New Roman" panose="02020603050405020304" pitchFamily="18" charset="0"/>
                <a:cs typeface="Times New Roman" panose="02020603050405020304" pitchFamily="18" charset="0"/>
              </a:rPr>
              <a:t>右子树根结点入队</a:t>
            </a:r>
          </a:p>
          <a:p>
            <a:r>
              <a:rPr lang="es-ES" altLang="zh-CN" sz="1600" dirty="0">
                <a:solidFill>
                  <a:srgbClr val="0070C0"/>
                </a:solidFill>
                <a:latin typeface="Times New Roman" panose="02020603050405020304" pitchFamily="18" charset="0"/>
                <a:cs typeface="Times New Roman" panose="02020603050405020304" pitchFamily="18" charset="0"/>
              </a:rPr>
              <a:t>   }</a:t>
            </a:r>
            <a:endParaRPr lang="zh-CN" altLang="zh-CN" sz="1600" dirty="0">
              <a:solidFill>
                <a:srgbClr val="0070C0"/>
              </a:solidFill>
              <a:latin typeface="Times New Roman" panose="02020603050405020304" pitchFamily="18" charset="0"/>
              <a:cs typeface="Times New Roman" panose="02020603050405020304" pitchFamily="18" charset="0"/>
            </a:endParaRPr>
          </a:p>
          <a:p>
            <a:r>
              <a:rPr lang="es-ES" altLang="zh-CN" sz="1600" dirty="0">
                <a:solidFill>
                  <a:srgbClr val="0070C0"/>
                </a:solidFill>
                <a:latin typeface="Times New Roman" panose="02020603050405020304" pitchFamily="18" charset="0"/>
                <a:cs typeface="Times New Roman" panose="02020603050405020304" pitchFamily="18" charset="0"/>
              </a:rPr>
              <a:t>}</a:t>
            </a:r>
            <a:endParaRPr lang="zh-CN" altLang="zh-CN" sz="1600" dirty="0">
              <a:solidFill>
                <a:srgbClr val="0070C0"/>
              </a:solidFill>
              <a:latin typeface="Times New Roman" panose="02020603050405020304" pitchFamily="18" charset="0"/>
              <a:cs typeface="Times New Roman" panose="02020603050405020304" pitchFamily="18" charset="0"/>
            </a:endParaRPr>
          </a:p>
          <a:p>
            <a:endParaRPr lang="zh-CN" altLang="en-US" dirty="0"/>
          </a:p>
        </p:txBody>
      </p:sp>
      <p:cxnSp>
        <p:nvCxnSpPr>
          <p:cNvPr id="7" name="直接连接符 6"/>
          <p:cNvCxnSpPr/>
          <p:nvPr/>
        </p:nvCxnSpPr>
        <p:spPr>
          <a:xfrm>
            <a:off x="4283968" y="0"/>
            <a:ext cx="0" cy="5143500"/>
          </a:xfrm>
          <a:prstGeom prst="line">
            <a:avLst/>
          </a:prstGeom>
          <a:ln>
            <a:prstDash val="sysDash"/>
          </a:ln>
        </p:spPr>
        <p:style>
          <a:lnRef idx="1">
            <a:schemeClr val="accent4"/>
          </a:lnRef>
          <a:fillRef idx="0">
            <a:schemeClr val="accent4"/>
          </a:fillRef>
          <a:effectRef idx="0">
            <a:schemeClr val="accent4"/>
          </a:effectRef>
          <a:fontRef idx="minor">
            <a:schemeClr val="tx1"/>
          </a:fontRef>
        </p:style>
      </p:cxnSp>
      <p:sp>
        <p:nvSpPr>
          <p:cNvPr id="6" name="文本框 5"/>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层次遍历算法</a:t>
            </a:r>
          </a:p>
        </p:txBody>
      </p:sp>
    </p:spTree>
    <p:extLst>
      <p:ext uri="{BB962C8B-B14F-4D97-AF65-F5344CB8AC3E}">
        <p14:creationId xmlns:p14="http://schemas.microsoft.com/office/powerpoint/2010/main" val="13711732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1419622"/>
            <a:ext cx="5400600" cy="3507876"/>
          </a:xfrm>
        </p:spPr>
        <p:txBody>
          <a:bodyPr/>
          <a:lstStyle/>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int CountBitLeaf (BitNode *t){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SqStack s;                       //</a:t>
            </a:r>
            <a:r>
              <a:rPr lang="zh-CN" altLang="zh-CN" sz="1600" dirty="0">
                <a:solidFill>
                  <a:srgbClr val="0070C0"/>
                </a:solidFill>
                <a:latin typeface="Times New Roman" panose="02020603050405020304" pitchFamily="18" charset="0"/>
                <a:cs typeface="Times New Roman" panose="02020603050405020304" pitchFamily="18" charset="0"/>
              </a:rPr>
              <a:t>栈</a:t>
            </a:r>
            <a:r>
              <a:rPr lang="es-ES" altLang="zh-CN" sz="1600" dirty="0">
                <a:solidFill>
                  <a:srgbClr val="0070C0"/>
                </a:solidFill>
                <a:latin typeface="Times New Roman" panose="02020603050405020304" pitchFamily="18" charset="0"/>
                <a:cs typeface="Times New Roman" panose="02020603050405020304" pitchFamily="18" charset="0"/>
              </a:rPr>
              <a:t>S</a:t>
            </a:r>
            <a:r>
              <a:rPr lang="zh-CN" altLang="zh-CN" sz="1600" dirty="0">
                <a:solidFill>
                  <a:srgbClr val="0070C0"/>
                </a:solidFill>
                <a:latin typeface="Times New Roman" panose="02020603050405020304" pitchFamily="18" charset="0"/>
                <a:cs typeface="Times New Roman" panose="02020603050405020304" pitchFamily="18" charset="0"/>
              </a:rPr>
              <a:t>初始化；</a:t>
            </a: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BitNode *p=t;</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int count=0;                      //</a:t>
            </a:r>
            <a:r>
              <a:rPr lang="zh-CN" altLang="zh-CN" sz="1600" dirty="0">
                <a:solidFill>
                  <a:srgbClr val="0070C0"/>
                </a:solidFill>
                <a:latin typeface="Times New Roman" panose="02020603050405020304" pitchFamily="18" charset="0"/>
                <a:cs typeface="Times New Roman" panose="02020603050405020304" pitchFamily="18" charset="0"/>
              </a:rPr>
              <a:t>计数器置</a:t>
            </a:r>
            <a:r>
              <a:rPr lang="es-ES" altLang="zh-CN" sz="1600" dirty="0">
                <a:solidFill>
                  <a:srgbClr val="0070C0"/>
                </a:solidFill>
                <a:latin typeface="Times New Roman" panose="02020603050405020304" pitchFamily="18" charset="0"/>
                <a:cs typeface="Times New Roman" panose="02020603050405020304" pitchFamily="18" charset="0"/>
              </a:rPr>
              <a:t>0</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while(p!=NULL || !s.EmptyStack()){</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while(p!=NULL) { </a:t>
            </a: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//p</a:t>
            </a:r>
            <a:r>
              <a:rPr lang="zh-CN" altLang="zh-CN" sz="1600" dirty="0">
                <a:solidFill>
                  <a:srgbClr val="0070C0"/>
                </a:solidFill>
                <a:latin typeface="Times New Roman" panose="02020603050405020304" pitchFamily="18" charset="0"/>
                <a:cs typeface="Times New Roman" panose="02020603050405020304" pitchFamily="18" charset="0"/>
              </a:rPr>
              <a:t>的左子树根结点依次入栈，直到左子树为空</a:t>
            </a: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s.Push(p);  </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p=p-&gt;lchild; </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a:t>
            </a:r>
            <a:endParaRPr lang="zh-CN" altLang="zh-CN" sz="1600" dirty="0">
              <a:solidFill>
                <a:srgbClr val="0070C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s-ES" altLang="zh-CN" sz="1600" dirty="0">
                <a:solidFill>
                  <a:srgbClr val="0070C0"/>
                </a:solidFill>
                <a:latin typeface="Times New Roman" panose="02020603050405020304" pitchFamily="18" charset="0"/>
                <a:cs typeface="Times New Roman" panose="02020603050405020304" pitchFamily="18" charset="0"/>
              </a:rPr>
              <a:t>     	</a:t>
            </a:r>
            <a:endParaRPr lang="zh-CN" altLang="en-US" sz="1600" dirty="0">
              <a:solidFill>
                <a:srgbClr val="0070C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251520" y="915566"/>
            <a:ext cx="8984095" cy="615553"/>
          </a:xfrm>
          <a:prstGeom prst="rect">
            <a:avLst/>
          </a:prstGeom>
          <a:noFill/>
        </p:spPr>
        <p:txBody>
          <a:bodyPr wrap="square" rtlCol="0">
            <a:spAutoFit/>
          </a:bodyPr>
          <a:lstStyle/>
          <a:p>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已知二叉树采用二叉链表存储结构存储，设计一个计算二叉树叶子结点的非递归算法。</a:t>
            </a:r>
          </a:p>
          <a:p>
            <a:endParaRPr lang="zh-CN" altLang="en-US" dirty="0">
              <a:latin typeface="隶书" panose="02010509060101010101" pitchFamily="49" charset="-122"/>
              <a:ea typeface="隶书" panose="02010509060101010101" pitchFamily="49" charset="-122"/>
            </a:endParaRPr>
          </a:p>
        </p:txBody>
      </p:sp>
      <p:sp>
        <p:nvSpPr>
          <p:cNvPr id="5" name="文本框 4"/>
          <p:cNvSpPr txBox="1"/>
          <p:nvPr/>
        </p:nvSpPr>
        <p:spPr>
          <a:xfrm>
            <a:off x="3995936" y="1419622"/>
            <a:ext cx="5040560" cy="3449021"/>
          </a:xfrm>
          <a:prstGeom prst="rect">
            <a:avLst/>
          </a:prstGeom>
          <a:solidFill>
            <a:srgbClr val="FFC000"/>
          </a:solidFill>
        </p:spPr>
        <p:txBody>
          <a:bodyPr wrap="square" rtlCol="0">
            <a:spAutoFit/>
          </a:bodyPr>
          <a:lstStyle/>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if( !s.EmptyStack()){ </a:t>
            </a: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栈非空，出栈判断是否为叶子，若非叶子，</a:t>
            </a:r>
            <a:r>
              <a:rPr lang="es-ES" altLang="zh-CN" sz="1600" dirty="0">
                <a:latin typeface="Times New Roman" panose="02020603050405020304" pitchFamily="18" charset="0"/>
                <a:cs typeface="Times New Roman" panose="02020603050405020304" pitchFamily="18" charset="0"/>
              </a:rPr>
              <a:t>p</a:t>
            </a:r>
            <a:r>
              <a:rPr lang="zh-CN" altLang="zh-CN" sz="1600" dirty="0">
                <a:latin typeface="Times New Roman" panose="02020603050405020304" pitchFamily="18" charset="0"/>
                <a:cs typeface="Times New Roman" panose="02020603050405020304" pitchFamily="18" charset="0"/>
              </a:rPr>
              <a:t>指向右子树</a:t>
            </a: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s.Pop(p);</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if(p-&gt;lchild==NULL&amp;&amp;p-&gt;rchild==NULL)         </a:t>
            </a: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count++;   //</a:t>
            </a:r>
            <a:r>
              <a:rPr lang="zh-CN" altLang="zh-CN" sz="1600" dirty="0">
                <a:latin typeface="Times New Roman" panose="02020603050405020304" pitchFamily="18" charset="0"/>
                <a:cs typeface="Times New Roman" panose="02020603050405020304" pitchFamily="18" charset="0"/>
              </a:rPr>
              <a:t>计数器加</a:t>
            </a:r>
            <a:r>
              <a:rPr lang="es-ES" altLang="zh-CN" sz="1600" dirty="0">
                <a:latin typeface="Times New Roman" panose="02020603050405020304" pitchFamily="18" charset="0"/>
                <a:cs typeface="Times New Roman" panose="02020603050405020304" pitchFamily="18" charset="0"/>
              </a:rPr>
              <a:t>1</a:t>
            </a:r>
            <a:endParaRPr lang="en-US"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p=p-&gt;rchild;</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   return count;</a:t>
            </a:r>
            <a:endParaRPr lang="zh-CN"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s-E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4899477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059832" y="1794391"/>
            <a:ext cx="5688632" cy="800930"/>
          </a:xfrm>
        </p:spPr>
        <p:txBody>
          <a:bodyPr/>
          <a:lstStyle/>
          <a:p>
            <a:r>
              <a:rPr lang="zh-CN" altLang="en-US" dirty="0"/>
              <a:t>线索二叉树</a:t>
            </a:r>
          </a:p>
        </p:txBody>
      </p:sp>
      <p:sp>
        <p:nvSpPr>
          <p:cNvPr id="5" name="文本占位符 4"/>
          <p:cNvSpPr>
            <a:spLocks noGrp="1"/>
          </p:cNvSpPr>
          <p:nvPr>
            <p:ph type="body" sz="quarter" idx="11"/>
          </p:nvPr>
        </p:nvSpPr>
        <p:spPr/>
        <p:txBody>
          <a:bodyPr/>
          <a:lstStyle/>
          <a:p>
            <a:r>
              <a:rPr lang="en-US" altLang="zh-CN" dirty="0"/>
              <a:t>05</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63706471"/>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4" y="1064124"/>
            <a:ext cx="7390263" cy="3507876"/>
          </a:xfrm>
        </p:spPr>
        <p:txBody>
          <a:bodyPr/>
          <a:lstStyle/>
          <a:p>
            <a:pPr marL="0" indent="0" algn="just">
              <a:lnSpc>
                <a:spcPts val="2800"/>
              </a:lnSpc>
              <a:spcBef>
                <a:spcPts val="0"/>
              </a:spcBef>
              <a:buNone/>
            </a:pPr>
            <a:r>
              <a:rPr lang="zh-CN" altLang="en-US" sz="1600" dirty="0">
                <a:latin typeface="Times New Roman" panose="02020603050405020304" pitchFamily="18" charset="0"/>
                <a:cs typeface="Times New Roman" panose="02020603050405020304" pitchFamily="18" charset="0"/>
              </a:rPr>
              <a:t>遍历二叉树是以一定规则将二叉树中的结点排列成一个线性序列的过程。 </a:t>
            </a:r>
            <a:endParaRPr lang="en-US" altLang="zh-CN" sz="1600" dirty="0">
              <a:latin typeface="Times New Roman" panose="02020603050405020304" pitchFamily="18" charset="0"/>
              <a:cs typeface="Times New Roman" panose="02020603050405020304" pitchFamily="18" charset="0"/>
            </a:endParaRPr>
          </a:p>
          <a:p>
            <a:pPr marL="0" indent="0" algn="just">
              <a:lnSpc>
                <a:spcPts val="2800"/>
              </a:lnSpc>
              <a:spcBef>
                <a:spcPts val="0"/>
              </a:spcBef>
              <a:buNone/>
            </a:pPr>
            <a:r>
              <a:rPr lang="zh-CN" altLang="en-US" sz="1600" dirty="0">
                <a:latin typeface="Times New Roman" panose="02020603050405020304" pitchFamily="18" charset="0"/>
                <a:cs typeface="Times New Roman" panose="02020603050405020304" pitchFamily="18" charset="0"/>
              </a:rPr>
              <a:t>与线性表相比</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二叉树的遍历存在如下问题</a:t>
            </a:r>
            <a:r>
              <a:rPr lang="en-US" altLang="zh-CN" sz="1600" dirty="0">
                <a:latin typeface="Times New Roman" panose="02020603050405020304" pitchFamily="18" charset="0"/>
                <a:cs typeface="Times New Roman" panose="02020603050405020304" pitchFamily="18" charset="0"/>
              </a:rPr>
              <a:t>: </a:t>
            </a:r>
          </a:p>
          <a:p>
            <a:pPr marL="0" indent="0" algn="just">
              <a:lnSpc>
                <a:spcPts val="2800"/>
              </a:lnSpc>
              <a:spcBef>
                <a:spcPts val="0"/>
              </a:spcBef>
              <a:buNone/>
            </a:pPr>
            <a:r>
              <a:rPr lang="en-US" altLang="zh-CN" sz="1600" dirty="0">
                <a:latin typeface="Times New Roman" panose="02020603050405020304" pitchFamily="18" charset="0"/>
                <a:cs typeface="Times New Roman" panose="02020603050405020304" pitchFamily="18" charset="0"/>
              </a:rPr>
              <a:t>  (1)</a:t>
            </a:r>
            <a:r>
              <a:rPr lang="zh-CN" altLang="en-US" sz="1600" dirty="0">
                <a:latin typeface="Times New Roman" panose="02020603050405020304" pitchFamily="18" charset="0"/>
                <a:cs typeface="Times New Roman" panose="02020603050405020304" pitchFamily="18" charset="0"/>
              </a:rPr>
              <a:t>遍历算法复杂而费时</a:t>
            </a:r>
            <a:r>
              <a:rPr lang="en-US" altLang="zh-CN" sz="1600" dirty="0">
                <a:latin typeface="Times New Roman" panose="02020603050405020304" pitchFamily="18" charset="0"/>
                <a:cs typeface="Times New Roman" panose="02020603050405020304" pitchFamily="18" charset="0"/>
              </a:rPr>
              <a:t>;</a:t>
            </a:r>
          </a:p>
          <a:p>
            <a:pPr marL="0" indent="0" algn="just">
              <a:lnSpc>
                <a:spcPts val="2800"/>
              </a:lnSpc>
              <a:spcBef>
                <a:spcPts val="0"/>
              </a:spcBef>
              <a:buNone/>
            </a:pPr>
            <a:r>
              <a:rPr lang="en-US" altLang="zh-CN" sz="1600" dirty="0">
                <a:latin typeface="Times New Roman" panose="02020603050405020304" pitchFamily="18" charset="0"/>
                <a:cs typeface="Times New Roman" panose="02020603050405020304" pitchFamily="18" charset="0"/>
              </a:rPr>
              <a:t>  (2)</a:t>
            </a:r>
            <a:r>
              <a:rPr lang="zh-CN" altLang="en-US" sz="1600" dirty="0">
                <a:latin typeface="Times New Roman" panose="02020603050405020304" pitchFamily="18" charset="0"/>
                <a:cs typeface="Times New Roman" panose="02020603050405020304" pitchFamily="18" charset="0"/>
              </a:rPr>
              <a:t>为检索或查找二叉树中某结点在某种遍历下的前驱结点和后继结点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必须从根结点开始遍历</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直到找到该结点的前驱结点和后继结点。 </a:t>
            </a:r>
            <a:endParaRPr lang="en-US" altLang="zh-CN" sz="1600" dirty="0">
              <a:latin typeface="Times New Roman" panose="02020603050405020304" pitchFamily="18" charset="0"/>
              <a:cs typeface="Times New Roman" panose="02020603050405020304" pitchFamily="18" charset="0"/>
            </a:endParaRPr>
          </a:p>
          <a:p>
            <a:pPr marL="0" indent="0" algn="just">
              <a:lnSpc>
                <a:spcPts val="28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800"/>
              </a:lnSpc>
              <a:spcBef>
                <a:spcPts val="0"/>
              </a:spcBef>
              <a:buNone/>
            </a:pPr>
            <a:r>
              <a:rPr lang="zh-CN" altLang="en-US" sz="1600" dirty="0">
                <a:latin typeface="Times New Roman" panose="02020603050405020304" pitchFamily="18" charset="0"/>
                <a:cs typeface="Times New Roman" panose="02020603050405020304" pitchFamily="18" charset="0"/>
              </a:rPr>
              <a:t>为此</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我们引入</a:t>
            </a:r>
            <a:r>
              <a:rPr lang="zh-CN" altLang="en-US" sz="1600" dirty="0">
                <a:solidFill>
                  <a:srgbClr val="FF0000"/>
                </a:solidFill>
                <a:latin typeface="Times New Roman" panose="02020603050405020304" pitchFamily="18" charset="0"/>
                <a:cs typeface="Times New Roman" panose="02020603050405020304" pitchFamily="18" charset="0"/>
              </a:rPr>
              <a:t>线索二叉树</a:t>
            </a:r>
            <a:r>
              <a:rPr lang="zh-CN" altLang="en-US" sz="1600" dirty="0">
                <a:latin typeface="Times New Roman" panose="02020603050405020304" pitchFamily="18" charset="0"/>
                <a:cs typeface="Times New Roman" panose="02020603050405020304" pitchFamily="18" charset="0"/>
              </a:rPr>
              <a:t>的概念</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线索二叉树可以简化遍历算法</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提高遍历效率。</a:t>
            </a:r>
          </a:p>
        </p:txBody>
      </p:sp>
      <p:sp>
        <p:nvSpPr>
          <p:cNvPr id="4" name="文本框 3"/>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线索二叉树</a:t>
            </a:r>
          </a:p>
        </p:txBody>
      </p:sp>
    </p:spTree>
    <p:extLst>
      <p:ext uri="{BB962C8B-B14F-4D97-AF65-F5344CB8AC3E}">
        <p14:creationId xmlns:p14="http://schemas.microsoft.com/office/powerpoint/2010/main" val="14233656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95845" y="915566"/>
            <a:ext cx="8928992" cy="3507876"/>
          </a:xfrm>
        </p:spPr>
        <p:txBody>
          <a:bodyPr/>
          <a:lstStyle/>
          <a:p>
            <a:pPr algn="just">
              <a:lnSpc>
                <a:spcPts val="2800"/>
              </a:lnSpc>
              <a:spcBef>
                <a:spcPts val="0"/>
              </a:spcBef>
            </a:pPr>
            <a:r>
              <a:rPr lang="zh-CN" altLang="en-US" sz="1600" dirty="0">
                <a:latin typeface="Times New Roman" panose="02020603050405020304" pitchFamily="18" charset="0"/>
                <a:cs typeface="Times New Roman" panose="02020603050405020304" pitchFamily="18" charset="0"/>
              </a:rPr>
              <a:t>对于一个具有</a:t>
            </a:r>
            <a:r>
              <a:rPr lang="en-US" altLang="zh-CN" sz="1600" dirty="0">
                <a:latin typeface="Times New Roman" panose="02020603050405020304" pitchFamily="18" charset="0"/>
                <a:cs typeface="Times New Roman" panose="02020603050405020304" pitchFamily="18" charset="0"/>
              </a:rPr>
              <a:t>n</a:t>
            </a:r>
            <a:r>
              <a:rPr lang="zh-CN" altLang="en-US" sz="1600" dirty="0">
                <a:latin typeface="Times New Roman" panose="02020603050405020304" pitchFamily="18" charset="0"/>
                <a:cs typeface="Times New Roman" panose="02020603050405020304" pitchFamily="18" charset="0"/>
              </a:rPr>
              <a:t>个结点的二叉树</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若采用二叉链表存储结构</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a:t>
            </a:r>
            <a:r>
              <a:rPr lang="en-US" altLang="zh-CN" sz="1600" dirty="0">
                <a:latin typeface="Times New Roman" panose="02020603050405020304" pitchFamily="18" charset="0"/>
                <a:cs typeface="Times New Roman" panose="02020603050405020304" pitchFamily="18" charset="0"/>
              </a:rPr>
              <a:t>2n</a:t>
            </a:r>
            <a:r>
              <a:rPr lang="zh-CN" altLang="en-US" sz="1600" dirty="0">
                <a:latin typeface="Times New Roman" panose="02020603050405020304" pitchFamily="18" charset="0"/>
                <a:cs typeface="Times New Roman" panose="02020603050405020304" pitchFamily="18" charset="0"/>
              </a:rPr>
              <a:t>个指针域中只有</a:t>
            </a:r>
            <a:r>
              <a:rPr lang="en-US" altLang="zh-CN" sz="1600" dirty="0">
                <a:latin typeface="Times New Roman" panose="02020603050405020304" pitchFamily="18" charset="0"/>
                <a:cs typeface="Times New Roman" panose="02020603050405020304" pitchFamily="18" charset="0"/>
              </a:rPr>
              <a:t>n-1 </a:t>
            </a:r>
            <a:r>
              <a:rPr lang="zh-CN" altLang="en-US" sz="1600" dirty="0">
                <a:latin typeface="Times New Roman" panose="02020603050405020304" pitchFamily="18" charset="0"/>
                <a:cs typeface="Times New Roman" panose="02020603050405020304" pitchFamily="18" charset="0"/>
              </a:rPr>
              <a:t>个指针域用来存储孩子结点的地址</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另外</a:t>
            </a:r>
            <a:r>
              <a:rPr lang="en-US" altLang="zh-CN" sz="1600" dirty="0">
                <a:latin typeface="Times New Roman" panose="02020603050405020304" pitchFamily="18" charset="0"/>
                <a:cs typeface="Times New Roman" panose="02020603050405020304" pitchFamily="18" charset="0"/>
              </a:rPr>
              <a:t>n+1</a:t>
            </a:r>
            <a:r>
              <a:rPr lang="zh-CN" altLang="en-US" sz="1600" dirty="0">
                <a:latin typeface="Times New Roman" panose="02020603050405020304" pitchFamily="18" charset="0"/>
                <a:cs typeface="Times New Roman" panose="02020603050405020304" pitchFamily="18" charset="0"/>
              </a:rPr>
              <a:t>个指针域为空。可以利用这些空指针域存 放指向该结点在某种遍历序列中的前驱结点和后继结点的指针。这种指向线性序列中前驱结点和后继结点的指针称为</a:t>
            </a:r>
            <a:r>
              <a:rPr lang="zh-CN" altLang="en-US" sz="1600" dirty="0">
                <a:solidFill>
                  <a:srgbClr val="0070C0"/>
                </a:solidFill>
                <a:latin typeface="Times New Roman" panose="02020603050405020304" pitchFamily="18" charset="0"/>
                <a:cs typeface="Times New Roman" panose="02020603050405020304" pitchFamily="18" charset="0"/>
              </a:rPr>
              <a:t>线索</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algn="just">
              <a:lnSpc>
                <a:spcPts val="2800"/>
              </a:lnSpc>
              <a:spcBef>
                <a:spcPts val="0"/>
              </a:spcBef>
            </a:pPr>
            <a:r>
              <a:rPr lang="zh-CN" altLang="en-US" sz="1600" dirty="0">
                <a:latin typeface="Times New Roman" panose="02020603050405020304" pitchFamily="18" charset="0"/>
                <a:cs typeface="Times New Roman" panose="02020603050405020304" pitchFamily="18" charset="0"/>
              </a:rPr>
              <a:t>遍历的方式不同</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产生的遍历线性序列也不同</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做如下规定</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若结点有左子树</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则其</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lchild</a:t>
            </a:r>
            <a:r>
              <a:rPr lang="zh-CN" altLang="en-US" sz="1600" dirty="0">
                <a:latin typeface="Times New Roman" panose="02020603050405020304" pitchFamily="18" charset="0"/>
                <a:cs typeface="Times New Roman" panose="02020603050405020304" pitchFamily="18" charset="0"/>
              </a:rPr>
              <a:t>域指向其左孩子结点</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否则指向其前驱结点</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若结点有右子树</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则</a:t>
            </a:r>
            <a:r>
              <a:rPr lang="en-US" altLang="zh-CN" sz="1600" dirty="0" err="1">
                <a:latin typeface="Times New Roman" panose="02020603050405020304" pitchFamily="18" charset="0"/>
                <a:cs typeface="Times New Roman" panose="02020603050405020304" pitchFamily="18" charset="0"/>
              </a:rPr>
              <a:t>rchild</a:t>
            </a:r>
            <a:r>
              <a:rPr lang="zh-CN" altLang="en-US" sz="1600" dirty="0">
                <a:latin typeface="Times New Roman" panose="02020603050405020304" pitchFamily="18" charset="0"/>
                <a:cs typeface="Times New Roman" panose="02020603050405020304" pitchFamily="18" charset="0"/>
              </a:rPr>
              <a:t>指向其右孩子结点</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否则指向其后继结点。</a:t>
            </a:r>
            <a:endParaRPr lang="en-US" altLang="zh-CN" sz="1600"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286181" y="2787774"/>
            <a:ext cx="8838656" cy="1077218"/>
          </a:xfrm>
          <a:prstGeom prst="rect">
            <a:avLst/>
          </a:prstGeom>
          <a:solidFill>
            <a:srgbClr val="FFC000"/>
          </a:solidFill>
        </p:spPr>
        <p:txBody>
          <a:bodyPr wrap="square" rtlCol="0">
            <a:spAutoFit/>
          </a:bodyPr>
          <a:lstStyle/>
          <a:p>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为了避免混淆</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重新定义结点的结构</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在结点的存储结构上增加标志位</a:t>
            </a:r>
            <a:r>
              <a:rPr lang="en-US" altLang="zh-CN" sz="16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ltag</a:t>
            </a:r>
            <a:r>
              <a:rPr lang="zh-CN" altLang="en-US"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和</a:t>
            </a:r>
            <a:r>
              <a:rPr lang="en-US" altLang="zh-CN" sz="1600" dirty="0" err="1">
                <a:solidFill>
                  <a:srgbClr val="C00000"/>
                </a:solidFill>
                <a:latin typeface="Times New Roman" panose="02020603050405020304" pitchFamily="18" charset="0"/>
                <a:ea typeface="黑体" panose="02010609060101010101" pitchFamily="49" charset="-122"/>
                <a:cs typeface="Times New Roman" panose="02020603050405020304" pitchFamily="18" charset="0"/>
              </a:rPr>
              <a:t>rtag</a:t>
            </a:r>
            <a:r>
              <a:rPr lang="zh-CN" altLang="en-US"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来区分这两种情况</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如图所示。</a:t>
            </a:r>
            <a:endPar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其中</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ltag</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为</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0 </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时</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lchild</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域指向结点的左孩子</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ltag</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为</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时</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lchild</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域指向结点的前驱</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rtag</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为</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时</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rchild</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域指向结点的右孩子</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rtag</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为</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时</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rchild</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域指向结点的后继。</a:t>
            </a:r>
          </a:p>
        </p:txBody>
      </p:sp>
      <p:pic>
        <p:nvPicPr>
          <p:cNvPr id="8" name="图片 7"/>
          <p:cNvPicPr>
            <a:picLocks noChangeAspect="1"/>
          </p:cNvPicPr>
          <p:nvPr/>
        </p:nvPicPr>
        <p:blipFill>
          <a:blip r:embed="rId2"/>
          <a:stretch>
            <a:fillRect/>
          </a:stretch>
        </p:blipFill>
        <p:spPr>
          <a:xfrm>
            <a:off x="1655676" y="3913505"/>
            <a:ext cx="5832648" cy="628857"/>
          </a:xfrm>
          <a:prstGeom prst="rect">
            <a:avLst/>
          </a:prstGeom>
        </p:spPr>
      </p:pic>
      <p:sp>
        <p:nvSpPr>
          <p:cNvPr id="9" name="文本框 8"/>
          <p:cNvSpPr txBox="1"/>
          <p:nvPr/>
        </p:nvSpPr>
        <p:spPr>
          <a:xfrm>
            <a:off x="241013" y="4471955"/>
            <a:ext cx="8838656" cy="584775"/>
          </a:xfrm>
          <a:prstGeom prst="rect">
            <a:avLst/>
          </a:prstGeom>
          <a:solidFill>
            <a:schemeClr val="bg1">
              <a:lumMod val="85000"/>
            </a:schemeClr>
          </a:solidFill>
        </p:spPr>
        <p:txBody>
          <a:bodyPr wrap="square" rtlCol="0">
            <a:spAutoFit/>
          </a:bodyPr>
          <a:lstStyle/>
          <a:p>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    以这种方式定义的二叉树称为线索二叉树</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其存储结构称为</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线索二叉链表</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。以某种方式遍历二叉树使其成为线索二叉树的过程称为</a:t>
            </a:r>
            <a:r>
              <a:rPr lang="zh-CN" altLang="en-US"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二叉树的线索化</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16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文本框 9"/>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线索二叉树的概念</a:t>
            </a:r>
          </a:p>
        </p:txBody>
      </p:sp>
    </p:spTree>
    <p:extLst>
      <p:ext uri="{BB962C8B-B14F-4D97-AF65-F5344CB8AC3E}">
        <p14:creationId xmlns:p14="http://schemas.microsoft.com/office/powerpoint/2010/main" val="2732184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 calcmode="lin" valueType="num">
                                      <p:cBhvr additive="base">
                                        <p:cTn id="3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915566"/>
                <a:ext cx="9036496" cy="3507876"/>
              </a:xfrm>
            </p:spPr>
            <p:txBody>
              <a:bodyPr/>
              <a:lstStyle/>
              <a:p>
                <a:pPr marL="0" indent="0">
                  <a:buNone/>
                </a:pPr>
                <a:r>
                  <a:rPr lang="zh-CN" altLang="zh-CN" sz="1600" dirty="0">
                    <a:latin typeface="Times New Roman" panose="02020603050405020304" pitchFamily="18" charset="0"/>
                    <a:cs typeface="Times New Roman" panose="02020603050405020304" pitchFamily="18" charset="0"/>
                  </a:rPr>
                  <a:t>为使算法设计方便，在线索二叉链表中增加一个头结点。头结点的</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data</m:t>
                    </m:r>
                  </m:oMath>
                </a14:m>
                <a:r>
                  <a:rPr lang="zh-CN" altLang="zh-CN" sz="1600" dirty="0">
                    <a:latin typeface="Times New Roman" panose="02020603050405020304" pitchFamily="18" charset="0"/>
                    <a:cs typeface="Times New Roman" panose="02020603050405020304" pitchFamily="18" charset="0"/>
                  </a:rPr>
                  <a:t>域为空；</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lchild</m:t>
                    </m:r>
                  </m:oMath>
                </a14:m>
                <a:r>
                  <a:rPr lang="zh-CN" altLang="zh-CN" sz="1600" dirty="0">
                    <a:latin typeface="Times New Roman" panose="02020603050405020304" pitchFamily="18" charset="0"/>
                    <a:cs typeface="Times New Roman" panose="02020603050405020304" pitchFamily="18" charset="0"/>
                  </a:rPr>
                  <a:t>指向根结点</a:t>
                </a:r>
                <a:r>
                  <a:rPr lang="zh-CN" altLang="en-US"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ltag</a:t>
                </a:r>
                <a:r>
                  <a:rPr lang="zh-CN" altLang="zh-CN" sz="1600" dirty="0">
                    <a:latin typeface="Times New Roman" panose="02020603050405020304" pitchFamily="18" charset="0"/>
                    <a:cs typeface="Times New Roman" panose="02020603050405020304" pitchFamily="18" charset="0"/>
                  </a:rPr>
                  <a:t>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cs typeface="Times New Roman" panose="02020603050405020304" pitchFamily="18" charset="0"/>
                      </a:rPr>
                      <m:t>rchild</m:t>
                    </m:r>
                  </m:oMath>
                </a14:m>
                <a:r>
                  <a:rPr lang="zh-CN" altLang="zh-CN" sz="1600" dirty="0">
                    <a:latin typeface="Times New Roman" panose="02020603050405020304" pitchFamily="18" charset="0"/>
                    <a:cs typeface="Times New Roman" panose="02020603050405020304" pitchFamily="18" charset="0"/>
                  </a:rPr>
                  <a:t>指向按某种方式遍历时的最后一个结点，</a:t>
                </a:r>
                <a:r>
                  <a:rPr lang="en-US" altLang="zh-CN" sz="1600" dirty="0" err="1">
                    <a:latin typeface="Times New Roman" panose="02020603050405020304" pitchFamily="18" charset="0"/>
                    <a:cs typeface="Times New Roman" panose="02020603050405020304" pitchFamily="18" charset="0"/>
                  </a:rPr>
                  <a:t>rtag</a:t>
                </a:r>
                <a:r>
                  <a:rPr lang="zh-CN" altLang="zh-CN" sz="1600" dirty="0">
                    <a:latin typeface="Times New Roman" panose="02020603050405020304" pitchFamily="18" charset="0"/>
                    <a:cs typeface="Times New Roman" panose="02020603050405020304" pitchFamily="18" charset="0"/>
                  </a:rPr>
                  <a:t>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r>
                  <a:rPr lang="zh-CN" altLang="zh-CN"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为一棵二叉树；</a:t>
                </a:r>
                <a:endParaRPr lang="en-US" altLang="zh-CN" sz="1600" dirty="0">
                  <a:latin typeface="Times New Roman" panose="02020603050405020304" pitchFamily="18" charset="0"/>
                  <a:cs typeface="Times New Roman" panose="02020603050405020304" pitchFamily="18" charset="0"/>
                </a:endParaRPr>
              </a:p>
              <a:p>
                <a:r>
                  <a:rPr lang="zh-CN" altLang="zh-CN"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为</a:t>
                </a:r>
                <a:r>
                  <a:rPr lang="zh-CN" altLang="en-US" sz="1600" dirty="0">
                    <a:latin typeface="Times New Roman" panose="02020603050405020304" pitchFamily="18" charset="0"/>
                    <a:cs typeface="Times New Roman" panose="02020603050405020304" pitchFamily="18" charset="0"/>
                  </a:rPr>
                  <a:t>它的</a:t>
                </a:r>
                <a:r>
                  <a:rPr lang="zh-CN" altLang="zh-CN" sz="1600" dirty="0">
                    <a:latin typeface="Times New Roman" panose="02020603050405020304" pitchFamily="18" charset="0"/>
                    <a:cs typeface="Times New Roman" panose="02020603050405020304" pitchFamily="18" charset="0"/>
                  </a:rPr>
                  <a:t>先序线索链表；</a:t>
                </a:r>
                <a:endParaRPr lang="en-US" altLang="zh-CN" sz="1600" dirty="0">
                  <a:latin typeface="Times New Roman" panose="02020603050405020304" pitchFamily="18" charset="0"/>
                  <a:cs typeface="Times New Roman" panose="02020603050405020304" pitchFamily="18" charset="0"/>
                </a:endParaRPr>
              </a:p>
              <a:p>
                <a:r>
                  <a:rPr lang="zh-CN" altLang="zh-CN"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为</a:t>
                </a:r>
                <a:r>
                  <a:rPr lang="zh-CN" altLang="en-US" sz="1600" dirty="0">
                    <a:latin typeface="Times New Roman" panose="02020603050405020304" pitchFamily="18" charset="0"/>
                    <a:cs typeface="Times New Roman" panose="02020603050405020304" pitchFamily="18" charset="0"/>
                  </a:rPr>
                  <a:t>它的</a:t>
                </a:r>
                <a:r>
                  <a:rPr lang="zh-CN" altLang="zh-CN" sz="1600" dirty="0">
                    <a:latin typeface="Times New Roman" panose="02020603050405020304" pitchFamily="18" charset="0"/>
                    <a:cs typeface="Times New Roman" panose="02020603050405020304" pitchFamily="18" charset="0"/>
                  </a:rPr>
                  <a:t>中序线索链表；</a:t>
                </a:r>
                <a:endParaRPr lang="en-US" altLang="zh-CN" sz="1600" dirty="0">
                  <a:latin typeface="Times New Roman" panose="02020603050405020304" pitchFamily="18" charset="0"/>
                  <a:cs typeface="Times New Roman" panose="02020603050405020304" pitchFamily="18" charset="0"/>
                </a:endParaRPr>
              </a:p>
              <a:p>
                <a:r>
                  <a:rPr lang="zh-CN" altLang="zh-CN" sz="1600" dirty="0">
                    <a:latin typeface="Times New Roman" panose="02020603050405020304" pitchFamily="18" charset="0"/>
                    <a:cs typeface="Times New Roman" panose="02020603050405020304" pitchFamily="18" charset="0"/>
                  </a:rPr>
                  <a:t>图</a:t>
                </a:r>
                <a:r>
                  <a:rPr lang="en-US" altLang="zh-CN" sz="1600" dirty="0">
                    <a:latin typeface="Times New Roman" panose="02020603050405020304" pitchFamily="18" charset="0"/>
                    <a:cs typeface="Times New Roman" panose="02020603050405020304" pitchFamily="18" charset="0"/>
                  </a:rPr>
                  <a:t>(d)</a:t>
                </a:r>
                <a:r>
                  <a:rPr lang="zh-CN" altLang="zh-CN" sz="1600" dirty="0">
                    <a:latin typeface="Times New Roman" panose="02020603050405020304" pitchFamily="18" charset="0"/>
                    <a:cs typeface="Times New Roman" panose="02020603050405020304" pitchFamily="18" charset="0"/>
                  </a:rPr>
                  <a:t>为</a:t>
                </a:r>
                <a:r>
                  <a:rPr lang="zh-CN" altLang="en-US" sz="1600" dirty="0">
                    <a:latin typeface="Times New Roman" panose="02020603050405020304" pitchFamily="18" charset="0"/>
                    <a:cs typeface="Times New Roman" panose="02020603050405020304" pitchFamily="18" charset="0"/>
                  </a:rPr>
                  <a:t>它的</a:t>
                </a:r>
                <a:r>
                  <a:rPr lang="zh-CN" altLang="zh-CN" sz="1600" dirty="0">
                    <a:latin typeface="Times New Roman" panose="02020603050405020304" pitchFamily="18" charset="0"/>
                    <a:cs typeface="Times New Roman" panose="02020603050405020304" pitchFamily="18" charset="0"/>
                  </a:rPr>
                  <a:t>后序线索链表。</a:t>
                </a: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915566"/>
                <a:ext cx="9036496" cy="3507876"/>
              </a:xfrm>
              <a:blipFill>
                <a:blip r:embed="rId2"/>
                <a:stretch>
                  <a:fillRect l="-607"/>
                </a:stretch>
              </a:blipFill>
            </p:spPr>
            <p:txBody>
              <a:bodyPr/>
              <a:lstStyle/>
              <a:p>
                <a:r>
                  <a:rPr lang="zh-CN" altLang="en-US">
                    <a:noFill/>
                  </a:rPr>
                  <a:t> </a:t>
                </a:r>
              </a:p>
            </p:txBody>
          </p:sp>
        </mc:Fallback>
      </mc:AlternateContent>
      <p:sp>
        <p:nvSpPr>
          <p:cNvPr id="5" name="文本框 4"/>
          <p:cNvSpPr txBox="1"/>
          <p:nvPr/>
        </p:nvSpPr>
        <p:spPr>
          <a:xfrm>
            <a:off x="2947982" y="347344"/>
            <a:ext cx="6196018" cy="4536504"/>
          </a:xfrm>
          <a:prstGeom prst="rect">
            <a:avLst/>
          </a:prstGeom>
          <a:solidFill>
            <a:srgbClr val="FFC000"/>
          </a:solidFill>
        </p:spPr>
        <p:txBody>
          <a:bodyPr wrap="square" rtlCol="0">
            <a:spAutoFit/>
          </a:bodyPr>
          <a:lstStyle/>
          <a:p>
            <a:endParaRPr lang="zh-CN" altLang="en-US" dirty="0"/>
          </a:p>
        </p:txBody>
      </p:sp>
      <p:pic>
        <p:nvPicPr>
          <p:cNvPr id="4" name="图片 3"/>
          <p:cNvPicPr>
            <a:picLocks noChangeAspect="1"/>
          </p:cNvPicPr>
          <p:nvPr/>
        </p:nvPicPr>
        <p:blipFill>
          <a:blip r:embed="rId3"/>
          <a:stretch>
            <a:fillRect/>
          </a:stretch>
        </p:blipFill>
        <p:spPr>
          <a:xfrm>
            <a:off x="3310576" y="392308"/>
            <a:ext cx="1513960" cy="1420540"/>
          </a:xfrm>
          <a:prstGeom prst="rect">
            <a:avLst/>
          </a:prstGeom>
        </p:spPr>
      </p:pic>
      <p:pic>
        <p:nvPicPr>
          <p:cNvPr id="7" name="图片 6"/>
          <p:cNvPicPr>
            <a:picLocks noChangeAspect="1"/>
          </p:cNvPicPr>
          <p:nvPr/>
        </p:nvPicPr>
        <p:blipFill>
          <a:blip r:embed="rId4"/>
          <a:stretch>
            <a:fillRect/>
          </a:stretch>
        </p:blipFill>
        <p:spPr>
          <a:xfrm>
            <a:off x="5921456" y="-23435"/>
            <a:ext cx="2952328" cy="2252026"/>
          </a:xfrm>
          <a:prstGeom prst="rect">
            <a:avLst/>
          </a:prstGeom>
        </p:spPr>
      </p:pic>
      <p:pic>
        <p:nvPicPr>
          <p:cNvPr id="8" name="图片 7"/>
          <p:cNvPicPr>
            <a:picLocks noChangeAspect="1"/>
          </p:cNvPicPr>
          <p:nvPr/>
        </p:nvPicPr>
        <p:blipFill>
          <a:blip r:embed="rId5"/>
          <a:stretch>
            <a:fillRect/>
          </a:stretch>
        </p:blipFill>
        <p:spPr>
          <a:xfrm>
            <a:off x="3025176" y="2060604"/>
            <a:ext cx="2931074" cy="2342881"/>
          </a:xfrm>
          <a:prstGeom prst="rect">
            <a:avLst/>
          </a:prstGeom>
        </p:spPr>
      </p:pic>
      <p:pic>
        <p:nvPicPr>
          <p:cNvPr id="9" name="图片 8"/>
          <p:cNvPicPr>
            <a:picLocks noChangeAspect="1"/>
          </p:cNvPicPr>
          <p:nvPr/>
        </p:nvPicPr>
        <p:blipFill>
          <a:blip r:embed="rId6"/>
          <a:stretch>
            <a:fillRect/>
          </a:stretch>
        </p:blipFill>
        <p:spPr>
          <a:xfrm>
            <a:off x="6053989" y="2186967"/>
            <a:ext cx="2837362" cy="2236475"/>
          </a:xfrm>
          <a:prstGeom prst="rect">
            <a:avLst/>
          </a:prstGeom>
        </p:spPr>
      </p:pic>
      <p:sp>
        <p:nvSpPr>
          <p:cNvPr id="10" name="文本框 9"/>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线索二叉树示例</a:t>
            </a:r>
          </a:p>
        </p:txBody>
      </p:sp>
      <p:sp>
        <p:nvSpPr>
          <p:cNvPr id="2" name="文本框 1">
            <a:extLst>
              <a:ext uri="{FF2B5EF4-FFF2-40B4-BE49-F238E27FC236}">
                <a16:creationId xmlns:a16="http://schemas.microsoft.com/office/drawing/2014/main" id="{B136EC1D-CDEC-46DD-9A79-4C7D857971FC}"/>
              </a:ext>
            </a:extLst>
          </p:cNvPr>
          <p:cNvSpPr txBox="1"/>
          <p:nvPr/>
        </p:nvSpPr>
        <p:spPr>
          <a:xfrm>
            <a:off x="1835696" y="4468979"/>
            <a:ext cx="7571303" cy="369332"/>
          </a:xfrm>
          <a:prstGeom prst="rect">
            <a:avLst/>
          </a:prstGeom>
          <a:noFill/>
        </p:spPr>
        <p:txBody>
          <a:bodyPr wrap="none" rtlCol="0">
            <a:spAutoFit/>
          </a:bodyPr>
          <a:lstStyle/>
          <a:p>
            <a:r>
              <a:rPr lang="zh-CN" altLang="zh-CN" sz="1800" dirty="0">
                <a:latin typeface="隶书" panose="02010509060101010101" pitchFamily="49" charset="-122"/>
                <a:ea typeface="隶书" panose="02010509060101010101" pitchFamily="49" charset="-122"/>
              </a:rPr>
              <a:t>图中虚线表示线索二叉链表中的线索，实线表示二叉链表中原来的指针。</a:t>
            </a:r>
          </a:p>
        </p:txBody>
      </p:sp>
    </p:spTree>
    <p:extLst>
      <p:ext uri="{BB962C8B-B14F-4D97-AF65-F5344CB8AC3E}">
        <p14:creationId xmlns:p14="http://schemas.microsoft.com/office/powerpoint/2010/main" val="18901419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 calcmode="lin" valueType="num">
                                      <p:cBhvr additive="base">
                                        <p:cTn id="4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4" end="4"/>
                                            </p:txEl>
                                          </p:spTgt>
                                        </p:tgtEl>
                                        <p:attrNameLst>
                                          <p:attrName>style.visibility</p:attrName>
                                        </p:attrNameLst>
                                      </p:cBhvr>
                                      <p:to>
                                        <p:strVal val="visible"/>
                                      </p:to>
                                    </p:set>
                                    <p:anim calcmode="lin" valueType="num">
                                      <p:cBhvr additive="base">
                                        <p:cTn id="5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gtEl>
                                        <p:attrNameLst>
                                          <p:attrName>style.visibility</p:attrName>
                                        </p:attrNameLst>
                                      </p:cBhvr>
                                      <p:to>
                                        <p:strVal val="visible"/>
                                      </p:to>
                                    </p:set>
                                    <p:anim calcmode="lin" valueType="num">
                                      <p:cBhvr additive="base">
                                        <p:cTn id="61" dur="500" fill="hold"/>
                                        <p:tgtEl>
                                          <p:spTgt spid="9"/>
                                        </p:tgtEl>
                                        <p:attrNameLst>
                                          <p:attrName>ppt_x</p:attrName>
                                        </p:attrNameLst>
                                      </p:cBhvr>
                                      <p:tavLst>
                                        <p:tav tm="0">
                                          <p:val>
                                            <p:strVal val="#ppt_x"/>
                                          </p:val>
                                        </p:tav>
                                        <p:tav tm="100000">
                                          <p:val>
                                            <p:strVal val="#ppt_x"/>
                                          </p:val>
                                        </p:tav>
                                      </p:tavLst>
                                    </p:anim>
                                    <p:anim calcmode="lin" valueType="num">
                                      <p:cBhvr additive="base">
                                        <p:cTn id="6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059832" y="1794391"/>
            <a:ext cx="5688632" cy="800930"/>
          </a:xfrm>
        </p:spPr>
        <p:txBody>
          <a:bodyPr/>
          <a:lstStyle/>
          <a:p>
            <a:r>
              <a:rPr lang="zh-CN" altLang="en-US" dirty="0"/>
              <a:t>树</a:t>
            </a:r>
            <a:r>
              <a:rPr lang="zh-CN" altLang="en-US"/>
              <a:t>和森林</a:t>
            </a:r>
            <a:endParaRPr lang="zh-CN" altLang="en-US" dirty="0"/>
          </a:p>
        </p:txBody>
      </p:sp>
      <p:sp>
        <p:nvSpPr>
          <p:cNvPr id="5" name="文本占位符 4"/>
          <p:cNvSpPr>
            <a:spLocks noGrp="1"/>
          </p:cNvSpPr>
          <p:nvPr>
            <p:ph type="body" sz="quarter" idx="11"/>
          </p:nvPr>
        </p:nvSpPr>
        <p:spPr/>
        <p:txBody>
          <a:bodyPr/>
          <a:lstStyle/>
          <a:p>
            <a:r>
              <a:rPr lang="en-US" altLang="zh-CN" dirty="0"/>
              <a:t>06</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2786820"/>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buNone/>
            </a:pPr>
            <a:r>
              <a:rPr lang="zh-CN" altLang="zh-CN" sz="1600" dirty="0">
                <a:latin typeface="Times New Roman" panose="02020603050405020304" pitchFamily="18" charset="0"/>
                <a:cs typeface="Times New Roman" panose="02020603050405020304" pitchFamily="18" charset="0"/>
              </a:rPr>
              <a:t>树的存储结构常分为</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双亲表示法</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孩子链表表示法</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buNone/>
            </a:pPr>
            <a:r>
              <a:rPr lang="zh-CN" altLang="en-US"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3</a:t>
            </a:r>
            <a:r>
              <a:rPr lang="zh-CN" altLang="en-US"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孩子兄弟表示法。</a:t>
            </a:r>
            <a:endParaRPr lang="zh-CN" altLang="en-US"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2366" y="123478"/>
            <a:ext cx="172738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树的存储结构</a:t>
            </a:r>
          </a:p>
        </p:txBody>
      </p:sp>
    </p:spTree>
    <p:extLst>
      <p:ext uri="{BB962C8B-B14F-4D97-AF65-F5344CB8AC3E}">
        <p14:creationId xmlns:p14="http://schemas.microsoft.com/office/powerpoint/2010/main" val="23677247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 y="1064124"/>
            <a:ext cx="4572000" cy="3507876"/>
          </a:xfrm>
        </p:spPr>
        <p:txBody>
          <a:bodyPr/>
          <a:lstStyle/>
          <a:p>
            <a:pPr>
              <a:lnSpc>
                <a:spcPts val="30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由树的定义可知，除根结点之外，树中的每个结点都有唯一的双亲。根据这一特点， 双亲表示法可以用一组连续的存储空间存放</a:t>
            </a:r>
            <a:r>
              <a:rPr lang="zh-CN" altLang="zh-CN" sz="1600" dirty="0">
                <a:solidFill>
                  <a:srgbClr val="C00000"/>
                </a:solidFill>
                <a:latin typeface="Times New Roman" panose="02020603050405020304" pitchFamily="18" charset="0"/>
                <a:cs typeface="Times New Roman" panose="02020603050405020304" pitchFamily="18" charset="0"/>
              </a:rPr>
              <a:t>结点信息</a:t>
            </a:r>
            <a:r>
              <a:rPr lang="zh-CN" altLang="zh-CN" sz="1600" dirty="0">
                <a:latin typeface="Times New Roman" panose="02020603050405020304" pitchFamily="18" charset="0"/>
                <a:cs typeface="Times New Roman" panose="02020603050405020304" pitchFamily="18" charset="0"/>
              </a:rPr>
              <a:t>，即用一维数组来存储树中的各个结点。</a:t>
            </a:r>
            <a:endParaRPr lang="en-US" altLang="zh-CN" sz="1600" dirty="0">
              <a:latin typeface="Times New Roman" panose="02020603050405020304" pitchFamily="18" charset="0"/>
              <a:cs typeface="Times New Roman" panose="02020603050405020304" pitchFamily="18" charset="0"/>
            </a:endParaRPr>
          </a:p>
          <a:p>
            <a:pPr>
              <a:lnSpc>
                <a:spcPts val="30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数组元素为结构体类型，其中包括</a:t>
            </a:r>
            <a:r>
              <a:rPr lang="zh-CN" altLang="zh-CN" sz="1600" dirty="0">
                <a:solidFill>
                  <a:srgbClr val="C00000"/>
                </a:solidFill>
                <a:latin typeface="Times New Roman" panose="02020603050405020304" pitchFamily="18" charset="0"/>
                <a:cs typeface="Times New Roman" panose="02020603050405020304" pitchFamily="18" charset="0"/>
              </a:rPr>
              <a:t>结点本身的信息</a:t>
            </a:r>
            <a:r>
              <a:rPr lang="zh-CN" altLang="zh-CN" sz="1600" dirty="0">
                <a:latin typeface="Times New Roman" panose="02020603050405020304" pitchFamily="18" charset="0"/>
                <a:cs typeface="Times New Roman" panose="02020603050405020304" pitchFamily="18" charset="0"/>
              </a:rPr>
              <a:t>以及指示其双亲结点在数组中的</a:t>
            </a:r>
            <a:r>
              <a:rPr lang="zh-CN" altLang="zh-CN" sz="1600" dirty="0">
                <a:solidFill>
                  <a:srgbClr val="C00000"/>
                </a:solidFill>
                <a:latin typeface="Times New Roman" panose="02020603050405020304" pitchFamily="18" charset="0"/>
                <a:cs typeface="Times New Roman" panose="02020603050405020304" pitchFamily="18" charset="0"/>
              </a:rPr>
              <a:t>位置信息</a:t>
            </a:r>
            <a:r>
              <a:rPr lang="zh-CN" altLang="zh-CN" sz="1600" dirty="0">
                <a:latin typeface="Times New Roman" panose="02020603050405020304" pitchFamily="18" charset="0"/>
                <a:cs typeface="Times New Roman" panose="02020603050405020304" pitchFamily="18" charset="0"/>
              </a:rPr>
              <a:t>。双亲表示法的类型定义如下：</a:t>
            </a:r>
          </a:p>
        </p:txBody>
      </p:sp>
      <p:sp>
        <p:nvSpPr>
          <p:cNvPr id="4" name="文本框 3"/>
          <p:cNvSpPr txBox="1"/>
          <p:nvPr/>
        </p:nvSpPr>
        <p:spPr>
          <a:xfrm>
            <a:off x="4688686" y="1203598"/>
            <a:ext cx="4427984" cy="638636"/>
          </a:xfrm>
          <a:prstGeom prst="rect">
            <a:avLst/>
          </a:prstGeom>
          <a:noFill/>
        </p:spPr>
        <p:txBody>
          <a:bodyPr wrap="square" rtlCol="0">
            <a:spAutoFit/>
          </a:bodyPr>
          <a:lstStyle/>
          <a:p>
            <a:pPr>
              <a:lnSpc>
                <a:spcPts val="2100"/>
              </a:lnSpc>
              <a:spcBef>
                <a:spcPts val="0"/>
              </a:spcBef>
            </a:pPr>
            <a:endParaRPr lang="zh-CN" altLang="en-US" dirty="0">
              <a:solidFill>
                <a:srgbClr val="0070C0"/>
              </a:solidFill>
            </a:endParaRPr>
          </a:p>
          <a:p>
            <a:endParaRPr lang="zh-CN" altLang="en-US" dirty="0"/>
          </a:p>
        </p:txBody>
      </p:sp>
      <p:pic>
        <p:nvPicPr>
          <p:cNvPr id="5" name="图片 4"/>
          <p:cNvPicPr>
            <a:picLocks noChangeAspect="1"/>
          </p:cNvPicPr>
          <p:nvPr/>
        </p:nvPicPr>
        <p:blipFill>
          <a:blip r:embed="rId2"/>
          <a:stretch>
            <a:fillRect/>
          </a:stretch>
        </p:blipFill>
        <p:spPr>
          <a:xfrm>
            <a:off x="4788024" y="411510"/>
            <a:ext cx="3240129" cy="1836892"/>
          </a:xfrm>
          <a:prstGeom prst="rect">
            <a:avLst/>
          </a:prstGeom>
        </p:spPr>
      </p:pic>
      <p:sp>
        <p:nvSpPr>
          <p:cNvPr id="6" name="文本框 5"/>
          <p:cNvSpPr txBox="1"/>
          <p:nvPr/>
        </p:nvSpPr>
        <p:spPr>
          <a:xfrm>
            <a:off x="4463872" y="2478711"/>
            <a:ext cx="4464495" cy="2516073"/>
          </a:xfrm>
          <a:prstGeom prst="rect">
            <a:avLst/>
          </a:prstGeom>
          <a:noFill/>
        </p:spPr>
        <p:txBody>
          <a:bodyPr wrap="square" rtlCol="0">
            <a:spAutoFit/>
          </a:bodyPr>
          <a:lstStyle/>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#define </a:t>
            </a:r>
            <a:r>
              <a:rPr lang="en-US" altLang="zh-CN" dirty="0" err="1">
                <a:solidFill>
                  <a:srgbClr val="0070C0"/>
                </a:solidFill>
                <a:latin typeface="Times New Roman" panose="02020603050405020304" pitchFamily="18" charset="0"/>
                <a:cs typeface="Times New Roman" panose="02020603050405020304" pitchFamily="18" charset="0"/>
              </a:rPr>
              <a:t>MaxSize</a:t>
            </a:r>
            <a:r>
              <a:rPr lang="en-US" altLang="zh-CN" dirty="0">
                <a:solidFill>
                  <a:srgbClr val="0070C0"/>
                </a:solidFill>
                <a:latin typeface="Times New Roman" panose="02020603050405020304" pitchFamily="18" charset="0"/>
                <a:cs typeface="Times New Roman" panose="02020603050405020304" pitchFamily="18" charset="0"/>
              </a:rPr>
              <a:t> 100</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100"/>
              </a:lnSpc>
              <a:spcBef>
                <a:spcPts val="0"/>
              </a:spcBef>
            </a:pPr>
            <a:r>
              <a:rPr lang="en-US" altLang="zh-CN" dirty="0" err="1">
                <a:solidFill>
                  <a:srgbClr val="0070C0"/>
                </a:solidFill>
                <a:latin typeface="Times New Roman" panose="02020603050405020304" pitchFamily="18" charset="0"/>
                <a:cs typeface="Times New Roman" panose="02020603050405020304" pitchFamily="18" charset="0"/>
              </a:rPr>
              <a:t>typedef</a:t>
            </a: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struct</a:t>
            </a: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PtNode</a:t>
            </a:r>
            <a:r>
              <a:rPr lang="en-US" altLang="zh-CN" dirty="0">
                <a:solidFill>
                  <a:srgbClr val="0070C0"/>
                </a:solidFill>
                <a:latin typeface="Times New Roman" panose="02020603050405020304" pitchFamily="18" charset="0"/>
                <a:cs typeface="Times New Roman" panose="02020603050405020304" pitchFamily="18" charset="0"/>
              </a:rPr>
              <a:t>{      //</a:t>
            </a:r>
            <a:r>
              <a:rPr lang="zh-CN" altLang="zh-CN" dirty="0">
                <a:solidFill>
                  <a:srgbClr val="0070C0"/>
                </a:solidFill>
                <a:latin typeface="Times New Roman" panose="02020603050405020304" pitchFamily="18" charset="0"/>
                <a:cs typeface="Times New Roman" panose="02020603050405020304" pitchFamily="18" charset="0"/>
              </a:rPr>
              <a:t>结点的数据类型</a:t>
            </a:r>
          </a:p>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ElemType</a:t>
            </a:r>
            <a:r>
              <a:rPr lang="en-US" altLang="zh-CN" dirty="0">
                <a:solidFill>
                  <a:srgbClr val="0070C0"/>
                </a:solidFill>
                <a:latin typeface="Times New Roman" panose="02020603050405020304" pitchFamily="18" charset="0"/>
                <a:cs typeface="Times New Roman" panose="02020603050405020304" pitchFamily="18" charset="0"/>
              </a:rPr>
              <a:t> data;  </a:t>
            </a:r>
            <a:r>
              <a:rPr lang="en-US" altLang="zh-CN" sz="1600" dirty="0">
                <a:solidFill>
                  <a:srgbClr val="0070C0"/>
                </a:solidFill>
                <a:latin typeface="Times New Roman" panose="02020603050405020304" pitchFamily="18" charset="0"/>
                <a:cs typeface="Times New Roman" panose="02020603050405020304" pitchFamily="18" charset="0"/>
              </a:rPr>
              <a:t>//</a:t>
            </a:r>
            <a:r>
              <a:rPr lang="zh-CN" altLang="zh-CN" sz="1600" dirty="0">
                <a:solidFill>
                  <a:srgbClr val="0070C0"/>
                </a:solidFill>
                <a:latin typeface="Times New Roman" panose="02020603050405020304" pitchFamily="18" charset="0"/>
                <a:cs typeface="Times New Roman" panose="02020603050405020304" pitchFamily="18" charset="0"/>
              </a:rPr>
              <a:t>树中结点本身的数据信息</a:t>
            </a:r>
          </a:p>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int</a:t>
            </a:r>
            <a:r>
              <a:rPr lang="en-US" altLang="zh-CN" dirty="0">
                <a:solidFill>
                  <a:srgbClr val="0070C0"/>
                </a:solidFill>
                <a:latin typeface="Times New Roman" panose="02020603050405020304" pitchFamily="18" charset="0"/>
                <a:cs typeface="Times New Roman" panose="02020603050405020304" pitchFamily="18" charset="0"/>
              </a:rPr>
              <a:t> parent;    </a:t>
            </a:r>
            <a:r>
              <a:rPr lang="en-US" altLang="zh-CN" sz="1600" dirty="0">
                <a:solidFill>
                  <a:srgbClr val="0070C0"/>
                </a:solidFill>
                <a:latin typeface="Times New Roman" panose="02020603050405020304" pitchFamily="18" charset="0"/>
                <a:cs typeface="Times New Roman" panose="02020603050405020304" pitchFamily="18" charset="0"/>
              </a:rPr>
              <a:t>//</a:t>
            </a:r>
            <a:r>
              <a:rPr lang="zh-CN" altLang="zh-CN" sz="1600" dirty="0">
                <a:solidFill>
                  <a:srgbClr val="0070C0"/>
                </a:solidFill>
                <a:latin typeface="Times New Roman" panose="02020603050405020304" pitchFamily="18" charset="0"/>
                <a:cs typeface="Times New Roman" panose="02020603050405020304" pitchFamily="18" charset="0"/>
              </a:rPr>
              <a:t>该结点的双亲在数组中的下标</a:t>
            </a:r>
          </a:p>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a:t>
            </a:r>
            <a:r>
              <a:rPr lang="en-US" altLang="zh-CN" dirty="0" err="1">
                <a:solidFill>
                  <a:srgbClr val="0070C0"/>
                </a:solidFill>
                <a:latin typeface="Times New Roman" panose="02020603050405020304" pitchFamily="18" charset="0"/>
                <a:cs typeface="Times New Roman" panose="02020603050405020304" pitchFamily="18" charset="0"/>
              </a:rPr>
              <a:t>PtNode</a:t>
            </a:r>
            <a:r>
              <a:rPr lang="zh-CN" altLang="en-US" dirty="0">
                <a:solidFill>
                  <a:srgbClr val="0070C0"/>
                </a:solidFill>
                <a:latin typeface="Times New Roman" panose="02020603050405020304" pitchFamily="18" charset="0"/>
                <a:cs typeface="Times New Roman" panose="02020603050405020304" pitchFamily="18" charset="0"/>
              </a:rPr>
              <a:t>；</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100"/>
              </a:lnSpc>
              <a:spcBef>
                <a:spcPts val="0"/>
              </a:spcBef>
            </a:pPr>
            <a:r>
              <a:rPr lang="en-US" altLang="zh-CN" dirty="0" err="1">
                <a:solidFill>
                  <a:srgbClr val="0070C0"/>
                </a:solidFill>
                <a:latin typeface="Times New Roman" panose="02020603050405020304" pitchFamily="18" charset="0"/>
                <a:cs typeface="Times New Roman" panose="02020603050405020304" pitchFamily="18" charset="0"/>
              </a:rPr>
              <a:t>typedef</a:t>
            </a: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struct</a:t>
            </a:r>
            <a:r>
              <a:rPr lang="en-US" altLang="zh-CN" dirty="0">
                <a:solidFill>
                  <a:srgbClr val="0070C0"/>
                </a:solidFill>
                <a:latin typeface="Times New Roman" panose="02020603050405020304" pitchFamily="18" charset="0"/>
                <a:cs typeface="Times New Roman" panose="02020603050405020304" pitchFamily="18" charset="0"/>
              </a:rPr>
              <a:t>{</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PtNode</a:t>
            </a:r>
            <a:r>
              <a:rPr lang="en-US" altLang="zh-CN" dirty="0">
                <a:solidFill>
                  <a:srgbClr val="0070C0"/>
                </a:solidFill>
                <a:latin typeface="Times New Roman" panose="02020603050405020304" pitchFamily="18" charset="0"/>
                <a:cs typeface="Times New Roman" panose="02020603050405020304" pitchFamily="18" charset="0"/>
              </a:rPr>
              <a:t> nodes[</a:t>
            </a:r>
            <a:r>
              <a:rPr lang="en-US" altLang="zh-CN" dirty="0" err="1">
                <a:solidFill>
                  <a:srgbClr val="0070C0"/>
                </a:solidFill>
                <a:latin typeface="Times New Roman" panose="02020603050405020304" pitchFamily="18" charset="0"/>
                <a:cs typeface="Times New Roman" panose="02020603050405020304" pitchFamily="18" charset="0"/>
              </a:rPr>
              <a:t>MaxSize</a:t>
            </a:r>
            <a:r>
              <a:rPr lang="en-US" altLang="zh-CN" dirty="0">
                <a:solidFill>
                  <a:srgbClr val="0070C0"/>
                </a:solidFill>
                <a:latin typeface="Times New Roman" panose="02020603050405020304" pitchFamily="18" charset="0"/>
                <a:cs typeface="Times New Roman" panose="02020603050405020304" pitchFamily="18" charset="0"/>
              </a:rPr>
              <a:t>];</a:t>
            </a:r>
            <a:endParaRPr lang="zh-CN" altLang="zh-CN" dirty="0">
              <a:solidFill>
                <a:srgbClr val="0070C0"/>
              </a:solidFill>
              <a:latin typeface="Times New Roman" panose="02020603050405020304" pitchFamily="18" charset="0"/>
              <a:cs typeface="Times New Roman" panose="02020603050405020304" pitchFamily="18" charset="0"/>
            </a:endParaRPr>
          </a:p>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int</a:t>
            </a:r>
            <a:r>
              <a:rPr lang="en-US" altLang="zh-CN" dirty="0">
                <a:solidFill>
                  <a:srgbClr val="0070C0"/>
                </a:solidFill>
                <a:latin typeface="Times New Roman" panose="02020603050405020304" pitchFamily="18" charset="0"/>
                <a:cs typeface="Times New Roman" panose="02020603050405020304" pitchFamily="18" charset="0"/>
              </a:rPr>
              <a:t> </a:t>
            </a:r>
            <a:r>
              <a:rPr lang="en-US" altLang="zh-CN" dirty="0" err="1">
                <a:solidFill>
                  <a:srgbClr val="0070C0"/>
                </a:solidFill>
                <a:latin typeface="Times New Roman" panose="02020603050405020304" pitchFamily="18" charset="0"/>
                <a:cs typeface="Times New Roman" panose="02020603050405020304" pitchFamily="18" charset="0"/>
              </a:rPr>
              <a:t>r,n</a:t>
            </a:r>
            <a:r>
              <a:rPr lang="en-US" altLang="zh-CN" dirty="0">
                <a:solidFill>
                  <a:srgbClr val="0070C0"/>
                </a:solidFill>
                <a:latin typeface="Times New Roman" panose="02020603050405020304" pitchFamily="18" charset="0"/>
                <a:cs typeface="Times New Roman" panose="02020603050405020304" pitchFamily="18" charset="0"/>
              </a:rPr>
              <a:t>;              //</a:t>
            </a:r>
            <a:r>
              <a:rPr lang="zh-CN" altLang="zh-CN" dirty="0">
                <a:solidFill>
                  <a:srgbClr val="0070C0"/>
                </a:solidFill>
                <a:latin typeface="Times New Roman" panose="02020603050405020304" pitchFamily="18" charset="0"/>
                <a:cs typeface="Times New Roman" panose="02020603050405020304" pitchFamily="18" charset="0"/>
              </a:rPr>
              <a:t>根的位置和树的结点数</a:t>
            </a:r>
          </a:p>
          <a:p>
            <a:pPr>
              <a:lnSpc>
                <a:spcPts val="2100"/>
              </a:lnSpc>
              <a:spcBef>
                <a:spcPts val="0"/>
              </a:spcBef>
            </a:pPr>
            <a:r>
              <a:rPr lang="en-US" altLang="zh-CN" dirty="0">
                <a:solidFill>
                  <a:srgbClr val="0070C0"/>
                </a:solidFill>
                <a:latin typeface="Times New Roman" panose="02020603050405020304" pitchFamily="18" charset="0"/>
                <a:cs typeface="Times New Roman" panose="02020603050405020304" pitchFamily="18" charset="0"/>
              </a:rPr>
              <a:t>}</a:t>
            </a:r>
            <a:r>
              <a:rPr lang="en-US" altLang="zh-CN" dirty="0" err="1">
                <a:solidFill>
                  <a:srgbClr val="0070C0"/>
                </a:solidFill>
                <a:latin typeface="Times New Roman" panose="02020603050405020304" pitchFamily="18" charset="0"/>
                <a:cs typeface="Times New Roman" panose="02020603050405020304" pitchFamily="18" charset="0"/>
              </a:rPr>
              <a:t>PTree</a:t>
            </a:r>
            <a:r>
              <a:rPr lang="en-US" altLang="zh-CN" dirty="0">
                <a:solidFill>
                  <a:srgbClr val="0070C0"/>
                </a:solidFill>
                <a:latin typeface="Times New Roman" panose="02020603050405020304" pitchFamily="18" charset="0"/>
                <a:cs typeface="Times New Roman" panose="02020603050405020304" pitchFamily="18" charset="0"/>
              </a:rPr>
              <a:t>;</a:t>
            </a:r>
            <a:endParaRPr lang="zh-CN" altLang="zh-CN" dirty="0">
              <a:solidFill>
                <a:srgbClr val="0070C0"/>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双亲表示法</a:t>
            </a:r>
          </a:p>
        </p:txBody>
      </p:sp>
    </p:spTree>
    <p:extLst>
      <p:ext uri="{BB962C8B-B14F-4D97-AF65-F5344CB8AC3E}">
        <p14:creationId xmlns:p14="http://schemas.microsoft.com/office/powerpoint/2010/main" val="29591978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 calcmode="lin" valueType="num">
                                      <p:cBhvr additive="base">
                                        <p:cTn id="3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
                                            <p:txEl>
                                              <p:pRg st="3" end="3"/>
                                            </p:txEl>
                                          </p:spTgt>
                                        </p:tgtEl>
                                        <p:attrNameLst>
                                          <p:attrName>style.visibility</p:attrName>
                                        </p:attrNameLst>
                                      </p:cBhvr>
                                      <p:to>
                                        <p:strVal val="visible"/>
                                      </p:to>
                                    </p:set>
                                    <p:anim calcmode="lin" valueType="num">
                                      <p:cBhvr additive="base">
                                        <p:cTn id="4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 calcmode="lin" valueType="num">
                                      <p:cBhvr additive="base">
                                        <p:cTn id="4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
                                            <p:txEl>
                                              <p:pRg st="5" end="5"/>
                                            </p:txEl>
                                          </p:spTgt>
                                        </p:tgtEl>
                                        <p:attrNameLst>
                                          <p:attrName>style.visibility</p:attrName>
                                        </p:attrNameLst>
                                      </p:cBhvr>
                                      <p:to>
                                        <p:strVal val="visible"/>
                                      </p:to>
                                    </p:set>
                                    <p:anim calcmode="lin" valueType="num">
                                      <p:cBhvr additive="base">
                                        <p:cTn id="53"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6">
                                            <p:txEl>
                                              <p:pRg st="6" end="6"/>
                                            </p:txEl>
                                          </p:spTgt>
                                        </p:tgtEl>
                                        <p:attrNameLst>
                                          <p:attrName>style.visibility</p:attrName>
                                        </p:attrNameLst>
                                      </p:cBhvr>
                                      <p:to>
                                        <p:strVal val="visible"/>
                                      </p:to>
                                    </p:set>
                                    <p:anim calcmode="lin" valueType="num">
                                      <p:cBhvr additive="base">
                                        <p:cTn id="59"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6">
                                            <p:txEl>
                                              <p:pRg st="7" end="7"/>
                                            </p:txEl>
                                          </p:spTgt>
                                        </p:tgtEl>
                                        <p:attrNameLst>
                                          <p:attrName>style.visibility</p:attrName>
                                        </p:attrNameLst>
                                      </p:cBhvr>
                                      <p:to>
                                        <p:strVal val="visible"/>
                                      </p:to>
                                    </p:set>
                                    <p:anim calcmode="lin" valueType="num">
                                      <p:cBhvr additive="base">
                                        <p:cTn id="65"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
                                            <p:txEl>
                                              <p:pRg st="7" end="7"/>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6">
                                            <p:txEl>
                                              <p:pRg st="8" end="8"/>
                                            </p:txEl>
                                          </p:spTgt>
                                        </p:tgtEl>
                                        <p:attrNameLst>
                                          <p:attrName>style.visibility</p:attrName>
                                        </p:attrNameLst>
                                      </p:cBhvr>
                                      <p:to>
                                        <p:strVal val="visible"/>
                                      </p:to>
                                    </p:set>
                                    <p:anim calcmode="lin" valueType="num">
                                      <p:cBhvr additive="base">
                                        <p:cTn id="69"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817812"/>
            <a:ext cx="8712968" cy="3507876"/>
          </a:xfrm>
        </p:spPr>
        <p:txBody>
          <a:bodyPr/>
          <a:lstStyle/>
          <a:p>
            <a:pPr marL="0" indent="0" algn="just">
              <a:lnSpc>
                <a:spcPts val="2600"/>
              </a:lnSpc>
              <a:spcBef>
                <a:spcPts val="0"/>
              </a:spcBef>
              <a:buNone/>
            </a:pPr>
            <a:r>
              <a:rPr lang="zh-CN" altLang="zh-CN" sz="1600" dirty="0">
                <a:latin typeface="Times New Roman" panose="02020603050405020304" pitchFamily="18" charset="0"/>
                <a:cs typeface="Times New Roman" panose="02020603050405020304" pitchFamily="18" charset="0"/>
              </a:rPr>
              <a:t>孩子链表表示法存储单元的主体是一个与结点个数一样大小的一维数组</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marL="0" indent="0" algn="just">
              <a:lnSpc>
                <a:spcPts val="2600"/>
              </a:lnSpc>
              <a:spcBef>
                <a:spcPts val="0"/>
              </a:spcBef>
              <a:buNone/>
            </a:pPr>
            <a:r>
              <a:rPr lang="zh-CN" altLang="zh-CN" sz="1600" dirty="0">
                <a:latin typeface="Times New Roman" panose="02020603050405020304" pitchFamily="18" charset="0"/>
                <a:cs typeface="Times New Roman" panose="02020603050405020304" pitchFamily="18" charset="0"/>
              </a:rPr>
              <a:t>数组的每一个元素由两个域组成</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algn="just">
              <a:lnSpc>
                <a:spcPts val="2600"/>
              </a:lnSpc>
              <a:spcBef>
                <a:spcPts val="0"/>
              </a:spcBef>
            </a:pPr>
            <a:r>
              <a:rPr lang="zh-CN" altLang="zh-CN" sz="1600" dirty="0">
                <a:latin typeface="Times New Roman" panose="02020603050405020304" pitchFamily="18" charset="0"/>
                <a:cs typeface="Times New Roman" panose="02020603050405020304" pitchFamily="18" charset="0"/>
              </a:rPr>
              <a:t>一个域用来存放结点自身的</a:t>
            </a:r>
            <a:r>
              <a:rPr lang="zh-CN" altLang="zh-CN" sz="1600" dirty="0">
                <a:solidFill>
                  <a:srgbClr val="C00000"/>
                </a:solidFill>
                <a:latin typeface="Times New Roman" panose="02020603050405020304" pitchFamily="18" charset="0"/>
                <a:cs typeface="Times New Roman" panose="02020603050405020304" pitchFamily="18" charset="0"/>
              </a:rPr>
              <a:t>数据信息</a:t>
            </a:r>
            <a:r>
              <a:rPr lang="zh-CN" altLang="zh-CN" sz="1600" dirty="0">
                <a:latin typeface="Times New Roman" panose="02020603050405020304" pitchFamily="18" charset="0"/>
                <a:cs typeface="Times New Roman" panose="02020603050405020304" pitchFamily="18" charset="0"/>
              </a:rPr>
              <a:t>（如果是带双亲的孩子链表表示，还需增加双亲信息）</a:t>
            </a:r>
            <a:endParaRPr lang="en-US" altLang="zh-CN" sz="1600" dirty="0">
              <a:latin typeface="Times New Roman" panose="02020603050405020304" pitchFamily="18" charset="0"/>
              <a:cs typeface="Times New Roman" panose="02020603050405020304" pitchFamily="18" charset="0"/>
            </a:endParaRPr>
          </a:p>
          <a:p>
            <a:pPr algn="just">
              <a:lnSpc>
                <a:spcPts val="2600"/>
              </a:lnSpc>
              <a:spcBef>
                <a:spcPts val="0"/>
              </a:spcBef>
            </a:pPr>
            <a:r>
              <a:rPr lang="zh-CN" altLang="zh-CN" sz="1600" dirty="0">
                <a:latin typeface="Times New Roman" panose="02020603050405020304" pitchFamily="18" charset="0"/>
                <a:cs typeface="Times New Roman" panose="02020603050405020304" pitchFamily="18" charset="0"/>
              </a:rPr>
              <a:t>另一个用来存放</a:t>
            </a:r>
            <a:r>
              <a:rPr lang="zh-CN" altLang="zh-CN" sz="1600" dirty="0">
                <a:solidFill>
                  <a:srgbClr val="C00000"/>
                </a:solidFill>
                <a:latin typeface="Times New Roman" panose="02020603050405020304" pitchFamily="18" charset="0"/>
                <a:cs typeface="Times New Roman" panose="02020603050405020304" pitchFamily="18" charset="0"/>
              </a:rPr>
              <a:t>指针</a:t>
            </a:r>
            <a:r>
              <a:rPr lang="zh-CN" altLang="zh-CN" sz="1600" dirty="0">
                <a:latin typeface="Times New Roman" panose="02020603050405020304" pitchFamily="18" charset="0"/>
                <a:cs typeface="Times New Roman" panose="02020603050405020304" pitchFamily="18" charset="0"/>
              </a:rPr>
              <a:t>，该指针指向由该结点孩子组成的单链表的表头。单链表的结点结构也由两个域组成，一个存放孩子结点在一维数组中的</a:t>
            </a:r>
            <a:r>
              <a:rPr lang="zh-CN" altLang="zh-CN" sz="1600" dirty="0">
                <a:solidFill>
                  <a:srgbClr val="C00000"/>
                </a:solidFill>
                <a:latin typeface="Times New Roman" panose="02020603050405020304" pitchFamily="18" charset="0"/>
                <a:cs typeface="Times New Roman" panose="02020603050405020304" pitchFamily="18" charset="0"/>
              </a:rPr>
              <a:t>下标</a:t>
            </a:r>
            <a:r>
              <a:rPr lang="zh-CN" altLang="zh-CN" sz="1600" dirty="0">
                <a:latin typeface="Times New Roman" panose="02020603050405020304" pitchFamily="18" charset="0"/>
                <a:cs typeface="Times New Roman" panose="02020603050405020304" pitchFamily="18" charset="0"/>
              </a:rPr>
              <a:t>，另一个是指针域，</a:t>
            </a:r>
            <a:r>
              <a:rPr lang="zh-CN" altLang="zh-CN" sz="1600" dirty="0">
                <a:solidFill>
                  <a:srgbClr val="C00000"/>
                </a:solidFill>
                <a:latin typeface="Times New Roman" panose="02020603050405020304" pitchFamily="18" charset="0"/>
                <a:cs typeface="Times New Roman" panose="02020603050405020304" pitchFamily="18" charset="0"/>
              </a:rPr>
              <a:t>指向下一个孩子</a:t>
            </a:r>
            <a:r>
              <a:rPr lang="zh-CN"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971600" y="2808400"/>
            <a:ext cx="6684846" cy="2009281"/>
          </a:xfrm>
          <a:prstGeom prst="rect">
            <a:avLst/>
          </a:prstGeom>
        </p:spPr>
      </p:pic>
      <p:sp>
        <p:nvSpPr>
          <p:cNvPr id="6" name="文本框 5"/>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孩子链表表示法</a:t>
            </a:r>
          </a:p>
        </p:txBody>
      </p:sp>
    </p:spTree>
    <p:extLst>
      <p:ext uri="{BB962C8B-B14F-4D97-AF65-F5344CB8AC3E}">
        <p14:creationId xmlns:p14="http://schemas.microsoft.com/office/powerpoint/2010/main" val="8654272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5" y="1064124"/>
            <a:ext cx="6120680" cy="3507876"/>
          </a:xfrm>
        </p:spPr>
        <p:txBody>
          <a:bodyPr/>
          <a:lstStyle/>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#define </a:t>
            </a:r>
            <a:r>
              <a:rPr lang="en-US" altLang="zh-CN" sz="1600" dirty="0" err="1">
                <a:solidFill>
                  <a:srgbClr val="0066FF"/>
                </a:solidFill>
                <a:latin typeface="Times New Roman" panose="02020603050405020304" pitchFamily="18" charset="0"/>
                <a:cs typeface="Times New Roman" panose="02020603050405020304" pitchFamily="18" charset="0"/>
              </a:rPr>
              <a:t>MaxSize</a:t>
            </a:r>
            <a:r>
              <a:rPr lang="en-US" altLang="zh-CN" sz="1600" dirty="0">
                <a:solidFill>
                  <a:srgbClr val="0066FF"/>
                </a:solidFill>
                <a:latin typeface="Times New Roman" panose="02020603050405020304" pitchFamily="18" charset="0"/>
                <a:cs typeface="Times New Roman" panose="02020603050405020304" pitchFamily="18" charset="0"/>
              </a:rPr>
              <a:t> 100</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err="1">
                <a:solidFill>
                  <a:srgbClr val="0066FF"/>
                </a:solidFill>
                <a:latin typeface="Times New Roman" panose="02020603050405020304" pitchFamily="18" charset="0"/>
                <a:cs typeface="Times New Roman" panose="02020603050405020304" pitchFamily="18" charset="0"/>
              </a:rPr>
              <a:t>typedef</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struct</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CtNode</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int</a:t>
            </a:r>
            <a:r>
              <a:rPr lang="en-US" altLang="zh-CN" sz="1600" dirty="0">
                <a:solidFill>
                  <a:srgbClr val="0066FF"/>
                </a:solidFill>
                <a:latin typeface="Times New Roman" panose="02020603050405020304" pitchFamily="18" charset="0"/>
                <a:cs typeface="Times New Roman" panose="02020603050405020304" pitchFamily="18" charset="0"/>
              </a:rPr>
              <a:t> child;                 //</a:t>
            </a:r>
            <a:r>
              <a:rPr lang="zh-CN" altLang="zh-CN" sz="1600" dirty="0">
                <a:solidFill>
                  <a:srgbClr val="0066FF"/>
                </a:solidFill>
                <a:latin typeface="Times New Roman" panose="02020603050405020304" pitchFamily="18" charset="0"/>
                <a:cs typeface="Times New Roman" panose="02020603050405020304" pitchFamily="18" charset="0"/>
              </a:rPr>
              <a:t>孩子结点在数组中的下标</a:t>
            </a: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CtNode</a:t>
            </a:r>
            <a:r>
              <a:rPr lang="en-US" altLang="zh-CN" sz="1600" dirty="0">
                <a:solidFill>
                  <a:srgbClr val="0066FF"/>
                </a:solidFill>
                <a:latin typeface="Times New Roman" panose="02020603050405020304" pitchFamily="18" charset="0"/>
                <a:cs typeface="Times New Roman" panose="02020603050405020304" pitchFamily="18" charset="0"/>
              </a:rPr>
              <a:t> *next;        //</a:t>
            </a:r>
            <a:r>
              <a:rPr lang="zh-CN" altLang="zh-CN" sz="1600" dirty="0">
                <a:solidFill>
                  <a:srgbClr val="0066FF"/>
                </a:solidFill>
                <a:latin typeface="Times New Roman" panose="02020603050405020304" pitchFamily="18" charset="0"/>
                <a:cs typeface="Times New Roman" panose="02020603050405020304" pitchFamily="18" charset="0"/>
              </a:rPr>
              <a:t>指向下一个孩子结点</a:t>
            </a: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CtNode</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err="1">
                <a:solidFill>
                  <a:srgbClr val="0066FF"/>
                </a:solidFill>
                <a:latin typeface="Times New Roman" panose="02020603050405020304" pitchFamily="18" charset="0"/>
                <a:cs typeface="Times New Roman" panose="02020603050405020304" pitchFamily="18" charset="0"/>
              </a:rPr>
              <a:t>typedef</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struct</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char data;     //</a:t>
            </a:r>
            <a:r>
              <a:rPr lang="zh-CN" altLang="zh-CN" sz="1600" dirty="0">
                <a:solidFill>
                  <a:srgbClr val="0066FF"/>
                </a:solidFill>
                <a:latin typeface="Times New Roman" panose="02020603050405020304" pitchFamily="18" charset="0"/>
                <a:cs typeface="Times New Roman" panose="02020603050405020304" pitchFamily="18" charset="0"/>
              </a:rPr>
              <a:t>树中结点本身的数据信息，为了简单定义为字符型</a:t>
            </a: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int</a:t>
            </a:r>
            <a:r>
              <a:rPr lang="en-US" altLang="zh-CN" sz="1600" dirty="0">
                <a:solidFill>
                  <a:srgbClr val="0066FF"/>
                </a:solidFill>
                <a:latin typeface="Times New Roman" panose="02020603050405020304" pitchFamily="18" charset="0"/>
                <a:cs typeface="Times New Roman" panose="02020603050405020304" pitchFamily="18" charset="0"/>
              </a:rPr>
              <a:t> parent;    //</a:t>
            </a:r>
            <a:r>
              <a:rPr lang="zh-CN" altLang="zh-CN" sz="1600" dirty="0">
                <a:solidFill>
                  <a:srgbClr val="0066FF"/>
                </a:solidFill>
                <a:latin typeface="Times New Roman" panose="02020603050405020304" pitchFamily="18" charset="0"/>
                <a:cs typeface="Times New Roman" panose="02020603050405020304" pitchFamily="18" charset="0"/>
              </a:rPr>
              <a:t>如果是带双亲孩子链表表示，增加双亲信息</a:t>
            </a: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CtNode</a:t>
            </a:r>
            <a:r>
              <a:rPr lang="en-US" altLang="zh-CN" sz="1600" dirty="0">
                <a:solidFill>
                  <a:srgbClr val="0066FF"/>
                </a:solidFill>
                <a:latin typeface="Times New Roman" panose="02020603050405020304" pitchFamily="18" charset="0"/>
                <a:cs typeface="Times New Roman" panose="02020603050405020304" pitchFamily="18" charset="0"/>
              </a:rPr>
              <a:t> *</a:t>
            </a:r>
            <a:r>
              <a:rPr lang="en-US" altLang="zh-CN" sz="1600" dirty="0" err="1">
                <a:solidFill>
                  <a:srgbClr val="0066FF"/>
                </a:solidFill>
                <a:latin typeface="Times New Roman" panose="02020603050405020304" pitchFamily="18" charset="0"/>
                <a:cs typeface="Times New Roman" panose="02020603050405020304" pitchFamily="18" charset="0"/>
              </a:rPr>
              <a:t>firstchild</a:t>
            </a:r>
            <a:r>
              <a:rPr lang="en-US" altLang="zh-CN" sz="1600" dirty="0">
                <a:solidFill>
                  <a:srgbClr val="0066FF"/>
                </a:solidFill>
                <a:latin typeface="Times New Roman" panose="02020603050405020304" pitchFamily="18" charset="0"/>
                <a:cs typeface="Times New Roman" panose="02020603050405020304" pitchFamily="18" charset="0"/>
              </a:rPr>
              <a:t>;    //</a:t>
            </a:r>
            <a:r>
              <a:rPr lang="zh-CN" altLang="zh-CN" sz="1600" dirty="0">
                <a:solidFill>
                  <a:srgbClr val="0066FF"/>
                </a:solidFill>
                <a:latin typeface="Times New Roman" panose="02020603050405020304" pitchFamily="18" charset="0"/>
                <a:cs typeface="Times New Roman" panose="02020603050405020304" pitchFamily="18" charset="0"/>
              </a:rPr>
              <a:t>指向第一个孩子结点</a:t>
            </a:r>
          </a:p>
          <a:p>
            <a:pPr marL="0" indent="0">
              <a:lnSpc>
                <a:spcPts val="2400"/>
              </a:lnSpc>
              <a:spcBef>
                <a:spcPts val="0"/>
              </a:spcBef>
              <a:buNone/>
            </a:pPr>
            <a:r>
              <a:rPr lang="en-US" altLang="zh-CN" sz="1600" dirty="0">
                <a:solidFill>
                  <a:srgbClr val="0066FF"/>
                </a:solidFill>
                <a:latin typeface="Times New Roman" panose="02020603050405020304" pitchFamily="18" charset="0"/>
                <a:cs typeface="Times New Roman" panose="02020603050405020304" pitchFamily="18" charset="0"/>
              </a:rPr>
              <a:t>}</a:t>
            </a:r>
            <a:r>
              <a:rPr lang="en-US" altLang="zh-CN" sz="1600" dirty="0" err="1">
                <a:solidFill>
                  <a:srgbClr val="0066FF"/>
                </a:solidFill>
                <a:latin typeface="Times New Roman" panose="02020603050405020304" pitchFamily="18" charset="0"/>
                <a:cs typeface="Times New Roman" panose="02020603050405020304" pitchFamily="18" charset="0"/>
              </a:rPr>
              <a:t>CtBox</a:t>
            </a:r>
            <a:r>
              <a:rPr lang="en-US" altLang="zh-CN" sz="1600" dirty="0">
                <a:solidFill>
                  <a:srgbClr val="0066FF"/>
                </a:solidFill>
                <a:latin typeface="Times New Roman" panose="02020603050405020304" pitchFamily="18" charset="0"/>
                <a:cs typeface="Times New Roman" panose="02020603050405020304" pitchFamily="18" charset="0"/>
              </a:rPr>
              <a:t>;</a:t>
            </a:r>
            <a:endParaRPr lang="zh-CN" altLang="zh-CN" sz="1600" dirty="0">
              <a:solidFill>
                <a:srgbClr val="0066FF"/>
              </a:solidFill>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2"/>
          <a:stretch>
            <a:fillRect/>
          </a:stretch>
        </p:blipFill>
        <p:spPr>
          <a:xfrm>
            <a:off x="6084168" y="531120"/>
            <a:ext cx="2520280" cy="2148642"/>
          </a:xfrm>
          <a:prstGeom prst="rect">
            <a:avLst/>
          </a:prstGeom>
        </p:spPr>
      </p:pic>
      <p:sp>
        <p:nvSpPr>
          <p:cNvPr id="13" name="矩形 12"/>
          <p:cNvSpPr/>
          <p:nvPr/>
        </p:nvSpPr>
        <p:spPr>
          <a:xfrm>
            <a:off x="107504" y="1419622"/>
            <a:ext cx="4248472" cy="12241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6774155" y="554070"/>
            <a:ext cx="2160240" cy="24118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a:stCxn id="13" idx="3"/>
            <a:endCxn id="14" idx="3"/>
          </p:cNvCxnSpPr>
          <p:nvPr/>
        </p:nvCxnSpPr>
        <p:spPr>
          <a:xfrm flipV="1">
            <a:off x="4355976" y="759931"/>
            <a:ext cx="2734539" cy="127175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107503" y="2715766"/>
            <a:ext cx="5904657" cy="1512168"/>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6236205" y="2004250"/>
            <a:ext cx="648072" cy="252028"/>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endCxn id="18" idx="4"/>
          </p:cNvCxnSpPr>
          <p:nvPr/>
        </p:nvCxnSpPr>
        <p:spPr>
          <a:xfrm flipV="1">
            <a:off x="5148064" y="2256278"/>
            <a:ext cx="1412177" cy="45948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24827" y="975291"/>
            <a:ext cx="5634431" cy="3139321"/>
          </a:xfrm>
          <a:prstGeom prst="rect">
            <a:avLst/>
          </a:prstGeom>
          <a:solidFill>
            <a:schemeClr val="accent4"/>
          </a:solidFill>
        </p:spPr>
        <p:txBody>
          <a:bodyPr wrap="square" rtlCol="0">
            <a:spAutoFit/>
          </a:bodyPr>
          <a:lstStyle/>
          <a:p>
            <a:r>
              <a:rPr lang="en-US" altLang="zh-CN" dirty="0"/>
              <a:t>class </a:t>
            </a:r>
            <a:r>
              <a:rPr lang="en-US" altLang="zh-CN" dirty="0" err="1"/>
              <a:t>CTree</a:t>
            </a:r>
            <a:r>
              <a:rPr lang="en-US" altLang="zh-CN" dirty="0"/>
              <a:t>{</a:t>
            </a:r>
            <a:endParaRPr lang="zh-CN" altLang="zh-CN" dirty="0"/>
          </a:p>
          <a:p>
            <a:r>
              <a:rPr lang="en-US" altLang="zh-CN" dirty="0"/>
              <a:t>  private:</a:t>
            </a:r>
            <a:endParaRPr lang="zh-CN" altLang="zh-CN" dirty="0"/>
          </a:p>
          <a:p>
            <a:r>
              <a:rPr lang="en-US" altLang="zh-CN" dirty="0"/>
              <a:t>    </a:t>
            </a:r>
            <a:r>
              <a:rPr lang="en-US" altLang="zh-CN" dirty="0" err="1"/>
              <a:t>CtBox</a:t>
            </a:r>
            <a:r>
              <a:rPr lang="en-US" altLang="zh-CN" dirty="0"/>
              <a:t> nodes[</a:t>
            </a:r>
            <a:r>
              <a:rPr lang="en-US" altLang="zh-CN" dirty="0" err="1"/>
              <a:t>MaxSize</a:t>
            </a:r>
            <a:r>
              <a:rPr lang="en-US" altLang="zh-CN" dirty="0"/>
              <a:t>];</a:t>
            </a:r>
            <a:endParaRPr lang="zh-CN" altLang="zh-CN" dirty="0"/>
          </a:p>
          <a:p>
            <a:r>
              <a:rPr lang="en-US" altLang="zh-CN" dirty="0"/>
              <a:t>    </a:t>
            </a:r>
            <a:r>
              <a:rPr lang="en-US" altLang="zh-CN" dirty="0" err="1"/>
              <a:t>int</a:t>
            </a:r>
            <a:r>
              <a:rPr lang="en-US" altLang="zh-CN" dirty="0"/>
              <a:t> </a:t>
            </a:r>
            <a:r>
              <a:rPr lang="en-US" altLang="zh-CN" dirty="0" err="1"/>
              <a:t>r,n</a:t>
            </a:r>
            <a:r>
              <a:rPr lang="en-US" altLang="zh-CN" dirty="0"/>
              <a:t>;              //</a:t>
            </a:r>
            <a:r>
              <a:rPr lang="zh-CN" altLang="zh-CN" dirty="0"/>
              <a:t>根的位置和树的结点数</a:t>
            </a:r>
          </a:p>
          <a:p>
            <a:r>
              <a:rPr lang="en-US" altLang="zh-CN" dirty="0"/>
              <a:t>  public:</a:t>
            </a:r>
            <a:endParaRPr lang="zh-CN" altLang="zh-CN" dirty="0"/>
          </a:p>
          <a:p>
            <a:r>
              <a:rPr lang="en-US" altLang="zh-CN" dirty="0"/>
              <a:t>    </a:t>
            </a:r>
            <a:r>
              <a:rPr lang="en-US" altLang="zh-CN" dirty="0" err="1"/>
              <a:t>int</a:t>
            </a:r>
            <a:r>
              <a:rPr lang="en-US" altLang="zh-CN" dirty="0"/>
              <a:t> </a:t>
            </a:r>
            <a:r>
              <a:rPr lang="en-US" altLang="zh-CN" dirty="0" err="1"/>
              <a:t>LocateNode</a:t>
            </a:r>
            <a:r>
              <a:rPr lang="en-US" altLang="zh-CN" dirty="0"/>
              <a:t>(char x);  </a:t>
            </a:r>
            <a:r>
              <a:rPr lang="en-US" altLang="zh-CN" sz="1600" dirty="0"/>
              <a:t>//</a:t>
            </a:r>
            <a:r>
              <a:rPr lang="zh-CN" altLang="zh-CN" sz="1600" dirty="0"/>
              <a:t>查找结点</a:t>
            </a:r>
            <a:r>
              <a:rPr lang="en-US" altLang="zh-CN" sz="1600" dirty="0"/>
              <a:t>x</a:t>
            </a:r>
            <a:r>
              <a:rPr lang="zh-CN" altLang="zh-CN" sz="1600" dirty="0"/>
              <a:t>在树中的下标</a:t>
            </a:r>
          </a:p>
          <a:p>
            <a:r>
              <a:rPr lang="en-US" altLang="zh-CN" dirty="0"/>
              <a:t>    void </a:t>
            </a:r>
            <a:r>
              <a:rPr lang="en-US" altLang="zh-CN" dirty="0" err="1"/>
              <a:t>CreateCtree</a:t>
            </a:r>
            <a:r>
              <a:rPr lang="en-US" altLang="zh-CN" dirty="0"/>
              <a:t>(</a:t>
            </a:r>
            <a:r>
              <a:rPr lang="en-US" altLang="zh-CN" dirty="0" err="1"/>
              <a:t>int</a:t>
            </a:r>
            <a:r>
              <a:rPr lang="en-US" altLang="zh-CN" dirty="0"/>
              <a:t> k);        //</a:t>
            </a:r>
            <a:r>
              <a:rPr lang="zh-CN" altLang="zh-CN" dirty="0"/>
              <a:t>创建</a:t>
            </a:r>
            <a:r>
              <a:rPr lang="en-US" altLang="zh-CN" dirty="0"/>
              <a:t>k</a:t>
            </a:r>
            <a:r>
              <a:rPr lang="zh-CN" altLang="zh-CN" dirty="0"/>
              <a:t>个结点的树</a:t>
            </a:r>
          </a:p>
          <a:p>
            <a:r>
              <a:rPr lang="en-US" altLang="zh-CN" dirty="0"/>
              <a:t>    </a:t>
            </a:r>
            <a:r>
              <a:rPr lang="en-US" altLang="zh-CN" dirty="0" err="1"/>
              <a:t>int</a:t>
            </a:r>
            <a:r>
              <a:rPr lang="en-US" altLang="zh-CN" dirty="0"/>
              <a:t> </a:t>
            </a:r>
            <a:r>
              <a:rPr lang="en-US" altLang="zh-CN" dirty="0" err="1"/>
              <a:t>DegreeNode</a:t>
            </a:r>
            <a:r>
              <a:rPr lang="en-US" altLang="zh-CN" dirty="0"/>
              <a:t>(char x);        //</a:t>
            </a:r>
            <a:r>
              <a:rPr lang="zh-CN" altLang="zh-CN" dirty="0"/>
              <a:t>计算结点</a:t>
            </a:r>
            <a:r>
              <a:rPr lang="en-US" altLang="zh-CN" dirty="0"/>
              <a:t>x</a:t>
            </a:r>
            <a:r>
              <a:rPr lang="zh-CN" altLang="zh-CN" dirty="0"/>
              <a:t>的度数</a:t>
            </a:r>
          </a:p>
          <a:p>
            <a:r>
              <a:rPr lang="en-US" altLang="zh-CN" dirty="0"/>
              <a:t>    void </a:t>
            </a:r>
            <a:r>
              <a:rPr lang="en-US" altLang="zh-CN" dirty="0" err="1"/>
              <a:t>InsertNode</a:t>
            </a:r>
            <a:r>
              <a:rPr lang="en-US" altLang="zh-CN" dirty="0"/>
              <a:t>(char </a:t>
            </a:r>
            <a:r>
              <a:rPr lang="en-US" altLang="zh-CN" dirty="0" err="1"/>
              <a:t>u,char</a:t>
            </a:r>
            <a:r>
              <a:rPr lang="en-US" altLang="zh-CN" dirty="0"/>
              <a:t> v</a:t>
            </a:r>
            <a:r>
              <a:rPr lang="en-US" altLang="zh-CN" sz="1600" dirty="0"/>
              <a:t>);  //</a:t>
            </a:r>
            <a:r>
              <a:rPr lang="zh-CN" altLang="zh-CN" sz="1600" dirty="0"/>
              <a:t>插入结点</a:t>
            </a:r>
            <a:r>
              <a:rPr lang="en-US" altLang="zh-CN" sz="1600" dirty="0"/>
              <a:t>u</a:t>
            </a:r>
            <a:r>
              <a:rPr lang="zh-CN" altLang="zh-CN" sz="1600" dirty="0"/>
              <a:t>的孩子</a:t>
            </a:r>
            <a:r>
              <a:rPr lang="en-US" altLang="zh-CN" sz="1600" dirty="0"/>
              <a:t>v</a:t>
            </a:r>
            <a:endParaRPr lang="zh-CN" altLang="zh-CN" sz="1600" dirty="0"/>
          </a:p>
          <a:p>
            <a:r>
              <a:rPr lang="en-US" altLang="zh-CN" dirty="0"/>
              <a:t>};</a:t>
            </a:r>
            <a:endParaRPr lang="zh-CN" altLang="zh-CN" dirty="0"/>
          </a:p>
          <a:p>
            <a:endParaRPr lang="zh-CN" altLang="en-US" dirty="0"/>
          </a:p>
        </p:txBody>
      </p:sp>
      <p:sp>
        <p:nvSpPr>
          <p:cNvPr id="28" name="矩形 27"/>
          <p:cNvSpPr/>
          <p:nvPr/>
        </p:nvSpPr>
        <p:spPr>
          <a:xfrm>
            <a:off x="206613" y="1605441"/>
            <a:ext cx="4720534" cy="5248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6012160" y="415865"/>
            <a:ext cx="548081" cy="2402197"/>
          </a:xfrm>
          <a:prstGeom prst="ellipse">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直接箭头连接符 30"/>
          <p:cNvCxnSpPr>
            <a:endCxn id="29" idx="2"/>
          </p:cNvCxnSpPr>
          <p:nvPr/>
        </p:nvCxnSpPr>
        <p:spPr>
          <a:xfrm flipV="1">
            <a:off x="4935167" y="1616964"/>
            <a:ext cx="1076993" cy="387286"/>
          </a:xfrm>
          <a:prstGeom prst="straightConnector1">
            <a:avLst/>
          </a:prstGeom>
          <a:ln>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612366" y="123478"/>
            <a:ext cx="273549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孩子链表表示法的实现</a:t>
            </a:r>
          </a:p>
        </p:txBody>
      </p:sp>
    </p:spTree>
    <p:extLst>
      <p:ext uri="{BB962C8B-B14F-4D97-AF65-F5344CB8AC3E}">
        <p14:creationId xmlns:p14="http://schemas.microsoft.com/office/powerpoint/2010/main" val="20531930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5" end="5"/>
                                            </p:txEl>
                                          </p:spTgt>
                                        </p:tgtEl>
                                        <p:attrNameLst>
                                          <p:attrName>style.visibility</p:attrName>
                                        </p:attrNameLst>
                                      </p:cBhvr>
                                      <p:to>
                                        <p:strVal val="visible"/>
                                      </p:to>
                                    </p:set>
                                    <p:anim calcmode="lin" valueType="num">
                                      <p:cBhvr additive="base">
                                        <p:cTn id="4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7" end="7"/>
                                            </p:txEl>
                                          </p:spTgt>
                                        </p:tgtEl>
                                        <p:attrNameLst>
                                          <p:attrName>style.visibility</p:attrName>
                                        </p:attrNameLst>
                                      </p:cBhvr>
                                      <p:to>
                                        <p:strVal val="visible"/>
                                      </p:to>
                                    </p:set>
                                    <p:anim calcmode="lin" valueType="num">
                                      <p:cBhvr additive="base">
                                        <p:cTn id="5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 calcmode="lin" valueType="num">
                                      <p:cBhvr additive="base">
                                        <p:cTn id="5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ppt_x</p:attrName>
                                        </p:attrNameLst>
                                      </p:cBhvr>
                                      <p:tavLst>
                                        <p:tav tm="0">
                                          <p:val>
                                            <p:strVal val="#ppt_x"/>
                                          </p:val>
                                        </p:tav>
                                        <p:tav tm="100000">
                                          <p:val>
                                            <p:strVal val="#ppt_x"/>
                                          </p:val>
                                        </p:tav>
                                      </p:tavLst>
                                    </p:anim>
                                    <p:anim calcmode="lin" valueType="num">
                                      <p:cBhvr additive="base">
                                        <p:cTn id="68" dur="500" fill="hold"/>
                                        <p:tgtEl>
                                          <p:spTgt spid="17"/>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500" fill="hold"/>
                                        <p:tgtEl>
                                          <p:spTgt spid="20"/>
                                        </p:tgtEl>
                                        <p:attrNameLst>
                                          <p:attrName>ppt_x</p:attrName>
                                        </p:attrNameLst>
                                      </p:cBhvr>
                                      <p:tavLst>
                                        <p:tav tm="0">
                                          <p:val>
                                            <p:strVal val="#ppt_x"/>
                                          </p:val>
                                        </p:tav>
                                        <p:tav tm="100000">
                                          <p:val>
                                            <p:strVal val="#ppt_x"/>
                                          </p:val>
                                        </p:tav>
                                      </p:tavLst>
                                    </p:anim>
                                    <p:anim calcmode="lin" valueType="num">
                                      <p:cBhvr additive="base">
                                        <p:cTn id="72" dur="500" fill="hold"/>
                                        <p:tgtEl>
                                          <p:spTgt spid="20"/>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500" fill="hold"/>
                                        <p:tgtEl>
                                          <p:spTgt spid="18"/>
                                        </p:tgtEl>
                                        <p:attrNameLst>
                                          <p:attrName>ppt_x</p:attrName>
                                        </p:attrNameLst>
                                      </p:cBhvr>
                                      <p:tavLst>
                                        <p:tav tm="0">
                                          <p:val>
                                            <p:strVal val="#ppt_x"/>
                                          </p:val>
                                        </p:tav>
                                        <p:tav tm="100000">
                                          <p:val>
                                            <p:strVal val="#ppt_x"/>
                                          </p:val>
                                        </p:tav>
                                      </p:tavLst>
                                    </p:anim>
                                    <p:anim calcmode="lin" valueType="num">
                                      <p:cBhvr additive="base">
                                        <p:cTn id="7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27"/>
                                        </p:tgtEl>
                                        <p:attrNameLst>
                                          <p:attrName>style.visibility</p:attrName>
                                        </p:attrNameLst>
                                      </p:cBhvr>
                                      <p:to>
                                        <p:strVal val="visible"/>
                                      </p:to>
                                    </p:set>
                                    <p:anim calcmode="lin" valueType="num">
                                      <p:cBhvr additive="base">
                                        <p:cTn id="81" dur="500" fill="hold"/>
                                        <p:tgtEl>
                                          <p:spTgt spid="27"/>
                                        </p:tgtEl>
                                        <p:attrNameLst>
                                          <p:attrName>ppt_x</p:attrName>
                                        </p:attrNameLst>
                                      </p:cBhvr>
                                      <p:tavLst>
                                        <p:tav tm="0">
                                          <p:val>
                                            <p:strVal val="#ppt_x"/>
                                          </p:val>
                                        </p:tav>
                                        <p:tav tm="100000">
                                          <p:val>
                                            <p:strVal val="#ppt_x"/>
                                          </p:val>
                                        </p:tav>
                                      </p:tavLst>
                                    </p:anim>
                                    <p:anim calcmode="lin" valueType="num">
                                      <p:cBhvr additive="base">
                                        <p:cTn id="8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27">
                                            <p:txEl>
                                              <p:pRg st="0" end="0"/>
                                            </p:txEl>
                                          </p:spTgt>
                                        </p:tgtEl>
                                        <p:attrNameLst>
                                          <p:attrName>style.visibility</p:attrName>
                                        </p:attrNameLst>
                                      </p:cBhvr>
                                      <p:to>
                                        <p:strVal val="visible"/>
                                      </p:to>
                                    </p:set>
                                    <p:anim calcmode="lin" valueType="num">
                                      <p:cBhvr additive="base">
                                        <p:cTn id="87"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27">
                                            <p:txEl>
                                              <p:pRg st="1" end="1"/>
                                            </p:txEl>
                                          </p:spTgt>
                                        </p:tgtEl>
                                        <p:attrNameLst>
                                          <p:attrName>style.visibility</p:attrName>
                                        </p:attrNameLst>
                                      </p:cBhvr>
                                      <p:to>
                                        <p:strVal val="visible"/>
                                      </p:to>
                                    </p:set>
                                    <p:anim calcmode="lin" valueType="num">
                                      <p:cBhvr additive="base">
                                        <p:cTn id="93" dur="500" fill="hold"/>
                                        <p:tgtEl>
                                          <p:spTgt spid="27">
                                            <p:txEl>
                                              <p:pRg st="1" end="1"/>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27">
                                            <p:txEl>
                                              <p:pRg st="1" end="1"/>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27">
                                            <p:txEl>
                                              <p:pRg st="2" end="2"/>
                                            </p:txEl>
                                          </p:spTgt>
                                        </p:tgtEl>
                                        <p:attrNameLst>
                                          <p:attrName>style.visibility</p:attrName>
                                        </p:attrNameLst>
                                      </p:cBhvr>
                                      <p:to>
                                        <p:strVal val="visible"/>
                                      </p:to>
                                    </p:set>
                                    <p:anim calcmode="lin" valueType="num">
                                      <p:cBhvr additive="base">
                                        <p:cTn id="97" dur="500" fill="hold"/>
                                        <p:tgtEl>
                                          <p:spTgt spid="27">
                                            <p:txEl>
                                              <p:pRg st="2" end="2"/>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27">
                                            <p:txEl>
                                              <p:pRg st="2" end="2"/>
                                            </p:txEl>
                                          </p:spTgt>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27">
                                            <p:txEl>
                                              <p:pRg st="3" end="3"/>
                                            </p:txEl>
                                          </p:spTgt>
                                        </p:tgtEl>
                                        <p:attrNameLst>
                                          <p:attrName>style.visibility</p:attrName>
                                        </p:attrNameLst>
                                      </p:cBhvr>
                                      <p:to>
                                        <p:strVal val="visible"/>
                                      </p:to>
                                    </p:set>
                                    <p:anim calcmode="lin" valueType="num">
                                      <p:cBhvr additive="base">
                                        <p:cTn id="101" dur="500" fill="hold"/>
                                        <p:tgtEl>
                                          <p:spTgt spid="27">
                                            <p:txEl>
                                              <p:pRg st="3" end="3"/>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31"/>
                                        </p:tgtEl>
                                        <p:attrNameLst>
                                          <p:attrName>style.visibility</p:attrName>
                                        </p:attrNameLst>
                                      </p:cBhvr>
                                      <p:to>
                                        <p:strVal val="visible"/>
                                      </p:to>
                                    </p:set>
                                    <p:anim calcmode="lin" valueType="num">
                                      <p:cBhvr additive="base">
                                        <p:cTn id="111" dur="500" fill="hold"/>
                                        <p:tgtEl>
                                          <p:spTgt spid="31"/>
                                        </p:tgtEl>
                                        <p:attrNameLst>
                                          <p:attrName>ppt_x</p:attrName>
                                        </p:attrNameLst>
                                      </p:cBhvr>
                                      <p:tavLst>
                                        <p:tav tm="0">
                                          <p:val>
                                            <p:strVal val="#ppt_x"/>
                                          </p:val>
                                        </p:tav>
                                        <p:tav tm="100000">
                                          <p:val>
                                            <p:strVal val="#ppt_x"/>
                                          </p:val>
                                        </p:tav>
                                      </p:tavLst>
                                    </p:anim>
                                    <p:anim calcmode="lin" valueType="num">
                                      <p:cBhvr additive="base">
                                        <p:cTn id="112" dur="500" fill="hold"/>
                                        <p:tgtEl>
                                          <p:spTgt spid="31"/>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29"/>
                                        </p:tgtEl>
                                        <p:attrNameLst>
                                          <p:attrName>style.visibility</p:attrName>
                                        </p:attrNameLst>
                                      </p:cBhvr>
                                      <p:to>
                                        <p:strVal val="visible"/>
                                      </p:to>
                                    </p:set>
                                    <p:anim calcmode="lin" valueType="num">
                                      <p:cBhvr additive="base">
                                        <p:cTn id="115" dur="500" fill="hold"/>
                                        <p:tgtEl>
                                          <p:spTgt spid="29"/>
                                        </p:tgtEl>
                                        <p:attrNameLst>
                                          <p:attrName>ppt_x</p:attrName>
                                        </p:attrNameLst>
                                      </p:cBhvr>
                                      <p:tavLst>
                                        <p:tav tm="0">
                                          <p:val>
                                            <p:strVal val="#ppt_x"/>
                                          </p:val>
                                        </p:tav>
                                        <p:tav tm="100000">
                                          <p:val>
                                            <p:strVal val="#ppt_x"/>
                                          </p:val>
                                        </p:tav>
                                      </p:tavLst>
                                    </p:anim>
                                    <p:anim calcmode="lin" valueType="num">
                                      <p:cBhvr additive="base">
                                        <p:cTn id="1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7">
                                            <p:txEl>
                                              <p:pRg st="4" end="4"/>
                                            </p:txEl>
                                          </p:spTgt>
                                        </p:tgtEl>
                                        <p:attrNameLst>
                                          <p:attrName>style.visibility</p:attrName>
                                        </p:attrNameLst>
                                      </p:cBhvr>
                                      <p:to>
                                        <p:strVal val="visible"/>
                                      </p:to>
                                    </p:set>
                                    <p:anim calcmode="lin" valueType="num">
                                      <p:cBhvr additive="base">
                                        <p:cTn id="121" dur="500" fill="hold"/>
                                        <p:tgtEl>
                                          <p:spTgt spid="27">
                                            <p:txEl>
                                              <p:pRg st="4" end="4"/>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27">
                                            <p:txEl>
                                              <p:pRg st="5" end="5"/>
                                            </p:txEl>
                                          </p:spTgt>
                                        </p:tgtEl>
                                        <p:attrNameLst>
                                          <p:attrName>style.visibility</p:attrName>
                                        </p:attrNameLst>
                                      </p:cBhvr>
                                      <p:to>
                                        <p:strVal val="visible"/>
                                      </p:to>
                                    </p:set>
                                    <p:anim calcmode="lin" valueType="num">
                                      <p:cBhvr additive="base">
                                        <p:cTn id="127" dur="500" fill="hold"/>
                                        <p:tgtEl>
                                          <p:spTgt spid="27">
                                            <p:txEl>
                                              <p:pRg st="5" end="5"/>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27">
                                            <p:txEl>
                                              <p:pRg st="6" end="6"/>
                                            </p:txEl>
                                          </p:spTgt>
                                        </p:tgtEl>
                                        <p:attrNameLst>
                                          <p:attrName>style.visibility</p:attrName>
                                        </p:attrNameLst>
                                      </p:cBhvr>
                                      <p:to>
                                        <p:strVal val="visible"/>
                                      </p:to>
                                    </p:set>
                                    <p:anim calcmode="lin" valueType="num">
                                      <p:cBhvr additive="base">
                                        <p:cTn id="133" dur="500" fill="hold"/>
                                        <p:tgtEl>
                                          <p:spTgt spid="27">
                                            <p:txEl>
                                              <p:pRg st="6" end="6"/>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2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27">
                                            <p:txEl>
                                              <p:pRg st="7" end="7"/>
                                            </p:txEl>
                                          </p:spTgt>
                                        </p:tgtEl>
                                        <p:attrNameLst>
                                          <p:attrName>style.visibility</p:attrName>
                                        </p:attrNameLst>
                                      </p:cBhvr>
                                      <p:to>
                                        <p:strVal val="visible"/>
                                      </p:to>
                                    </p:set>
                                    <p:anim calcmode="lin" valueType="num">
                                      <p:cBhvr additive="base">
                                        <p:cTn id="139" dur="500" fill="hold"/>
                                        <p:tgtEl>
                                          <p:spTgt spid="27">
                                            <p:txEl>
                                              <p:pRg st="7" end="7"/>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27">
                                            <p:txEl>
                                              <p:pRg st="8" end="8"/>
                                            </p:txEl>
                                          </p:spTgt>
                                        </p:tgtEl>
                                        <p:attrNameLst>
                                          <p:attrName>style.visibility</p:attrName>
                                        </p:attrNameLst>
                                      </p:cBhvr>
                                      <p:to>
                                        <p:strVal val="visible"/>
                                      </p:to>
                                    </p:set>
                                    <p:anim calcmode="lin" valueType="num">
                                      <p:cBhvr additive="base">
                                        <p:cTn id="145" dur="500" fill="hold"/>
                                        <p:tgtEl>
                                          <p:spTgt spid="27">
                                            <p:txEl>
                                              <p:pRg st="8" end="8"/>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27">
                                            <p:txEl>
                                              <p:pRg st="8" end="8"/>
                                            </p:txEl>
                                          </p:spTgt>
                                        </p:tgtEl>
                                        <p:attrNameLst>
                                          <p:attrName>ppt_y</p:attrName>
                                        </p:attrNameLst>
                                      </p:cBhvr>
                                      <p:tavLst>
                                        <p:tav tm="0">
                                          <p:val>
                                            <p:strVal val="1+#ppt_h/2"/>
                                          </p:val>
                                        </p:tav>
                                        <p:tav tm="100000">
                                          <p:val>
                                            <p:strVal val="#ppt_y"/>
                                          </p:val>
                                        </p:tav>
                                      </p:tavLst>
                                    </p:anim>
                                  </p:childTnLst>
                                </p:cTn>
                              </p:par>
                              <p:par>
                                <p:cTn id="147" presetID="2" presetClass="entr" presetSubtype="4" fill="hold" nodeType="withEffect">
                                  <p:stCondLst>
                                    <p:cond delay="0"/>
                                  </p:stCondLst>
                                  <p:childTnLst>
                                    <p:set>
                                      <p:cBhvr>
                                        <p:cTn id="148" dur="1" fill="hold">
                                          <p:stCondLst>
                                            <p:cond delay="0"/>
                                          </p:stCondLst>
                                        </p:cTn>
                                        <p:tgtEl>
                                          <p:spTgt spid="27">
                                            <p:txEl>
                                              <p:pRg st="9" end="9"/>
                                            </p:txEl>
                                          </p:spTgt>
                                        </p:tgtEl>
                                        <p:attrNameLst>
                                          <p:attrName>style.visibility</p:attrName>
                                        </p:attrNameLst>
                                      </p:cBhvr>
                                      <p:to>
                                        <p:strVal val="visible"/>
                                      </p:to>
                                    </p:set>
                                    <p:anim calcmode="lin" valueType="num">
                                      <p:cBhvr additive="base">
                                        <p:cTn id="149" dur="500" fill="hold"/>
                                        <p:tgtEl>
                                          <p:spTgt spid="27">
                                            <p:txEl>
                                              <p:pRg st="9" end="9"/>
                                            </p:txEl>
                                          </p:spTgt>
                                        </p:tgtEl>
                                        <p:attrNameLst>
                                          <p:attrName>ppt_x</p:attrName>
                                        </p:attrNameLst>
                                      </p:cBhvr>
                                      <p:tavLst>
                                        <p:tav tm="0">
                                          <p:val>
                                            <p:strVal val="#ppt_x"/>
                                          </p:val>
                                        </p:tav>
                                        <p:tav tm="100000">
                                          <p:val>
                                            <p:strVal val="#ppt_x"/>
                                          </p:val>
                                        </p:tav>
                                      </p:tavLst>
                                    </p:anim>
                                    <p:anim calcmode="lin" valueType="num">
                                      <p:cBhvr additive="base">
                                        <p:cTn id="150" dur="500" fill="hold"/>
                                        <p:tgtEl>
                                          <p:spTgt spid="2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7" grpId="0" animBg="1"/>
      <p:bldP spid="18" grpId="0" animBg="1"/>
      <p:bldP spid="27" grpId="0" animBg="1"/>
      <p:bldP spid="28" grpId="0" animBg="1"/>
      <p:bldP spid="2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04" y="1491630"/>
            <a:ext cx="8208912" cy="1477328"/>
          </a:xfrm>
          <a:prstGeom prst="rect">
            <a:avLst/>
          </a:prstGeom>
          <a:noFill/>
        </p:spPr>
        <p:txBody>
          <a:bodyPr wrap="square" rtlCol="0">
            <a:spAutoFit/>
          </a:bodyPr>
          <a:lstStyle/>
          <a:p>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CTree</a:t>
            </a:r>
            <a:r>
              <a:rPr lang="en-US" altLang="zh-CN" dirty="0">
                <a:solidFill>
                  <a:srgbClr val="002060"/>
                </a:solidFill>
                <a:latin typeface="Times New Roman" panose="02020603050405020304" pitchFamily="18" charset="0"/>
                <a:cs typeface="Times New Roman" panose="02020603050405020304" pitchFamily="18" charset="0"/>
              </a:rPr>
              <a:t>::</a:t>
            </a:r>
            <a:r>
              <a:rPr lang="en-US" altLang="zh-CN" dirty="0" err="1">
                <a:solidFill>
                  <a:srgbClr val="002060"/>
                </a:solidFill>
                <a:latin typeface="Times New Roman" panose="02020603050405020304" pitchFamily="18" charset="0"/>
                <a:cs typeface="Times New Roman" panose="02020603050405020304" pitchFamily="18" charset="0"/>
              </a:rPr>
              <a:t>LocateNode</a:t>
            </a:r>
            <a:r>
              <a:rPr lang="en-US" altLang="zh-CN" dirty="0">
                <a:solidFill>
                  <a:srgbClr val="002060"/>
                </a:solidFill>
                <a:latin typeface="Times New Roman" panose="02020603050405020304" pitchFamily="18" charset="0"/>
                <a:cs typeface="Times New Roman" panose="02020603050405020304" pitchFamily="18" charset="0"/>
              </a:rPr>
              <a:t>(char x){//</a:t>
            </a:r>
            <a:r>
              <a:rPr lang="zh-CN" altLang="en-US" dirty="0">
                <a:solidFill>
                  <a:srgbClr val="002060"/>
                </a:solidFill>
                <a:latin typeface="Times New Roman" panose="02020603050405020304" pitchFamily="18" charset="0"/>
                <a:cs typeface="Times New Roman" panose="02020603050405020304" pitchFamily="18" charset="0"/>
              </a:rPr>
              <a:t>查找结点</a:t>
            </a:r>
            <a:r>
              <a:rPr lang="en-US" altLang="zh-CN" dirty="0">
                <a:solidFill>
                  <a:srgbClr val="002060"/>
                </a:solidFill>
                <a:latin typeface="Times New Roman" panose="02020603050405020304" pitchFamily="18" charset="0"/>
                <a:cs typeface="Times New Roman" panose="02020603050405020304" pitchFamily="18" charset="0"/>
              </a:rPr>
              <a:t>x</a:t>
            </a:r>
            <a:r>
              <a:rPr lang="zh-CN" altLang="en-US" dirty="0">
                <a:solidFill>
                  <a:srgbClr val="002060"/>
                </a:solidFill>
                <a:latin typeface="Times New Roman" panose="02020603050405020304" pitchFamily="18" charset="0"/>
                <a:cs typeface="Times New Roman" panose="02020603050405020304" pitchFamily="18" charset="0"/>
              </a:rPr>
              <a:t>，若找到返回其下标，否则返回</a:t>
            </a:r>
            <a:r>
              <a:rPr lang="en-US" altLang="zh-CN" dirty="0">
                <a:solidFill>
                  <a:srgbClr val="002060"/>
                </a:solidFill>
                <a:latin typeface="Times New Roman" panose="02020603050405020304" pitchFamily="18" charset="0"/>
                <a:cs typeface="Times New Roman" panose="02020603050405020304" pitchFamily="18" charset="0"/>
              </a:rPr>
              <a:t>-1</a:t>
            </a:r>
          </a:p>
          <a:p>
            <a:r>
              <a:rPr lang="en-US" altLang="zh-CN" dirty="0">
                <a:solidFill>
                  <a:srgbClr val="002060"/>
                </a:solidFill>
                <a:latin typeface="Times New Roman" panose="02020603050405020304" pitchFamily="18" charset="0"/>
                <a:cs typeface="Times New Roman" panose="02020603050405020304" pitchFamily="18" charset="0"/>
              </a:rPr>
              <a:t>    for(</a:t>
            </a:r>
            <a:r>
              <a:rPr lang="en-US" altLang="zh-CN" dirty="0" err="1">
                <a:solidFill>
                  <a:srgbClr val="002060"/>
                </a:solidFill>
                <a:latin typeface="Times New Roman" panose="02020603050405020304" pitchFamily="18" charset="0"/>
                <a:cs typeface="Times New Roman" panose="02020603050405020304" pitchFamily="18" charset="0"/>
              </a:rPr>
              <a:t>int</a:t>
            </a: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=0;i&lt;</a:t>
            </a:r>
            <a:r>
              <a:rPr lang="en-US" altLang="zh-CN" dirty="0" err="1">
                <a:solidFill>
                  <a:srgbClr val="002060"/>
                </a:solidFill>
                <a:latin typeface="Times New Roman" panose="02020603050405020304" pitchFamily="18" charset="0"/>
                <a:cs typeface="Times New Roman" panose="02020603050405020304" pitchFamily="18" charset="0"/>
              </a:rPr>
              <a:t>n;i</a:t>
            </a:r>
            <a:r>
              <a:rPr lang="en-US" altLang="zh-CN" dirty="0">
                <a:solidFill>
                  <a:srgbClr val="002060"/>
                </a:solidFill>
                <a:latin typeface="Times New Roman" panose="02020603050405020304" pitchFamily="18" charset="0"/>
                <a:cs typeface="Times New Roman" panose="02020603050405020304" pitchFamily="18" charset="0"/>
              </a:rPr>
              <a:t>++)</a:t>
            </a:r>
          </a:p>
          <a:p>
            <a:r>
              <a:rPr lang="en-US" altLang="zh-CN" dirty="0">
                <a:solidFill>
                  <a:srgbClr val="002060"/>
                </a:solidFill>
                <a:latin typeface="Times New Roman" panose="02020603050405020304" pitchFamily="18" charset="0"/>
                <a:cs typeface="Times New Roman" panose="02020603050405020304" pitchFamily="18" charset="0"/>
              </a:rPr>
              <a:t>      if(x==nodes[</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].data)  return </a:t>
            </a:r>
            <a:r>
              <a:rPr lang="en-US" altLang="zh-CN" dirty="0" err="1">
                <a:solidFill>
                  <a:srgbClr val="002060"/>
                </a:solidFill>
                <a:latin typeface="Times New Roman" panose="02020603050405020304" pitchFamily="18" charset="0"/>
                <a:cs typeface="Times New Roman" panose="02020603050405020304" pitchFamily="18" charset="0"/>
              </a:rPr>
              <a:t>i</a:t>
            </a:r>
            <a:r>
              <a:rPr lang="en-US" altLang="zh-CN" dirty="0">
                <a:solidFill>
                  <a:srgbClr val="002060"/>
                </a:solidFill>
                <a:latin typeface="Times New Roman" panose="02020603050405020304" pitchFamily="18" charset="0"/>
                <a:cs typeface="Times New Roman" panose="02020603050405020304" pitchFamily="18" charset="0"/>
              </a:rPr>
              <a:t>;</a:t>
            </a:r>
          </a:p>
          <a:p>
            <a:r>
              <a:rPr lang="en-US" altLang="zh-CN" dirty="0">
                <a:solidFill>
                  <a:srgbClr val="002060"/>
                </a:solidFill>
                <a:latin typeface="Times New Roman" panose="02020603050405020304" pitchFamily="18" charset="0"/>
                <a:cs typeface="Times New Roman" panose="02020603050405020304" pitchFamily="18" charset="0"/>
              </a:rPr>
              <a:t>    return -1;</a:t>
            </a:r>
          </a:p>
          <a:p>
            <a:r>
              <a:rPr lang="en-US" altLang="zh-CN" dirty="0">
                <a:solidFill>
                  <a:srgbClr val="002060"/>
                </a:solidFill>
                <a:latin typeface="Times New Roman" panose="02020603050405020304" pitchFamily="18" charset="0"/>
                <a:cs typeface="Times New Roman" panose="02020603050405020304" pitchFamily="18" charset="0"/>
              </a:rPr>
              <a:t>}</a:t>
            </a:r>
            <a:endParaRPr lang="zh-CN" altLang="en-US" dirty="0">
              <a:solidFill>
                <a:srgbClr val="002060"/>
              </a:solidFill>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5796136" y="2067694"/>
            <a:ext cx="2520280" cy="2148642"/>
          </a:xfrm>
          <a:prstGeom prst="rect">
            <a:avLst/>
          </a:prstGeom>
        </p:spPr>
      </p:pic>
      <p:sp>
        <p:nvSpPr>
          <p:cNvPr id="7" name="文本框 6"/>
          <p:cNvSpPr txBox="1"/>
          <p:nvPr/>
        </p:nvSpPr>
        <p:spPr>
          <a:xfrm>
            <a:off x="612366" y="123478"/>
            <a:ext cx="194341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err="1"/>
              <a:t>LocateNode</a:t>
            </a:r>
            <a:r>
              <a:rPr lang="zh-CN" altLang="en-US" sz="2000" dirty="0"/>
              <a:t>函数</a:t>
            </a:r>
          </a:p>
        </p:txBody>
      </p:sp>
    </p:spTree>
    <p:extLst>
      <p:ext uri="{BB962C8B-B14F-4D97-AF65-F5344CB8AC3E}">
        <p14:creationId xmlns:p14="http://schemas.microsoft.com/office/powerpoint/2010/main" val="39792155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04" y="897168"/>
            <a:ext cx="5256584" cy="4247317"/>
          </a:xfrm>
          <a:prstGeom prst="rect">
            <a:avLst/>
          </a:prstGeom>
          <a:noFill/>
        </p:spPr>
        <p:txBody>
          <a:bodyPr wrap="square" rtlCol="0">
            <a:spAutoFit/>
          </a:bodyPr>
          <a:lstStyle/>
          <a:p>
            <a:r>
              <a:rPr lang="en-US" altLang="zh-CN" dirty="0"/>
              <a:t>void </a:t>
            </a:r>
            <a:r>
              <a:rPr lang="en-US" altLang="zh-CN" dirty="0" err="1"/>
              <a:t>CTree</a:t>
            </a:r>
            <a:r>
              <a:rPr lang="en-US" altLang="zh-CN" dirty="0"/>
              <a:t>::</a:t>
            </a:r>
            <a:r>
              <a:rPr lang="en-US" altLang="zh-CN" dirty="0" err="1"/>
              <a:t>CreateCtree</a:t>
            </a:r>
            <a:r>
              <a:rPr lang="en-US" altLang="zh-CN" dirty="0"/>
              <a:t>(</a:t>
            </a:r>
            <a:r>
              <a:rPr lang="en-US" altLang="zh-CN" dirty="0" err="1"/>
              <a:t>int</a:t>
            </a:r>
            <a:r>
              <a:rPr lang="en-US" altLang="zh-CN" dirty="0"/>
              <a:t> k){</a:t>
            </a:r>
          </a:p>
          <a:p>
            <a:r>
              <a:rPr lang="en-US" altLang="zh-CN" dirty="0"/>
              <a:t>    </a:t>
            </a:r>
            <a:r>
              <a:rPr lang="en-US" altLang="zh-CN" dirty="0" err="1"/>
              <a:t>int</a:t>
            </a:r>
            <a:r>
              <a:rPr lang="en-US" altLang="zh-CN" dirty="0"/>
              <a:t> </a:t>
            </a:r>
            <a:r>
              <a:rPr lang="en-US" altLang="zh-CN" dirty="0" err="1"/>
              <a:t>i</a:t>
            </a:r>
            <a:r>
              <a:rPr lang="en-US" altLang="zh-CN" dirty="0"/>
              <a:t>;</a:t>
            </a:r>
          </a:p>
          <a:p>
            <a:r>
              <a:rPr lang="en-US" altLang="zh-CN" dirty="0"/>
              <a:t>    for(</a:t>
            </a:r>
            <a:r>
              <a:rPr lang="en-US" altLang="zh-CN" dirty="0" err="1"/>
              <a:t>i</a:t>
            </a:r>
            <a:r>
              <a:rPr lang="en-US" altLang="zh-CN" dirty="0"/>
              <a:t>=0;i&lt;</a:t>
            </a:r>
            <a:r>
              <a:rPr lang="en-US" altLang="zh-CN" dirty="0" err="1"/>
              <a:t>k;i</a:t>
            </a:r>
            <a:r>
              <a:rPr lang="en-US" altLang="zh-CN" dirty="0"/>
              <a:t>++){     //</a:t>
            </a:r>
            <a:r>
              <a:rPr lang="zh-CN" altLang="en-US" dirty="0"/>
              <a:t>在数组中存放所有结点信息</a:t>
            </a:r>
          </a:p>
          <a:p>
            <a:r>
              <a:rPr lang="zh-CN" altLang="en-US" dirty="0"/>
              <a:t>      </a:t>
            </a:r>
            <a:r>
              <a:rPr lang="en-US" altLang="zh-CN" dirty="0" err="1"/>
              <a:t>cin</a:t>
            </a:r>
            <a:r>
              <a:rPr lang="en-US" altLang="zh-CN" dirty="0"/>
              <a:t>&gt;&gt;nodes[</a:t>
            </a:r>
            <a:r>
              <a:rPr lang="en-US" altLang="zh-CN" dirty="0" err="1"/>
              <a:t>i</a:t>
            </a:r>
            <a:r>
              <a:rPr lang="en-US" altLang="zh-CN" dirty="0"/>
              <a:t>].data;</a:t>
            </a:r>
          </a:p>
          <a:p>
            <a:r>
              <a:rPr lang="en-US" altLang="zh-CN" dirty="0"/>
              <a:t>      nodes[</a:t>
            </a:r>
            <a:r>
              <a:rPr lang="en-US" altLang="zh-CN" dirty="0" err="1"/>
              <a:t>i</a:t>
            </a:r>
            <a:r>
              <a:rPr lang="en-US" altLang="zh-CN" dirty="0"/>
              <a:t>].</a:t>
            </a:r>
            <a:r>
              <a:rPr lang="en-US" altLang="zh-CN" dirty="0" err="1"/>
              <a:t>firstchild</a:t>
            </a:r>
            <a:r>
              <a:rPr lang="en-US" altLang="zh-CN" dirty="0"/>
              <a:t>=NULL;</a:t>
            </a:r>
          </a:p>
          <a:p>
            <a:r>
              <a:rPr lang="en-US" altLang="zh-CN" dirty="0"/>
              <a:t>    }</a:t>
            </a:r>
          </a:p>
          <a:p>
            <a:r>
              <a:rPr lang="en-US" altLang="zh-CN" dirty="0"/>
              <a:t>    n=</a:t>
            </a:r>
            <a:r>
              <a:rPr lang="en-US" altLang="zh-CN" dirty="0" err="1"/>
              <a:t>k;r</a:t>
            </a:r>
            <a:r>
              <a:rPr lang="en-US" altLang="zh-CN" dirty="0"/>
              <a:t>=0;</a:t>
            </a:r>
          </a:p>
          <a:p>
            <a:r>
              <a:rPr lang="en-US" altLang="zh-CN" dirty="0"/>
              <a:t>    char </a:t>
            </a:r>
            <a:r>
              <a:rPr lang="en-US" altLang="zh-CN" dirty="0" err="1"/>
              <a:t>u,v</a:t>
            </a:r>
            <a:r>
              <a:rPr lang="en-US" altLang="zh-CN" dirty="0"/>
              <a:t>;</a:t>
            </a:r>
          </a:p>
          <a:p>
            <a:r>
              <a:rPr lang="en-US" altLang="zh-CN" dirty="0"/>
              <a:t>    </a:t>
            </a:r>
            <a:r>
              <a:rPr lang="en-US" altLang="zh-CN" dirty="0" err="1"/>
              <a:t>int</a:t>
            </a:r>
            <a:r>
              <a:rPr lang="en-US" altLang="zh-CN" dirty="0"/>
              <a:t> </a:t>
            </a:r>
            <a:r>
              <a:rPr lang="en-US" altLang="zh-CN" dirty="0" err="1"/>
              <a:t>h,t</a:t>
            </a:r>
            <a:r>
              <a:rPr lang="en-US" altLang="zh-CN" dirty="0"/>
              <a:t>;</a:t>
            </a:r>
          </a:p>
          <a:p>
            <a:r>
              <a:rPr lang="en-US" altLang="zh-CN" dirty="0"/>
              <a:t>    </a:t>
            </a:r>
            <a:r>
              <a:rPr lang="en-US" altLang="zh-CN" dirty="0" err="1"/>
              <a:t>CtNode</a:t>
            </a:r>
            <a:r>
              <a:rPr lang="en-US" altLang="zh-CN" dirty="0"/>
              <a:t> *p;</a:t>
            </a:r>
          </a:p>
          <a:p>
            <a:r>
              <a:rPr lang="en-US" altLang="zh-CN" dirty="0"/>
              <a:t>    for(</a:t>
            </a:r>
            <a:r>
              <a:rPr lang="en-US" altLang="zh-CN" dirty="0" err="1"/>
              <a:t>i</a:t>
            </a:r>
            <a:r>
              <a:rPr lang="en-US" altLang="zh-CN" dirty="0"/>
              <a:t>=0;i&lt;</a:t>
            </a:r>
            <a:r>
              <a:rPr lang="en-US" altLang="zh-CN" dirty="0" err="1"/>
              <a:t>k;i</a:t>
            </a:r>
            <a:r>
              <a:rPr lang="en-US" altLang="zh-CN" dirty="0"/>
              <a:t>++){        //</a:t>
            </a:r>
            <a:r>
              <a:rPr lang="zh-CN" altLang="en-US" dirty="0"/>
              <a:t>读入所有结点的孩子结点</a:t>
            </a:r>
          </a:p>
          <a:p>
            <a:r>
              <a:rPr lang="zh-CN" altLang="en-US" dirty="0"/>
              <a:t>      </a:t>
            </a:r>
            <a:r>
              <a:rPr lang="en-US" altLang="zh-CN" dirty="0" err="1"/>
              <a:t>cin</a:t>
            </a:r>
            <a:r>
              <a:rPr lang="en-US" altLang="zh-CN" dirty="0"/>
              <a:t>&gt;&gt;u;                  //</a:t>
            </a:r>
            <a:r>
              <a:rPr lang="zh-CN" altLang="en-US" dirty="0"/>
              <a:t>读入根结点</a:t>
            </a:r>
          </a:p>
          <a:p>
            <a:r>
              <a:rPr lang="zh-CN" altLang="en-US" dirty="0"/>
              <a:t>      </a:t>
            </a:r>
            <a:r>
              <a:rPr lang="en-US" altLang="zh-CN" dirty="0"/>
              <a:t>h=</a:t>
            </a:r>
            <a:r>
              <a:rPr lang="en-US" altLang="zh-CN" dirty="0" err="1"/>
              <a:t>LocateNode</a:t>
            </a:r>
            <a:r>
              <a:rPr lang="en-US" altLang="zh-CN" dirty="0"/>
              <a:t>(u);</a:t>
            </a:r>
          </a:p>
          <a:p>
            <a:r>
              <a:rPr lang="en-US" altLang="zh-CN" dirty="0"/>
              <a:t>      </a:t>
            </a:r>
            <a:r>
              <a:rPr lang="en-US" altLang="zh-CN" dirty="0" err="1"/>
              <a:t>cin</a:t>
            </a:r>
            <a:r>
              <a:rPr lang="en-US" altLang="zh-CN" dirty="0"/>
              <a:t>&gt;&gt;v;                  //</a:t>
            </a:r>
            <a:r>
              <a:rPr lang="zh-CN" altLang="en-US" dirty="0"/>
              <a:t>读入孩子结点</a:t>
            </a:r>
          </a:p>
          <a:p>
            <a:r>
              <a:rPr lang="zh-CN" altLang="en-US" dirty="0"/>
              <a:t>      </a:t>
            </a:r>
          </a:p>
        </p:txBody>
      </p:sp>
      <p:sp>
        <p:nvSpPr>
          <p:cNvPr id="6" name="文本框 5"/>
          <p:cNvSpPr txBox="1"/>
          <p:nvPr/>
        </p:nvSpPr>
        <p:spPr>
          <a:xfrm>
            <a:off x="4274543" y="0"/>
            <a:ext cx="4752528" cy="2862322"/>
          </a:xfrm>
          <a:prstGeom prst="rect">
            <a:avLst/>
          </a:prstGeom>
          <a:solidFill>
            <a:schemeClr val="accent2"/>
          </a:solidFill>
        </p:spPr>
        <p:txBody>
          <a:bodyPr wrap="square" rtlCol="0">
            <a:spAutoFit/>
          </a:bodyPr>
          <a:lstStyle/>
          <a:p>
            <a:r>
              <a:rPr lang="en-US" altLang="zh-CN" dirty="0"/>
              <a:t>  while(v!=’.’){             //</a:t>
            </a:r>
            <a:r>
              <a:rPr lang="zh-CN" altLang="en-US" dirty="0"/>
              <a:t>连接</a:t>
            </a:r>
            <a:r>
              <a:rPr lang="en-US" altLang="zh-CN" dirty="0"/>
              <a:t>u</a:t>
            </a:r>
            <a:r>
              <a:rPr lang="zh-CN" altLang="en-US" dirty="0"/>
              <a:t>的所有孩子结点</a:t>
            </a:r>
          </a:p>
          <a:p>
            <a:r>
              <a:rPr lang="zh-CN" altLang="en-US" dirty="0"/>
              <a:t>     </a:t>
            </a:r>
            <a:r>
              <a:rPr lang="en-US" altLang="zh-CN" dirty="0"/>
              <a:t>t=</a:t>
            </a:r>
            <a:r>
              <a:rPr lang="en-US" altLang="zh-CN" dirty="0" err="1"/>
              <a:t>LocateNode</a:t>
            </a:r>
            <a:r>
              <a:rPr lang="en-US" altLang="zh-CN" dirty="0"/>
              <a:t>(v);</a:t>
            </a:r>
          </a:p>
          <a:p>
            <a:r>
              <a:rPr lang="en-US" altLang="zh-CN" dirty="0"/>
              <a:t>     p=new </a:t>
            </a:r>
            <a:r>
              <a:rPr lang="en-US" altLang="zh-CN" dirty="0" err="1"/>
              <a:t>CtNode</a:t>
            </a:r>
            <a:r>
              <a:rPr lang="en-US" altLang="zh-CN" dirty="0"/>
              <a:t>; //</a:t>
            </a:r>
            <a:r>
              <a:rPr lang="zh-CN" altLang="en-US" dirty="0"/>
              <a:t>头插入法连接孩子结点</a:t>
            </a:r>
          </a:p>
          <a:p>
            <a:r>
              <a:rPr lang="zh-CN" altLang="en-US" dirty="0"/>
              <a:t>     </a:t>
            </a:r>
            <a:r>
              <a:rPr lang="en-US" altLang="zh-CN" dirty="0"/>
              <a:t>p-&gt;child=t;</a:t>
            </a:r>
          </a:p>
          <a:p>
            <a:r>
              <a:rPr lang="en-US" altLang="zh-CN" dirty="0"/>
              <a:t>     p-&gt;next=nodes[h].</a:t>
            </a:r>
            <a:r>
              <a:rPr lang="en-US" altLang="zh-CN" dirty="0" err="1"/>
              <a:t>firstchild</a:t>
            </a:r>
            <a:r>
              <a:rPr lang="en-US" altLang="zh-CN" dirty="0"/>
              <a:t>;</a:t>
            </a:r>
          </a:p>
          <a:p>
            <a:r>
              <a:rPr lang="en-US" altLang="zh-CN" dirty="0"/>
              <a:t>     nodes[h].</a:t>
            </a:r>
            <a:r>
              <a:rPr lang="en-US" altLang="zh-CN" dirty="0" err="1"/>
              <a:t>firstchild</a:t>
            </a:r>
            <a:r>
              <a:rPr lang="en-US" altLang="zh-CN" dirty="0"/>
              <a:t>=p;</a:t>
            </a:r>
          </a:p>
          <a:p>
            <a:r>
              <a:rPr lang="en-US" altLang="zh-CN" dirty="0"/>
              <a:t>     </a:t>
            </a:r>
            <a:r>
              <a:rPr lang="en-US" altLang="zh-CN" dirty="0" err="1"/>
              <a:t>cin</a:t>
            </a:r>
            <a:r>
              <a:rPr lang="en-US" altLang="zh-CN" dirty="0"/>
              <a:t>&gt;&gt;v;</a:t>
            </a:r>
          </a:p>
          <a:p>
            <a:r>
              <a:rPr lang="en-US" altLang="zh-CN" dirty="0"/>
              <a:t>    }</a:t>
            </a:r>
          </a:p>
          <a:p>
            <a:r>
              <a:rPr lang="en-US" altLang="zh-CN" dirty="0"/>
              <a:t>  }</a:t>
            </a:r>
          </a:p>
          <a:p>
            <a:r>
              <a:rPr lang="en-US" altLang="zh-CN" dirty="0"/>
              <a:t>}</a:t>
            </a:r>
            <a:endParaRPr lang="zh-CN" altLang="en-US" dirty="0"/>
          </a:p>
        </p:txBody>
      </p:sp>
      <p:pic>
        <p:nvPicPr>
          <p:cNvPr id="7" name="图片 6"/>
          <p:cNvPicPr>
            <a:picLocks noChangeAspect="1"/>
          </p:cNvPicPr>
          <p:nvPr/>
        </p:nvPicPr>
        <p:blipFill>
          <a:blip r:embed="rId3"/>
          <a:stretch>
            <a:fillRect/>
          </a:stretch>
        </p:blipFill>
        <p:spPr>
          <a:xfrm>
            <a:off x="5966884" y="2787774"/>
            <a:ext cx="2520280" cy="2148642"/>
          </a:xfrm>
          <a:prstGeom prst="rect">
            <a:avLst/>
          </a:prstGeom>
        </p:spPr>
      </p:pic>
      <p:sp>
        <p:nvSpPr>
          <p:cNvPr id="8" name="文本框 7"/>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err="1"/>
              <a:t>CreateCTree</a:t>
            </a:r>
            <a:r>
              <a:rPr lang="zh-CN" altLang="en-US" sz="2000" dirty="0"/>
              <a:t>函数</a:t>
            </a:r>
          </a:p>
        </p:txBody>
      </p:sp>
    </p:spTree>
    <p:extLst>
      <p:ext uri="{BB962C8B-B14F-4D97-AF65-F5344CB8AC3E}">
        <p14:creationId xmlns:p14="http://schemas.microsoft.com/office/powerpoint/2010/main" val="7934180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 calcmode="lin" valueType="num">
                                      <p:cBhvr additive="base">
                                        <p:cTn id="19"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additive="base">
                                        <p:cTn id="2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 calcmode="lin" valueType="num">
                                      <p:cBhvr additive="base">
                                        <p:cTn id="3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 calcmode="lin" valueType="num">
                                      <p:cBhvr additive="base">
                                        <p:cTn id="4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anim calcmode="lin" valueType="num">
                                      <p:cBhvr additive="base">
                                        <p:cTn id="5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anim calcmode="lin" valueType="num">
                                      <p:cBhvr additive="base">
                                        <p:cTn id="5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anim calcmode="lin" valueType="num">
                                      <p:cBhvr additive="base">
                                        <p:cTn id="61"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anim calcmode="lin" valueType="num">
                                      <p:cBhvr additive="base">
                                        <p:cTn id="6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12" end="12"/>
                                            </p:txEl>
                                          </p:spTgt>
                                        </p:tgtEl>
                                        <p:attrNameLst>
                                          <p:attrName>style.visibility</p:attrName>
                                        </p:attrNameLst>
                                      </p:cBhvr>
                                      <p:to>
                                        <p:strVal val="visible"/>
                                      </p:to>
                                    </p:set>
                                    <p:anim calcmode="lin" valueType="num">
                                      <p:cBhvr additive="base">
                                        <p:cTn id="73"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4">
                                            <p:txEl>
                                              <p:pRg st="13" end="13"/>
                                            </p:txEl>
                                          </p:spTgt>
                                        </p:tgtEl>
                                        <p:attrNameLst>
                                          <p:attrName>style.visibility</p:attrName>
                                        </p:attrNameLst>
                                      </p:cBhvr>
                                      <p:to>
                                        <p:strVal val="visible"/>
                                      </p:to>
                                    </p:set>
                                    <p:anim calcmode="lin" valueType="num">
                                      <p:cBhvr additive="base">
                                        <p:cTn id="79"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6"/>
                                        </p:tgtEl>
                                        <p:attrNameLst>
                                          <p:attrName>style.visibility</p:attrName>
                                        </p:attrNameLst>
                                      </p:cBhvr>
                                      <p:to>
                                        <p:strVal val="visible"/>
                                      </p:to>
                                    </p:set>
                                    <p:anim calcmode="lin" valueType="num">
                                      <p:cBhvr additive="base">
                                        <p:cTn id="85" dur="500" fill="hold"/>
                                        <p:tgtEl>
                                          <p:spTgt spid="6"/>
                                        </p:tgtEl>
                                        <p:attrNameLst>
                                          <p:attrName>ppt_x</p:attrName>
                                        </p:attrNameLst>
                                      </p:cBhvr>
                                      <p:tavLst>
                                        <p:tav tm="0">
                                          <p:val>
                                            <p:strVal val="#ppt_x"/>
                                          </p:val>
                                        </p:tav>
                                        <p:tav tm="100000">
                                          <p:val>
                                            <p:strVal val="#ppt_x"/>
                                          </p:val>
                                        </p:tav>
                                      </p:tavLst>
                                    </p:anim>
                                    <p:anim calcmode="lin" valueType="num">
                                      <p:cBhvr additive="base">
                                        <p:cTn id="8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6">
                                            <p:txEl>
                                              <p:pRg st="0" end="0"/>
                                            </p:txEl>
                                          </p:spTgt>
                                        </p:tgtEl>
                                        <p:attrNameLst>
                                          <p:attrName>style.visibility</p:attrName>
                                        </p:attrNameLst>
                                      </p:cBhvr>
                                      <p:to>
                                        <p:strVal val="visible"/>
                                      </p:to>
                                    </p:set>
                                    <p:anim calcmode="lin" valueType="num">
                                      <p:cBhvr additive="base">
                                        <p:cTn id="9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6">
                                            <p:txEl>
                                              <p:pRg st="1" end="1"/>
                                            </p:txEl>
                                          </p:spTgt>
                                        </p:tgtEl>
                                        <p:attrNameLst>
                                          <p:attrName>style.visibility</p:attrName>
                                        </p:attrNameLst>
                                      </p:cBhvr>
                                      <p:to>
                                        <p:strVal val="visible"/>
                                      </p:to>
                                    </p:set>
                                    <p:anim calcmode="lin" valueType="num">
                                      <p:cBhvr additive="base">
                                        <p:cTn id="9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6">
                                            <p:txEl>
                                              <p:pRg st="2" end="2"/>
                                            </p:txEl>
                                          </p:spTgt>
                                        </p:tgtEl>
                                        <p:attrNameLst>
                                          <p:attrName>style.visibility</p:attrName>
                                        </p:attrNameLst>
                                      </p:cBhvr>
                                      <p:to>
                                        <p:strVal val="visible"/>
                                      </p:to>
                                    </p:set>
                                    <p:anim calcmode="lin" valueType="num">
                                      <p:cBhvr additive="base">
                                        <p:cTn id="10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6">
                                            <p:txEl>
                                              <p:pRg st="3" end="3"/>
                                            </p:txEl>
                                          </p:spTgt>
                                        </p:tgtEl>
                                        <p:attrNameLst>
                                          <p:attrName>style.visibility</p:attrName>
                                        </p:attrNameLst>
                                      </p:cBhvr>
                                      <p:to>
                                        <p:strVal val="visible"/>
                                      </p:to>
                                    </p:set>
                                    <p:anim calcmode="lin" valueType="num">
                                      <p:cBhvr additive="base">
                                        <p:cTn id="10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6">
                                            <p:txEl>
                                              <p:pRg st="4" end="4"/>
                                            </p:txEl>
                                          </p:spTgt>
                                        </p:tgtEl>
                                        <p:attrNameLst>
                                          <p:attrName>style.visibility</p:attrName>
                                        </p:attrNameLst>
                                      </p:cBhvr>
                                      <p:to>
                                        <p:strVal val="visible"/>
                                      </p:to>
                                    </p:set>
                                    <p:anim calcmode="lin" valueType="num">
                                      <p:cBhvr additive="base">
                                        <p:cTn id="11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6">
                                            <p:txEl>
                                              <p:pRg st="5" end="5"/>
                                            </p:txEl>
                                          </p:spTgt>
                                        </p:tgtEl>
                                        <p:attrNameLst>
                                          <p:attrName>style.visibility</p:attrName>
                                        </p:attrNameLst>
                                      </p:cBhvr>
                                      <p:to>
                                        <p:strVal val="visible"/>
                                      </p:to>
                                    </p:set>
                                    <p:anim calcmode="lin" valueType="num">
                                      <p:cBhvr additive="base">
                                        <p:cTn id="12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6">
                                            <p:txEl>
                                              <p:pRg st="6" end="6"/>
                                            </p:txEl>
                                          </p:spTgt>
                                        </p:tgtEl>
                                        <p:attrNameLst>
                                          <p:attrName>style.visibility</p:attrName>
                                        </p:attrNameLst>
                                      </p:cBhvr>
                                      <p:to>
                                        <p:strVal val="visible"/>
                                      </p:to>
                                    </p:set>
                                    <p:anim calcmode="lin" valueType="num">
                                      <p:cBhvr additive="base">
                                        <p:cTn id="127"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6">
                                            <p:txEl>
                                              <p:pRg st="6" end="6"/>
                                            </p:txEl>
                                          </p:spTgt>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6">
                                            <p:txEl>
                                              <p:pRg st="7" end="7"/>
                                            </p:txEl>
                                          </p:spTgt>
                                        </p:tgtEl>
                                        <p:attrNameLst>
                                          <p:attrName>style.visibility</p:attrName>
                                        </p:attrNameLst>
                                      </p:cBhvr>
                                      <p:to>
                                        <p:strVal val="visible"/>
                                      </p:to>
                                    </p:set>
                                    <p:anim calcmode="lin" valueType="num">
                                      <p:cBhvr additive="base">
                                        <p:cTn id="131"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132"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2" presetClass="entr" presetSubtype="4" fill="hold" nodeType="clickEffect">
                                  <p:stCondLst>
                                    <p:cond delay="0"/>
                                  </p:stCondLst>
                                  <p:childTnLst>
                                    <p:set>
                                      <p:cBhvr>
                                        <p:cTn id="136" dur="1" fill="hold">
                                          <p:stCondLst>
                                            <p:cond delay="0"/>
                                          </p:stCondLst>
                                        </p:cTn>
                                        <p:tgtEl>
                                          <p:spTgt spid="6">
                                            <p:txEl>
                                              <p:pRg st="8" end="8"/>
                                            </p:txEl>
                                          </p:spTgt>
                                        </p:tgtEl>
                                        <p:attrNameLst>
                                          <p:attrName>style.visibility</p:attrName>
                                        </p:attrNameLst>
                                      </p:cBhvr>
                                      <p:to>
                                        <p:strVal val="visible"/>
                                      </p:to>
                                    </p:set>
                                    <p:anim calcmode="lin" valueType="num">
                                      <p:cBhvr additive="base">
                                        <p:cTn id="137"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38" dur="500" fill="hold"/>
                                        <p:tgtEl>
                                          <p:spTgt spid="6">
                                            <p:txEl>
                                              <p:pRg st="8" end="8"/>
                                            </p:txEl>
                                          </p:spTgt>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6">
                                            <p:txEl>
                                              <p:pRg st="9" end="9"/>
                                            </p:txEl>
                                          </p:spTgt>
                                        </p:tgtEl>
                                        <p:attrNameLst>
                                          <p:attrName>style.visibility</p:attrName>
                                        </p:attrNameLst>
                                      </p:cBhvr>
                                      <p:to>
                                        <p:strVal val="visible"/>
                                      </p:to>
                                    </p:set>
                                    <p:anim calcmode="lin" valueType="num">
                                      <p:cBhvr additive="base">
                                        <p:cTn id="141"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42" dur="500" fill="hold"/>
                                        <p:tgtEl>
                                          <p:spTgt spid="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9512" y="1163342"/>
            <a:ext cx="5544616" cy="286232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CTree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DegreeNode</a:t>
            </a:r>
            <a:r>
              <a:rPr lang="en-US" altLang="zh-CN" dirty="0">
                <a:latin typeface="Times New Roman" panose="02020603050405020304" pitchFamily="18" charset="0"/>
                <a:cs typeface="Times New Roman" panose="02020603050405020304" pitchFamily="18" charset="0"/>
              </a:rPr>
              <a:t>(char x){ //</a:t>
            </a:r>
            <a:r>
              <a:rPr lang="zh-CN" altLang="en-US" dirty="0">
                <a:latin typeface="Times New Roman" panose="02020603050405020304" pitchFamily="18" charset="0"/>
                <a:cs typeface="Times New Roman" panose="02020603050405020304" pitchFamily="18" charset="0"/>
              </a:rPr>
              <a:t>计算结点</a:t>
            </a:r>
            <a:r>
              <a:rPr lang="en-US" altLang="zh-CN" dirty="0">
                <a:latin typeface="Times New Roman" panose="02020603050405020304" pitchFamily="18" charset="0"/>
                <a:cs typeface="Times New Roman" panose="02020603050405020304" pitchFamily="18" charset="0"/>
              </a:rPr>
              <a:t>x</a:t>
            </a:r>
            <a:r>
              <a:rPr lang="zh-CN" altLang="en-US" dirty="0">
                <a:latin typeface="Times New Roman" panose="02020603050405020304" pitchFamily="18" charset="0"/>
                <a:cs typeface="Times New Roman" panose="02020603050405020304" pitchFamily="18" charset="0"/>
              </a:rPr>
              <a:t>的度数</a:t>
            </a:r>
          </a:p>
          <a:p>
            <a:r>
              <a:rPr lang="zh-CN" altLang="en-US"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h=</a:t>
            </a:r>
            <a:r>
              <a:rPr lang="en-US" altLang="zh-CN" dirty="0" err="1">
                <a:latin typeface="Times New Roman" panose="02020603050405020304" pitchFamily="18" charset="0"/>
                <a:cs typeface="Times New Roman" panose="02020603050405020304" pitchFamily="18" charset="0"/>
              </a:rPr>
              <a:t>LocateNode</a:t>
            </a:r>
            <a:r>
              <a:rPr lang="en-US" altLang="zh-CN" dirty="0">
                <a:latin typeface="Times New Roman" panose="02020603050405020304" pitchFamily="18" charset="0"/>
                <a:cs typeface="Times New Roman" panose="02020603050405020304" pitchFamily="18" charset="0"/>
              </a:rPr>
              <a:t>(x);</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CtNode</a:t>
            </a:r>
            <a:r>
              <a:rPr lang="en-US" altLang="zh-CN" dirty="0">
                <a:latin typeface="Times New Roman" panose="02020603050405020304" pitchFamily="18" charset="0"/>
                <a:cs typeface="Times New Roman" panose="02020603050405020304" pitchFamily="18" charset="0"/>
              </a:rPr>
              <a:t> *p=nodes[h].</a:t>
            </a:r>
            <a:r>
              <a:rPr lang="en-US" altLang="zh-CN" dirty="0" err="1">
                <a:latin typeface="Times New Roman" panose="02020603050405020304" pitchFamily="18" charset="0"/>
                <a:cs typeface="Times New Roman" panose="02020603050405020304" pitchFamily="18" charset="0"/>
              </a:rPr>
              <a:t>firstchild</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count=0;</a:t>
            </a:r>
          </a:p>
          <a:p>
            <a:r>
              <a:rPr lang="en-US" altLang="zh-CN" dirty="0">
                <a:latin typeface="Times New Roman" panose="02020603050405020304" pitchFamily="18" charset="0"/>
                <a:cs typeface="Times New Roman" panose="02020603050405020304" pitchFamily="18" charset="0"/>
              </a:rPr>
              <a:t>   while(p){                     //</a:t>
            </a:r>
            <a:r>
              <a:rPr lang="zh-CN" altLang="en-US" dirty="0">
                <a:latin typeface="Times New Roman" panose="02020603050405020304" pitchFamily="18" charset="0"/>
                <a:cs typeface="Times New Roman" panose="02020603050405020304" pitchFamily="18" charset="0"/>
              </a:rPr>
              <a:t>遍历孩子结点</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count++;</a:t>
            </a:r>
          </a:p>
          <a:p>
            <a:r>
              <a:rPr lang="en-US" altLang="zh-CN" dirty="0">
                <a:latin typeface="Times New Roman" panose="02020603050405020304" pitchFamily="18" charset="0"/>
                <a:cs typeface="Times New Roman" panose="02020603050405020304" pitchFamily="18" charset="0"/>
              </a:rPr>
              <a:t>       p=p-&gt;next;</a:t>
            </a:r>
          </a:p>
          <a:p>
            <a:r>
              <a:rPr lang="en-US" altLang="zh-CN" dirty="0">
                <a:latin typeface="Times New Roman" panose="02020603050405020304" pitchFamily="18" charset="0"/>
                <a:cs typeface="Times New Roman" panose="02020603050405020304" pitchFamily="18" charset="0"/>
              </a:rPr>
              <a:t>   }</a:t>
            </a:r>
          </a:p>
          <a:p>
            <a:r>
              <a:rPr lang="en-US" altLang="zh-CN" dirty="0">
                <a:latin typeface="Times New Roman" panose="02020603050405020304" pitchFamily="18" charset="0"/>
                <a:cs typeface="Times New Roman" panose="02020603050405020304" pitchFamily="18" charset="0"/>
              </a:rPr>
              <a:t>   return count;</a:t>
            </a:r>
          </a:p>
          <a:p>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6012160" y="445861"/>
            <a:ext cx="2520280" cy="2148642"/>
          </a:xfrm>
          <a:prstGeom prst="rect">
            <a:avLst/>
          </a:prstGeom>
        </p:spPr>
      </p:pic>
      <p:sp>
        <p:nvSpPr>
          <p:cNvPr id="6" name="文本框 5"/>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err="1"/>
              <a:t>DegreeNode</a:t>
            </a:r>
            <a:r>
              <a:rPr lang="zh-CN" altLang="en-US" sz="2000" dirty="0"/>
              <a:t>函数</a:t>
            </a:r>
          </a:p>
        </p:txBody>
      </p:sp>
    </p:spTree>
    <p:extLst>
      <p:ext uri="{BB962C8B-B14F-4D97-AF65-F5344CB8AC3E}">
        <p14:creationId xmlns:p14="http://schemas.microsoft.com/office/powerpoint/2010/main" val="22330126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496" y="1131590"/>
            <a:ext cx="7920880" cy="341632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CTree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InsertNode</a:t>
            </a:r>
            <a:r>
              <a:rPr lang="en-US" altLang="zh-CN" dirty="0">
                <a:latin typeface="Times New Roman" panose="02020603050405020304" pitchFamily="18" charset="0"/>
                <a:cs typeface="Times New Roman" panose="02020603050405020304" pitchFamily="18" charset="0"/>
              </a:rPr>
              <a:t>(char </a:t>
            </a:r>
            <a:r>
              <a:rPr lang="en-US" altLang="zh-CN" dirty="0" err="1">
                <a:latin typeface="Times New Roman" panose="02020603050405020304" pitchFamily="18" charset="0"/>
                <a:cs typeface="Times New Roman" panose="02020603050405020304" pitchFamily="18" charset="0"/>
              </a:rPr>
              <a:t>u,char</a:t>
            </a:r>
            <a:r>
              <a:rPr lang="en-US" altLang="zh-CN" dirty="0">
                <a:latin typeface="Times New Roman" panose="02020603050405020304" pitchFamily="18" charset="0"/>
                <a:cs typeface="Times New Roman" panose="02020603050405020304" pitchFamily="18" charset="0"/>
              </a:rPr>
              <a:t> v){//</a:t>
            </a:r>
            <a:r>
              <a:rPr lang="zh-CN" altLang="en-US" dirty="0">
                <a:latin typeface="Times New Roman" panose="02020603050405020304" pitchFamily="18" charset="0"/>
                <a:cs typeface="Times New Roman" panose="02020603050405020304" pitchFamily="18" charset="0"/>
              </a:rPr>
              <a:t>结点</a:t>
            </a:r>
            <a:r>
              <a:rPr lang="en-US" altLang="zh-CN" dirty="0">
                <a:latin typeface="Times New Roman" panose="02020603050405020304" pitchFamily="18" charset="0"/>
                <a:cs typeface="Times New Roman" panose="02020603050405020304" pitchFamily="18" charset="0"/>
              </a:rPr>
              <a:t>u</a:t>
            </a:r>
            <a:r>
              <a:rPr lang="zh-CN" altLang="en-US" dirty="0">
                <a:latin typeface="Times New Roman" panose="02020603050405020304" pitchFamily="18" charset="0"/>
                <a:cs typeface="Times New Roman" panose="02020603050405020304" pitchFamily="18" charset="0"/>
              </a:rPr>
              <a:t>新加一个孩子</a:t>
            </a:r>
            <a:r>
              <a:rPr lang="en-US" altLang="zh-CN" dirty="0">
                <a:latin typeface="Times New Roman" panose="02020603050405020304" pitchFamily="18" charset="0"/>
                <a:cs typeface="Times New Roman" panose="02020603050405020304" pitchFamily="18" charset="0"/>
              </a:rPr>
              <a:t>v</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h=</a:t>
            </a:r>
            <a:r>
              <a:rPr lang="en-US" altLang="zh-CN" dirty="0" err="1">
                <a:latin typeface="Times New Roman" panose="02020603050405020304" pitchFamily="18" charset="0"/>
                <a:cs typeface="Times New Roman" panose="02020603050405020304" pitchFamily="18" charset="0"/>
              </a:rPr>
              <a:t>LocateNode</a:t>
            </a:r>
            <a:r>
              <a:rPr lang="en-US" altLang="zh-CN" dirty="0">
                <a:latin typeface="Times New Roman" panose="02020603050405020304" pitchFamily="18" charset="0"/>
                <a:cs typeface="Times New Roman" panose="02020603050405020304" pitchFamily="18" charset="0"/>
              </a:rPr>
              <a:t>(u);</a:t>
            </a:r>
          </a:p>
          <a:p>
            <a:r>
              <a:rPr lang="en-US" altLang="zh-CN" dirty="0">
                <a:latin typeface="Times New Roman" panose="02020603050405020304" pitchFamily="18" charset="0"/>
                <a:cs typeface="Times New Roman" panose="02020603050405020304" pitchFamily="18" charset="0"/>
              </a:rPr>
              <a:t>    if(h==-1) return;              //u</a:t>
            </a:r>
            <a:r>
              <a:rPr lang="zh-CN" altLang="en-US" dirty="0">
                <a:latin typeface="Times New Roman" panose="02020603050405020304" pitchFamily="18" charset="0"/>
                <a:cs typeface="Times New Roman" panose="02020603050405020304" pitchFamily="18" charset="0"/>
              </a:rPr>
              <a:t>不在树中无法插入结点</a:t>
            </a:r>
            <a:r>
              <a:rPr lang="en-US" altLang="zh-CN" dirty="0">
                <a:latin typeface="Times New Roman" panose="02020603050405020304" pitchFamily="18" charset="0"/>
                <a:cs typeface="Times New Roman" panose="02020603050405020304" pitchFamily="18" charset="0"/>
              </a:rPr>
              <a:t>v</a:t>
            </a:r>
          </a:p>
          <a:p>
            <a:r>
              <a:rPr lang="en-US" altLang="zh-CN" dirty="0">
                <a:latin typeface="Times New Roman" panose="02020603050405020304" pitchFamily="18" charset="0"/>
                <a:cs typeface="Times New Roman" panose="02020603050405020304" pitchFamily="18" charset="0"/>
              </a:rPr>
              <a:t>    nodes[n].data=v;              //v</a:t>
            </a:r>
            <a:r>
              <a:rPr lang="zh-CN" altLang="en-US" dirty="0">
                <a:latin typeface="Times New Roman" panose="02020603050405020304" pitchFamily="18" charset="0"/>
                <a:cs typeface="Times New Roman" panose="02020603050405020304" pitchFamily="18" charset="0"/>
              </a:rPr>
              <a:t>放入顺序表中</a:t>
            </a:r>
          </a:p>
          <a:p>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nodes[n].</a:t>
            </a:r>
            <a:r>
              <a:rPr lang="en-US" altLang="zh-CN" dirty="0" err="1">
                <a:latin typeface="Times New Roman" panose="02020603050405020304" pitchFamily="18" charset="0"/>
                <a:cs typeface="Times New Roman" panose="02020603050405020304" pitchFamily="18" charset="0"/>
              </a:rPr>
              <a:t>firstchild</a:t>
            </a:r>
            <a:r>
              <a:rPr lang="en-US" altLang="zh-CN" dirty="0">
                <a:latin typeface="Times New Roman" panose="02020603050405020304" pitchFamily="18" charset="0"/>
                <a:cs typeface="Times New Roman" panose="02020603050405020304" pitchFamily="18" charset="0"/>
              </a:rPr>
              <a:t>=NULL;</a:t>
            </a:r>
          </a:p>
          <a:p>
            <a:r>
              <a:rPr lang="en-US" altLang="zh-CN" dirty="0">
                <a:latin typeface="Times New Roman" panose="02020603050405020304" pitchFamily="18" charset="0"/>
                <a:cs typeface="Times New Roman" panose="02020603050405020304" pitchFamily="18" charset="0"/>
              </a:rPr>
              <a:t>    n++;</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CtNode</a:t>
            </a:r>
            <a:r>
              <a:rPr lang="en-US" altLang="zh-CN" dirty="0">
                <a:latin typeface="Times New Roman" panose="02020603050405020304" pitchFamily="18" charset="0"/>
                <a:cs typeface="Times New Roman" panose="02020603050405020304" pitchFamily="18" charset="0"/>
              </a:rPr>
              <a:t> *p=new </a:t>
            </a:r>
            <a:r>
              <a:rPr lang="en-US" altLang="zh-CN" dirty="0" err="1">
                <a:latin typeface="Times New Roman" panose="02020603050405020304" pitchFamily="18" charset="0"/>
                <a:cs typeface="Times New Roman" panose="02020603050405020304" pitchFamily="18" charset="0"/>
              </a:rPr>
              <a:t>CtNode</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头插法插入结点</a:t>
            </a:r>
            <a:r>
              <a:rPr lang="en-US" altLang="zh-CN" dirty="0">
                <a:latin typeface="Times New Roman" panose="02020603050405020304" pitchFamily="18" charset="0"/>
                <a:cs typeface="Times New Roman" panose="02020603050405020304" pitchFamily="18" charset="0"/>
              </a:rPr>
              <a:t>v</a:t>
            </a:r>
          </a:p>
          <a:p>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t=</a:t>
            </a:r>
            <a:r>
              <a:rPr lang="en-US" altLang="zh-CN" dirty="0" err="1">
                <a:latin typeface="Times New Roman" panose="02020603050405020304" pitchFamily="18" charset="0"/>
                <a:cs typeface="Times New Roman" panose="02020603050405020304" pitchFamily="18" charset="0"/>
              </a:rPr>
              <a:t>LocateNode</a:t>
            </a:r>
            <a:r>
              <a:rPr lang="en-US" altLang="zh-CN" dirty="0">
                <a:latin typeface="Times New Roman" panose="02020603050405020304" pitchFamily="18" charset="0"/>
                <a:cs typeface="Times New Roman" panose="02020603050405020304" pitchFamily="18" charset="0"/>
              </a:rPr>
              <a:t>(v);</a:t>
            </a:r>
          </a:p>
          <a:p>
            <a:r>
              <a:rPr lang="en-US" altLang="zh-CN" dirty="0">
                <a:latin typeface="Times New Roman" panose="02020603050405020304" pitchFamily="18" charset="0"/>
                <a:cs typeface="Times New Roman" panose="02020603050405020304" pitchFamily="18" charset="0"/>
              </a:rPr>
              <a:t>    p-&gt;child=t;</a:t>
            </a:r>
          </a:p>
          <a:p>
            <a:r>
              <a:rPr lang="en-US" altLang="zh-CN" dirty="0">
                <a:latin typeface="Times New Roman" panose="02020603050405020304" pitchFamily="18" charset="0"/>
                <a:cs typeface="Times New Roman" panose="02020603050405020304" pitchFamily="18" charset="0"/>
              </a:rPr>
              <a:t>    p-&gt;next=nodes[h].</a:t>
            </a:r>
            <a:r>
              <a:rPr lang="en-US" altLang="zh-CN" dirty="0" err="1">
                <a:latin typeface="Times New Roman" panose="02020603050405020304" pitchFamily="18" charset="0"/>
                <a:cs typeface="Times New Roman" panose="02020603050405020304" pitchFamily="18" charset="0"/>
              </a:rPr>
              <a:t>firstchild</a:t>
            </a:r>
            <a:r>
              <a:rPr lang="en-US" altLang="zh-CN"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    nodes[h].</a:t>
            </a:r>
            <a:r>
              <a:rPr lang="en-US" altLang="zh-CN" dirty="0" err="1">
                <a:latin typeface="Times New Roman" panose="02020603050405020304" pitchFamily="18" charset="0"/>
                <a:cs typeface="Times New Roman" panose="02020603050405020304" pitchFamily="18" charset="0"/>
              </a:rPr>
              <a:t>firstchild</a:t>
            </a:r>
            <a:r>
              <a:rPr lang="en-US" altLang="zh-CN" dirty="0">
                <a:latin typeface="Times New Roman" panose="02020603050405020304" pitchFamily="18" charset="0"/>
                <a:cs typeface="Times New Roman" panose="02020603050405020304" pitchFamily="18" charset="0"/>
              </a:rPr>
              <a:t>=p;</a:t>
            </a:r>
          </a:p>
          <a:p>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6372200" y="1203598"/>
            <a:ext cx="2520280" cy="2148642"/>
          </a:xfrm>
          <a:prstGeom prst="rect">
            <a:avLst/>
          </a:prstGeom>
        </p:spPr>
      </p:pic>
      <p:sp>
        <p:nvSpPr>
          <p:cNvPr id="6" name="文本框 5"/>
          <p:cNvSpPr txBox="1"/>
          <p:nvPr/>
        </p:nvSpPr>
        <p:spPr>
          <a:xfrm>
            <a:off x="612366" y="123478"/>
            <a:ext cx="194341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err="1"/>
              <a:t>InsertNode</a:t>
            </a:r>
            <a:r>
              <a:rPr lang="zh-CN" altLang="en-US" sz="2000" dirty="0"/>
              <a:t>函数</a:t>
            </a:r>
          </a:p>
        </p:txBody>
      </p:sp>
    </p:spTree>
    <p:extLst>
      <p:ext uri="{BB962C8B-B14F-4D97-AF65-F5344CB8AC3E}">
        <p14:creationId xmlns:p14="http://schemas.microsoft.com/office/powerpoint/2010/main" val="34003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0" y="872603"/>
            <a:ext cx="4613498" cy="1800200"/>
          </a:xfrm>
        </p:spPr>
        <p:txBody>
          <a:bodyPr/>
          <a:lstStyle/>
          <a:p>
            <a:pPr marL="0" indent="0">
              <a:buNone/>
            </a:pPr>
            <a:r>
              <a:rPr lang="zh-CN" altLang="zh-CN" sz="1600" dirty="0">
                <a:latin typeface="Times New Roman" panose="02020603050405020304" pitchFamily="18" charset="0"/>
                <a:cs typeface="Times New Roman" panose="02020603050405020304" pitchFamily="18" charset="0"/>
              </a:rPr>
              <a:t>孩子兄弟表示法又称为二叉链表表示法或二叉树表示法。即以二叉链表作为树的存储结构，链表中结点的两个链域分别指向该结点的</a:t>
            </a:r>
            <a:r>
              <a:rPr lang="zh-CN" altLang="zh-CN" sz="1600" dirty="0">
                <a:solidFill>
                  <a:srgbClr val="FF0000"/>
                </a:solidFill>
                <a:latin typeface="Times New Roman" panose="02020603050405020304" pitchFamily="18" charset="0"/>
                <a:cs typeface="Times New Roman" panose="02020603050405020304" pitchFamily="18" charset="0"/>
              </a:rPr>
              <a:t>第一个孩子结点</a:t>
            </a:r>
            <a:r>
              <a:rPr lang="zh-CN" altLang="zh-CN" sz="1600" dirty="0">
                <a:latin typeface="Times New Roman" panose="02020603050405020304" pitchFamily="18" charset="0"/>
                <a:cs typeface="Times New Roman" panose="02020603050405020304" pitchFamily="18" charset="0"/>
              </a:rPr>
              <a:t>和</a:t>
            </a:r>
            <a:r>
              <a:rPr lang="zh-CN" altLang="zh-CN" sz="1600" dirty="0">
                <a:solidFill>
                  <a:srgbClr val="FF0000"/>
                </a:solidFill>
                <a:latin typeface="Times New Roman" panose="02020603050405020304" pitchFamily="18" charset="0"/>
                <a:cs typeface="Times New Roman" panose="02020603050405020304" pitchFamily="18" charset="0"/>
              </a:rPr>
              <a:t>下一个兄弟结点</a:t>
            </a:r>
            <a:r>
              <a:rPr lang="zh-CN" altLang="zh-CN" sz="1600" dirty="0">
                <a:latin typeface="Times New Roman" panose="02020603050405020304" pitchFamily="18" charset="0"/>
                <a:cs typeface="Times New Roman" panose="02020603050405020304" pitchFamily="18" charset="0"/>
              </a:rPr>
              <a:t>。</a:t>
            </a:r>
          </a:p>
        </p:txBody>
      </p:sp>
      <p:pic>
        <p:nvPicPr>
          <p:cNvPr id="4" name="图片 3"/>
          <p:cNvPicPr>
            <a:picLocks noChangeAspect="1"/>
          </p:cNvPicPr>
          <p:nvPr/>
        </p:nvPicPr>
        <p:blipFill>
          <a:blip r:embed="rId2"/>
          <a:stretch>
            <a:fillRect/>
          </a:stretch>
        </p:blipFill>
        <p:spPr>
          <a:xfrm>
            <a:off x="683568" y="2250862"/>
            <a:ext cx="6053658" cy="2689372"/>
          </a:xfrm>
          <a:prstGeom prst="rect">
            <a:avLst/>
          </a:prstGeom>
        </p:spPr>
      </p:pic>
      <p:sp>
        <p:nvSpPr>
          <p:cNvPr id="5" name="文本框 4"/>
          <p:cNvSpPr txBox="1"/>
          <p:nvPr/>
        </p:nvSpPr>
        <p:spPr>
          <a:xfrm>
            <a:off x="4613498" y="555526"/>
            <a:ext cx="4530502" cy="1695336"/>
          </a:xfrm>
          <a:prstGeom prst="rect">
            <a:avLst/>
          </a:prstGeom>
          <a:solidFill>
            <a:srgbClr val="FFC000"/>
          </a:solidFill>
          <a:ln>
            <a:solidFill>
              <a:schemeClr val="tx1"/>
            </a:solidFill>
          </a:ln>
        </p:spPr>
        <p:txBody>
          <a:bodyPr wrap="square" rtlCol="0">
            <a:spAutoFit/>
          </a:bodyPr>
          <a:lstStyle/>
          <a:p>
            <a:pPr>
              <a:lnSpc>
                <a:spcPts val="2500"/>
              </a:lnSpc>
              <a:spcBef>
                <a:spcPts val="0"/>
              </a:spcBef>
            </a:pPr>
            <a:r>
              <a:rPr lang="en-US" altLang="zh-CN" sz="1600" dirty="0" err="1">
                <a:latin typeface="Times New Roman" panose="02020603050405020304" pitchFamily="18" charset="0"/>
                <a:cs typeface="Times New Roman" panose="02020603050405020304" pitchFamily="18" charset="0"/>
              </a:rPr>
              <a:t>typedef</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struct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CSNode</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Eelemtype</a:t>
            </a:r>
            <a:r>
              <a:rPr lang="en-US" altLang="zh-CN" sz="1600" dirty="0">
                <a:latin typeface="Times New Roman" panose="02020603050405020304" pitchFamily="18" charset="0"/>
                <a:cs typeface="Times New Roman" panose="02020603050405020304" pitchFamily="18" charset="0"/>
              </a:rPr>
              <a:t> data;        //</a:t>
            </a:r>
            <a:r>
              <a:rPr lang="zh-CN" altLang="zh-CN" sz="1600" dirty="0">
                <a:latin typeface="Times New Roman" panose="02020603050405020304" pitchFamily="18" charset="0"/>
                <a:cs typeface="Times New Roman" panose="02020603050405020304" pitchFamily="18" charset="0"/>
              </a:rPr>
              <a:t>结点的值</a:t>
            </a: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CSNode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firstchild</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指向第一个孩子结点</a:t>
            </a: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CSNode</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nextsibling</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指向下一个兄弟结点</a:t>
            </a:r>
          </a:p>
          <a:p>
            <a:pPr>
              <a:lnSpc>
                <a:spcPts val="2500"/>
              </a:lnSpc>
              <a:spcBef>
                <a:spcPts val="0"/>
              </a:spcBef>
            </a:pP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CSNode</a:t>
            </a:r>
            <a:r>
              <a:rPr lang="en-US" altLang="zh-CN" sz="1600"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6" name="文本框 5"/>
          <p:cNvSpPr txBox="1"/>
          <p:nvPr/>
        </p:nvSpPr>
        <p:spPr>
          <a:xfrm>
            <a:off x="611560" y="125950"/>
            <a:ext cx="201622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孩子兄弟表示法</a:t>
            </a:r>
          </a:p>
        </p:txBody>
      </p:sp>
    </p:spTree>
    <p:extLst>
      <p:ext uri="{BB962C8B-B14F-4D97-AF65-F5344CB8AC3E}">
        <p14:creationId xmlns:p14="http://schemas.microsoft.com/office/powerpoint/2010/main" val="42544893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892480" cy="3507876"/>
              </a:xfrm>
            </p:spPr>
            <p:txBody>
              <a:bodyPr/>
              <a:lstStyle/>
              <a:p>
                <a:pPr marL="0" indent="0">
                  <a:buNone/>
                </a:pPr>
                <a:r>
                  <a:rPr lang="zh-CN" altLang="zh-CN" sz="1600" dirty="0">
                    <a:latin typeface="Times New Roman" panose="02020603050405020304" pitchFamily="18" charset="0"/>
                    <a:cs typeface="Times New Roman" panose="02020603050405020304" pitchFamily="18" charset="0"/>
                  </a:rPr>
                  <a:t>例</a:t>
                </a: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已知一棵树以孩子兄弟表示法为其存储结构，设计一递归算法计算树的高度。</a:t>
                </a:r>
              </a:p>
              <a:p>
                <a:pPr marL="0" indent="0">
                  <a:buNone/>
                </a:pPr>
                <a:r>
                  <a:rPr lang="zh-CN" altLang="zh-CN" sz="1600" dirty="0">
                    <a:latin typeface="Times New Roman" panose="02020603050405020304" pitchFamily="18" charset="0"/>
                    <a:cs typeface="Times New Roman" panose="02020603050405020304" pitchFamily="18" charset="0"/>
                  </a:rPr>
                  <a:t>解：设</a:t>
                </a:r>
                <a:r>
                  <a:rPr lang="en-US" altLang="zh-CN" sz="1600" dirty="0" err="1">
                    <a:latin typeface="Times New Roman" panose="02020603050405020304" pitchFamily="18" charset="0"/>
                    <a:cs typeface="Times New Roman" panose="02020603050405020304" pitchFamily="18" charset="0"/>
                  </a:rPr>
                  <a:t>CSTreeHeight</a:t>
                </a:r>
                <a:r>
                  <a:rPr lang="en-US" altLang="zh-CN" sz="1600" dirty="0">
                    <a:latin typeface="Times New Roman" panose="02020603050405020304" pitchFamily="18" charset="0"/>
                    <a:cs typeface="Times New Roman" panose="02020603050405020304" pitchFamily="18" charset="0"/>
                  </a:rPr>
                  <a:t>(t)</a:t>
                </a:r>
                <a:r>
                  <a:rPr lang="zh-CN" altLang="zh-CN" sz="1600" dirty="0">
                    <a:latin typeface="Times New Roman" panose="02020603050405020304" pitchFamily="18" charset="0"/>
                    <a:cs typeface="Times New Roman" panose="02020603050405020304" pitchFamily="18" charset="0"/>
                  </a:rPr>
                  <a:t>为树</a:t>
                </a:r>
                <a:r>
                  <a:rPr lang="en-US" altLang="zh-CN" sz="1600" dirty="0">
                    <a:latin typeface="Times New Roman" panose="02020603050405020304" pitchFamily="18" charset="0"/>
                    <a:cs typeface="Times New Roman" panose="02020603050405020304" pitchFamily="18" charset="0"/>
                  </a:rPr>
                  <a:t>t</a:t>
                </a:r>
                <a:r>
                  <a:rPr lang="zh-CN" altLang="zh-CN" sz="1600" dirty="0">
                    <a:latin typeface="Times New Roman" panose="02020603050405020304" pitchFamily="18" charset="0"/>
                    <a:cs typeface="Times New Roman" panose="02020603050405020304" pitchFamily="18" charset="0"/>
                  </a:rPr>
                  <a:t>的高度，计算树高的递归模型如下：</a:t>
                </a:r>
              </a:p>
              <a:p>
                <a:pPr marL="0" indent="0">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zh-CN" altLang="zh-CN" sz="1600" i="1">
                            <a:latin typeface="Cambria Math" panose="02040503050406030204" pitchFamily="18" charset="0"/>
                            <a:cs typeface="Times New Roman" panose="02020603050405020304" pitchFamily="18" charset="0"/>
                          </a:rPr>
                        </m:ctrlPr>
                      </m:dPr>
                      <m:e>
                        <m:eqArr>
                          <m:eqArrPr>
                            <m:ctrlPr>
                              <a:rPr lang="zh-CN" altLang="zh-CN" sz="1600" i="1">
                                <a:latin typeface="Cambria Math" panose="02040503050406030204" pitchFamily="18" charset="0"/>
                                <a:cs typeface="Times New Roman" panose="02020603050405020304" pitchFamily="18" charset="0"/>
                              </a:rPr>
                            </m:ctrlPr>
                          </m:eqArrPr>
                          <m:e>
                            <m:r>
                              <a:rPr lang="en-US" altLang="zh-CN" sz="1600">
                                <a:latin typeface="Cambria Math" panose="02040503050406030204" pitchFamily="18" charset="0"/>
                                <a:cs typeface="Times New Roman" panose="02020603050405020304" pitchFamily="18" charset="0"/>
                              </a:rPr>
                              <m:t> </m:t>
                            </m:r>
                            <m:r>
                              <m:rPr>
                                <m:sty m:val="p"/>
                              </m:rPr>
                              <a:rPr lang="en-US" altLang="zh-CN" sz="1600">
                                <a:latin typeface="Cambria Math" panose="02040503050406030204" pitchFamily="18" charset="0"/>
                                <a:cs typeface="Times New Roman" panose="02020603050405020304" pitchFamily="18" charset="0"/>
                              </a:rPr>
                              <m:t>CSTreeHeight</m:t>
                            </m:r>
                            <m:d>
                              <m:dPr>
                                <m:ctrlPr>
                                  <a:rPr lang="zh-CN" altLang="zh-CN" sz="1600" i="1">
                                    <a:latin typeface="Cambria Math" panose="02040503050406030204" pitchFamily="18" charset="0"/>
                                    <a:cs typeface="Times New Roman" panose="02020603050405020304" pitchFamily="18" charset="0"/>
                                  </a:rPr>
                                </m:ctrlPr>
                              </m:dPr>
                              <m:e>
                                <m:r>
                                  <a:rPr lang="en-US" altLang="zh-CN" sz="1600">
                                    <a:latin typeface="Cambria Math" panose="02040503050406030204" pitchFamily="18" charset="0"/>
                                    <a:cs typeface="Times New Roman" panose="02020603050405020304" pitchFamily="18" charset="0"/>
                                  </a:rPr>
                                  <m:t>∅</m:t>
                                </m:r>
                              </m:e>
                            </m:d>
                            <m:r>
                              <a:rPr lang="en-US" altLang="zh-CN" sz="1600">
                                <a:latin typeface="Cambria Math" panose="02040503050406030204" pitchFamily="18" charset="0"/>
                                <a:cs typeface="Times New Roman" panose="02020603050405020304" pitchFamily="18" charset="0"/>
                              </a:rPr>
                              <m:t>=0                                                                                    </m:t>
                            </m:r>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             </m:t>
                            </m:r>
                          </m:e>
                          <m:e>
                            <m:r>
                              <m:rPr>
                                <m:sty m:val="p"/>
                              </m:rPr>
                              <a:rPr lang="en-US" altLang="zh-CN" sz="1600">
                                <a:latin typeface="Cambria Math" panose="02040503050406030204" pitchFamily="18" charset="0"/>
                                <a:cs typeface="Times New Roman" panose="02020603050405020304" pitchFamily="18" charset="0"/>
                              </a:rPr>
                              <m:t>CSTreeHeight</m:t>
                            </m:r>
                            <m:d>
                              <m:dPr>
                                <m:ctrlPr>
                                  <a:rPr lang="zh-CN" altLang="zh-CN" sz="1600" i="1">
                                    <a:latin typeface="Cambria Math" panose="02040503050406030204" pitchFamily="18" charset="0"/>
                                    <a:cs typeface="Times New Roman" panose="02020603050405020304" pitchFamily="18" charset="0"/>
                                  </a:rPr>
                                </m:ctrlPr>
                              </m:dPr>
                              <m:e>
                                <m:r>
                                  <m:rPr>
                                    <m:sty m:val="p"/>
                                  </m:rPr>
                                  <a:rPr lang="en-US" altLang="zh-CN" sz="1600">
                                    <a:latin typeface="Cambria Math" panose="02040503050406030204" pitchFamily="18" charset="0"/>
                                    <a:cs typeface="Times New Roman" panose="02020603050405020304" pitchFamily="18" charset="0"/>
                                  </a:rPr>
                                  <m:t>t</m:t>
                                </m:r>
                              </m:e>
                            </m:d>
                            <m:r>
                              <a:rPr lang="en-US" altLang="zh-CN" sz="1600">
                                <a:latin typeface="Cambria Math" panose="02040503050406030204" pitchFamily="18" charset="0"/>
                                <a:cs typeface="Times New Roman" panose="02020603050405020304" pitchFamily="18" charset="0"/>
                              </a:rPr>
                              <m:t>=1+</m:t>
                            </m:r>
                            <m:func>
                              <m:funcPr>
                                <m:ctrlPr>
                                  <a:rPr lang="zh-CN" altLang="zh-CN" sz="1600" i="1">
                                    <a:latin typeface="Cambria Math" panose="02040503050406030204" pitchFamily="18" charset="0"/>
                                    <a:cs typeface="Times New Roman" panose="02020603050405020304" pitchFamily="18" charset="0"/>
                                  </a:rPr>
                                </m:ctrlPr>
                              </m:funcPr>
                              <m:fName>
                                <m:limLow>
                                  <m:limLowPr>
                                    <m:ctrlPr>
                                      <a:rPr lang="zh-CN" altLang="zh-CN" sz="1600" i="1">
                                        <a:latin typeface="Cambria Math" panose="02040503050406030204" pitchFamily="18" charset="0"/>
                                        <a:cs typeface="Times New Roman" panose="02020603050405020304" pitchFamily="18" charset="0"/>
                                      </a:rPr>
                                    </m:ctrlPr>
                                  </m:limLowPr>
                                  <m:e>
                                    <m:r>
                                      <m:rPr>
                                        <m:sty m:val="p"/>
                                      </m:rPr>
                                      <a:rPr lang="en-US" altLang="zh-CN" sz="1600">
                                        <a:latin typeface="Cambria Math" panose="02040503050406030204" pitchFamily="18" charset="0"/>
                                        <a:cs typeface="Times New Roman" panose="02020603050405020304" pitchFamily="18" charset="0"/>
                                      </a:rPr>
                                      <m:t>max</m:t>
                                    </m:r>
                                  </m:e>
                                  <m:lim>
                                    <m:r>
                                      <m:rPr>
                                        <m:sty m:val="p"/>
                                      </m:rPr>
                                      <a:rPr lang="en-US" altLang="zh-CN" sz="1600">
                                        <a:latin typeface="Cambria Math" panose="02040503050406030204" pitchFamily="18" charset="0"/>
                                        <a:cs typeface="Times New Roman" panose="02020603050405020304" pitchFamily="18" charset="0"/>
                                      </a:rPr>
                                      <m:t>p</m:t>
                                    </m:r>
                                    <m:r>
                                      <a:rPr lang="zh-CN" altLang="zh-CN" sz="1600">
                                        <a:latin typeface="Cambria Math" panose="02040503050406030204" pitchFamily="18" charset="0"/>
                                        <a:cs typeface="Times New Roman" panose="02020603050405020304" pitchFamily="18" charset="0"/>
                                      </a:rPr>
                                      <m:t>为</m:t>
                                    </m:r>
                                    <m:r>
                                      <m:rPr>
                                        <m:sty m:val="p"/>
                                      </m:rPr>
                                      <a:rPr lang="en-US" altLang="zh-CN" sz="1600">
                                        <a:latin typeface="Cambria Math" panose="02040503050406030204" pitchFamily="18" charset="0"/>
                                        <a:cs typeface="Times New Roman" panose="02020603050405020304" pitchFamily="18" charset="0"/>
                                      </a:rPr>
                                      <m:t>t</m:t>
                                    </m:r>
                                    <m:r>
                                      <a:rPr lang="zh-CN" altLang="zh-CN" sz="1600">
                                        <a:latin typeface="Cambria Math" panose="02040503050406030204" pitchFamily="18" charset="0"/>
                                        <a:cs typeface="Times New Roman" panose="02020603050405020304" pitchFamily="18" charset="0"/>
                                      </a:rPr>
                                      <m:t>的孩子</m:t>
                                    </m:r>
                                  </m:lim>
                                </m:limLow>
                              </m:fName>
                              <m:e>
                                <m:r>
                                  <m:rPr>
                                    <m:sty m:val="p"/>
                                  </m:rPr>
                                  <a:rPr lang="en-US" altLang="zh-CN" sz="1600">
                                    <a:latin typeface="Cambria Math" panose="02040503050406030204" pitchFamily="18" charset="0"/>
                                    <a:cs typeface="Times New Roman" panose="02020603050405020304" pitchFamily="18" charset="0"/>
                                  </a:rPr>
                                  <m:t>CSTreeHeight</m:t>
                                </m:r>
                                <m:d>
                                  <m:dPr>
                                    <m:ctrlPr>
                                      <a:rPr lang="zh-CN" altLang="zh-CN" sz="1600" i="1">
                                        <a:latin typeface="Cambria Math" panose="02040503050406030204" pitchFamily="18" charset="0"/>
                                        <a:cs typeface="Times New Roman" panose="02020603050405020304" pitchFamily="18" charset="0"/>
                                      </a:rPr>
                                    </m:ctrlPr>
                                  </m:dPr>
                                  <m:e>
                                    <m:r>
                                      <m:rPr>
                                        <m:sty m:val="p"/>
                                      </m:rPr>
                                      <a:rPr lang="en-US" altLang="zh-CN" sz="1600">
                                        <a:latin typeface="Cambria Math" panose="02040503050406030204" pitchFamily="18" charset="0"/>
                                        <a:cs typeface="Times New Roman" panose="02020603050405020304" pitchFamily="18" charset="0"/>
                                      </a:rPr>
                                      <m:t>p</m:t>
                                    </m:r>
                                  </m:e>
                                </m:d>
                                <m:r>
                                  <a:rPr lang="en-US" altLang="zh-CN" sz="1600">
                                    <a:latin typeface="Cambria Math" panose="02040503050406030204" pitchFamily="18" charset="0"/>
                                    <a:cs typeface="Times New Roman" panose="02020603050405020304" pitchFamily="18" charset="0"/>
                                  </a:rPr>
                                  <m:t>              </m:t>
                                </m:r>
                              </m:e>
                            </m:func>
                            <m:r>
                              <a:rPr lang="en-US" altLang="zh-CN" sz="1600">
                                <a:latin typeface="Cambria Math" panose="02040503050406030204" pitchFamily="18" charset="0"/>
                                <a:cs typeface="Times New Roman" panose="02020603050405020304" pitchFamily="18" charset="0"/>
                              </a:rPr>
                              <m:t>           </m:t>
                            </m:r>
                            <m:r>
                              <m:rPr>
                                <m:sty m:val="p"/>
                              </m:rPr>
                              <a:rPr lang="en-US" altLang="zh-CN" sz="1600">
                                <a:latin typeface="Cambria Math" panose="02040503050406030204" pitchFamily="18" charset="0"/>
                                <a:cs typeface="Times New Roman" panose="02020603050405020304" pitchFamily="18" charset="0"/>
                              </a:rPr>
                              <m:t>t</m:t>
                            </m:r>
                            <m:r>
                              <a:rPr lang="en-US" altLang="zh-CN" sz="1600">
                                <a:latin typeface="Cambria Math" panose="02040503050406030204" pitchFamily="18" charset="0"/>
                                <a:cs typeface="Times New Roman" panose="02020603050405020304" pitchFamily="18" charset="0"/>
                              </a:rPr>
                              <m:t>≠∅            </m:t>
                            </m:r>
                          </m:e>
                        </m:eqArr>
                      </m:e>
                    </m:d>
                  </m:oMath>
                </a14:m>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892480" cy="3507876"/>
              </a:xfrm>
              <a:blipFill>
                <a:blip r:embed="rId2"/>
                <a:stretch>
                  <a:fillRect l="-686"/>
                </a:stretch>
              </a:blipFill>
            </p:spPr>
            <p:txBody>
              <a:bodyPr/>
              <a:lstStyle/>
              <a:p>
                <a:r>
                  <a:rPr lang="zh-CN" altLang="en-US">
                    <a:noFill/>
                  </a:rPr>
                  <a:t> </a:t>
                </a:r>
              </a:p>
            </p:txBody>
          </p:sp>
        </mc:Fallback>
      </mc:AlternateContent>
      <p:sp>
        <p:nvSpPr>
          <p:cNvPr id="4" name="文本框 3"/>
          <p:cNvSpPr txBox="1"/>
          <p:nvPr/>
        </p:nvSpPr>
        <p:spPr>
          <a:xfrm>
            <a:off x="4499992" y="339502"/>
            <a:ext cx="4608512" cy="3785652"/>
          </a:xfrm>
          <a:prstGeom prst="rect">
            <a:avLst/>
          </a:prstGeom>
          <a:solidFill>
            <a:srgbClr val="FFC000"/>
          </a:solidFill>
        </p:spPr>
        <p:txBody>
          <a:bodyPr wrap="square" rtlCol="0">
            <a:spAutoFit/>
          </a:bodyPr>
          <a:lstStyle/>
          <a:p>
            <a:r>
              <a:rPr lang="en-US" altLang="zh-CN" sz="1600" dirty="0" err="1"/>
              <a:t>int</a:t>
            </a:r>
            <a:r>
              <a:rPr lang="en-US" altLang="zh-CN" sz="1600" dirty="0"/>
              <a:t> </a:t>
            </a:r>
            <a:r>
              <a:rPr lang="en-US" altLang="zh-CN" sz="1600" dirty="0" err="1"/>
              <a:t>CSTreeHeight</a:t>
            </a:r>
            <a:r>
              <a:rPr lang="en-US" altLang="zh-CN" sz="1600" dirty="0"/>
              <a:t>(</a:t>
            </a:r>
            <a:r>
              <a:rPr lang="en-US" altLang="zh-CN" sz="1600" dirty="0" err="1"/>
              <a:t>CSNode</a:t>
            </a:r>
            <a:r>
              <a:rPr lang="en-US" altLang="zh-CN" sz="1600" dirty="0"/>
              <a:t> *t){</a:t>
            </a:r>
            <a:endParaRPr lang="zh-CN" altLang="zh-CN" sz="1600" dirty="0"/>
          </a:p>
          <a:p>
            <a:r>
              <a:rPr lang="en-US" altLang="zh-CN" sz="1600" dirty="0"/>
              <a:t>      </a:t>
            </a:r>
            <a:r>
              <a:rPr lang="en-US" altLang="zh-CN" sz="1600" dirty="0" err="1"/>
              <a:t>int</a:t>
            </a:r>
            <a:r>
              <a:rPr lang="en-US" altLang="zh-CN" sz="1600" dirty="0"/>
              <a:t> </a:t>
            </a:r>
            <a:r>
              <a:rPr lang="en-US" altLang="zh-CN" sz="1600" dirty="0" err="1"/>
              <a:t>m,max</a:t>
            </a:r>
            <a:r>
              <a:rPr lang="en-US" altLang="zh-CN" sz="1600" dirty="0"/>
              <a:t>=0;</a:t>
            </a:r>
          </a:p>
          <a:p>
            <a:r>
              <a:rPr lang="en-US" altLang="zh-CN" sz="1600" dirty="0"/>
              <a:t>      </a:t>
            </a:r>
            <a:r>
              <a:rPr lang="en-US" altLang="zh-CN" sz="1600" dirty="0" err="1"/>
              <a:t>CSNode</a:t>
            </a:r>
            <a:r>
              <a:rPr lang="en-US" altLang="zh-CN" sz="1600" dirty="0"/>
              <a:t> *p;</a:t>
            </a:r>
            <a:endParaRPr lang="zh-CN" altLang="zh-CN" sz="1600" dirty="0"/>
          </a:p>
          <a:p>
            <a:r>
              <a:rPr lang="en-US" altLang="zh-CN" sz="1600" dirty="0"/>
              <a:t>      if(t==NULL)   return 0;         //</a:t>
            </a:r>
            <a:r>
              <a:rPr lang="zh-CN" altLang="zh-CN" sz="1600" dirty="0"/>
              <a:t>空树，高度为</a:t>
            </a:r>
            <a:r>
              <a:rPr lang="en-US" altLang="zh-CN" sz="1600" dirty="0"/>
              <a:t>0</a:t>
            </a:r>
            <a:endParaRPr lang="zh-CN" altLang="zh-CN" sz="1600" dirty="0"/>
          </a:p>
          <a:p>
            <a:r>
              <a:rPr lang="en-US" altLang="zh-CN" sz="1600" dirty="0"/>
              <a:t>      else{</a:t>
            </a:r>
            <a:endParaRPr lang="zh-CN" altLang="zh-CN" sz="1600" dirty="0"/>
          </a:p>
          <a:p>
            <a:r>
              <a:rPr lang="en-US" altLang="zh-CN" sz="1600" dirty="0"/>
              <a:t>        p=t-&gt;</a:t>
            </a:r>
            <a:r>
              <a:rPr lang="en-US" altLang="zh-CN" sz="1600" dirty="0" err="1"/>
              <a:t>firstchild</a:t>
            </a:r>
            <a:r>
              <a:rPr lang="en-US" altLang="zh-CN" sz="1600" dirty="0"/>
              <a:t>;          //</a:t>
            </a:r>
            <a:r>
              <a:rPr lang="zh-CN" altLang="zh-CN" sz="1600" dirty="0"/>
              <a:t>指向第一个孩子结点</a:t>
            </a:r>
          </a:p>
          <a:p>
            <a:r>
              <a:rPr lang="en-US" altLang="zh-CN" sz="1600" dirty="0"/>
              <a:t>        while(p){  </a:t>
            </a:r>
          </a:p>
          <a:p>
            <a:r>
              <a:rPr lang="en-US" altLang="zh-CN" sz="1600" dirty="0"/>
              <a:t>         //</a:t>
            </a:r>
            <a:r>
              <a:rPr lang="zh-CN" altLang="zh-CN" sz="1600" dirty="0"/>
              <a:t>从所有孩子结点中找出高度最大的孩子</a:t>
            </a:r>
          </a:p>
          <a:p>
            <a:r>
              <a:rPr lang="en-US" altLang="zh-CN" sz="1600" dirty="0"/>
              <a:t>            m= </a:t>
            </a:r>
            <a:r>
              <a:rPr lang="en-US" altLang="zh-CN" sz="1600" dirty="0" err="1"/>
              <a:t>CSTreeHeight</a:t>
            </a:r>
            <a:r>
              <a:rPr lang="en-US" altLang="zh-CN" sz="1600" dirty="0"/>
              <a:t>(p);</a:t>
            </a:r>
            <a:endParaRPr lang="zh-CN" altLang="zh-CN" sz="1600" dirty="0"/>
          </a:p>
          <a:p>
            <a:r>
              <a:rPr lang="en-US" altLang="zh-CN" sz="1600" dirty="0"/>
              <a:t>            if(max&lt;m)  max=m;</a:t>
            </a:r>
            <a:endParaRPr lang="zh-CN" altLang="zh-CN" sz="1600" dirty="0"/>
          </a:p>
          <a:p>
            <a:r>
              <a:rPr lang="en-US" altLang="zh-CN" sz="1600" dirty="0"/>
              <a:t>            p=p-&gt;</a:t>
            </a:r>
            <a:r>
              <a:rPr lang="en-US" altLang="zh-CN" sz="1600" dirty="0" err="1"/>
              <a:t>nextsibling</a:t>
            </a:r>
            <a:r>
              <a:rPr lang="en-US" altLang="zh-CN" sz="1600" dirty="0"/>
              <a:t>;  //</a:t>
            </a:r>
            <a:r>
              <a:rPr lang="zh-CN" altLang="zh-CN" sz="1600" dirty="0"/>
              <a:t>继续求其它兄弟高度</a:t>
            </a:r>
          </a:p>
          <a:p>
            <a:r>
              <a:rPr lang="en-US" altLang="zh-CN" sz="1600" dirty="0"/>
              <a:t>        }</a:t>
            </a:r>
            <a:endParaRPr lang="zh-CN" altLang="zh-CN" sz="1600" dirty="0"/>
          </a:p>
          <a:p>
            <a:r>
              <a:rPr lang="en-US" altLang="zh-CN" sz="1600" dirty="0"/>
              <a:t>        return 1+max;</a:t>
            </a:r>
            <a:endParaRPr lang="zh-CN" altLang="zh-CN" sz="1600" dirty="0"/>
          </a:p>
          <a:p>
            <a:r>
              <a:rPr lang="en-US" altLang="zh-CN" sz="1600" dirty="0"/>
              <a:t>      }</a:t>
            </a:r>
            <a:endParaRPr lang="zh-CN" altLang="zh-CN" sz="1600" dirty="0"/>
          </a:p>
          <a:p>
            <a:r>
              <a:rPr lang="en-US" altLang="zh-CN" sz="1600" dirty="0"/>
              <a:t>}</a:t>
            </a:r>
            <a:endParaRPr lang="zh-CN" altLang="zh-CN" sz="1600" dirty="0"/>
          </a:p>
        </p:txBody>
      </p:sp>
      <p:sp>
        <p:nvSpPr>
          <p:cNvPr id="5" name="文本框 4"/>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9011895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Effect transition="in" filter="fade">
                                      <p:cBhvr>
                                        <p:cTn id="31" dur="1000"/>
                                        <p:tgtEl>
                                          <p:spTgt spid="4">
                                            <p:txEl>
                                              <p:pRg st="0" end="0"/>
                                            </p:txEl>
                                          </p:spTgt>
                                        </p:tgtEl>
                                      </p:cBhvr>
                                    </p:animEffect>
                                    <p:anim calcmode="lin" valueType="num">
                                      <p:cBhvr>
                                        <p:cTn id="32"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fade">
                                      <p:cBhvr>
                                        <p:cTn id="38" dur="1000"/>
                                        <p:tgtEl>
                                          <p:spTgt spid="4">
                                            <p:txEl>
                                              <p:pRg st="1" end="1"/>
                                            </p:txEl>
                                          </p:spTgt>
                                        </p:tgtEl>
                                      </p:cBhvr>
                                    </p:animEffect>
                                    <p:anim calcmode="lin" valueType="num">
                                      <p:cBhvr>
                                        <p:cTn id="3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Effect transition="in" filter="fade">
                                      <p:cBhvr>
                                        <p:cTn id="45" dur="1000"/>
                                        <p:tgtEl>
                                          <p:spTgt spid="4">
                                            <p:txEl>
                                              <p:pRg st="2" end="2"/>
                                            </p:txEl>
                                          </p:spTgt>
                                        </p:tgtEl>
                                      </p:cBhvr>
                                    </p:animEffect>
                                    <p:anim calcmode="lin" valueType="num">
                                      <p:cBhvr>
                                        <p:cTn id="4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fade">
                                      <p:cBhvr>
                                        <p:cTn id="52" dur="1000"/>
                                        <p:tgtEl>
                                          <p:spTgt spid="4">
                                            <p:txEl>
                                              <p:pRg st="3" end="3"/>
                                            </p:txEl>
                                          </p:spTgt>
                                        </p:tgtEl>
                                      </p:cBhvr>
                                    </p:animEffect>
                                    <p:anim calcmode="lin" valueType="num">
                                      <p:cBhvr>
                                        <p:cTn id="5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
                                            <p:txEl>
                                              <p:pRg st="4" end="4"/>
                                            </p:txEl>
                                          </p:spTgt>
                                        </p:tgtEl>
                                        <p:attrNameLst>
                                          <p:attrName>style.visibility</p:attrName>
                                        </p:attrNameLst>
                                      </p:cBhvr>
                                      <p:to>
                                        <p:strVal val="visible"/>
                                      </p:to>
                                    </p:set>
                                    <p:anim calcmode="lin" valueType="num">
                                      <p:cBhvr additive="base">
                                        <p:cTn id="5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4">
                                            <p:txEl>
                                              <p:pRg st="5" end="5"/>
                                            </p:txEl>
                                          </p:spTgt>
                                        </p:tgtEl>
                                        <p:attrNameLst>
                                          <p:attrName>style.visibility</p:attrName>
                                        </p:attrNameLst>
                                      </p:cBhvr>
                                      <p:to>
                                        <p:strVal val="visible"/>
                                      </p:to>
                                    </p:set>
                                    <p:anim calcmode="lin" valueType="num">
                                      <p:cBhvr additive="base">
                                        <p:cTn id="65"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4">
                                            <p:txEl>
                                              <p:pRg st="6" end="6"/>
                                            </p:txEl>
                                          </p:spTgt>
                                        </p:tgtEl>
                                        <p:attrNameLst>
                                          <p:attrName>style.visibility</p:attrName>
                                        </p:attrNameLst>
                                      </p:cBhvr>
                                      <p:to>
                                        <p:strVal val="visible"/>
                                      </p:to>
                                    </p:set>
                                    <p:anim calcmode="lin" valueType="num">
                                      <p:cBhvr additive="base">
                                        <p:cTn id="7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4">
                                            <p:txEl>
                                              <p:pRg st="7" end="7"/>
                                            </p:txEl>
                                          </p:spTgt>
                                        </p:tgtEl>
                                        <p:attrNameLst>
                                          <p:attrName>style.visibility</p:attrName>
                                        </p:attrNameLst>
                                      </p:cBhvr>
                                      <p:to>
                                        <p:strVal val="visible"/>
                                      </p:to>
                                    </p:set>
                                    <p:anim calcmode="lin" valueType="num">
                                      <p:cBhvr additive="base">
                                        <p:cTn id="7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4">
                                            <p:txEl>
                                              <p:pRg st="8" end="8"/>
                                            </p:txEl>
                                          </p:spTgt>
                                        </p:tgtEl>
                                        <p:attrNameLst>
                                          <p:attrName>style.visibility</p:attrName>
                                        </p:attrNameLst>
                                      </p:cBhvr>
                                      <p:to>
                                        <p:strVal val="visible"/>
                                      </p:to>
                                    </p:set>
                                    <p:anim calcmode="lin" valueType="num">
                                      <p:cBhvr additive="base">
                                        <p:cTn id="8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4">
                                            <p:txEl>
                                              <p:pRg st="9" end="9"/>
                                            </p:txEl>
                                          </p:spTgt>
                                        </p:tgtEl>
                                        <p:attrNameLst>
                                          <p:attrName>style.visibility</p:attrName>
                                        </p:attrNameLst>
                                      </p:cBhvr>
                                      <p:to>
                                        <p:strVal val="visible"/>
                                      </p:to>
                                    </p:set>
                                    <p:anim calcmode="lin" valueType="num">
                                      <p:cBhvr additive="base">
                                        <p:cTn id="87"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88"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4">
                                            <p:txEl>
                                              <p:pRg st="10" end="10"/>
                                            </p:txEl>
                                          </p:spTgt>
                                        </p:tgtEl>
                                        <p:attrNameLst>
                                          <p:attrName>style.visibility</p:attrName>
                                        </p:attrNameLst>
                                      </p:cBhvr>
                                      <p:to>
                                        <p:strVal val="visible"/>
                                      </p:to>
                                    </p:set>
                                    <p:anim calcmode="lin" valueType="num">
                                      <p:cBhvr additive="base">
                                        <p:cTn id="9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4">
                                            <p:txEl>
                                              <p:pRg st="11" end="11"/>
                                            </p:txEl>
                                          </p:spTgt>
                                        </p:tgtEl>
                                        <p:attrNameLst>
                                          <p:attrName>style.visibility</p:attrName>
                                        </p:attrNameLst>
                                      </p:cBhvr>
                                      <p:to>
                                        <p:strVal val="visible"/>
                                      </p:to>
                                    </p:set>
                                    <p:anim calcmode="lin" valueType="num">
                                      <p:cBhvr additive="base">
                                        <p:cTn id="9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12" end="12"/>
                                            </p:txEl>
                                          </p:spTgt>
                                        </p:tgtEl>
                                        <p:attrNameLst>
                                          <p:attrName>style.visibility</p:attrName>
                                        </p:attrNameLst>
                                      </p:cBhvr>
                                      <p:to>
                                        <p:strVal val="visible"/>
                                      </p:to>
                                    </p:set>
                                    <p:anim calcmode="lin" valueType="num">
                                      <p:cBhvr additive="base">
                                        <p:cTn id="103"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12" end="12"/>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4">
                                            <p:txEl>
                                              <p:pRg st="13" end="13"/>
                                            </p:txEl>
                                          </p:spTgt>
                                        </p:tgtEl>
                                        <p:attrNameLst>
                                          <p:attrName>style.visibility</p:attrName>
                                        </p:attrNameLst>
                                      </p:cBhvr>
                                      <p:to>
                                        <p:strVal val="visible"/>
                                      </p:to>
                                    </p:set>
                                    <p:anim calcmode="lin" valueType="num">
                                      <p:cBhvr additive="base">
                                        <p:cTn id="107"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4">
                                            <p:txEl>
                                              <p:pRg st="13" end="13"/>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4">
                                            <p:txEl>
                                              <p:pRg st="14" end="14"/>
                                            </p:txEl>
                                          </p:spTgt>
                                        </p:tgtEl>
                                        <p:attrNameLst>
                                          <p:attrName>style.visibility</p:attrName>
                                        </p:attrNameLst>
                                      </p:cBhvr>
                                      <p:to>
                                        <p:strVal val="visible"/>
                                      </p:to>
                                    </p:set>
                                    <p:anim calcmode="lin" valueType="num">
                                      <p:cBhvr additive="base">
                                        <p:cTn id="111" dur="500" fill="hold"/>
                                        <p:tgtEl>
                                          <p:spTgt spid="4">
                                            <p:txEl>
                                              <p:pRg st="14" end="14"/>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4">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467544" y="1203598"/>
            <a:ext cx="7776864" cy="2443730"/>
          </a:xfrm>
        </p:spPr>
        <p:txBody>
          <a:bodyPr/>
          <a:lstStyle/>
          <a:p>
            <a:pPr marL="0" indent="0" algn="just">
              <a:lnSpc>
                <a:spcPts val="2400"/>
              </a:lnSpc>
              <a:spcBef>
                <a:spcPts val="0"/>
              </a:spcBef>
              <a:buNone/>
            </a:pPr>
            <a:r>
              <a:rPr lang="zh-CN" altLang="en-US" sz="1600" dirty="0">
                <a:latin typeface="Times New Roman" panose="02020603050405020304" pitchFamily="18" charset="0"/>
                <a:cs typeface="Times New Roman" panose="02020603050405020304" pitchFamily="18" charset="0"/>
              </a:rPr>
              <a:t>由于二叉树和树均可以用二叉链表作为存储结构</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因此以二叉链表作为媒介可以导出树和二叉树之间的对应关系。</a:t>
            </a:r>
            <a:endParaRPr lang="en-US" altLang="zh-CN" sz="1600" dirty="0">
              <a:latin typeface="Times New Roman" panose="02020603050405020304" pitchFamily="18" charset="0"/>
              <a:cs typeface="Times New Roman" panose="02020603050405020304" pitchFamily="18" charset="0"/>
            </a:endParaRPr>
          </a:p>
          <a:p>
            <a:pPr marL="0" indent="0" algn="just">
              <a:lnSpc>
                <a:spcPts val="24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400"/>
              </a:lnSpc>
              <a:spcBef>
                <a:spcPts val="0"/>
              </a:spcBef>
              <a:buNone/>
            </a:pPr>
            <a:r>
              <a:rPr lang="zh-CN" altLang="en-US" sz="1600" dirty="0">
                <a:latin typeface="Times New Roman" panose="02020603050405020304" pitchFamily="18" charset="0"/>
                <a:cs typeface="Times New Roman" panose="02020603050405020304" pitchFamily="18" charset="0"/>
              </a:rPr>
              <a:t>一棵树可以找到唯一的一棵二叉树与之对应。 反之</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一棵右子树为空的二叉树也可以转换成对应的树。</a:t>
            </a:r>
            <a:endParaRPr lang="en-US" altLang="zh-CN" sz="1600" dirty="0">
              <a:latin typeface="Times New Roman" panose="02020603050405020304" pitchFamily="18" charset="0"/>
              <a:cs typeface="Times New Roman" panose="02020603050405020304" pitchFamily="18" charset="0"/>
            </a:endParaRPr>
          </a:p>
          <a:p>
            <a:pPr algn="dist">
              <a:lnSpc>
                <a:spcPts val="2400"/>
              </a:lnSpc>
              <a:spcBef>
                <a:spcPts val="0"/>
              </a:spcBef>
            </a:pPr>
            <a:endParaRPr lang="zh-CN" altLang="en-US" sz="2000" dirty="0">
              <a:latin typeface="隶书" panose="02010509060101010101" pitchFamily="49" charset="-122"/>
              <a:ea typeface="隶书" panose="02010509060101010101" pitchFamily="49" charset="-122"/>
            </a:endParaRPr>
          </a:p>
        </p:txBody>
      </p:sp>
      <p:sp>
        <p:nvSpPr>
          <p:cNvPr id="4" name="文本框 3"/>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树和二叉树的转换</a:t>
            </a:r>
          </a:p>
        </p:txBody>
      </p:sp>
    </p:spTree>
    <p:extLst>
      <p:ext uri="{BB962C8B-B14F-4D97-AF65-F5344CB8AC3E}">
        <p14:creationId xmlns:p14="http://schemas.microsoft.com/office/powerpoint/2010/main" val="2952034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627534"/>
            <a:ext cx="6998272" cy="2232248"/>
          </a:xfrm>
        </p:spPr>
        <p:txBody>
          <a:bodyPr/>
          <a:lstStyle/>
          <a:p>
            <a:pPr marL="0" indent="0" algn="just">
              <a:lnSpc>
                <a:spcPts val="2800"/>
              </a:lnSpc>
              <a:spcBef>
                <a:spcPts val="0"/>
              </a:spcBef>
              <a:buNone/>
            </a:pPr>
            <a:r>
              <a:rPr lang="zh-CN" altLang="en-US" sz="1600" dirty="0"/>
              <a:t>将一棵树转换成二叉树的方法如下</a:t>
            </a:r>
            <a:r>
              <a:rPr lang="en-US" altLang="zh-CN" sz="1600" dirty="0"/>
              <a:t>: </a:t>
            </a:r>
          </a:p>
          <a:p>
            <a:pPr marL="0" indent="0" algn="just">
              <a:lnSpc>
                <a:spcPts val="2800"/>
              </a:lnSpc>
              <a:spcBef>
                <a:spcPts val="0"/>
              </a:spcBef>
              <a:buNone/>
            </a:pPr>
            <a:r>
              <a:rPr lang="en-US" altLang="zh-CN" sz="1600" dirty="0"/>
              <a:t>(1)</a:t>
            </a:r>
            <a:r>
              <a:rPr lang="zh-CN" altLang="en-US" sz="1600" dirty="0"/>
              <a:t>加线</a:t>
            </a:r>
            <a:r>
              <a:rPr lang="en-US" altLang="zh-CN" sz="1600" dirty="0"/>
              <a:t>: </a:t>
            </a:r>
            <a:r>
              <a:rPr lang="zh-CN" altLang="en-US" sz="1600" dirty="0"/>
              <a:t>将树中</a:t>
            </a:r>
            <a:r>
              <a:rPr lang="en-US" altLang="zh-CN" sz="1600" dirty="0"/>
              <a:t>(</a:t>
            </a:r>
            <a:r>
              <a:rPr lang="zh-CN" altLang="en-US" sz="1600" dirty="0"/>
              <a:t>如图</a:t>
            </a:r>
            <a:r>
              <a:rPr lang="en-US" altLang="zh-CN" sz="1600" dirty="0"/>
              <a:t>(a))</a:t>
            </a:r>
            <a:r>
              <a:rPr lang="zh-CN" altLang="en-US" sz="1600" dirty="0"/>
              <a:t>所有相邻的兄弟之间加一条连线</a:t>
            </a:r>
            <a:r>
              <a:rPr lang="en-US" altLang="zh-CN" sz="1600" dirty="0"/>
              <a:t>, </a:t>
            </a:r>
            <a:r>
              <a:rPr lang="zh-CN" altLang="en-US" sz="1600" dirty="0"/>
              <a:t>如图</a:t>
            </a:r>
            <a:r>
              <a:rPr lang="en-US" altLang="zh-CN" sz="1600" dirty="0"/>
              <a:t>(b)</a:t>
            </a:r>
            <a:r>
              <a:rPr lang="zh-CN" altLang="en-US" sz="1600" dirty="0"/>
              <a:t>所示</a:t>
            </a:r>
            <a:r>
              <a:rPr lang="en-US" altLang="zh-CN" sz="1600" dirty="0"/>
              <a:t>;</a:t>
            </a:r>
          </a:p>
          <a:p>
            <a:pPr marL="0" indent="0" algn="just">
              <a:lnSpc>
                <a:spcPts val="2800"/>
              </a:lnSpc>
              <a:spcBef>
                <a:spcPts val="0"/>
              </a:spcBef>
              <a:buNone/>
            </a:pPr>
            <a:r>
              <a:rPr lang="en-US" altLang="zh-CN" sz="1600" dirty="0">
                <a:solidFill>
                  <a:srgbClr val="C00000"/>
                </a:solidFill>
              </a:rPr>
              <a:t>(2)</a:t>
            </a:r>
            <a:r>
              <a:rPr lang="zh-CN" altLang="en-US" sz="1600" dirty="0">
                <a:solidFill>
                  <a:srgbClr val="C00000"/>
                </a:solidFill>
              </a:rPr>
              <a:t>抹线</a:t>
            </a:r>
            <a:r>
              <a:rPr lang="en-US" altLang="zh-CN" sz="1600" dirty="0">
                <a:solidFill>
                  <a:srgbClr val="C00000"/>
                </a:solidFill>
              </a:rPr>
              <a:t>: </a:t>
            </a:r>
            <a:r>
              <a:rPr lang="zh-CN" altLang="en-US" sz="1600" dirty="0">
                <a:solidFill>
                  <a:srgbClr val="C00000"/>
                </a:solidFill>
              </a:rPr>
              <a:t>保留树中每个结点与其第一个孩子结点之间的连线</a:t>
            </a:r>
            <a:r>
              <a:rPr lang="en-US" altLang="zh-CN" sz="1600" dirty="0">
                <a:solidFill>
                  <a:srgbClr val="C00000"/>
                </a:solidFill>
              </a:rPr>
              <a:t>, </a:t>
            </a:r>
            <a:r>
              <a:rPr lang="zh-CN" altLang="en-US" sz="1600" dirty="0">
                <a:solidFill>
                  <a:srgbClr val="C00000"/>
                </a:solidFill>
              </a:rPr>
              <a:t>删除它与其他孩子结点之间的连线</a:t>
            </a:r>
            <a:r>
              <a:rPr lang="en-US" altLang="zh-CN" sz="1600" dirty="0">
                <a:solidFill>
                  <a:srgbClr val="C00000"/>
                </a:solidFill>
              </a:rPr>
              <a:t>, </a:t>
            </a:r>
            <a:r>
              <a:rPr lang="zh-CN" altLang="en-US" sz="1600" dirty="0">
                <a:solidFill>
                  <a:srgbClr val="C00000"/>
                </a:solidFill>
              </a:rPr>
              <a:t>如图</a:t>
            </a:r>
            <a:r>
              <a:rPr lang="en-US" altLang="zh-CN" sz="1600" dirty="0">
                <a:solidFill>
                  <a:srgbClr val="C00000"/>
                </a:solidFill>
              </a:rPr>
              <a:t>(c)</a:t>
            </a:r>
            <a:r>
              <a:rPr lang="zh-CN" altLang="en-US" sz="1600" dirty="0">
                <a:solidFill>
                  <a:srgbClr val="C00000"/>
                </a:solidFill>
              </a:rPr>
              <a:t>所示</a:t>
            </a:r>
            <a:r>
              <a:rPr lang="en-US" altLang="zh-CN" sz="1600" dirty="0">
                <a:solidFill>
                  <a:srgbClr val="C00000"/>
                </a:solidFill>
              </a:rPr>
              <a:t>; </a:t>
            </a:r>
          </a:p>
          <a:p>
            <a:pPr marL="0" indent="0" algn="just">
              <a:lnSpc>
                <a:spcPts val="2800"/>
              </a:lnSpc>
              <a:spcBef>
                <a:spcPts val="0"/>
              </a:spcBef>
              <a:buNone/>
            </a:pPr>
            <a:r>
              <a:rPr lang="en-US" altLang="zh-CN" sz="1600" dirty="0"/>
              <a:t>(3)</a:t>
            </a:r>
            <a:r>
              <a:rPr lang="zh-CN" altLang="en-US" sz="1600" dirty="0"/>
              <a:t>旋转</a:t>
            </a:r>
            <a:r>
              <a:rPr lang="en-US" altLang="zh-CN" sz="1600" dirty="0"/>
              <a:t>: </a:t>
            </a:r>
            <a:r>
              <a:rPr lang="zh-CN" altLang="en-US" sz="1600" dirty="0"/>
              <a:t>以右侧有结点连接的结点为轴心</a:t>
            </a:r>
            <a:r>
              <a:rPr lang="en-US" altLang="zh-CN" sz="1600" dirty="0"/>
              <a:t>, </a:t>
            </a:r>
            <a:r>
              <a:rPr lang="zh-CN" altLang="en-US" sz="1600" dirty="0"/>
              <a:t>将其右侧结点顺时针旋转 </a:t>
            </a:r>
            <a:r>
              <a:rPr lang="en-US" altLang="zh-CN" sz="1600" dirty="0"/>
              <a:t>45°,</a:t>
            </a:r>
            <a:r>
              <a:rPr lang="zh-CN" altLang="en-US" sz="1600" dirty="0"/>
              <a:t>使之成为一棵层次分明的二叉树</a:t>
            </a:r>
            <a:r>
              <a:rPr lang="en-US" altLang="zh-CN" sz="1600" dirty="0"/>
              <a:t>, </a:t>
            </a:r>
            <a:r>
              <a:rPr lang="zh-CN" altLang="en-US" sz="1600" dirty="0"/>
              <a:t>如图</a:t>
            </a:r>
            <a:r>
              <a:rPr lang="en-US" altLang="zh-CN" sz="1600" dirty="0"/>
              <a:t>(d)</a:t>
            </a:r>
            <a:r>
              <a:rPr lang="zh-CN" altLang="en-US" sz="1600" dirty="0"/>
              <a:t>所示。</a:t>
            </a:r>
          </a:p>
          <a:p>
            <a:pPr marL="0" indent="0">
              <a:buNone/>
            </a:pPr>
            <a:endParaRPr lang="zh-CN" altLang="en-US" dirty="0"/>
          </a:p>
        </p:txBody>
      </p:sp>
      <p:pic>
        <p:nvPicPr>
          <p:cNvPr id="4" name="图片 3"/>
          <p:cNvPicPr>
            <a:picLocks noChangeAspect="1"/>
          </p:cNvPicPr>
          <p:nvPr/>
        </p:nvPicPr>
        <p:blipFill>
          <a:blip r:embed="rId2"/>
          <a:stretch>
            <a:fillRect/>
          </a:stretch>
        </p:blipFill>
        <p:spPr>
          <a:xfrm>
            <a:off x="1331640" y="1965302"/>
            <a:ext cx="6998272" cy="3054720"/>
          </a:xfrm>
          <a:prstGeom prst="rect">
            <a:avLst/>
          </a:prstGeom>
        </p:spPr>
      </p:pic>
      <p:sp>
        <p:nvSpPr>
          <p:cNvPr id="5" name="文本框 4"/>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树和二叉树的转换</a:t>
            </a:r>
          </a:p>
        </p:txBody>
      </p:sp>
    </p:spTree>
    <p:extLst>
      <p:ext uri="{BB962C8B-B14F-4D97-AF65-F5344CB8AC3E}">
        <p14:creationId xmlns:p14="http://schemas.microsoft.com/office/powerpoint/2010/main" val="21569327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9163" y="843558"/>
            <a:ext cx="3583051" cy="1800200"/>
          </a:xfrm>
        </p:spPr>
        <p:txBody>
          <a:bodyPr/>
          <a:lstStyle/>
          <a:p>
            <a:pPr algn="just"/>
            <a:r>
              <a:rPr lang="zh-CN" altLang="zh-CN" sz="1600" dirty="0"/>
              <a:t>从树和二叉树的转换方法知，任何一棵树转换成的二叉树，二叉树的右子树必为空。由此，我们可以把森林中的第二棵树的根结点看成是第一棵树的根结点的兄弟，第三棵树的根结点看成是第二棵树的根结点的兄弟，依次类推，同样可导出森林和二叉树的对应关系。</a:t>
            </a:r>
            <a:endParaRPr lang="zh-CN" altLang="en-US" sz="1600" dirty="0"/>
          </a:p>
        </p:txBody>
      </p:sp>
      <p:pic>
        <p:nvPicPr>
          <p:cNvPr id="4" name="图片 3"/>
          <p:cNvPicPr>
            <a:picLocks noChangeAspect="1"/>
          </p:cNvPicPr>
          <p:nvPr/>
        </p:nvPicPr>
        <p:blipFill>
          <a:blip r:embed="rId2"/>
          <a:stretch>
            <a:fillRect/>
          </a:stretch>
        </p:blipFill>
        <p:spPr>
          <a:xfrm>
            <a:off x="3547846" y="1070740"/>
            <a:ext cx="2590072" cy="1522286"/>
          </a:xfrm>
          <a:prstGeom prst="rect">
            <a:avLst/>
          </a:prstGeom>
        </p:spPr>
      </p:pic>
      <p:pic>
        <p:nvPicPr>
          <p:cNvPr id="5" name="图片 4"/>
          <p:cNvPicPr>
            <a:picLocks noChangeAspect="1"/>
          </p:cNvPicPr>
          <p:nvPr/>
        </p:nvPicPr>
        <p:blipFill>
          <a:blip r:embed="rId3"/>
          <a:stretch>
            <a:fillRect/>
          </a:stretch>
        </p:blipFill>
        <p:spPr>
          <a:xfrm>
            <a:off x="6104878" y="867758"/>
            <a:ext cx="3047143" cy="1776000"/>
          </a:xfrm>
          <a:prstGeom prst="rect">
            <a:avLst/>
          </a:prstGeom>
        </p:spPr>
      </p:pic>
      <p:pic>
        <p:nvPicPr>
          <p:cNvPr id="6" name="图片 5"/>
          <p:cNvPicPr>
            <a:picLocks noChangeAspect="1"/>
          </p:cNvPicPr>
          <p:nvPr/>
        </p:nvPicPr>
        <p:blipFill>
          <a:blip r:embed="rId4"/>
          <a:stretch>
            <a:fillRect/>
          </a:stretch>
        </p:blipFill>
        <p:spPr>
          <a:xfrm>
            <a:off x="6269528" y="2643758"/>
            <a:ext cx="2701800" cy="2029715"/>
          </a:xfrm>
          <a:prstGeom prst="rect">
            <a:avLst/>
          </a:prstGeom>
        </p:spPr>
      </p:pic>
      <p:pic>
        <p:nvPicPr>
          <p:cNvPr id="7" name="图片 6"/>
          <p:cNvPicPr>
            <a:picLocks noChangeAspect="1"/>
          </p:cNvPicPr>
          <p:nvPr/>
        </p:nvPicPr>
        <p:blipFill>
          <a:blip r:embed="rId5"/>
          <a:stretch>
            <a:fillRect/>
          </a:stretch>
        </p:blipFill>
        <p:spPr>
          <a:xfrm>
            <a:off x="3618513" y="2653907"/>
            <a:ext cx="2651015" cy="2019566"/>
          </a:xfrm>
          <a:prstGeom prst="rect">
            <a:avLst/>
          </a:prstGeom>
        </p:spPr>
      </p:pic>
      <p:sp>
        <p:nvSpPr>
          <p:cNvPr id="8" name="文本框 7"/>
          <p:cNvSpPr txBox="1"/>
          <p:nvPr/>
        </p:nvSpPr>
        <p:spPr>
          <a:xfrm>
            <a:off x="612366" y="123478"/>
            <a:ext cx="25194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森林和二叉树的转换</a:t>
            </a:r>
          </a:p>
        </p:txBody>
      </p:sp>
    </p:spTree>
    <p:extLst>
      <p:ext uri="{BB962C8B-B14F-4D97-AF65-F5344CB8AC3E}">
        <p14:creationId xmlns:p14="http://schemas.microsoft.com/office/powerpoint/2010/main" val="42551424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059832" y="1794391"/>
            <a:ext cx="5688632" cy="800930"/>
          </a:xfrm>
        </p:spPr>
        <p:txBody>
          <a:bodyPr/>
          <a:lstStyle/>
          <a:p>
            <a:r>
              <a:rPr lang="zh-CN" altLang="en-US" dirty="0"/>
              <a:t>哈夫曼树及其应用</a:t>
            </a:r>
          </a:p>
        </p:txBody>
      </p:sp>
      <p:sp>
        <p:nvSpPr>
          <p:cNvPr id="5" name="文本占位符 4"/>
          <p:cNvSpPr>
            <a:spLocks noGrp="1"/>
          </p:cNvSpPr>
          <p:nvPr>
            <p:ph type="body" sz="quarter" idx="11"/>
          </p:nvPr>
        </p:nvSpPr>
        <p:spPr/>
        <p:txBody>
          <a:bodyPr/>
          <a:lstStyle/>
          <a:p>
            <a:r>
              <a:rPr lang="en-US" altLang="zh-CN" dirty="0"/>
              <a:t>07</a:t>
            </a:r>
            <a:endParaRPr lang="zh-CN" altLang="en-US" dirty="0"/>
          </a:p>
        </p:txBody>
      </p:sp>
      <p:sp>
        <p:nvSpPr>
          <p:cNvPr id="2" name="矩形 1"/>
          <p:cNvSpPr/>
          <p:nvPr/>
        </p:nvSpPr>
        <p:spPr>
          <a:xfrm>
            <a:off x="107504" y="4299942"/>
            <a:ext cx="3600400" cy="7920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22559450"/>
      </p:ext>
    </p:extLst>
  </p:cSld>
  <p:clrMapOvr>
    <a:masterClrMapping/>
  </p:clrMapOvr>
  <p:transition spd="slow">
    <p:push dir="u"/>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064124"/>
                <a:ext cx="9144000" cy="3507876"/>
              </a:xfrm>
            </p:spPr>
            <p:txBody>
              <a:bodyPr/>
              <a:lstStyle/>
              <a:p>
                <a:pPr marL="0" indent="0" algn="just">
                  <a:lnSpc>
                    <a:spcPts val="2800"/>
                  </a:lnSpc>
                  <a:spcBef>
                    <a:spcPts val="0"/>
                  </a:spcBef>
                  <a:buNone/>
                </a:pPr>
                <a:r>
                  <a:rPr lang="en-US" altLang="zh-CN" sz="1600" dirty="0"/>
                  <a:t>  </a:t>
                </a:r>
                <a:r>
                  <a:rPr lang="zh-CN" altLang="zh-CN" sz="1600" dirty="0"/>
                  <a:t>霍夫曼（</a:t>
                </a:r>
                <a:r>
                  <a:rPr lang="en-US" altLang="zh-CN" sz="1600" dirty="0"/>
                  <a:t>Huffman</a:t>
                </a:r>
                <a:r>
                  <a:rPr lang="zh-CN" altLang="zh-CN" sz="1600" dirty="0"/>
                  <a:t>）树，又称最优二叉树，是一类树的带权路径长度最小的二叉树，其在信息科学中有着广泛的应用</a:t>
                </a:r>
                <a:r>
                  <a:rPr lang="zh-CN" altLang="en-US" sz="1600" dirty="0"/>
                  <a:t>。</a:t>
                </a:r>
                <a:endParaRPr lang="en-US" altLang="zh-CN" sz="1600" dirty="0"/>
              </a:p>
              <a:p>
                <a:pPr marL="0" indent="0" algn="just">
                  <a:lnSpc>
                    <a:spcPts val="2800"/>
                  </a:lnSpc>
                  <a:spcBef>
                    <a:spcPts val="0"/>
                  </a:spcBef>
                  <a:buNone/>
                </a:pPr>
                <a:endParaRPr lang="en-US" altLang="zh-CN" sz="1600" dirty="0"/>
              </a:p>
              <a:p>
                <a:pPr marL="0" indent="0" algn="just">
                  <a:lnSpc>
                    <a:spcPts val="2800"/>
                  </a:lnSpc>
                  <a:spcBef>
                    <a:spcPts val="0"/>
                  </a:spcBef>
                  <a:buNone/>
                </a:pPr>
                <a:r>
                  <a:rPr lang="zh-CN" altLang="zh-CN" sz="1600" dirty="0"/>
                  <a:t>（</a:t>
                </a:r>
                <a:r>
                  <a:rPr lang="en-US" altLang="zh-CN" sz="1600" dirty="0"/>
                  <a:t>1</a:t>
                </a:r>
                <a:r>
                  <a:rPr lang="zh-CN" altLang="zh-CN" sz="1600" dirty="0"/>
                  <a:t>）</a:t>
                </a:r>
                <a:r>
                  <a:rPr lang="zh-CN" altLang="zh-CN" sz="1600" b="1" dirty="0"/>
                  <a:t>路径</a:t>
                </a:r>
                <a:r>
                  <a:rPr lang="zh-CN" altLang="zh-CN" sz="1600" dirty="0"/>
                  <a:t>：从一个祖先结点到子孙结点之间的分支构成这两个结点间的路径；</a:t>
                </a:r>
              </a:p>
              <a:p>
                <a:pPr marL="0" indent="0" algn="just">
                  <a:lnSpc>
                    <a:spcPts val="2800"/>
                  </a:lnSpc>
                  <a:spcBef>
                    <a:spcPts val="0"/>
                  </a:spcBef>
                  <a:buNone/>
                </a:pPr>
                <a:r>
                  <a:rPr lang="zh-CN" altLang="zh-CN" sz="1600" dirty="0"/>
                  <a:t>（</a:t>
                </a:r>
                <a:r>
                  <a:rPr lang="en-US" altLang="zh-CN" sz="1600" dirty="0"/>
                  <a:t>2</a:t>
                </a:r>
                <a:r>
                  <a:rPr lang="zh-CN" altLang="zh-CN" sz="1600" dirty="0"/>
                  <a:t>）</a:t>
                </a:r>
                <a:r>
                  <a:rPr lang="zh-CN" altLang="zh-CN" sz="1600" b="1" dirty="0"/>
                  <a:t>路径长度</a:t>
                </a:r>
                <a:r>
                  <a:rPr lang="zh-CN" altLang="zh-CN" sz="1600" dirty="0"/>
                  <a:t>：路径上的分支的数目；</a:t>
                </a:r>
              </a:p>
              <a:p>
                <a:pPr marL="0" indent="0" algn="just">
                  <a:lnSpc>
                    <a:spcPts val="2800"/>
                  </a:lnSpc>
                  <a:spcBef>
                    <a:spcPts val="0"/>
                  </a:spcBef>
                  <a:buNone/>
                </a:pPr>
                <a:r>
                  <a:rPr lang="zh-CN" altLang="zh-CN" sz="1600" dirty="0"/>
                  <a:t>（</a:t>
                </a:r>
                <a:r>
                  <a:rPr lang="en-US" altLang="zh-CN" sz="1600" dirty="0"/>
                  <a:t>3</a:t>
                </a:r>
                <a:r>
                  <a:rPr lang="zh-CN" altLang="zh-CN" sz="1600" dirty="0"/>
                  <a:t>）</a:t>
                </a:r>
                <a:r>
                  <a:rPr lang="zh-CN" altLang="zh-CN" sz="1600" b="1" dirty="0"/>
                  <a:t>树的路径长度</a:t>
                </a:r>
                <a:r>
                  <a:rPr lang="zh-CN" altLang="zh-CN" sz="1600" dirty="0"/>
                  <a:t>：从根到每个结点的路径长度之和。在</a:t>
                </a:r>
                <a14:m>
                  <m:oMath xmlns:m="http://schemas.openxmlformats.org/officeDocument/2006/math">
                    <m:r>
                      <a:rPr lang="en-US" altLang="zh-CN" sz="1600">
                        <a:latin typeface="Cambria Math" panose="02040503050406030204" pitchFamily="18" charset="0"/>
                      </a:rPr>
                      <m:t>𝑛</m:t>
                    </m:r>
                  </m:oMath>
                </a14:m>
                <a:r>
                  <a:rPr lang="zh-CN" altLang="zh-CN" sz="1600" dirty="0"/>
                  <a:t>个结点的二叉树中，完全二叉树具有最小的路径长度。</a:t>
                </a:r>
              </a:p>
              <a:p>
                <a:pPr marL="0" indent="0" algn="just">
                  <a:lnSpc>
                    <a:spcPts val="2800"/>
                  </a:lnSpc>
                  <a:spcBef>
                    <a:spcPts val="0"/>
                  </a:spcBef>
                  <a:buNone/>
                </a:pPr>
                <a:r>
                  <a:rPr lang="zh-CN" altLang="zh-CN" sz="1600" dirty="0"/>
                  <a:t>（</a:t>
                </a:r>
                <a:r>
                  <a:rPr lang="en-US" altLang="zh-CN" sz="1600" dirty="0"/>
                  <a:t>4</a:t>
                </a:r>
                <a:r>
                  <a:rPr lang="zh-CN" altLang="zh-CN" sz="1600" dirty="0"/>
                  <a:t>）</a:t>
                </a:r>
                <a:r>
                  <a:rPr lang="zh-CN" altLang="zh-CN" sz="1600" b="1" dirty="0"/>
                  <a:t>结点的权</a:t>
                </a:r>
                <a:r>
                  <a:rPr lang="zh-CN" altLang="zh-CN" sz="1600" dirty="0"/>
                  <a:t>：根据应用的需要可以给树的结点赋于权值；</a:t>
                </a:r>
              </a:p>
              <a:p>
                <a:pPr marL="0" indent="0" algn="just">
                  <a:lnSpc>
                    <a:spcPts val="2800"/>
                  </a:lnSpc>
                  <a:spcBef>
                    <a:spcPts val="0"/>
                  </a:spcBef>
                  <a:buNone/>
                </a:pPr>
                <a:r>
                  <a:rPr lang="zh-CN" altLang="zh-CN" sz="1600" dirty="0"/>
                  <a:t>（</a:t>
                </a:r>
                <a:r>
                  <a:rPr lang="en-US" altLang="zh-CN" sz="1600" dirty="0"/>
                  <a:t>5</a:t>
                </a:r>
                <a:r>
                  <a:rPr lang="zh-CN" altLang="zh-CN" sz="1600" dirty="0"/>
                  <a:t>）</a:t>
                </a:r>
                <a:r>
                  <a:rPr lang="zh-CN" altLang="zh-CN" sz="1600" b="1" dirty="0"/>
                  <a:t>结点的带权路径长度</a:t>
                </a:r>
                <a:r>
                  <a:rPr lang="zh-CN" altLang="zh-CN" sz="1600" dirty="0"/>
                  <a:t>：从根到该结点的路径长度与该结点权的乘积；</a:t>
                </a:r>
              </a:p>
              <a:p>
                <a:pPr marL="0" indent="0" algn="just">
                  <a:lnSpc>
                    <a:spcPts val="24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064124"/>
                <a:ext cx="9144000" cy="3507876"/>
              </a:xfrm>
              <a:blipFill>
                <a:blip r:embed="rId2"/>
                <a:stretch>
                  <a:fillRect l="-600" r="-600"/>
                </a:stretch>
              </a:blipFill>
            </p:spPr>
            <p:txBody>
              <a:bodyPr/>
              <a:lstStyle/>
              <a:p>
                <a:r>
                  <a:rPr lang="zh-CN" altLang="en-US">
                    <a:noFill/>
                  </a:rPr>
                  <a:t> </a:t>
                </a:r>
              </a:p>
            </p:txBody>
          </p:sp>
        </mc:Fallback>
      </mc:AlternateContent>
      <p:sp>
        <p:nvSpPr>
          <p:cNvPr id="4" name="文本框 3"/>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哈夫曼树的概念</a:t>
            </a:r>
          </a:p>
        </p:txBody>
      </p:sp>
    </p:spTree>
    <p:extLst>
      <p:ext uri="{BB962C8B-B14F-4D97-AF65-F5344CB8AC3E}">
        <p14:creationId xmlns:p14="http://schemas.microsoft.com/office/powerpoint/2010/main" val="21824718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064124"/>
                <a:ext cx="8424936" cy="3507876"/>
              </a:xfrm>
            </p:spPr>
            <p:txBody>
              <a:bodyPr/>
              <a:lstStyle/>
              <a:p>
                <a:pPr marL="0" indent="0" algn="just">
                  <a:lnSpc>
                    <a:spcPts val="2800"/>
                  </a:lnSpc>
                  <a:spcBef>
                    <a:spcPts val="0"/>
                  </a:spcBef>
                  <a:buNone/>
                </a:pPr>
                <a:r>
                  <a:rPr lang="zh-CN" altLang="zh-CN" sz="1600" dirty="0"/>
                  <a:t>（</a:t>
                </a:r>
                <a:r>
                  <a:rPr lang="en-US" altLang="zh-CN" sz="1600" dirty="0"/>
                  <a:t>6</a:t>
                </a:r>
                <a:r>
                  <a:rPr lang="zh-CN" altLang="zh-CN" sz="1600" dirty="0"/>
                  <a:t>）</a:t>
                </a:r>
                <a:r>
                  <a:rPr lang="zh-CN" altLang="zh-CN" sz="1600" b="1" dirty="0"/>
                  <a:t>树的带权路径长度</a:t>
                </a:r>
                <a:r>
                  <a:rPr lang="zh-CN" altLang="zh-CN" sz="1600" dirty="0"/>
                  <a:t>：树中所有叶子结点的带权路径长度之和，通常记为：</a:t>
                </a:r>
                <a:endParaRPr lang="en-US" altLang="zh-CN" sz="1600" dirty="0"/>
              </a:p>
              <a:p>
                <a:pPr marL="0" indent="0" algn="just">
                  <a:lnSpc>
                    <a:spcPts val="2800"/>
                  </a:lnSpc>
                  <a:spcBef>
                    <a:spcPts val="0"/>
                  </a:spcBef>
                  <a:buNone/>
                </a:pPr>
                <a:endParaRPr lang="en-US" altLang="zh-CN" sz="1600" dirty="0"/>
              </a:p>
              <a:p>
                <a:pPr marL="0" indent="0" algn="just">
                  <a:lnSpc>
                    <a:spcPts val="2800"/>
                  </a:lnSpc>
                  <a:spcBef>
                    <a:spcPts val="0"/>
                  </a:spcBef>
                  <a:buNone/>
                </a:pPr>
                <a14:m>
                  <m:oMathPara xmlns:m="http://schemas.openxmlformats.org/officeDocument/2006/math">
                    <m:oMathParaPr>
                      <m:jc m:val="center"/>
                    </m:oMathParaPr>
                    <m:oMath xmlns:m="http://schemas.openxmlformats.org/officeDocument/2006/math">
                      <m:r>
                        <a:rPr lang="en-US" altLang="zh-CN" sz="1600">
                          <a:latin typeface="Cambria Math" panose="02040503050406030204" pitchFamily="18" charset="0"/>
                        </a:rPr>
                        <m:t>  </m:t>
                      </m:r>
                      <m:r>
                        <m:rPr>
                          <m:sty m:val="p"/>
                        </m:rPr>
                        <a:rPr lang="en-US" altLang="zh-CN" sz="1600">
                          <a:latin typeface="Cambria Math" panose="02040503050406030204" pitchFamily="18" charset="0"/>
                        </a:rPr>
                        <m:t>WPL</m:t>
                      </m:r>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a:latin typeface="Cambria Math" panose="02040503050406030204" pitchFamily="18" charset="0"/>
                            </a:rPr>
                            <m:t>𝑖</m:t>
                          </m:r>
                          <m:r>
                            <a:rPr lang="en-US" altLang="zh-CN" sz="1600">
                              <a:latin typeface="Cambria Math" panose="02040503050406030204" pitchFamily="18" charset="0"/>
                            </a:rPr>
                            <m:t>=1</m:t>
                          </m:r>
                        </m:sub>
                        <m:sup>
                          <m:r>
                            <a:rPr lang="en-US" altLang="zh-CN" sz="1600">
                              <a:latin typeface="Cambria Math" panose="02040503050406030204" pitchFamily="18" charset="0"/>
                            </a:rPr>
                            <m:t>𝑛</m:t>
                          </m:r>
                        </m:sup>
                        <m:e>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𝜔</m:t>
                              </m:r>
                            </m:e>
                            <m:sub>
                              <m:r>
                                <a:rPr lang="en-US" altLang="zh-CN" sz="1600">
                                  <a:latin typeface="Cambria Math" panose="02040503050406030204" pitchFamily="18" charset="0"/>
                                </a:rPr>
                                <m:t>𝑖</m:t>
                              </m:r>
                            </m:sub>
                          </m:sSub>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𝑙</m:t>
                              </m:r>
                            </m:e>
                            <m:sub>
                              <m:r>
                                <a:rPr lang="en-US" altLang="zh-CN" sz="1600">
                                  <a:latin typeface="Cambria Math" panose="02040503050406030204" pitchFamily="18" charset="0"/>
                                </a:rPr>
                                <m:t>𝑖</m:t>
                              </m:r>
                            </m:sub>
                          </m:sSub>
                        </m:e>
                      </m:nary>
                    </m:oMath>
                  </m:oMathPara>
                </a14:m>
                <a:endParaRPr lang="zh-CN" altLang="zh-CN" sz="1600" dirty="0"/>
              </a:p>
              <a:p>
                <a:pPr marL="0" indent="0" algn="just">
                  <a:lnSpc>
                    <a:spcPts val="2800"/>
                  </a:lnSpc>
                  <a:spcBef>
                    <a:spcPts val="0"/>
                  </a:spcBef>
                  <a:buNone/>
                </a:pPr>
                <a:r>
                  <a:rPr lang="zh-CN" altLang="zh-CN" sz="1600" dirty="0"/>
                  <a:t>其中，</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𝜔</m:t>
                        </m:r>
                      </m:e>
                      <m:sub>
                        <m:r>
                          <a:rPr lang="en-US" altLang="zh-CN" sz="1600">
                            <a:latin typeface="Cambria Math" panose="02040503050406030204" pitchFamily="18" charset="0"/>
                          </a:rPr>
                          <m:t>𝑖</m:t>
                        </m:r>
                      </m:sub>
                    </m:sSub>
                  </m:oMath>
                </a14:m>
                <a:r>
                  <a:rPr lang="zh-CN" altLang="zh-CN" sz="1600" dirty="0"/>
                  <a:t>是结点</a:t>
                </a:r>
                <a14:m>
                  <m:oMath xmlns:m="http://schemas.openxmlformats.org/officeDocument/2006/math">
                    <m:r>
                      <a:rPr lang="en-US" altLang="zh-CN" sz="1600">
                        <a:latin typeface="Cambria Math" panose="02040503050406030204" pitchFamily="18" charset="0"/>
                      </a:rPr>
                      <m:t>𝑖</m:t>
                    </m:r>
                  </m:oMath>
                </a14:m>
                <a:r>
                  <a:rPr lang="zh-CN" altLang="zh-CN" sz="1600" dirty="0"/>
                  <a:t>的权值，</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𝑙</m:t>
                        </m:r>
                      </m:e>
                      <m:sub>
                        <m:r>
                          <a:rPr lang="en-US" altLang="zh-CN" sz="1600">
                            <a:latin typeface="Cambria Math" panose="02040503050406030204" pitchFamily="18" charset="0"/>
                          </a:rPr>
                          <m:t>𝑖</m:t>
                        </m:r>
                      </m:sub>
                    </m:sSub>
                  </m:oMath>
                </a14:m>
                <a:r>
                  <a:rPr lang="zh-CN" altLang="zh-CN" sz="1600" dirty="0"/>
                  <a:t>是结点</a:t>
                </a:r>
                <a14:m>
                  <m:oMath xmlns:m="http://schemas.openxmlformats.org/officeDocument/2006/math">
                    <m:r>
                      <a:rPr lang="en-US" altLang="zh-CN" sz="1600">
                        <a:latin typeface="Cambria Math" panose="02040503050406030204" pitchFamily="18" charset="0"/>
                      </a:rPr>
                      <m:t>𝑖</m:t>
                    </m:r>
                  </m:oMath>
                </a14:m>
                <a:r>
                  <a:rPr lang="zh-CN" altLang="zh-CN" sz="1600" dirty="0"/>
                  <a:t>的带权路径长度，</a:t>
                </a:r>
                <a:r>
                  <a:rPr lang="en-US" altLang="zh-CN" sz="1600" dirty="0"/>
                  <a:t>n</a:t>
                </a:r>
                <a:r>
                  <a:rPr lang="zh-CN" altLang="zh-CN" sz="1600" dirty="0"/>
                  <a:t>为叶子结点数。</a:t>
                </a:r>
                <a:endParaRPr lang="en-US" altLang="zh-CN" sz="1600" dirty="0"/>
              </a:p>
              <a:p>
                <a:pPr marL="0" indent="0" algn="just">
                  <a:lnSpc>
                    <a:spcPts val="2800"/>
                  </a:lnSpc>
                  <a:spcBef>
                    <a:spcPts val="0"/>
                  </a:spcBef>
                  <a:buNone/>
                </a:pPr>
                <a:r>
                  <a:rPr lang="en-US" altLang="zh-CN" sz="1600" dirty="0"/>
                  <a:t>    </a:t>
                </a:r>
                <a:r>
                  <a:rPr lang="zh-CN" altLang="zh-CN" sz="1600" dirty="0"/>
                  <a:t>假设有</a:t>
                </a:r>
                <a14:m>
                  <m:oMath xmlns:m="http://schemas.openxmlformats.org/officeDocument/2006/math">
                    <m:r>
                      <a:rPr lang="en-US" altLang="zh-CN" sz="1600">
                        <a:latin typeface="Cambria Math" panose="02040503050406030204" pitchFamily="18" charset="0"/>
                      </a:rPr>
                      <m:t>𝑛</m:t>
                    </m:r>
                  </m:oMath>
                </a14:m>
                <a:r>
                  <a:rPr lang="zh-CN" altLang="zh-CN" sz="1600" dirty="0"/>
                  <a:t>个权值的集合</a:t>
                </a:r>
                <a14:m>
                  <m:oMath xmlns:m="http://schemas.openxmlformats.org/officeDocument/2006/math">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𝜔</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𝜔</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𝜔</m:t>
                        </m:r>
                      </m:e>
                      <m:sub>
                        <m:r>
                          <a:rPr lang="en-US" altLang="zh-CN" sz="1600">
                            <a:latin typeface="Cambria Math" panose="02040503050406030204" pitchFamily="18" charset="0"/>
                          </a:rPr>
                          <m:t>𝑛</m:t>
                        </m:r>
                      </m:sub>
                    </m:sSub>
                    <m:r>
                      <a:rPr lang="en-US" altLang="zh-CN" sz="1600">
                        <a:latin typeface="Cambria Math" panose="02040503050406030204" pitchFamily="18" charset="0"/>
                      </a:rPr>
                      <m:t>}</m:t>
                    </m:r>
                  </m:oMath>
                </a14:m>
                <a:r>
                  <a:rPr lang="zh-CN" altLang="zh-CN" sz="1600" dirty="0"/>
                  <a:t>，构造有</a:t>
                </a:r>
                <a14:m>
                  <m:oMath xmlns:m="http://schemas.openxmlformats.org/officeDocument/2006/math">
                    <m:r>
                      <a:rPr lang="en-US" altLang="zh-CN" sz="1600">
                        <a:latin typeface="Cambria Math" panose="02040503050406030204" pitchFamily="18" charset="0"/>
                      </a:rPr>
                      <m:t>𝑛</m:t>
                    </m:r>
                  </m:oMath>
                </a14:m>
                <a:r>
                  <a:rPr lang="zh-CN" altLang="zh-CN" sz="1600" dirty="0"/>
                  <a:t>个叶子结点的二叉树，每个叶子结点</a:t>
                </a:r>
                <a14:m>
                  <m:oMath xmlns:m="http://schemas.openxmlformats.org/officeDocument/2006/math">
                    <m:r>
                      <a:rPr lang="en-US" altLang="zh-CN" sz="1600">
                        <a:latin typeface="Cambria Math" panose="02040503050406030204" pitchFamily="18" charset="0"/>
                      </a:rPr>
                      <m:t>𝑖</m:t>
                    </m:r>
                  </m:oMath>
                </a14:m>
                <a:r>
                  <a:rPr lang="zh-CN" altLang="zh-CN" sz="1600" dirty="0"/>
                  <a:t>有一个 </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𝜔</m:t>
                        </m:r>
                      </m:e>
                      <m:sub>
                        <m:r>
                          <a:rPr lang="en-US" altLang="zh-CN" sz="1600">
                            <a:latin typeface="Cambria Math" panose="02040503050406030204" pitchFamily="18" charset="0"/>
                          </a:rPr>
                          <m:t>𝑖</m:t>
                        </m:r>
                      </m:sub>
                    </m:sSub>
                  </m:oMath>
                </a14:m>
                <a:r>
                  <a:rPr lang="zh-CN" altLang="zh-CN" sz="1600" dirty="0"/>
                  <a:t>作为它的权值，则带权路径长度最小的二叉树称为霍夫曼树，也称为最优二叉树。</a:t>
                </a:r>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064124"/>
                <a:ext cx="8424936" cy="3507876"/>
              </a:xfrm>
              <a:blipFill>
                <a:blip r:embed="rId2"/>
                <a:stretch>
                  <a:fillRect l="-651" t="-8174" r="-651"/>
                </a:stretch>
              </a:blipFill>
            </p:spPr>
            <p:txBody>
              <a:bodyPr/>
              <a:lstStyle/>
              <a:p>
                <a:r>
                  <a:rPr lang="zh-CN" altLang="en-US">
                    <a:noFill/>
                  </a:rPr>
                  <a:t> </a:t>
                </a:r>
              </a:p>
            </p:txBody>
          </p:sp>
        </mc:Fallback>
      </mc:AlternateContent>
      <p:sp>
        <p:nvSpPr>
          <p:cNvPr id="4" name="文本框 3"/>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哈夫曼树的概念</a:t>
            </a:r>
          </a:p>
        </p:txBody>
      </p:sp>
    </p:spTree>
    <p:extLst>
      <p:ext uri="{BB962C8B-B14F-4D97-AF65-F5344CB8AC3E}">
        <p14:creationId xmlns:p14="http://schemas.microsoft.com/office/powerpoint/2010/main" val="34865953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771550"/>
                <a:ext cx="8640960" cy="3507876"/>
              </a:xfrm>
            </p:spPr>
            <p:txBody>
              <a:bodyPr/>
              <a:lstStyle/>
              <a:p>
                <a:pPr marL="0" indent="0">
                  <a:buNone/>
                </a:pPr>
                <a:r>
                  <a:rPr lang="zh-CN" altLang="zh-CN" sz="1600" dirty="0">
                    <a:solidFill>
                      <a:srgbClr val="C00000"/>
                    </a:solidFill>
                    <a:latin typeface="Times New Roman" panose="02020603050405020304" pitchFamily="18" charset="0"/>
                    <a:cs typeface="Times New Roman" panose="02020603050405020304" pitchFamily="18" charset="0"/>
                  </a:rPr>
                  <a:t>例如，</a:t>
                </a:r>
                <a:r>
                  <a:rPr lang="en-US" altLang="zh-CN" sz="1600" dirty="0">
                    <a:solidFill>
                      <a:srgbClr val="C00000"/>
                    </a:solidFill>
                    <a:latin typeface="Times New Roman" panose="02020603050405020304" pitchFamily="18" charset="0"/>
                    <a:cs typeface="Times New Roman" panose="02020603050405020304" pitchFamily="18" charset="0"/>
                  </a:rPr>
                  <a:t>5</a:t>
                </a:r>
                <a:r>
                  <a:rPr lang="zh-CN" altLang="zh-CN" sz="1600" dirty="0">
                    <a:solidFill>
                      <a:srgbClr val="C00000"/>
                    </a:solidFill>
                    <a:latin typeface="Times New Roman" panose="02020603050405020304" pitchFamily="18" charset="0"/>
                    <a:cs typeface="Times New Roman" panose="02020603050405020304" pitchFamily="18" charset="0"/>
                  </a:rPr>
                  <a:t>个仅值的集合</a:t>
                </a:r>
                <a14:m>
                  <m:oMath xmlns:m="http://schemas.openxmlformats.org/officeDocument/2006/math">
                    <m:r>
                      <a:rPr lang="en-US" altLang="zh-CN" sz="1600">
                        <a:solidFill>
                          <a:srgbClr val="C00000"/>
                        </a:solidFill>
                        <a:latin typeface="Cambria Math" panose="02040503050406030204" pitchFamily="18" charset="0"/>
                      </a:rPr>
                      <m:t>{2,3,4,1,6}</m:t>
                    </m:r>
                  </m:oMath>
                </a14:m>
                <a:r>
                  <a:rPr lang="zh-CN" altLang="zh-CN" sz="1600" dirty="0">
                    <a:solidFill>
                      <a:srgbClr val="C00000"/>
                    </a:solidFill>
                    <a:latin typeface="Times New Roman" panose="02020603050405020304" pitchFamily="18" charset="0"/>
                    <a:cs typeface="Times New Roman" panose="02020603050405020304" pitchFamily="18" charset="0"/>
                  </a:rPr>
                  <a:t>，分别对应于</a:t>
                </a:r>
                <a:r>
                  <a:rPr lang="en-US" altLang="zh-CN" sz="1600" dirty="0">
                    <a:solidFill>
                      <a:srgbClr val="C00000"/>
                    </a:solidFill>
                    <a:latin typeface="Times New Roman" panose="02020603050405020304" pitchFamily="18" charset="0"/>
                    <a:cs typeface="Times New Roman" panose="02020603050405020304" pitchFamily="18" charset="0"/>
                  </a:rPr>
                  <a:t>5</a:t>
                </a:r>
                <a:r>
                  <a:rPr lang="zh-CN" altLang="zh-CN" sz="1600" dirty="0">
                    <a:solidFill>
                      <a:srgbClr val="C00000"/>
                    </a:solidFill>
                    <a:latin typeface="Times New Roman" panose="02020603050405020304" pitchFamily="18" charset="0"/>
                    <a:cs typeface="Times New Roman" panose="02020603050405020304" pitchFamily="18" charset="0"/>
                  </a:rPr>
                  <a:t>个叶子结点</a:t>
                </a:r>
                <a14:m>
                  <m:oMath xmlns:m="http://schemas.openxmlformats.org/officeDocument/2006/math">
                    <m:r>
                      <a:rPr lang="en-US" altLang="zh-CN" sz="1600" i="1">
                        <a:solidFill>
                          <a:srgbClr val="C00000"/>
                        </a:solidFill>
                        <a:latin typeface="Cambria Math" panose="02040503050406030204" pitchFamily="18" charset="0"/>
                      </a:rPr>
                      <m:t>𝑎</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𝑏</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𝑐</m:t>
                    </m:r>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𝑑</m:t>
                    </m:r>
                    <m:r>
                      <a:rPr lang="en-US" altLang="zh-CN" sz="1600">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𝑒</m:t>
                    </m:r>
                  </m:oMath>
                </a14:m>
                <a:r>
                  <a:rPr lang="zh-CN" altLang="zh-CN" sz="1600" dirty="0">
                    <a:solidFill>
                      <a:srgbClr val="C00000"/>
                    </a:solidFill>
                    <a:latin typeface="Times New Roman" panose="02020603050405020304" pitchFamily="18" charset="0"/>
                    <a:cs typeface="Times New Roman" panose="02020603050405020304" pitchFamily="18" charset="0"/>
                  </a:rPr>
                  <a:t>的权值，由它们可以构造出多个不同形态的二叉树。</a:t>
                </a:r>
                <a:r>
                  <a:rPr lang="zh-CN" altLang="en-US" sz="1600" dirty="0">
                    <a:solidFill>
                      <a:srgbClr val="C00000"/>
                    </a:solidFill>
                    <a:latin typeface="Times New Roman" panose="02020603050405020304" pitchFamily="18" charset="0"/>
                    <a:cs typeface="Times New Roman" panose="02020603050405020304" pitchFamily="18" charset="0"/>
                  </a:rPr>
                  <a:t>下</a:t>
                </a:r>
                <a:r>
                  <a:rPr lang="zh-CN" altLang="zh-CN" sz="1600" dirty="0">
                    <a:solidFill>
                      <a:srgbClr val="C00000"/>
                    </a:solidFill>
                    <a:latin typeface="Times New Roman" panose="02020603050405020304" pitchFamily="18" charset="0"/>
                    <a:cs typeface="Times New Roman" panose="02020603050405020304" pitchFamily="18" charset="0"/>
                  </a:rPr>
                  <a:t>图给出了其中</a:t>
                </a:r>
                <a:r>
                  <a:rPr lang="en-US" altLang="zh-CN" sz="1600" dirty="0">
                    <a:solidFill>
                      <a:srgbClr val="C00000"/>
                    </a:solidFill>
                    <a:latin typeface="Times New Roman" panose="02020603050405020304" pitchFamily="18" charset="0"/>
                    <a:cs typeface="Times New Roman" panose="02020603050405020304" pitchFamily="18" charset="0"/>
                  </a:rPr>
                  <a:t>3</a:t>
                </a:r>
                <a:r>
                  <a:rPr lang="zh-CN" altLang="zh-CN" sz="1600" dirty="0">
                    <a:solidFill>
                      <a:srgbClr val="C00000"/>
                    </a:solidFill>
                    <a:latin typeface="Times New Roman" panose="02020603050405020304" pitchFamily="18" charset="0"/>
                    <a:cs typeface="Times New Roman" panose="02020603050405020304" pitchFamily="18" charset="0"/>
                  </a:rPr>
                  <a:t>个不同形态的二叉树。</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771550"/>
                <a:ext cx="8640960" cy="3507876"/>
              </a:xfrm>
              <a:blipFill>
                <a:blip r:embed="rId2"/>
                <a:stretch>
                  <a:fillRect l="-635" r="-282"/>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043608" y="1557750"/>
            <a:ext cx="5345900" cy="1621493"/>
          </a:xfrm>
          <a:prstGeom prst="rect">
            <a:avLst/>
          </a:prstGeom>
        </p:spPr>
      </p:pic>
      <mc:AlternateContent xmlns:mc="http://schemas.openxmlformats.org/markup-compatibility/2006" xmlns:a14="http://schemas.microsoft.com/office/drawing/2010/main">
        <mc:Choice Requires="a14">
          <p:sp>
            <p:nvSpPr>
              <p:cNvPr id="5" name="文本框 4"/>
              <p:cNvSpPr txBox="1"/>
              <p:nvPr/>
            </p:nvSpPr>
            <p:spPr>
              <a:xfrm>
                <a:off x="323528" y="3172061"/>
                <a:ext cx="8712968" cy="1938992"/>
              </a:xfrm>
              <a:prstGeom prst="rect">
                <a:avLst/>
              </a:prstGeom>
              <a:noFill/>
            </p:spPr>
            <p:txBody>
              <a:bodyPr wrap="square" rtlCol="0">
                <a:spAutoFit/>
              </a:bodyPr>
              <a:lstStyle/>
              <a:p>
                <a:r>
                  <a:rPr lang="zh-CN" altLang="zh-CN" sz="2000" dirty="0">
                    <a:solidFill>
                      <a:srgbClr val="002060"/>
                    </a:solidFill>
                    <a:latin typeface="隶书" panose="02010509060101010101" pitchFamily="49" charset="-122"/>
                    <a:ea typeface="隶书" panose="02010509060101010101" pitchFamily="49" charset="-122"/>
                  </a:rPr>
                  <a:t>它们的带权路径长度分别为：</a:t>
                </a:r>
                <a:endParaRPr lang="en-US" altLang="zh-CN" sz="2000" dirty="0">
                  <a:solidFill>
                    <a:srgbClr val="002060"/>
                  </a:solidFill>
                  <a:latin typeface="隶书" panose="02010509060101010101" pitchFamily="49" charset="-122"/>
                  <a:ea typeface="隶书" panose="02010509060101010101" pitchFamily="49" charset="-122"/>
                </a:endParaRPr>
              </a:p>
              <a:p>
                <a14:m>
                  <m:oMath xmlns:m="http://schemas.openxmlformats.org/officeDocument/2006/math">
                    <m:d>
                      <m:dPr>
                        <m:begChr m:val="（"/>
                        <m:endChr m:val="）"/>
                        <m:ctrlPr>
                          <a:rPr lang="zh-CN" altLang="zh-CN" sz="2000" i="1">
                            <a:solidFill>
                              <a:srgbClr val="002060"/>
                            </a:solidFill>
                            <a:latin typeface="Cambria Math" panose="02040503050406030204" pitchFamily="18" charset="0"/>
                          </a:rPr>
                        </m:ctrlPr>
                      </m:dPr>
                      <m:e>
                        <m:r>
                          <m:rPr>
                            <m:sty m:val="p"/>
                          </m:rPr>
                          <a:rPr lang="en-US" altLang="zh-CN" sz="2000">
                            <a:solidFill>
                              <a:srgbClr val="002060"/>
                            </a:solidFill>
                            <a:latin typeface="Cambria Math" panose="02040503050406030204" pitchFamily="18" charset="0"/>
                          </a:rPr>
                          <m:t>a</m:t>
                        </m:r>
                      </m:e>
                    </m:d>
                    <m:r>
                      <m:rPr>
                        <m:sty m:val="p"/>
                      </m:rPr>
                      <a:rPr lang="en-US" altLang="zh-CN" sz="2000">
                        <a:solidFill>
                          <a:srgbClr val="002060"/>
                        </a:solidFill>
                        <a:latin typeface="Cambria Math" panose="02040503050406030204" pitchFamily="18" charset="0"/>
                      </a:rPr>
                      <m:t>WPL</m:t>
                    </m:r>
                    <m:r>
                      <a:rPr lang="en-US" altLang="zh-CN" sz="2000">
                        <a:solidFill>
                          <a:srgbClr val="002060"/>
                        </a:solidFill>
                        <a:latin typeface="Cambria Math" panose="02040503050406030204" pitchFamily="18" charset="0"/>
                      </a:rPr>
                      <m:t>=1×3+2×3+4×3+6×3+3×1=42</m:t>
                    </m:r>
                  </m:oMath>
                </a14:m>
                <a:r>
                  <a:rPr lang="en-US" altLang="zh-CN" sz="2000" dirty="0">
                    <a:solidFill>
                      <a:srgbClr val="002060"/>
                    </a:solidFill>
                    <a:latin typeface="隶书" panose="02010509060101010101" pitchFamily="49" charset="-122"/>
                    <a:ea typeface="隶书" panose="02010509060101010101" pitchFamily="49" charset="-122"/>
                  </a:rPr>
                  <a:t> </a:t>
                </a:r>
                <a:endParaRPr lang="zh-CN" altLang="zh-CN" sz="2000" dirty="0">
                  <a:solidFill>
                    <a:srgbClr val="002060"/>
                  </a:solidFill>
                  <a:latin typeface="隶书" panose="02010509060101010101" pitchFamily="49" charset="-122"/>
                  <a:ea typeface="隶书" panose="02010509060101010101" pitchFamily="49" charset="-122"/>
                </a:endParaRPr>
              </a:p>
              <a:p>
                <a14:m>
                  <m:oMath xmlns:m="http://schemas.openxmlformats.org/officeDocument/2006/math">
                    <m:d>
                      <m:dPr>
                        <m:begChr m:val="（"/>
                        <m:endChr m:val="）"/>
                        <m:ctrlPr>
                          <a:rPr lang="zh-CN" altLang="zh-CN" sz="2000" i="1">
                            <a:solidFill>
                              <a:srgbClr val="002060"/>
                            </a:solidFill>
                            <a:latin typeface="Cambria Math" panose="02040503050406030204" pitchFamily="18" charset="0"/>
                          </a:rPr>
                        </m:ctrlPr>
                      </m:dPr>
                      <m:e>
                        <m:r>
                          <m:rPr>
                            <m:sty m:val="p"/>
                          </m:rPr>
                          <a:rPr lang="en-US" altLang="zh-CN" sz="2000">
                            <a:solidFill>
                              <a:srgbClr val="002060"/>
                            </a:solidFill>
                            <a:latin typeface="Cambria Math" panose="02040503050406030204" pitchFamily="18" charset="0"/>
                          </a:rPr>
                          <m:t>b</m:t>
                        </m:r>
                      </m:e>
                    </m:d>
                    <m:r>
                      <m:rPr>
                        <m:sty m:val="p"/>
                      </m:rPr>
                      <a:rPr lang="en-US" altLang="zh-CN" sz="2000">
                        <a:solidFill>
                          <a:srgbClr val="002060"/>
                        </a:solidFill>
                        <a:latin typeface="Cambria Math" panose="02040503050406030204" pitchFamily="18" charset="0"/>
                      </a:rPr>
                      <m:t>WPL</m:t>
                    </m:r>
                    <m:r>
                      <a:rPr lang="en-US" altLang="zh-CN" sz="2000">
                        <a:solidFill>
                          <a:srgbClr val="002060"/>
                        </a:solidFill>
                        <a:latin typeface="Cambria Math" panose="02040503050406030204" pitchFamily="18" charset="0"/>
                      </a:rPr>
                      <m:t>=1×4+2×4+3×3+4×2+6×1=35</m:t>
                    </m:r>
                  </m:oMath>
                </a14:m>
                <a:r>
                  <a:rPr lang="en-US" altLang="zh-CN" sz="2000" dirty="0">
                    <a:solidFill>
                      <a:srgbClr val="002060"/>
                    </a:solidFill>
                    <a:latin typeface="隶书" panose="02010509060101010101" pitchFamily="49" charset="-122"/>
                    <a:ea typeface="隶书" panose="02010509060101010101" pitchFamily="49" charset="-122"/>
                  </a:rPr>
                  <a:t> </a:t>
                </a:r>
                <a:endParaRPr lang="zh-CN" altLang="zh-CN" sz="2000" dirty="0">
                  <a:solidFill>
                    <a:srgbClr val="002060"/>
                  </a:solidFill>
                  <a:latin typeface="隶书" panose="02010509060101010101" pitchFamily="49" charset="-122"/>
                  <a:ea typeface="隶书" panose="02010509060101010101" pitchFamily="49" charset="-122"/>
                </a:endParaRPr>
              </a:p>
              <a:p>
                <a14:m>
                  <m:oMath xmlns:m="http://schemas.openxmlformats.org/officeDocument/2006/math">
                    <m:d>
                      <m:dPr>
                        <m:begChr m:val="（"/>
                        <m:endChr m:val="）"/>
                        <m:ctrlPr>
                          <a:rPr lang="zh-CN" altLang="zh-CN" sz="2000" i="1">
                            <a:solidFill>
                              <a:srgbClr val="002060"/>
                            </a:solidFill>
                            <a:latin typeface="Cambria Math" panose="02040503050406030204" pitchFamily="18" charset="0"/>
                          </a:rPr>
                        </m:ctrlPr>
                      </m:dPr>
                      <m:e>
                        <m:r>
                          <m:rPr>
                            <m:sty m:val="p"/>
                          </m:rPr>
                          <a:rPr lang="en-US" altLang="zh-CN" sz="2000">
                            <a:solidFill>
                              <a:srgbClr val="002060"/>
                            </a:solidFill>
                            <a:latin typeface="Cambria Math" panose="02040503050406030204" pitchFamily="18" charset="0"/>
                          </a:rPr>
                          <m:t>c</m:t>
                        </m:r>
                      </m:e>
                    </m:d>
                    <m:r>
                      <m:rPr>
                        <m:sty m:val="p"/>
                      </m:rPr>
                      <a:rPr lang="en-US" altLang="zh-CN" sz="2000">
                        <a:solidFill>
                          <a:srgbClr val="002060"/>
                        </a:solidFill>
                        <a:latin typeface="Cambria Math" panose="02040503050406030204" pitchFamily="18" charset="0"/>
                      </a:rPr>
                      <m:t>WPL</m:t>
                    </m:r>
                    <m:r>
                      <a:rPr lang="en-US" altLang="zh-CN" sz="2000">
                        <a:solidFill>
                          <a:srgbClr val="002060"/>
                        </a:solidFill>
                        <a:latin typeface="Cambria Math" panose="02040503050406030204" pitchFamily="18" charset="0"/>
                      </a:rPr>
                      <m:t>=1×3+2×3+4×3+3×3+6×1=36</m:t>
                    </m:r>
                  </m:oMath>
                </a14:m>
                <a:r>
                  <a:rPr lang="en-US" altLang="zh-CN" sz="2000" dirty="0">
                    <a:solidFill>
                      <a:srgbClr val="002060"/>
                    </a:solidFill>
                    <a:latin typeface="隶书" panose="02010509060101010101" pitchFamily="49" charset="-122"/>
                    <a:ea typeface="隶书" panose="02010509060101010101" pitchFamily="49" charset="-122"/>
                  </a:rPr>
                  <a:t> </a:t>
                </a:r>
                <a:endParaRPr lang="zh-CN" altLang="zh-CN" sz="2000" dirty="0">
                  <a:solidFill>
                    <a:srgbClr val="002060"/>
                  </a:solidFill>
                  <a:latin typeface="隶书" panose="02010509060101010101" pitchFamily="49" charset="-122"/>
                  <a:ea typeface="隶书" panose="02010509060101010101" pitchFamily="49" charset="-122"/>
                </a:endParaRPr>
              </a:p>
              <a:p>
                <a:r>
                  <a:rPr lang="zh-CN" altLang="zh-CN" sz="2000" dirty="0">
                    <a:solidFill>
                      <a:srgbClr val="002060"/>
                    </a:solidFill>
                    <a:latin typeface="隶书" panose="02010509060101010101" pitchFamily="49" charset="-122"/>
                    <a:ea typeface="隶书" panose="02010509060101010101" pitchFamily="49" charset="-122"/>
                  </a:rPr>
                  <a:t>其中，图</a:t>
                </a:r>
                <a:r>
                  <a:rPr lang="en-US" altLang="zh-CN" sz="2000" dirty="0">
                    <a:solidFill>
                      <a:srgbClr val="002060"/>
                    </a:solidFill>
                    <a:latin typeface="隶书" panose="02010509060101010101" pitchFamily="49" charset="-122"/>
                    <a:ea typeface="隶书" panose="02010509060101010101" pitchFamily="49" charset="-122"/>
                  </a:rPr>
                  <a:t>(b)</a:t>
                </a:r>
                <a:r>
                  <a:rPr lang="zh-CN" altLang="zh-CN" sz="2000" dirty="0">
                    <a:solidFill>
                      <a:srgbClr val="002060"/>
                    </a:solidFill>
                    <a:latin typeface="隶书" panose="02010509060101010101" pitchFamily="49" charset="-122"/>
                    <a:ea typeface="隶书" panose="02010509060101010101" pitchFamily="49" charset="-122"/>
                  </a:rPr>
                  <a:t>所示的二叉树其带权路径长度最小，不难验证它恰好为一棵</a:t>
                </a:r>
                <a:r>
                  <a:rPr lang="zh-CN" altLang="en-US" sz="2000" dirty="0">
                    <a:solidFill>
                      <a:srgbClr val="002060"/>
                    </a:solidFill>
                    <a:latin typeface="隶书" panose="02010509060101010101" pitchFamily="49" charset="-122"/>
                    <a:ea typeface="隶书" panose="02010509060101010101" pitchFamily="49" charset="-122"/>
                  </a:rPr>
                  <a:t>哈</a:t>
                </a:r>
                <a:r>
                  <a:rPr lang="zh-CN" altLang="zh-CN" sz="2000" dirty="0">
                    <a:solidFill>
                      <a:srgbClr val="002060"/>
                    </a:solidFill>
                    <a:latin typeface="隶书" panose="02010509060101010101" pitchFamily="49" charset="-122"/>
                    <a:ea typeface="隶书" panose="02010509060101010101" pitchFamily="49" charset="-122"/>
                  </a:rPr>
                  <a:t>夫曼树。</a:t>
                </a:r>
                <a:endParaRPr lang="zh-CN" altLang="en-US" sz="2000" dirty="0">
                  <a:solidFill>
                    <a:srgbClr val="002060"/>
                  </a:solidFill>
                  <a:latin typeface="隶书" panose="02010509060101010101" pitchFamily="49" charset="-122"/>
                  <a:ea typeface="隶书" panose="02010509060101010101" pitchFamily="49"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23528" y="3172061"/>
                <a:ext cx="8712968" cy="1938992"/>
              </a:xfrm>
              <a:prstGeom prst="rect">
                <a:avLst/>
              </a:prstGeom>
              <a:blipFill>
                <a:blip r:embed="rId4"/>
                <a:stretch>
                  <a:fillRect l="-700" t="-1572" r="-560" b="-4717"/>
                </a:stretch>
              </a:blipFill>
            </p:spPr>
            <p:txBody>
              <a:bodyPr/>
              <a:lstStyle/>
              <a:p>
                <a:r>
                  <a:rPr lang="zh-CN" altLang="en-US">
                    <a:noFill/>
                  </a:rPr>
                  <a:t> </a:t>
                </a:r>
              </a:p>
            </p:txBody>
          </p:sp>
        </mc:Fallback>
      </mc:AlternateContent>
      <p:sp>
        <p:nvSpPr>
          <p:cNvPr id="6" name="文本框 5"/>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引例</a:t>
            </a:r>
          </a:p>
        </p:txBody>
      </p:sp>
    </p:spTree>
    <p:extLst>
      <p:ext uri="{BB962C8B-B14F-4D97-AF65-F5344CB8AC3E}">
        <p14:creationId xmlns:p14="http://schemas.microsoft.com/office/powerpoint/2010/main" val="18585675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 calcmode="lin" valueType="num">
                                      <p:cBhvr additive="base">
                                        <p:cTn id="19"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anim calcmode="lin" valueType="num">
                                      <p:cBhvr additive="base">
                                        <p:cTn id="25"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 calcmode="lin" valueType="num">
                                      <p:cBhvr additive="base">
                                        <p:cTn id="3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 calcmode="lin" valueType="num">
                                      <p:cBhvr additive="base">
                                        <p:cTn id="3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4" end="4"/>
                                            </p:txEl>
                                          </p:spTgt>
                                        </p:tgtEl>
                                        <p:attrNameLst>
                                          <p:attrName>style.visibility</p:attrName>
                                        </p:attrNameLst>
                                      </p:cBhvr>
                                      <p:to>
                                        <p:strVal val="visible"/>
                                      </p:to>
                                    </p:set>
                                    <p:anim calcmode="lin" valueType="num">
                                      <p:cBhvr additive="base">
                                        <p:cTn id="4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87574"/>
                <a:ext cx="8640960" cy="3507876"/>
              </a:xfrm>
            </p:spPr>
            <p:txBody>
              <a:bodyPr/>
              <a:lstStyle/>
              <a:p>
                <a:pPr algn="just">
                  <a:lnSpc>
                    <a:spcPts val="2800"/>
                  </a:lnSpc>
                  <a:spcBef>
                    <a:spcPts val="0"/>
                  </a:spcBef>
                </a:pPr>
                <a:r>
                  <a:rPr lang="zh-CN" altLang="zh-CN" sz="1600" dirty="0">
                    <a:solidFill>
                      <a:srgbClr val="C00000"/>
                    </a:solidFill>
                  </a:rPr>
                  <a:t>根据霍夫曼树的定义，一棵二叉树要使其带权路径长度最小，必须让权值大的结点靠近根结点，而权值小的结点远离根结点。据此，霍夫曼树的构造算法如下：</a:t>
                </a:r>
              </a:p>
              <a:p>
                <a:pPr marL="0" indent="0" algn="just">
                  <a:lnSpc>
                    <a:spcPts val="2800"/>
                  </a:lnSpc>
                  <a:spcBef>
                    <a:spcPts val="0"/>
                  </a:spcBef>
                  <a:buNone/>
                </a:pPr>
                <a:r>
                  <a:rPr lang="zh-CN" altLang="zh-CN" sz="1600" dirty="0"/>
                  <a:t>（</a:t>
                </a:r>
                <a:r>
                  <a:rPr lang="en-US" altLang="zh-CN" sz="1600" dirty="0"/>
                  <a:t>1</a:t>
                </a:r>
                <a:r>
                  <a:rPr lang="zh-CN" altLang="zh-CN" sz="1600" dirty="0"/>
                  <a:t>）根据给定</a:t>
                </a:r>
                <a14:m>
                  <m:oMath xmlns:m="http://schemas.openxmlformats.org/officeDocument/2006/math">
                    <m:r>
                      <a:rPr lang="en-US" altLang="zh-CN" sz="1600">
                        <a:latin typeface="Cambria Math" panose="02040503050406030204" pitchFamily="18" charset="0"/>
                      </a:rPr>
                      <m:t>𝑛</m:t>
                    </m:r>
                  </m:oMath>
                </a14:m>
                <a:r>
                  <a:rPr lang="zh-CN" altLang="zh-CN" sz="1600" dirty="0"/>
                  <a:t>个权值集合</a:t>
                </a:r>
                <a14:m>
                  <m:oMath xmlns:m="http://schemas.openxmlformats.org/officeDocument/2006/math">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1</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2</m:t>
                        </m:r>
                      </m:sub>
                    </m:sSub>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𝑛</m:t>
                        </m:r>
                      </m:sub>
                    </m:sSub>
                    <m:r>
                      <a:rPr lang="en-US" altLang="zh-CN" sz="1600">
                        <a:latin typeface="Cambria Math" panose="02040503050406030204" pitchFamily="18" charset="0"/>
                      </a:rPr>
                      <m:t>}</m:t>
                    </m:r>
                  </m:oMath>
                </a14:m>
                <a:r>
                  <a:rPr lang="zh-CN" altLang="zh-CN" sz="1600" dirty="0"/>
                  <a:t>构造</a:t>
                </a:r>
                <a14:m>
                  <m:oMath xmlns:m="http://schemas.openxmlformats.org/officeDocument/2006/math">
                    <m:r>
                      <a:rPr lang="en-US" altLang="zh-CN" sz="1600">
                        <a:latin typeface="Cambria Math" panose="02040503050406030204" pitchFamily="18" charset="0"/>
                      </a:rPr>
                      <m:t>𝑛</m:t>
                    </m:r>
                  </m:oMath>
                </a14:m>
                <a:r>
                  <a:rPr lang="zh-CN" altLang="zh-CN" sz="1600" dirty="0"/>
                  <a:t>棵二叉树的集合</a:t>
                </a:r>
                <a14:m>
                  <m:oMath xmlns:m="http://schemas.openxmlformats.org/officeDocument/2006/math">
                    <m:r>
                      <a:rPr lang="en-US" altLang="zh-CN" sz="1600">
                        <a:latin typeface="Cambria Math" panose="02040503050406030204" pitchFamily="18" charset="0"/>
                      </a:rPr>
                      <m:t>𝐹</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𝑇</m:t>
                        </m:r>
                      </m:e>
                      <m:sub>
                        <m:r>
                          <a:rPr lang="en-US" altLang="zh-CN" sz="1600">
                            <a:latin typeface="Cambria Math" panose="02040503050406030204" pitchFamily="18" charset="0"/>
                          </a:rPr>
                          <m:t>1</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𝑇</m:t>
                        </m:r>
                      </m:e>
                      <m:sub>
                        <m:r>
                          <a:rPr lang="en-US" altLang="zh-CN" sz="1600">
                            <a:latin typeface="Cambria Math" panose="02040503050406030204" pitchFamily="18" charset="0"/>
                          </a:rPr>
                          <m:t>2</m:t>
                        </m:r>
                      </m:sub>
                    </m:sSub>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𝑇</m:t>
                        </m:r>
                      </m:e>
                      <m:sub>
                        <m:r>
                          <a:rPr lang="en-US" altLang="zh-CN" sz="1600">
                            <a:latin typeface="Cambria Math" panose="02040503050406030204" pitchFamily="18" charset="0"/>
                          </a:rPr>
                          <m:t>𝑛</m:t>
                        </m:r>
                      </m:sub>
                    </m:sSub>
                    <m:r>
                      <a:rPr lang="en-US" altLang="zh-CN" sz="1600">
                        <a:latin typeface="Cambria Math" panose="02040503050406030204" pitchFamily="18" charset="0"/>
                      </a:rPr>
                      <m:t>}</m:t>
                    </m:r>
                  </m:oMath>
                </a14:m>
                <a:r>
                  <a:rPr lang="zh-CN" altLang="zh-CN" sz="1600" dirty="0"/>
                  <a:t>，其中每棵二叉树</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𝑇</m:t>
                        </m:r>
                      </m:e>
                      <m:sub>
                        <m:r>
                          <a:rPr lang="en-US" altLang="zh-CN" sz="1600">
                            <a:latin typeface="Cambria Math" panose="02040503050406030204" pitchFamily="18" charset="0"/>
                          </a:rPr>
                          <m:t>𝑖</m:t>
                        </m:r>
                      </m:sub>
                    </m:sSub>
                    <m:r>
                      <a:rPr lang="en-US" altLang="zh-CN" sz="1600">
                        <a:latin typeface="Cambria Math" panose="02040503050406030204" pitchFamily="18" charset="0"/>
                      </a:rPr>
                      <m:t>(1≤</m:t>
                    </m:r>
                    <m:r>
                      <a:rPr lang="en-US" altLang="zh-CN" sz="1600">
                        <a:latin typeface="Cambria Math" panose="02040503050406030204" pitchFamily="18" charset="0"/>
                      </a:rPr>
                      <m:t>𝑖</m:t>
                    </m:r>
                    <m:r>
                      <a:rPr lang="en-US" altLang="zh-CN" sz="1600">
                        <a:latin typeface="Cambria Math" panose="02040503050406030204" pitchFamily="18" charset="0"/>
                      </a:rPr>
                      <m:t>≤</m:t>
                    </m:r>
                    <m:r>
                      <a:rPr lang="en-US" altLang="zh-CN" sz="1600">
                        <a:latin typeface="Cambria Math" panose="02040503050406030204" pitchFamily="18" charset="0"/>
                      </a:rPr>
                      <m:t>𝑛</m:t>
                    </m:r>
                    <m:r>
                      <a:rPr lang="en-US" altLang="zh-CN" sz="1600">
                        <a:latin typeface="Cambria Math" panose="02040503050406030204" pitchFamily="18" charset="0"/>
                      </a:rPr>
                      <m:t>)</m:t>
                    </m:r>
                  </m:oMath>
                </a14:m>
                <a:r>
                  <a:rPr lang="zh-CN" altLang="zh-CN" sz="1600" dirty="0"/>
                  <a:t>中只有一个权值为</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𝑖</m:t>
                        </m:r>
                      </m:sub>
                    </m:sSub>
                  </m:oMath>
                </a14:m>
                <a:r>
                  <a:rPr lang="zh-CN" altLang="zh-CN" sz="1600" dirty="0"/>
                  <a:t>的根结点，其左子树、右子树均为空。</a:t>
                </a:r>
              </a:p>
              <a:p>
                <a:pPr marL="0" indent="0" algn="just">
                  <a:lnSpc>
                    <a:spcPts val="2800"/>
                  </a:lnSpc>
                  <a:spcBef>
                    <a:spcPts val="0"/>
                  </a:spcBef>
                  <a:buNone/>
                </a:pPr>
                <a:r>
                  <a:rPr lang="zh-CN" altLang="zh-CN" sz="1600" dirty="0"/>
                  <a:t>（</a:t>
                </a:r>
                <a:r>
                  <a:rPr lang="en-US" altLang="zh-CN" sz="1600" dirty="0"/>
                  <a:t>2</a:t>
                </a:r>
                <a:r>
                  <a:rPr lang="zh-CN" altLang="zh-CN" sz="1600" dirty="0"/>
                  <a:t>）在</a:t>
                </a:r>
                <a14:m>
                  <m:oMath xmlns:m="http://schemas.openxmlformats.org/officeDocument/2006/math">
                    <m:r>
                      <a:rPr lang="en-US" altLang="zh-CN" sz="1600">
                        <a:latin typeface="Cambria Math" panose="02040503050406030204" pitchFamily="18" charset="0"/>
                      </a:rPr>
                      <m:t>𝐹</m:t>
                    </m:r>
                  </m:oMath>
                </a14:m>
                <a:r>
                  <a:rPr lang="zh-CN" altLang="zh-CN" sz="1600" dirty="0"/>
                  <a:t>中选取两棵根结点的权值最小的二叉树分别作为左子树和右子树构造一棵新的二叉树，且将新的二叉树的根结点的权值置为其左、右子树上根结点的权值之和。</a:t>
                </a:r>
              </a:p>
              <a:p>
                <a:pPr marL="0" indent="0" algn="just">
                  <a:lnSpc>
                    <a:spcPts val="2800"/>
                  </a:lnSpc>
                  <a:spcBef>
                    <a:spcPts val="0"/>
                  </a:spcBef>
                  <a:buNone/>
                </a:pPr>
                <a:r>
                  <a:rPr lang="zh-CN" altLang="zh-CN" sz="1600" dirty="0"/>
                  <a:t>（</a:t>
                </a:r>
                <a:r>
                  <a:rPr lang="en-US" altLang="zh-CN" sz="1600" dirty="0"/>
                  <a:t>3</a:t>
                </a:r>
                <a:r>
                  <a:rPr lang="zh-CN" altLang="zh-CN" sz="1600" dirty="0"/>
                  <a:t>）在</a:t>
                </a:r>
                <a14:m>
                  <m:oMath xmlns:m="http://schemas.openxmlformats.org/officeDocument/2006/math">
                    <m:r>
                      <a:rPr lang="en-US" altLang="zh-CN" sz="1600">
                        <a:latin typeface="Cambria Math" panose="02040503050406030204" pitchFamily="18" charset="0"/>
                      </a:rPr>
                      <m:t>𝐹</m:t>
                    </m:r>
                  </m:oMath>
                </a14:m>
                <a:r>
                  <a:rPr lang="zh-CN" altLang="zh-CN" sz="1600" dirty="0"/>
                  <a:t>中删除作为左子树和右子树的两棵二叉树，同时将新得到的二叉树加入到</a:t>
                </a:r>
                <a14:m>
                  <m:oMath xmlns:m="http://schemas.openxmlformats.org/officeDocument/2006/math">
                    <m:r>
                      <a:rPr lang="en-US" altLang="zh-CN" sz="1600">
                        <a:latin typeface="Cambria Math" panose="02040503050406030204" pitchFamily="18" charset="0"/>
                      </a:rPr>
                      <m:t>𝐹</m:t>
                    </m:r>
                  </m:oMath>
                </a14:m>
                <a:r>
                  <a:rPr lang="zh-CN" altLang="zh-CN" sz="1600" dirty="0"/>
                  <a:t>中。</a:t>
                </a:r>
              </a:p>
              <a:p>
                <a:pPr marL="0" indent="0" algn="just">
                  <a:lnSpc>
                    <a:spcPts val="2800"/>
                  </a:lnSpc>
                  <a:spcBef>
                    <a:spcPts val="0"/>
                  </a:spcBef>
                  <a:buNone/>
                </a:pPr>
                <a:r>
                  <a:rPr lang="zh-CN" altLang="zh-CN" sz="1600" dirty="0"/>
                  <a:t>（</a:t>
                </a:r>
                <a:r>
                  <a:rPr lang="en-US" altLang="zh-CN" sz="1600" dirty="0"/>
                  <a:t>4</a:t>
                </a:r>
                <a:r>
                  <a:rPr lang="zh-CN" altLang="zh-CN" sz="1600" dirty="0"/>
                  <a:t>）重复（</a:t>
                </a:r>
                <a:r>
                  <a:rPr lang="en-US" altLang="zh-CN" sz="1600" dirty="0"/>
                  <a:t>2</a:t>
                </a:r>
                <a:r>
                  <a:rPr lang="zh-CN" altLang="zh-CN" sz="1600" dirty="0"/>
                  <a:t>）和（</a:t>
                </a:r>
                <a:r>
                  <a:rPr lang="en-US" altLang="zh-CN" sz="1600" dirty="0"/>
                  <a:t>3</a:t>
                </a:r>
                <a:r>
                  <a:rPr lang="zh-CN" altLang="zh-CN" sz="1600" dirty="0"/>
                  <a:t>），直到</a:t>
                </a:r>
                <a14:m>
                  <m:oMath xmlns:m="http://schemas.openxmlformats.org/officeDocument/2006/math">
                    <m:r>
                      <a:rPr lang="en-US" altLang="zh-CN" sz="1600">
                        <a:latin typeface="Cambria Math" panose="02040503050406030204" pitchFamily="18" charset="0"/>
                      </a:rPr>
                      <m:t>𝐹</m:t>
                    </m:r>
                  </m:oMath>
                </a14:m>
                <a:r>
                  <a:rPr lang="zh-CN" altLang="zh-CN" sz="1600" dirty="0"/>
                  <a:t>只含一棵二叉树为止，这棵二叉树就是霍夫曼树。</a:t>
                </a:r>
              </a:p>
              <a:p>
                <a:pPr algn="just">
                  <a:lnSpc>
                    <a:spcPts val="2800"/>
                  </a:lnSpc>
                  <a:spcBef>
                    <a:spcPts val="0"/>
                  </a:spcBef>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87574"/>
                <a:ext cx="8640960" cy="3507876"/>
              </a:xfrm>
              <a:blipFill>
                <a:blip r:embed="rId2"/>
                <a:stretch>
                  <a:fillRect l="-635" r="-2962"/>
                </a:stretch>
              </a:blipFill>
            </p:spPr>
            <p:txBody>
              <a:bodyPr/>
              <a:lstStyle/>
              <a:p>
                <a:r>
                  <a:rPr lang="zh-CN" altLang="en-US">
                    <a:noFill/>
                  </a:rPr>
                  <a:t> </a:t>
                </a:r>
              </a:p>
            </p:txBody>
          </p:sp>
        </mc:Fallback>
      </mc:AlternateContent>
      <p:sp>
        <p:nvSpPr>
          <p:cNvPr id="4" name="文本框 3"/>
          <p:cNvSpPr txBox="1"/>
          <p:nvPr/>
        </p:nvSpPr>
        <p:spPr>
          <a:xfrm>
            <a:off x="612366" y="123478"/>
            <a:ext cx="201541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哈夫曼树的构造</a:t>
            </a:r>
          </a:p>
        </p:txBody>
      </p:sp>
    </p:spTree>
    <p:extLst>
      <p:ext uri="{BB962C8B-B14F-4D97-AF65-F5344CB8AC3E}">
        <p14:creationId xmlns:p14="http://schemas.microsoft.com/office/powerpoint/2010/main" val="29324896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67564" y="836492"/>
                <a:ext cx="8976435" cy="643530"/>
              </a:xfrm>
            </p:spPr>
            <p:txBody>
              <a:bodyPr/>
              <a:lstStyle/>
              <a:p>
                <a:pPr marL="0" indent="0" algn="just">
                  <a:lnSpc>
                    <a:spcPts val="2800"/>
                  </a:lnSpc>
                  <a:spcBef>
                    <a:spcPts val="0"/>
                  </a:spcBef>
                  <a:buNone/>
                </a:pPr>
                <a:r>
                  <a:rPr lang="zh-CN" altLang="en-US" sz="1600" dirty="0"/>
                  <a:t>已知结点的</a:t>
                </a:r>
                <a:r>
                  <a:rPr lang="zh-CN" altLang="zh-CN" sz="1600" dirty="0"/>
                  <a:t>权值集合</a:t>
                </a:r>
                <a14:m>
                  <m:oMath xmlns:m="http://schemas.openxmlformats.org/officeDocument/2006/math">
                    <m:r>
                      <a:rPr lang="en-US" altLang="zh-CN" sz="1600">
                        <a:latin typeface="Cambria Math" panose="02040503050406030204" pitchFamily="18" charset="0"/>
                      </a:rPr>
                      <m:t>{30,8,9,15,24,12,4,6}</m:t>
                    </m:r>
                  </m:oMath>
                </a14:m>
                <a:r>
                  <a:rPr lang="zh-CN" altLang="en-US" sz="1600" dirty="0"/>
                  <a:t>，试以它们为叶子结点构造哈</a:t>
                </a:r>
                <a:r>
                  <a:rPr lang="zh-CN" altLang="zh-CN" sz="1600" dirty="0"/>
                  <a:t>夫曼树</a:t>
                </a:r>
                <a:r>
                  <a:rPr lang="zh-CN" altLang="en-US" sz="1600" dirty="0"/>
                  <a:t>。</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67564" y="836492"/>
                <a:ext cx="8976435" cy="643530"/>
              </a:xfrm>
              <a:blipFill>
                <a:blip r:embed="rId2"/>
                <a:stretch>
                  <a:fillRect l="-611"/>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23527" y="1610728"/>
            <a:ext cx="2711957" cy="294309"/>
          </a:xfrm>
          <a:prstGeom prst="rect">
            <a:avLst/>
          </a:prstGeom>
        </p:spPr>
      </p:pic>
      <p:pic>
        <p:nvPicPr>
          <p:cNvPr id="5" name="图片 4"/>
          <p:cNvPicPr>
            <a:picLocks noChangeAspect="1"/>
          </p:cNvPicPr>
          <p:nvPr/>
        </p:nvPicPr>
        <p:blipFill>
          <a:blip r:embed="rId4"/>
          <a:stretch>
            <a:fillRect/>
          </a:stretch>
        </p:blipFill>
        <p:spPr>
          <a:xfrm>
            <a:off x="323527" y="2116980"/>
            <a:ext cx="2711957" cy="649509"/>
          </a:xfrm>
          <a:prstGeom prst="rect">
            <a:avLst/>
          </a:prstGeom>
        </p:spPr>
      </p:pic>
      <p:pic>
        <p:nvPicPr>
          <p:cNvPr id="6" name="图片 5"/>
          <p:cNvPicPr>
            <a:picLocks noChangeAspect="1"/>
          </p:cNvPicPr>
          <p:nvPr/>
        </p:nvPicPr>
        <p:blipFill>
          <a:blip r:embed="rId5"/>
          <a:stretch>
            <a:fillRect/>
          </a:stretch>
        </p:blipFill>
        <p:spPr>
          <a:xfrm>
            <a:off x="451702" y="2902786"/>
            <a:ext cx="2722115" cy="639360"/>
          </a:xfrm>
          <a:prstGeom prst="rect">
            <a:avLst/>
          </a:prstGeom>
        </p:spPr>
      </p:pic>
      <p:pic>
        <p:nvPicPr>
          <p:cNvPr id="7" name="图片 6"/>
          <p:cNvPicPr>
            <a:picLocks noChangeAspect="1"/>
          </p:cNvPicPr>
          <p:nvPr/>
        </p:nvPicPr>
        <p:blipFill>
          <a:blip r:embed="rId6"/>
          <a:stretch>
            <a:fillRect/>
          </a:stretch>
        </p:blipFill>
        <p:spPr>
          <a:xfrm>
            <a:off x="578146" y="3678443"/>
            <a:ext cx="2569757" cy="984412"/>
          </a:xfrm>
          <a:prstGeom prst="rect">
            <a:avLst/>
          </a:prstGeom>
        </p:spPr>
      </p:pic>
      <p:pic>
        <p:nvPicPr>
          <p:cNvPr id="9" name="图片 8"/>
          <p:cNvPicPr>
            <a:picLocks noChangeAspect="1"/>
          </p:cNvPicPr>
          <p:nvPr/>
        </p:nvPicPr>
        <p:blipFill>
          <a:blip r:embed="rId7"/>
          <a:stretch>
            <a:fillRect/>
          </a:stretch>
        </p:blipFill>
        <p:spPr>
          <a:xfrm>
            <a:off x="3358648" y="2902786"/>
            <a:ext cx="2153315" cy="1319314"/>
          </a:xfrm>
          <a:prstGeom prst="rect">
            <a:avLst/>
          </a:prstGeom>
        </p:spPr>
      </p:pic>
      <p:pic>
        <p:nvPicPr>
          <p:cNvPr id="10" name="图片 9"/>
          <p:cNvPicPr>
            <a:picLocks noChangeAspect="1"/>
          </p:cNvPicPr>
          <p:nvPr/>
        </p:nvPicPr>
        <p:blipFill>
          <a:blip r:embed="rId8"/>
          <a:stretch>
            <a:fillRect/>
          </a:stretch>
        </p:blipFill>
        <p:spPr>
          <a:xfrm>
            <a:off x="3359011" y="1610728"/>
            <a:ext cx="2336143" cy="974263"/>
          </a:xfrm>
          <a:prstGeom prst="rect">
            <a:avLst/>
          </a:prstGeom>
        </p:spPr>
      </p:pic>
      <p:pic>
        <p:nvPicPr>
          <p:cNvPr id="11" name="图片 10"/>
          <p:cNvPicPr>
            <a:picLocks noChangeAspect="1"/>
          </p:cNvPicPr>
          <p:nvPr/>
        </p:nvPicPr>
        <p:blipFill>
          <a:blip r:embed="rId9"/>
          <a:stretch>
            <a:fillRect/>
          </a:stretch>
        </p:blipFill>
        <p:spPr>
          <a:xfrm>
            <a:off x="6018681" y="1426877"/>
            <a:ext cx="2153315" cy="1339612"/>
          </a:xfrm>
          <a:prstGeom prst="rect">
            <a:avLst/>
          </a:prstGeom>
        </p:spPr>
      </p:pic>
      <p:pic>
        <p:nvPicPr>
          <p:cNvPr id="12" name="图片 11"/>
          <p:cNvPicPr>
            <a:picLocks noChangeAspect="1"/>
          </p:cNvPicPr>
          <p:nvPr/>
        </p:nvPicPr>
        <p:blipFill>
          <a:blip r:embed="rId10"/>
          <a:stretch>
            <a:fillRect/>
          </a:stretch>
        </p:blipFill>
        <p:spPr>
          <a:xfrm>
            <a:off x="6110096" y="2790443"/>
            <a:ext cx="2061900" cy="1776000"/>
          </a:xfrm>
          <a:prstGeom prst="rect">
            <a:avLst/>
          </a:prstGeom>
        </p:spPr>
      </p:pic>
      <p:cxnSp>
        <p:nvCxnSpPr>
          <p:cNvPr id="14" name="直接连接符 13"/>
          <p:cNvCxnSpPr/>
          <p:nvPr/>
        </p:nvCxnSpPr>
        <p:spPr>
          <a:xfrm>
            <a:off x="0" y="1347614"/>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245825" y="1347614"/>
            <a:ext cx="30031" cy="3795886"/>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cxnSp>
        <p:nvCxnSpPr>
          <p:cNvPr id="20" name="直接连接符 19"/>
          <p:cNvCxnSpPr/>
          <p:nvPr/>
        </p:nvCxnSpPr>
        <p:spPr>
          <a:xfrm>
            <a:off x="5868144" y="1347614"/>
            <a:ext cx="0" cy="3795886"/>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sp>
        <p:nvSpPr>
          <p:cNvPr id="15" name="文本框 14"/>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1950728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 calcmode="lin" valueType="num">
                                      <p:cBhvr additive="base">
                                        <p:cTn id="56" dur="500" fill="hold"/>
                                        <p:tgtEl>
                                          <p:spTgt spid="12"/>
                                        </p:tgtEl>
                                        <p:attrNameLst>
                                          <p:attrName>ppt_x</p:attrName>
                                        </p:attrNameLst>
                                      </p:cBhvr>
                                      <p:tavLst>
                                        <p:tav tm="0">
                                          <p:val>
                                            <p:strVal val="#ppt_x"/>
                                          </p:val>
                                        </p:tav>
                                        <p:tav tm="100000">
                                          <p:val>
                                            <p:strVal val="#ppt_x"/>
                                          </p:val>
                                        </p:tav>
                                      </p:tavLst>
                                    </p:anim>
                                    <p:anim calcmode="lin" valueType="num">
                                      <p:cBhvr additive="base">
                                        <p:cTn id="5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064124"/>
                <a:ext cx="9108504" cy="3507876"/>
              </a:xfrm>
            </p:spPr>
            <p:txBody>
              <a:bodyPr/>
              <a:lstStyle/>
              <a:p>
                <a:r>
                  <a:rPr lang="zh-CN" altLang="zh-CN" sz="1600" dirty="0">
                    <a:solidFill>
                      <a:srgbClr val="C00000"/>
                    </a:solidFill>
                  </a:rPr>
                  <a:t>对于具有</a:t>
                </a:r>
                <a14:m>
                  <m:oMath xmlns:m="http://schemas.openxmlformats.org/officeDocument/2006/math">
                    <m:r>
                      <a:rPr lang="en-US" altLang="zh-CN" sz="1600" i="1">
                        <a:solidFill>
                          <a:srgbClr val="C00000"/>
                        </a:solidFill>
                        <a:latin typeface="Cambria Math" panose="02040503050406030204" pitchFamily="18" charset="0"/>
                      </a:rPr>
                      <m:t>𝑛</m:t>
                    </m:r>
                  </m:oMath>
                </a14:m>
                <a:r>
                  <a:rPr lang="zh-CN" altLang="zh-CN" sz="1600" dirty="0">
                    <a:solidFill>
                      <a:srgbClr val="C00000"/>
                    </a:solidFill>
                  </a:rPr>
                  <a:t>个叶子结点的霍夫曼树，共有</a:t>
                </a:r>
                <a14:m>
                  <m:oMath xmlns:m="http://schemas.openxmlformats.org/officeDocument/2006/math">
                    <m:r>
                      <a:rPr lang="en-US" altLang="zh-CN" sz="1600">
                        <a:solidFill>
                          <a:srgbClr val="C00000"/>
                        </a:solidFill>
                        <a:latin typeface="Cambria Math" panose="02040503050406030204" pitchFamily="18" charset="0"/>
                      </a:rPr>
                      <m:t>2</m:t>
                    </m:r>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oMath>
                </a14:m>
                <a:r>
                  <a:rPr lang="zh-CN" altLang="zh-CN" sz="1600" dirty="0">
                    <a:solidFill>
                      <a:srgbClr val="C00000"/>
                    </a:solidFill>
                  </a:rPr>
                  <a:t>个结点，其中有</a:t>
                </a:r>
                <a14:m>
                  <m:oMath xmlns:m="http://schemas.openxmlformats.org/officeDocument/2006/math">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−1</m:t>
                    </m:r>
                  </m:oMath>
                </a14:m>
                <a:r>
                  <a:rPr lang="zh-CN" altLang="zh-CN" sz="1600" dirty="0">
                    <a:solidFill>
                      <a:srgbClr val="C00000"/>
                    </a:solidFill>
                  </a:rPr>
                  <a:t>个非叶子结点。</a:t>
                </a:r>
              </a:p>
              <a:p>
                <a:pPr marL="0" indent="0" algn="just">
                  <a:lnSpc>
                    <a:spcPts val="2800"/>
                  </a:lnSpc>
                  <a:spcBef>
                    <a:spcPts val="0"/>
                  </a:spcBef>
                  <a:buNone/>
                </a:pPr>
                <a:endParaRPr lang="en-US" altLang="zh-CN" sz="1600" dirty="0"/>
              </a:p>
              <a:p>
                <a:pPr marL="0" indent="0" algn="just">
                  <a:lnSpc>
                    <a:spcPts val="2800"/>
                  </a:lnSpc>
                  <a:spcBef>
                    <a:spcPts val="0"/>
                  </a:spcBef>
                  <a:buNone/>
                </a:pPr>
                <a:r>
                  <a:rPr lang="zh-CN" altLang="zh-CN" sz="1600" dirty="0"/>
                  <a:t>证明：因为霍夫曼树中不存在度为</a:t>
                </a:r>
                <a:r>
                  <a:rPr lang="en-US" altLang="zh-CN" sz="1600" dirty="0"/>
                  <a:t>1</a:t>
                </a:r>
                <a:r>
                  <a:rPr lang="zh-CN" altLang="zh-CN" sz="1600" dirty="0"/>
                  <a:t>的结点，即</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1</m:t>
                        </m:r>
                      </m:sub>
                    </m:sSub>
                    <m:r>
                      <a:rPr lang="en-US" altLang="zh-CN" sz="1600">
                        <a:latin typeface="Cambria Math" panose="02040503050406030204" pitchFamily="18" charset="0"/>
                      </a:rPr>
                      <m:t>=0</m:t>
                    </m:r>
                  </m:oMath>
                </a14:m>
                <a:r>
                  <a:rPr lang="zh-CN" altLang="zh-CN" sz="1600" dirty="0"/>
                  <a:t>，所以根据二叉树的性质</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0</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2</m:t>
                        </m:r>
                      </m:sub>
                    </m:sSub>
                    <m:r>
                      <a:rPr lang="en-US" altLang="zh-CN" sz="1600">
                        <a:latin typeface="Cambria Math" panose="02040503050406030204" pitchFamily="18" charset="0"/>
                      </a:rPr>
                      <m:t>+1</m:t>
                    </m:r>
                  </m:oMath>
                </a14:m>
                <a:r>
                  <a:rPr lang="zh-CN" altLang="zh-CN" sz="1600" dirty="0"/>
                  <a:t>知，</a:t>
                </a:r>
                <a14:m>
                  <m:oMath xmlns:m="http://schemas.openxmlformats.org/officeDocument/2006/math">
                    <m:r>
                      <a:rPr lang="zh-CN" altLang="zh-CN" sz="1600">
                        <a:latin typeface="Cambria Math" panose="02040503050406030204" pitchFamily="18" charset="0"/>
                      </a:rPr>
                      <m:t>非叶子结点数</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2</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0</m:t>
                        </m:r>
                      </m:sub>
                    </m:sSub>
                    <m:r>
                      <a:rPr lang="en-US" altLang="zh-CN" sz="1600">
                        <a:latin typeface="Cambria Math" panose="02040503050406030204" pitchFamily="18" charset="0"/>
                      </a:rPr>
                      <m:t>−1=</m:t>
                    </m:r>
                    <m:r>
                      <a:rPr lang="en-US" altLang="zh-CN" sz="1600">
                        <a:latin typeface="Cambria Math" panose="02040503050406030204" pitchFamily="18" charset="0"/>
                      </a:rPr>
                      <m:t>𝑛</m:t>
                    </m:r>
                    <m:r>
                      <a:rPr lang="en-US" altLang="zh-CN" sz="1600">
                        <a:latin typeface="Cambria Math" panose="02040503050406030204" pitchFamily="18" charset="0"/>
                      </a:rPr>
                      <m:t>−1</m:t>
                    </m:r>
                  </m:oMath>
                </a14:m>
                <a:r>
                  <a:rPr lang="zh-CN" altLang="zh-CN" sz="1600" dirty="0"/>
                  <a:t>。于是，霍夫曼树的总结点数</a:t>
                </a:r>
                <a14:m>
                  <m:oMath xmlns:m="http://schemas.openxmlformats.org/officeDocument/2006/math">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0</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𝑛</m:t>
                        </m:r>
                      </m:e>
                      <m:sub>
                        <m:r>
                          <a:rPr lang="en-US" altLang="zh-CN" sz="1600">
                            <a:latin typeface="Cambria Math" panose="02040503050406030204" pitchFamily="18" charset="0"/>
                          </a:rPr>
                          <m:t>2</m:t>
                        </m:r>
                      </m:sub>
                    </m:sSub>
                    <m:r>
                      <a:rPr lang="en-US" altLang="zh-CN" sz="1600">
                        <a:latin typeface="Cambria Math" panose="02040503050406030204" pitchFamily="18" charset="0"/>
                      </a:rPr>
                      <m:t>=2</m:t>
                    </m:r>
                    <m:r>
                      <a:rPr lang="en-US" altLang="zh-CN" sz="1600">
                        <a:latin typeface="Cambria Math" panose="02040503050406030204" pitchFamily="18" charset="0"/>
                      </a:rPr>
                      <m:t>𝑛</m:t>
                    </m:r>
                    <m:r>
                      <a:rPr lang="en-US" altLang="zh-CN" sz="1600">
                        <a:latin typeface="Cambria Math" panose="02040503050406030204" pitchFamily="18" charset="0"/>
                      </a:rPr>
                      <m:t>−1</m:t>
                    </m:r>
                  </m:oMath>
                </a14:m>
                <a:r>
                  <a:rPr lang="zh-CN" altLang="zh-CN" sz="1600" dirty="0"/>
                  <a:t>。</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064124"/>
                <a:ext cx="9108504" cy="3507876"/>
              </a:xfrm>
              <a:blipFill>
                <a:blip r:embed="rId2"/>
                <a:stretch>
                  <a:fillRect l="-602" r="-669"/>
                </a:stretch>
              </a:blipFill>
            </p:spPr>
            <p:txBody>
              <a:bodyPr/>
              <a:lstStyle/>
              <a:p>
                <a:r>
                  <a:rPr lang="zh-CN" altLang="en-US">
                    <a:noFill/>
                  </a:rPr>
                  <a:t> </a:t>
                </a:r>
              </a:p>
            </p:txBody>
          </p:sp>
        </mc:Fallback>
      </mc:AlternateContent>
      <p:sp>
        <p:nvSpPr>
          <p:cNvPr id="4" name="文本框 3"/>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定理</a:t>
            </a:r>
          </a:p>
        </p:txBody>
      </p:sp>
    </p:spTree>
    <p:extLst>
      <p:ext uri="{BB962C8B-B14F-4D97-AF65-F5344CB8AC3E}">
        <p14:creationId xmlns:p14="http://schemas.microsoft.com/office/powerpoint/2010/main" val="4045024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5496" y="1064124"/>
            <a:ext cx="9073008" cy="1651642"/>
          </a:xfrm>
        </p:spPr>
        <p:txBody>
          <a:bodyPr/>
          <a:lstStyle/>
          <a:p>
            <a:pPr>
              <a:lnSpc>
                <a:spcPts val="2800"/>
              </a:lnSpc>
              <a:spcBef>
                <a:spcPts val="0"/>
              </a:spcBef>
            </a:pPr>
            <a:r>
              <a:rPr lang="en-US" altLang="zh-CN" sz="1800" dirty="0">
                <a:latin typeface="隶书" panose="02010509060101010101" pitchFamily="49" charset="-122"/>
                <a:ea typeface="隶书" panose="02010509060101010101" pitchFamily="49" charset="-122"/>
              </a:rPr>
              <a:t>    </a:t>
            </a:r>
            <a:r>
              <a:rPr lang="zh-CN" altLang="zh-CN" sz="1800" dirty="0">
                <a:latin typeface="隶书" panose="02010509060101010101" pitchFamily="49" charset="-122"/>
                <a:ea typeface="隶书" panose="02010509060101010101" pitchFamily="49" charset="-122"/>
              </a:rPr>
              <a:t>在数据通信中，经常需要将传送的文字转换成由二进制字符</a:t>
            </a:r>
            <a:r>
              <a:rPr lang="en-US" altLang="zh-CN" sz="1800" dirty="0">
                <a:latin typeface="隶书" panose="02010509060101010101" pitchFamily="49" charset="-122"/>
                <a:ea typeface="隶书" panose="02010509060101010101" pitchFamily="49" charset="-122"/>
              </a:rPr>
              <a:t>0</a:t>
            </a:r>
            <a:r>
              <a:rPr lang="zh-CN" altLang="zh-CN" sz="1800" dirty="0">
                <a:latin typeface="隶书" panose="02010509060101010101" pitchFamily="49" charset="-122"/>
                <a:ea typeface="隶书" panose="02010509060101010101" pitchFamily="49" charset="-122"/>
              </a:rPr>
              <a:t>、</a:t>
            </a:r>
            <a:r>
              <a:rPr lang="en-US" altLang="zh-CN" sz="1800" dirty="0">
                <a:latin typeface="隶书" panose="02010509060101010101" pitchFamily="49" charset="-122"/>
                <a:ea typeface="隶书" panose="02010509060101010101" pitchFamily="49" charset="-122"/>
              </a:rPr>
              <a:t>1</a:t>
            </a:r>
            <a:r>
              <a:rPr lang="zh-CN" altLang="zh-CN" sz="1800" dirty="0">
                <a:latin typeface="隶书" panose="02010509060101010101" pitchFamily="49" charset="-122"/>
                <a:ea typeface="隶书" panose="02010509060101010101" pitchFamily="49" charset="-122"/>
              </a:rPr>
              <a:t>组成的字符串（也称为编码）。例如，假设要传送的电文为</a:t>
            </a:r>
            <a:r>
              <a:rPr lang="en-US" altLang="zh-CN" sz="1800" dirty="0">
                <a:latin typeface="隶书" panose="02010509060101010101" pitchFamily="49" charset="-122"/>
                <a:ea typeface="隶书" panose="02010509060101010101" pitchFamily="49" charset="-122"/>
              </a:rPr>
              <a:t>“BACCDA”</a:t>
            </a:r>
            <a:r>
              <a:rPr lang="zh-CN" altLang="zh-CN" sz="1800" dirty="0">
                <a:latin typeface="隶书" panose="02010509060101010101" pitchFamily="49" charset="-122"/>
                <a:ea typeface="隶书" panose="02010509060101010101" pitchFamily="49" charset="-122"/>
              </a:rPr>
              <a:t>，电文中只含有</a:t>
            </a:r>
            <a:r>
              <a:rPr lang="en-US" altLang="zh-CN" sz="1800" dirty="0">
                <a:latin typeface="隶书" panose="02010509060101010101" pitchFamily="49" charset="-122"/>
                <a:ea typeface="隶书" panose="02010509060101010101" pitchFamily="49" charset="-122"/>
              </a:rPr>
              <a:t>A</a:t>
            </a:r>
            <a:r>
              <a:rPr lang="zh-CN" altLang="zh-CN" sz="1800" dirty="0">
                <a:latin typeface="隶书" panose="02010509060101010101" pitchFamily="49" charset="-122"/>
                <a:ea typeface="隶书" panose="02010509060101010101" pitchFamily="49" charset="-122"/>
              </a:rPr>
              <a:t>、</a:t>
            </a:r>
            <a:r>
              <a:rPr lang="en-US" altLang="zh-CN" sz="1800" dirty="0">
                <a:latin typeface="隶书" panose="02010509060101010101" pitchFamily="49" charset="-122"/>
                <a:ea typeface="隶书" panose="02010509060101010101" pitchFamily="49" charset="-122"/>
              </a:rPr>
              <a:t>B</a:t>
            </a:r>
            <a:r>
              <a:rPr lang="zh-CN" altLang="zh-CN" sz="1800" dirty="0">
                <a:latin typeface="隶书" panose="02010509060101010101" pitchFamily="49" charset="-122"/>
                <a:ea typeface="隶书" panose="02010509060101010101" pitchFamily="49" charset="-122"/>
              </a:rPr>
              <a:t>、</a:t>
            </a:r>
            <a:r>
              <a:rPr lang="en-US" altLang="zh-CN" sz="1800" dirty="0">
                <a:latin typeface="隶书" panose="02010509060101010101" pitchFamily="49" charset="-122"/>
                <a:ea typeface="隶书" panose="02010509060101010101" pitchFamily="49" charset="-122"/>
              </a:rPr>
              <a:t>C</a:t>
            </a:r>
            <a:r>
              <a:rPr lang="zh-CN" altLang="zh-CN" sz="1800" dirty="0">
                <a:latin typeface="隶书" panose="02010509060101010101" pitchFamily="49" charset="-122"/>
                <a:ea typeface="隶书" panose="02010509060101010101" pitchFamily="49" charset="-122"/>
              </a:rPr>
              <a:t>、</a:t>
            </a:r>
            <a:r>
              <a:rPr lang="en-US" altLang="zh-CN" sz="1800" dirty="0">
                <a:latin typeface="隶书" panose="02010509060101010101" pitchFamily="49" charset="-122"/>
                <a:ea typeface="隶书" panose="02010509060101010101" pitchFamily="49" charset="-122"/>
              </a:rPr>
              <a:t>D 4</a:t>
            </a:r>
            <a:r>
              <a:rPr lang="zh-CN" altLang="zh-CN" sz="1800" dirty="0">
                <a:latin typeface="隶书" panose="02010509060101010101" pitchFamily="49" charset="-122"/>
                <a:ea typeface="隶书" panose="02010509060101010101" pitchFamily="49" charset="-122"/>
              </a:rPr>
              <a:t>种字符，若这</a:t>
            </a:r>
            <a:r>
              <a:rPr lang="en-US" altLang="zh-CN" sz="1800" dirty="0">
                <a:latin typeface="隶书" panose="02010509060101010101" pitchFamily="49" charset="-122"/>
                <a:ea typeface="隶书" panose="02010509060101010101" pitchFamily="49" charset="-122"/>
              </a:rPr>
              <a:t>4</a:t>
            </a:r>
            <a:r>
              <a:rPr lang="zh-CN" altLang="zh-CN" sz="1800" dirty="0">
                <a:latin typeface="隶书" panose="02010509060101010101" pitchFamily="49" charset="-122"/>
                <a:ea typeface="隶书" panose="02010509060101010101" pitchFamily="49" charset="-122"/>
              </a:rPr>
              <a:t>种字符采用等长编码，如编码</a:t>
            </a:r>
            <a:r>
              <a:rPr lang="en-US" altLang="zh-CN" sz="1800" dirty="0">
                <a:latin typeface="隶书" panose="02010509060101010101" pitchFamily="49" charset="-122"/>
                <a:ea typeface="隶书" panose="02010509060101010101" pitchFamily="49" charset="-122"/>
              </a:rPr>
              <a:t>A(00)</a:t>
            </a:r>
            <a:r>
              <a:rPr lang="zh-CN" altLang="zh-CN" sz="1800" dirty="0">
                <a:latin typeface="隶书" panose="02010509060101010101" pitchFamily="49" charset="-122"/>
                <a:ea typeface="隶书" panose="02010509060101010101" pitchFamily="49" charset="-122"/>
              </a:rPr>
              <a:t>、</a:t>
            </a:r>
            <a:r>
              <a:rPr lang="en-US" altLang="zh-CN" sz="1800" dirty="0">
                <a:latin typeface="隶书" panose="02010509060101010101" pitchFamily="49" charset="-122"/>
                <a:ea typeface="隶书" panose="02010509060101010101" pitchFamily="49" charset="-122"/>
              </a:rPr>
              <a:t>B(01)</a:t>
            </a:r>
            <a:r>
              <a:rPr lang="zh-CN" altLang="zh-CN" sz="1800" dirty="0">
                <a:latin typeface="隶书" panose="02010509060101010101" pitchFamily="49" charset="-122"/>
                <a:ea typeface="隶书" panose="02010509060101010101" pitchFamily="49" charset="-122"/>
              </a:rPr>
              <a:t>、</a:t>
            </a:r>
            <a:r>
              <a:rPr lang="en-US" altLang="zh-CN" sz="1800" dirty="0">
                <a:latin typeface="隶书" panose="02010509060101010101" pitchFamily="49" charset="-122"/>
                <a:ea typeface="隶书" panose="02010509060101010101" pitchFamily="49" charset="-122"/>
              </a:rPr>
              <a:t>C(10)</a:t>
            </a:r>
            <a:r>
              <a:rPr lang="zh-CN" altLang="zh-CN" sz="1800" dirty="0">
                <a:latin typeface="隶书" panose="02010509060101010101" pitchFamily="49" charset="-122"/>
                <a:ea typeface="隶书" panose="02010509060101010101" pitchFamily="49" charset="-122"/>
              </a:rPr>
              <a:t>和</a:t>
            </a:r>
            <a:r>
              <a:rPr lang="en-US" altLang="zh-CN" sz="1800" dirty="0">
                <a:latin typeface="隶书" panose="02010509060101010101" pitchFamily="49" charset="-122"/>
                <a:ea typeface="隶书" panose="02010509060101010101" pitchFamily="49" charset="-122"/>
              </a:rPr>
              <a:t>D(11)</a:t>
            </a:r>
            <a:r>
              <a:rPr lang="zh-CN" altLang="zh-CN" sz="1800" dirty="0">
                <a:latin typeface="隶书" panose="02010509060101010101" pitchFamily="49" charset="-122"/>
                <a:ea typeface="隶书" panose="02010509060101010101" pitchFamily="49" charset="-122"/>
              </a:rPr>
              <a:t>，其中括号中串为字母的编码，则电文的编码</a:t>
            </a:r>
            <a:r>
              <a:rPr lang="en-US" altLang="zh-CN" sz="1800" dirty="0">
                <a:latin typeface="隶书" panose="02010509060101010101" pitchFamily="49" charset="-122"/>
                <a:ea typeface="隶书" panose="02010509060101010101" pitchFamily="49" charset="-122"/>
              </a:rPr>
              <a:t>“010010101100”</a:t>
            </a:r>
            <a:r>
              <a:rPr lang="zh-CN" altLang="zh-CN" sz="1800" dirty="0">
                <a:latin typeface="隶书" panose="02010509060101010101" pitchFamily="49" charset="-122"/>
                <a:ea typeface="隶书" panose="02010509060101010101" pitchFamily="49" charset="-122"/>
              </a:rPr>
              <a:t>，长度为</a:t>
            </a:r>
            <a:r>
              <a:rPr lang="en-US" altLang="zh-CN" sz="1800" dirty="0">
                <a:latin typeface="隶书" panose="02010509060101010101" pitchFamily="49" charset="-122"/>
                <a:ea typeface="隶书" panose="02010509060101010101" pitchFamily="49" charset="-122"/>
              </a:rPr>
              <a:t>12</a:t>
            </a:r>
            <a:r>
              <a:rPr lang="zh-CN" altLang="zh-CN" sz="1800" dirty="0">
                <a:latin typeface="隶书" panose="02010509060101010101" pitchFamily="49" charset="-122"/>
                <a:ea typeface="隶书" panose="02010509060101010101" pitchFamily="49" charset="-122"/>
              </a:rPr>
              <a:t>。</a:t>
            </a:r>
          </a:p>
          <a:p>
            <a:pPr>
              <a:lnSpc>
                <a:spcPts val="2800"/>
              </a:lnSpc>
              <a:spcBef>
                <a:spcPts val="0"/>
              </a:spcBef>
            </a:pPr>
            <a:endParaRPr lang="zh-CN" altLang="en-US" sz="1800" dirty="0">
              <a:latin typeface="隶书" panose="02010509060101010101" pitchFamily="49" charset="-122"/>
              <a:ea typeface="隶书" panose="02010509060101010101" pitchFamily="49" charset="-122"/>
            </a:endParaRPr>
          </a:p>
        </p:txBody>
      </p:sp>
      <p:sp>
        <p:nvSpPr>
          <p:cNvPr id="4" name="文本框 3"/>
          <p:cNvSpPr txBox="1"/>
          <p:nvPr/>
        </p:nvSpPr>
        <p:spPr>
          <a:xfrm>
            <a:off x="23700" y="987574"/>
            <a:ext cx="9073008" cy="3273140"/>
          </a:xfrm>
          <a:prstGeom prst="rect">
            <a:avLst/>
          </a:prstGeom>
          <a:solidFill>
            <a:schemeClr val="accent2">
              <a:lumMod val="40000"/>
              <a:lumOff val="60000"/>
            </a:schemeClr>
          </a:solidFill>
        </p:spPr>
        <p:txBody>
          <a:bodyPr wrap="square" rtlCol="0">
            <a:spAutoFit/>
          </a:bodyPr>
          <a:lstStyle/>
          <a:p>
            <a:pPr algn="just" defTabSz="685800">
              <a:lnSpc>
                <a:spcPts val="2800"/>
              </a:lnSpc>
              <a:spcBef>
                <a:spcPts val="0"/>
              </a:spcBef>
            </a:pPr>
            <a:r>
              <a:rPr lang="en-US" altLang="zh-CN" sz="1600" dirty="0">
                <a:latin typeface="黑体" pitchFamily="49" charset="-122"/>
                <a:ea typeface="黑体" pitchFamily="49" charset="-122"/>
              </a:rPr>
              <a:t>    </a:t>
            </a:r>
            <a:r>
              <a:rPr lang="zh-CN" altLang="zh-CN" sz="1600" dirty="0">
                <a:latin typeface="黑体" pitchFamily="49" charset="-122"/>
                <a:ea typeface="黑体" pitchFamily="49" charset="-122"/>
              </a:rPr>
              <a:t>在传送电文时，总是希望传送时间尽可能短，这就要求电文代码尽可能短。显然，这种编码方案产生的电文代码还可以再缩短。如果在编码时考虑字符出现的频率，让出现频率高的字符采用尽可能短的编码，出现频率低的字符采用稍长的编码，构造一种不等长编码，则电文的代码总长度就可能更短。如编码</a:t>
            </a:r>
            <a:r>
              <a:rPr lang="en-US" altLang="zh-CN" sz="1600" dirty="0">
                <a:latin typeface="黑体" pitchFamily="49" charset="-122"/>
                <a:ea typeface="黑体" pitchFamily="49" charset="-122"/>
              </a:rPr>
              <a:t>A</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1</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B</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00</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C</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0</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D</a:t>
            </a:r>
            <a:r>
              <a:rPr lang="zh-CN" altLang="zh-CN" sz="1600" dirty="0">
                <a:latin typeface="黑体" pitchFamily="49" charset="-122"/>
                <a:ea typeface="黑体" pitchFamily="49" charset="-122"/>
              </a:rPr>
              <a:t>（</a:t>
            </a:r>
            <a:r>
              <a:rPr lang="en-US" altLang="zh-CN" sz="1600" dirty="0">
                <a:latin typeface="黑体" pitchFamily="49" charset="-122"/>
                <a:ea typeface="黑体" pitchFamily="49" charset="-122"/>
              </a:rPr>
              <a:t>01</a:t>
            </a:r>
            <a:r>
              <a:rPr lang="zh-CN" altLang="zh-CN" sz="1600" dirty="0">
                <a:latin typeface="黑体" pitchFamily="49" charset="-122"/>
                <a:ea typeface="黑体" pitchFamily="49" charset="-122"/>
              </a:rPr>
              <a:t>），电文为</a:t>
            </a:r>
            <a:r>
              <a:rPr lang="en-US" altLang="zh-CN" sz="1600" dirty="0">
                <a:latin typeface="黑体" pitchFamily="49" charset="-122"/>
                <a:ea typeface="黑体" pitchFamily="49" charset="-122"/>
              </a:rPr>
              <a:t>“BACCDA”</a:t>
            </a:r>
            <a:r>
              <a:rPr lang="zh-CN" altLang="zh-CN" sz="1600" dirty="0">
                <a:latin typeface="黑体" pitchFamily="49" charset="-122"/>
                <a:ea typeface="黑体" pitchFamily="49" charset="-122"/>
              </a:rPr>
              <a:t>的编码为</a:t>
            </a:r>
            <a:r>
              <a:rPr lang="en-US" altLang="zh-CN" sz="1600" dirty="0">
                <a:latin typeface="黑体" pitchFamily="49" charset="-122"/>
                <a:ea typeface="黑体" pitchFamily="49" charset="-122"/>
              </a:rPr>
              <a:t>“00100011”</a:t>
            </a:r>
            <a:r>
              <a:rPr lang="zh-CN" altLang="zh-CN" sz="1600" dirty="0">
                <a:latin typeface="黑体" pitchFamily="49" charset="-122"/>
                <a:ea typeface="黑体" pitchFamily="49" charset="-122"/>
              </a:rPr>
              <a:t>，长度为</a:t>
            </a:r>
            <a:r>
              <a:rPr lang="en-US" altLang="zh-CN" sz="1600" dirty="0">
                <a:latin typeface="黑体" pitchFamily="49" charset="-122"/>
                <a:ea typeface="黑体" pitchFamily="49" charset="-122"/>
              </a:rPr>
              <a:t>8</a:t>
            </a:r>
            <a:r>
              <a:rPr lang="zh-CN" altLang="zh-CN" sz="1600" dirty="0">
                <a:latin typeface="黑体" pitchFamily="49" charset="-122"/>
                <a:ea typeface="黑体" pitchFamily="49" charset="-122"/>
              </a:rPr>
              <a:t>。</a:t>
            </a:r>
            <a:endParaRPr lang="en-US" altLang="zh-CN" sz="1600" dirty="0">
              <a:latin typeface="黑体" pitchFamily="49" charset="-122"/>
              <a:ea typeface="黑体" pitchFamily="49" charset="-122"/>
            </a:endParaRPr>
          </a:p>
          <a:p>
            <a:pPr algn="just" defTabSz="685800">
              <a:lnSpc>
                <a:spcPts val="2800"/>
              </a:lnSpc>
              <a:spcBef>
                <a:spcPts val="0"/>
              </a:spcBef>
            </a:pPr>
            <a:r>
              <a:rPr lang="en-US" altLang="zh-CN" sz="1600" dirty="0">
                <a:latin typeface="黑体" pitchFamily="49" charset="-122"/>
                <a:ea typeface="黑体" pitchFamily="49" charset="-122"/>
              </a:rPr>
              <a:t>   </a:t>
            </a:r>
            <a:r>
              <a:rPr lang="zh-CN" altLang="zh-CN" sz="1600" dirty="0">
                <a:latin typeface="黑体" pitchFamily="49" charset="-122"/>
                <a:ea typeface="黑体" pitchFamily="49" charset="-122"/>
              </a:rPr>
              <a:t>但是，这样的编码存在二义性，例如字符编码</a:t>
            </a:r>
            <a:r>
              <a:rPr lang="en-US" altLang="zh-CN" sz="1600" dirty="0">
                <a:latin typeface="黑体" pitchFamily="49" charset="-122"/>
                <a:ea typeface="黑体" pitchFamily="49" charset="-122"/>
              </a:rPr>
              <a:t>“0001”</a:t>
            </a:r>
            <a:r>
              <a:rPr lang="zh-CN" altLang="zh-CN" sz="1600" dirty="0">
                <a:latin typeface="黑体" pitchFamily="49" charset="-122"/>
                <a:ea typeface="黑体" pitchFamily="49" charset="-122"/>
              </a:rPr>
              <a:t>就可以译成电文</a:t>
            </a:r>
            <a:r>
              <a:rPr lang="en-US" altLang="zh-CN" sz="1600" dirty="0">
                <a:latin typeface="黑体" pitchFamily="49" charset="-122"/>
                <a:ea typeface="黑体" pitchFamily="49" charset="-122"/>
              </a:rPr>
              <a:t>“BD”</a:t>
            </a:r>
            <a:r>
              <a:rPr lang="zh-CN" altLang="zh-CN" sz="1600" dirty="0">
                <a:latin typeface="黑体" pitchFamily="49" charset="-122"/>
                <a:ea typeface="黑体" pitchFamily="49" charset="-122"/>
              </a:rPr>
              <a:t>或</a:t>
            </a:r>
            <a:r>
              <a:rPr lang="en-US" altLang="zh-CN" sz="1600" dirty="0">
                <a:latin typeface="黑体" pitchFamily="49" charset="-122"/>
                <a:ea typeface="黑体" pitchFamily="49" charset="-122"/>
              </a:rPr>
              <a:t>CCD”</a:t>
            </a:r>
            <a:r>
              <a:rPr lang="zh-CN" altLang="zh-CN" sz="1600" dirty="0">
                <a:latin typeface="黑体" pitchFamily="49" charset="-122"/>
                <a:ea typeface="黑体" pitchFamily="49" charset="-122"/>
              </a:rPr>
              <a:t>等。产生二义性的原因是因为编码</a:t>
            </a:r>
            <a:r>
              <a:rPr lang="en-US" altLang="zh-CN" sz="1600" dirty="0">
                <a:latin typeface="黑体" pitchFamily="49" charset="-122"/>
                <a:ea typeface="黑体" pitchFamily="49" charset="-122"/>
              </a:rPr>
              <a:t>“0”</a:t>
            </a:r>
            <a:r>
              <a:rPr lang="zh-CN" altLang="zh-CN" sz="1600" dirty="0">
                <a:latin typeface="黑体" pitchFamily="49" charset="-122"/>
                <a:ea typeface="黑体" pitchFamily="49" charset="-122"/>
              </a:rPr>
              <a:t>是编码</a:t>
            </a:r>
            <a:r>
              <a:rPr lang="en-US" altLang="zh-CN" sz="1600" dirty="0">
                <a:latin typeface="黑体" pitchFamily="49" charset="-122"/>
                <a:ea typeface="黑体" pitchFamily="49" charset="-122"/>
              </a:rPr>
              <a:t>“00”</a:t>
            </a:r>
            <a:r>
              <a:rPr lang="zh-CN" altLang="zh-CN" sz="1600" dirty="0">
                <a:latin typeface="黑体" pitchFamily="49" charset="-122"/>
                <a:ea typeface="黑体" pitchFamily="49" charset="-122"/>
              </a:rPr>
              <a:t>的前缀。</a:t>
            </a:r>
            <a:endParaRPr lang="en-US" altLang="zh-CN" sz="1600" dirty="0">
              <a:latin typeface="黑体" pitchFamily="49" charset="-122"/>
              <a:ea typeface="黑体" pitchFamily="49" charset="-122"/>
            </a:endParaRPr>
          </a:p>
          <a:p>
            <a:pPr algn="just" defTabSz="685800">
              <a:lnSpc>
                <a:spcPts val="2800"/>
              </a:lnSpc>
              <a:spcBef>
                <a:spcPts val="0"/>
              </a:spcBef>
            </a:pPr>
            <a:r>
              <a:rPr lang="en-US" altLang="zh-CN" sz="1600" dirty="0">
                <a:latin typeface="黑体" pitchFamily="49" charset="-122"/>
                <a:ea typeface="黑体" pitchFamily="49" charset="-122"/>
              </a:rPr>
              <a:t>   </a:t>
            </a:r>
            <a:r>
              <a:rPr lang="zh-CN" altLang="zh-CN" sz="1600" dirty="0">
                <a:latin typeface="黑体" pitchFamily="49" charset="-122"/>
                <a:ea typeface="黑体" pitchFamily="49" charset="-122"/>
              </a:rPr>
              <a:t>为此，若要设计不等长编码，则要求任何一个字符编码都不是其他字符编码的前缀，这种编码称为</a:t>
            </a:r>
            <a:r>
              <a:rPr lang="zh-CN" altLang="zh-CN" sz="1600" dirty="0">
                <a:solidFill>
                  <a:srgbClr val="FF0000"/>
                </a:solidFill>
                <a:latin typeface="黑体" pitchFamily="49" charset="-122"/>
                <a:ea typeface="黑体" pitchFamily="49" charset="-122"/>
              </a:rPr>
              <a:t>前缀码</a:t>
            </a:r>
            <a:r>
              <a:rPr lang="zh-CN" altLang="zh-CN" sz="1600" dirty="0">
                <a:latin typeface="黑体" pitchFamily="49" charset="-122"/>
                <a:ea typeface="黑体" pitchFamily="49" charset="-122"/>
              </a:rPr>
              <a:t>。</a:t>
            </a:r>
          </a:p>
        </p:txBody>
      </p:sp>
      <p:sp>
        <p:nvSpPr>
          <p:cNvPr id="5" name="文本框 4"/>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哈夫曼编码</a:t>
            </a:r>
          </a:p>
        </p:txBody>
      </p:sp>
    </p:spTree>
    <p:extLst>
      <p:ext uri="{BB962C8B-B14F-4D97-AF65-F5344CB8AC3E}">
        <p14:creationId xmlns:p14="http://schemas.microsoft.com/office/powerpoint/2010/main" val="34422049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 calcmode="lin" valueType="num">
                                      <p:cBhvr additive="base">
                                        <p:cTn id="1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 calcmode="lin" valueType="num">
                                      <p:cBhvr additive="base">
                                        <p:cTn id="3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9001000" cy="3507876"/>
              </a:xfrm>
            </p:spPr>
            <p:txBody>
              <a:bodyPr/>
              <a:lstStyle/>
              <a:p>
                <a:pPr marL="0" indent="0" algn="just">
                  <a:lnSpc>
                    <a:spcPts val="2800"/>
                  </a:lnSpc>
                  <a:spcBef>
                    <a:spcPts val="0"/>
                  </a:spcBef>
                  <a:buNone/>
                </a:pPr>
                <a:r>
                  <a:rPr lang="en-US" altLang="zh-CN" sz="1600" dirty="0"/>
                  <a:t>    </a:t>
                </a:r>
                <a:r>
                  <a:rPr lang="zh-CN" altLang="zh-CN" sz="1600" dirty="0"/>
                  <a:t>为设计电文总长最短的编码，可通过构造以字符使用频率作为权值的霍夫曼树。具体做法如下：设需要编码的字符集合为</a:t>
                </a:r>
                <a14:m>
                  <m:oMath xmlns:m="http://schemas.openxmlformats.org/officeDocument/2006/math">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1</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2</m:t>
                        </m:r>
                      </m:sub>
                    </m:sSub>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𝑛</m:t>
                        </m:r>
                      </m:sub>
                    </m:sSub>
                    <m:r>
                      <a:rPr lang="en-US" altLang="zh-CN" sz="1600">
                        <a:latin typeface="Cambria Math" panose="02040503050406030204" pitchFamily="18" charset="0"/>
                      </a:rPr>
                      <m:t>}</m:t>
                    </m:r>
                  </m:oMath>
                </a14:m>
                <a:r>
                  <a:rPr lang="zh-CN" altLang="zh-CN" sz="1600" dirty="0"/>
                  <a:t>，它们在电文中出现的次数或频率对应集合为</a:t>
                </a:r>
                <a14:m>
                  <m:oMath xmlns:m="http://schemas.openxmlformats.org/officeDocument/2006/math">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1</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2</m:t>
                        </m:r>
                      </m:sub>
                    </m:sSub>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𝑛</m:t>
                        </m:r>
                      </m:sub>
                    </m:sSub>
                    <m:r>
                      <a:rPr lang="en-US" altLang="zh-CN" sz="1600">
                        <a:latin typeface="Cambria Math" panose="02040503050406030204" pitchFamily="18" charset="0"/>
                      </a:rPr>
                      <m:t>}</m:t>
                    </m:r>
                  </m:oMath>
                </a14:m>
                <a:r>
                  <a:rPr lang="zh-CN" altLang="zh-CN" sz="1600" dirty="0"/>
                  <a:t>，以</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1</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2</m:t>
                        </m:r>
                      </m:sub>
                    </m:sSub>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𝑛</m:t>
                        </m:r>
                      </m:sub>
                    </m:sSub>
                  </m:oMath>
                </a14:m>
                <a:r>
                  <a:rPr lang="zh-CN" altLang="zh-CN" sz="1600" dirty="0"/>
                  <a:t>作为叶子结点，</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1</m:t>
                        </m:r>
                      </m:sub>
                    </m:sSub>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2</m:t>
                        </m:r>
                      </m:sub>
                    </m:sSub>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𝑛</m:t>
                        </m:r>
                      </m:sub>
                    </m:sSub>
                  </m:oMath>
                </a14:m>
                <a:r>
                  <a:rPr lang="zh-CN" altLang="zh-CN" sz="1600" dirty="0"/>
                  <a:t>作为它们的权值，构造一棵霍夫曼树，规定霍夫曼树中左分支代表</a:t>
                </a:r>
                <a:r>
                  <a:rPr lang="en-US" altLang="zh-CN" sz="1600" dirty="0"/>
                  <a:t>0</a:t>
                </a:r>
                <a:r>
                  <a:rPr lang="zh-CN" altLang="zh-CN" sz="1600" dirty="0"/>
                  <a:t>，右分支代表</a:t>
                </a:r>
                <a:r>
                  <a:rPr lang="en-US" altLang="zh-CN" sz="1600" dirty="0"/>
                  <a:t>1</a:t>
                </a:r>
                <a:r>
                  <a:rPr lang="zh-CN" altLang="zh-CN" sz="1600" dirty="0"/>
                  <a:t>，则从根结点到每个叶子结点所经过的路径分支组成的</a:t>
                </a:r>
                <a:r>
                  <a:rPr lang="en-US" altLang="zh-CN" sz="1600" dirty="0"/>
                  <a:t>0</a:t>
                </a:r>
                <a:r>
                  <a:rPr lang="zh-CN" altLang="zh-CN" sz="1600" dirty="0"/>
                  <a:t>和</a:t>
                </a:r>
                <a:r>
                  <a:rPr lang="en-US" altLang="zh-CN" sz="1600" dirty="0"/>
                  <a:t>1</a:t>
                </a:r>
                <a:r>
                  <a:rPr lang="zh-CN" altLang="zh-CN" sz="1600" dirty="0"/>
                  <a:t>的序列便为该结点对应字符的编码，称之为</a:t>
                </a:r>
                <a:r>
                  <a:rPr lang="zh-CN" altLang="zh-CN" sz="1600" dirty="0">
                    <a:solidFill>
                      <a:srgbClr val="FF0000"/>
                    </a:solidFill>
                  </a:rPr>
                  <a:t>霍夫曼编码</a:t>
                </a:r>
                <a:r>
                  <a:rPr lang="zh-CN" altLang="zh-CN" sz="1600" dirty="0"/>
                  <a:t>。</a:t>
                </a:r>
              </a:p>
              <a:p>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9001000" cy="3507876"/>
              </a:xfrm>
              <a:blipFill>
                <a:blip r:embed="rId2"/>
                <a:stretch>
                  <a:fillRect l="-678" r="-2846"/>
                </a:stretch>
              </a:blipFill>
            </p:spPr>
            <p:txBody>
              <a:bodyPr/>
              <a:lstStyle/>
              <a:p>
                <a:r>
                  <a:rPr lang="zh-CN" altLang="en-US">
                    <a:noFill/>
                  </a:rPr>
                  <a:t> </a:t>
                </a:r>
              </a:p>
            </p:txBody>
          </p:sp>
        </mc:Fallback>
      </mc:AlternateContent>
      <p:sp>
        <p:nvSpPr>
          <p:cNvPr id="4" name="文本框 3"/>
          <p:cNvSpPr txBox="1"/>
          <p:nvPr/>
        </p:nvSpPr>
        <p:spPr>
          <a:xfrm>
            <a:off x="612366" y="123478"/>
            <a:ext cx="151136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哈夫曼编码</a:t>
            </a:r>
          </a:p>
        </p:txBody>
      </p:sp>
    </p:spTree>
    <p:extLst>
      <p:ext uri="{BB962C8B-B14F-4D97-AF65-F5344CB8AC3E}">
        <p14:creationId xmlns:p14="http://schemas.microsoft.com/office/powerpoint/2010/main" val="2348001166"/>
      </p:ext>
    </p:extLst>
  </p:cSld>
  <p:clrMapOvr>
    <a:masterClrMapping/>
  </p:clrMapOvr>
  <p:transition spd="slow">
    <p:push dir="u"/>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915566"/>
                <a:ext cx="9144000" cy="3507876"/>
              </a:xfrm>
            </p:spPr>
            <p:txBody>
              <a:bodyPr/>
              <a:lstStyle/>
              <a:p>
                <a:pPr marL="0" indent="0" algn="just">
                  <a:lnSpc>
                    <a:spcPts val="2800"/>
                  </a:lnSpc>
                  <a:spcBef>
                    <a:spcPts val="0"/>
                  </a:spcBef>
                  <a:buNone/>
                </a:pPr>
                <a:r>
                  <a:rPr lang="en-US" altLang="zh-CN" sz="1600" dirty="0"/>
                  <a:t>procedure Huffman(C:</a:t>
                </a:r>
                <a:r>
                  <a:rPr lang="zh-CN" altLang="zh-CN" sz="1600" dirty="0"/>
                  <a:t>具有频率</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𝑖</m:t>
                        </m:r>
                      </m:sub>
                    </m:sSub>
                  </m:oMath>
                </a14:m>
                <a:r>
                  <a:rPr lang="zh-CN" altLang="zh-CN" sz="1600" dirty="0"/>
                  <a:t>的字符</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𝑖</m:t>
                        </m:r>
                      </m:sub>
                    </m:sSub>
                    <m:r>
                      <a:rPr lang="en-US" altLang="zh-CN" sz="1600">
                        <a:latin typeface="Cambria Math" panose="02040503050406030204" pitchFamily="18" charset="0"/>
                      </a:rPr>
                      <m:t>(</m:t>
                    </m:r>
                    <m:r>
                      <a:rPr lang="en-US" altLang="zh-CN" sz="1600">
                        <a:latin typeface="Cambria Math" panose="02040503050406030204" pitchFamily="18" charset="0"/>
                      </a:rPr>
                      <m:t>𝑖</m:t>
                    </m:r>
                    <m:r>
                      <a:rPr lang="en-US" altLang="zh-CN" sz="1600">
                        <a:latin typeface="Cambria Math" panose="02040503050406030204" pitchFamily="18" charset="0"/>
                      </a:rPr>
                      <m:t>=1</m:t>
                    </m:r>
                    <m:r>
                      <a:rPr lang="zh-CN" altLang="zh-CN" sz="1600">
                        <a:latin typeface="Cambria Math" panose="02040503050406030204" pitchFamily="18" charset="0"/>
                      </a:rPr>
                      <m:t>，</m:t>
                    </m:r>
                    <m:r>
                      <a:rPr lang="en-US" altLang="zh-CN" sz="1600">
                        <a:latin typeface="Cambria Math" panose="02040503050406030204" pitchFamily="18" charset="0"/>
                      </a:rPr>
                      <m:t>2</m:t>
                    </m:r>
                    <m:r>
                      <a:rPr lang="zh-CN" altLang="zh-CN" sz="1600">
                        <a:latin typeface="Cambria Math" panose="02040503050406030204" pitchFamily="18" charset="0"/>
                      </a:rPr>
                      <m:t>，</m:t>
                    </m:r>
                    <m:r>
                      <a:rPr lang="en-US" altLang="zh-CN" sz="1600">
                        <a:latin typeface="Cambria Math" panose="02040503050406030204" pitchFamily="18" charset="0"/>
                      </a:rPr>
                      <m:t>⋯</m:t>
                    </m:r>
                    <m:r>
                      <a:rPr lang="zh-CN" altLang="zh-CN" sz="1600">
                        <a:latin typeface="Cambria Math" panose="02040503050406030204" pitchFamily="18" charset="0"/>
                      </a:rPr>
                      <m:t>，</m:t>
                    </m:r>
                    <m:r>
                      <a:rPr lang="en-US" altLang="zh-CN" sz="1600">
                        <a:latin typeface="Cambria Math" panose="02040503050406030204" pitchFamily="18" charset="0"/>
                      </a:rPr>
                      <m:t>𝑛</m:t>
                    </m:r>
                    <m:r>
                      <a:rPr lang="en-US" altLang="zh-CN" sz="1600">
                        <a:latin typeface="Cambria Math" panose="02040503050406030204" pitchFamily="18" charset="0"/>
                      </a:rPr>
                      <m:t>)</m:t>
                    </m:r>
                  </m:oMath>
                </a14:m>
                <a:r>
                  <a:rPr lang="en-US" altLang="zh-CN" sz="1600" dirty="0"/>
                  <a:t>{</a:t>
                </a:r>
                <a:endParaRPr lang="zh-CN" altLang="zh-CN" sz="1600" dirty="0"/>
              </a:p>
              <a:p>
                <a:pPr marL="0" indent="0" algn="just">
                  <a:lnSpc>
                    <a:spcPts val="2800"/>
                  </a:lnSpc>
                  <a:spcBef>
                    <a:spcPts val="0"/>
                  </a:spcBef>
                  <a:buNone/>
                </a:pPr>
                <a:r>
                  <a:rPr lang="en-US" altLang="zh-CN" sz="1600" dirty="0"/>
                  <a:t>    </a:t>
                </a:r>
                <a14:m>
                  <m:oMath xmlns:m="http://schemas.openxmlformats.org/officeDocument/2006/math">
                    <m:r>
                      <a:rPr lang="en-US" altLang="zh-CN" sz="1600">
                        <a:latin typeface="Cambria Math" panose="02040503050406030204" pitchFamily="18" charset="0"/>
                      </a:rPr>
                      <m:t>𝐹</m:t>
                    </m:r>
                  </m:oMath>
                </a14:m>
                <a:r>
                  <a:rPr lang="en-US" altLang="zh-CN" sz="1600" dirty="0"/>
                  <a:t>:=</a:t>
                </a:r>
                <a14:m>
                  <m:oMath xmlns:m="http://schemas.openxmlformats.org/officeDocument/2006/math">
                    <m:r>
                      <a:rPr lang="en-US" altLang="zh-CN" sz="1600">
                        <a:latin typeface="Cambria Math" panose="02040503050406030204" pitchFamily="18" charset="0"/>
                      </a:rPr>
                      <m:t>𝑛</m:t>
                    </m:r>
                  </m:oMath>
                </a14:m>
                <a:r>
                  <a:rPr lang="zh-CN" altLang="zh-CN" sz="1600" dirty="0"/>
                  <a:t>棵仅有根结点的二叉树的集合，每个根结点</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𝑖</m:t>
                        </m:r>
                      </m:sub>
                    </m:sSub>
                  </m:oMath>
                </a14:m>
                <a:r>
                  <a:rPr lang="zh-CN" altLang="zh-CN" sz="1600" dirty="0"/>
                  <a:t>有权</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𝑤</m:t>
                        </m:r>
                      </m:e>
                      <m:sub>
                        <m:r>
                          <a:rPr lang="en-US" altLang="zh-CN" sz="1600">
                            <a:latin typeface="Cambria Math" panose="02040503050406030204" pitchFamily="18" charset="0"/>
                          </a:rPr>
                          <m:t>𝑖</m:t>
                        </m:r>
                      </m:sub>
                    </m:sSub>
                  </m:oMath>
                </a14:m>
                <a:r>
                  <a:rPr lang="zh-CN" altLang="zh-CN" sz="1600" dirty="0"/>
                  <a:t>；</a:t>
                </a:r>
              </a:p>
              <a:p>
                <a:pPr marL="0" indent="0" algn="just">
                  <a:lnSpc>
                    <a:spcPts val="2800"/>
                  </a:lnSpc>
                  <a:spcBef>
                    <a:spcPts val="0"/>
                  </a:spcBef>
                  <a:buNone/>
                </a:pPr>
                <a:r>
                  <a:rPr lang="en-US" altLang="zh-CN" sz="1600" dirty="0"/>
                  <a:t>    while </a:t>
                </a:r>
                <a14:m>
                  <m:oMath xmlns:m="http://schemas.openxmlformats.org/officeDocument/2006/math">
                    <m:r>
                      <a:rPr lang="en-US" altLang="zh-CN" sz="1600">
                        <a:latin typeface="Cambria Math" panose="02040503050406030204" pitchFamily="18" charset="0"/>
                      </a:rPr>
                      <m:t>𝐹</m:t>
                    </m:r>
                  </m:oMath>
                </a14:m>
                <a:r>
                  <a:rPr lang="zh-CN" altLang="zh-CN" sz="1600" dirty="0"/>
                  <a:t>不是二叉树｛</a:t>
                </a:r>
              </a:p>
              <a:p>
                <a:pPr marL="0" indent="0" algn="just">
                  <a:lnSpc>
                    <a:spcPts val="2800"/>
                  </a:lnSpc>
                  <a:spcBef>
                    <a:spcPts val="0"/>
                  </a:spcBef>
                  <a:buNone/>
                </a:pPr>
                <a:r>
                  <a:rPr lang="en-US" altLang="zh-CN" sz="1600" dirty="0"/>
                  <a:t>      </a:t>
                </a:r>
                <a:r>
                  <a:rPr lang="zh-CN" altLang="zh-CN" sz="1600" dirty="0"/>
                  <a:t>把</a:t>
                </a:r>
                <a14:m>
                  <m:oMath xmlns:m="http://schemas.openxmlformats.org/officeDocument/2006/math">
                    <m:r>
                      <a:rPr lang="en-US" altLang="zh-CN" sz="1600">
                        <a:latin typeface="Cambria Math" panose="02040503050406030204" pitchFamily="18" charset="0"/>
                      </a:rPr>
                      <m:t>𝐹</m:t>
                    </m:r>
                  </m:oMath>
                </a14:m>
                <a:r>
                  <a:rPr lang="zh-CN" altLang="zh-CN" sz="1600" dirty="0"/>
                  <a:t>中满足</a:t>
                </a:r>
                <a14:m>
                  <m:oMath xmlns:m="http://schemas.openxmlformats.org/officeDocument/2006/math">
                    <m:r>
                      <a:rPr lang="en-US" altLang="zh-CN" sz="1600">
                        <a:latin typeface="Cambria Math" panose="02040503050406030204" pitchFamily="18" charset="0"/>
                      </a:rPr>
                      <m:t>𝑊</m:t>
                    </m:r>
                    <m:r>
                      <a:rPr lang="en-US" altLang="zh-CN" sz="1600">
                        <a:latin typeface="Cambria Math" panose="02040503050406030204" pitchFamily="18" charset="0"/>
                      </a:rPr>
                      <m:t>(</m:t>
                    </m:r>
                    <m:r>
                      <a:rPr lang="en-US" altLang="zh-CN" sz="1600">
                        <a:latin typeface="Cambria Math" panose="02040503050406030204" pitchFamily="18" charset="0"/>
                      </a:rPr>
                      <m:t>𝑇</m:t>
                    </m:r>
                    <m:r>
                      <a:rPr lang="en-US" altLang="zh-CN" sz="1600">
                        <a:latin typeface="Cambria Math" panose="02040503050406030204" pitchFamily="18" charset="0"/>
                      </a:rPr>
                      <m:t>)≥</m:t>
                    </m:r>
                    <m:r>
                      <a:rPr lang="en-US" altLang="zh-CN" sz="1600">
                        <a:latin typeface="Cambria Math" panose="02040503050406030204" pitchFamily="18" charset="0"/>
                      </a:rPr>
                      <m:t>𝑊</m:t>
                    </m:r>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𝑇</m:t>
                        </m:r>
                      </m:e>
                      <m:sup>
                        <m:r>
                          <a:rPr lang="en-US" altLang="zh-CN" sz="1600">
                            <a:latin typeface="Cambria Math" panose="02040503050406030204" pitchFamily="18" charset="0"/>
                          </a:rPr>
                          <m:t>′</m:t>
                        </m:r>
                      </m:sup>
                    </m:sSup>
                    <m:r>
                      <a:rPr lang="en-US" altLang="zh-CN" sz="1600">
                        <a:latin typeface="Cambria Math" panose="02040503050406030204" pitchFamily="18" charset="0"/>
                      </a:rPr>
                      <m:t>)</m:t>
                    </m:r>
                  </m:oMath>
                </a14:m>
                <a:r>
                  <a:rPr lang="zh-CN" altLang="zh-CN" sz="1600" dirty="0"/>
                  <a:t>的权最小的二叉树</a:t>
                </a:r>
                <a14:m>
                  <m:oMath xmlns:m="http://schemas.openxmlformats.org/officeDocument/2006/math">
                    <m:r>
                      <a:rPr lang="en-US" altLang="zh-CN" sz="1600">
                        <a:latin typeface="Cambria Math" panose="02040503050406030204" pitchFamily="18" charset="0"/>
                      </a:rPr>
                      <m:t>𝑇</m:t>
                    </m:r>
                  </m:oMath>
                </a14:m>
                <a:r>
                  <a:rPr lang="zh-CN" altLang="zh-CN" sz="1600" dirty="0"/>
                  <a:t>和</a:t>
                </a:r>
                <a14:m>
                  <m:oMath xmlns:m="http://schemas.openxmlformats.org/officeDocument/2006/math">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𝑇</m:t>
                        </m:r>
                      </m:e>
                      <m:sup>
                        <m:r>
                          <a:rPr lang="en-US" altLang="zh-CN" sz="1600">
                            <a:latin typeface="Cambria Math" panose="02040503050406030204" pitchFamily="18" charset="0"/>
                          </a:rPr>
                          <m:t>′</m:t>
                        </m:r>
                      </m:sup>
                    </m:sSup>
                  </m:oMath>
                </a14:m>
                <a:r>
                  <a:rPr lang="zh-CN" altLang="zh-CN" sz="1600" dirty="0"/>
                  <a:t>构成具有新树根的一棵二叉树；</a:t>
                </a:r>
              </a:p>
              <a:p>
                <a:pPr marL="0" indent="0" algn="just">
                  <a:lnSpc>
                    <a:spcPts val="2800"/>
                  </a:lnSpc>
                  <a:spcBef>
                    <a:spcPts val="0"/>
                  </a:spcBef>
                  <a:buNone/>
                </a:pPr>
                <a:r>
                  <a:rPr lang="en-US" altLang="zh-CN" sz="1600" dirty="0"/>
                  <a:t>      </a:t>
                </a:r>
                <a:r>
                  <a:rPr lang="zh-CN" altLang="zh-CN" sz="1600" dirty="0"/>
                  <a:t>这棵二叉树以</a:t>
                </a:r>
                <a14:m>
                  <m:oMath xmlns:m="http://schemas.openxmlformats.org/officeDocument/2006/math">
                    <m:r>
                      <a:rPr lang="en-US" altLang="zh-CN" sz="1600">
                        <a:latin typeface="Cambria Math" panose="02040503050406030204" pitchFamily="18" charset="0"/>
                      </a:rPr>
                      <m:t>𝑇</m:t>
                    </m:r>
                  </m:oMath>
                </a14:m>
                <a:r>
                  <a:rPr lang="zh-CN" altLang="zh-CN" sz="1600" dirty="0"/>
                  <a:t>为左子树，并且以</a:t>
                </a:r>
                <a14:m>
                  <m:oMath xmlns:m="http://schemas.openxmlformats.org/officeDocument/2006/math">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𝑇</m:t>
                        </m:r>
                      </m:e>
                      <m:sup>
                        <m:r>
                          <a:rPr lang="en-US" altLang="zh-CN" sz="1600">
                            <a:latin typeface="Cambria Math" panose="02040503050406030204" pitchFamily="18" charset="0"/>
                          </a:rPr>
                          <m:t>′</m:t>
                        </m:r>
                      </m:sup>
                    </m:sSup>
                  </m:oMath>
                </a14:m>
                <a:r>
                  <a:rPr lang="zh-CN" altLang="zh-CN" sz="1600" dirty="0"/>
                  <a:t>为右子树；</a:t>
                </a:r>
              </a:p>
              <a:p>
                <a:pPr marL="0" indent="0" algn="just">
                  <a:lnSpc>
                    <a:spcPts val="2800"/>
                  </a:lnSpc>
                  <a:spcBef>
                    <a:spcPts val="0"/>
                  </a:spcBef>
                  <a:buNone/>
                </a:pPr>
                <a:r>
                  <a:rPr lang="en-US" altLang="zh-CN" sz="1600" dirty="0"/>
                  <a:t>      </a:t>
                </a:r>
                <a:r>
                  <a:rPr lang="zh-CN" altLang="zh-CN" sz="1600" dirty="0"/>
                  <a:t>用</a:t>
                </a:r>
                <a:r>
                  <a:rPr lang="en-US" altLang="zh-CN" sz="1600" dirty="0"/>
                  <a:t>0</a:t>
                </a:r>
                <a:r>
                  <a:rPr lang="zh-CN" altLang="zh-CN" sz="1600" dirty="0"/>
                  <a:t>标记树根到</a:t>
                </a:r>
                <a14:m>
                  <m:oMath xmlns:m="http://schemas.openxmlformats.org/officeDocument/2006/math">
                    <m:r>
                      <a:rPr lang="en-US" altLang="zh-CN" sz="1600">
                        <a:latin typeface="Cambria Math" panose="02040503050406030204" pitchFamily="18" charset="0"/>
                      </a:rPr>
                      <m:t>𝑇</m:t>
                    </m:r>
                  </m:oMath>
                </a14:m>
                <a:r>
                  <a:rPr lang="zh-CN" altLang="zh-CN" sz="1600" dirty="0"/>
                  <a:t>的新边，并且用</a:t>
                </a:r>
                <a:r>
                  <a:rPr lang="en-US" altLang="zh-CN" sz="1600" dirty="0"/>
                  <a:t>1</a:t>
                </a:r>
                <a:r>
                  <a:rPr lang="zh-CN" altLang="zh-CN" sz="1600" dirty="0"/>
                  <a:t>标记树根到</a:t>
                </a:r>
                <a14:m>
                  <m:oMath xmlns:m="http://schemas.openxmlformats.org/officeDocument/2006/math">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𝑇</m:t>
                        </m:r>
                      </m:e>
                      <m:sup>
                        <m:r>
                          <a:rPr lang="en-US" altLang="zh-CN" sz="1600">
                            <a:latin typeface="Cambria Math" panose="02040503050406030204" pitchFamily="18" charset="0"/>
                          </a:rPr>
                          <m:t>′</m:t>
                        </m:r>
                      </m:sup>
                    </m:sSup>
                  </m:oMath>
                </a14:m>
                <a:r>
                  <a:rPr lang="zh-CN" altLang="zh-CN" sz="1600" dirty="0"/>
                  <a:t>的新边；</a:t>
                </a:r>
              </a:p>
              <a:p>
                <a:pPr marL="0" indent="0" algn="just">
                  <a:lnSpc>
                    <a:spcPts val="2800"/>
                  </a:lnSpc>
                  <a:spcBef>
                    <a:spcPts val="0"/>
                  </a:spcBef>
                  <a:buNone/>
                </a:pPr>
                <a:r>
                  <a:rPr lang="en-US" altLang="zh-CN" sz="1600" dirty="0"/>
                  <a:t>      </a:t>
                </a:r>
                <a:r>
                  <a:rPr lang="zh-CN" altLang="zh-CN" sz="1600" dirty="0"/>
                  <a:t>把</a:t>
                </a:r>
                <a14:m>
                  <m:oMath xmlns:m="http://schemas.openxmlformats.org/officeDocument/2006/math">
                    <m:r>
                      <a:rPr lang="en-US" altLang="zh-CN" sz="1600">
                        <a:latin typeface="Cambria Math" panose="02040503050406030204" pitchFamily="18" charset="0"/>
                      </a:rPr>
                      <m:t>𝑊</m:t>
                    </m:r>
                    <m:d>
                      <m:dPr>
                        <m:ctrlPr>
                          <a:rPr lang="zh-CN" altLang="zh-CN" sz="1600" i="1">
                            <a:latin typeface="Cambria Math" panose="02040503050406030204" pitchFamily="18" charset="0"/>
                          </a:rPr>
                        </m:ctrlPr>
                      </m:dPr>
                      <m:e>
                        <m:r>
                          <a:rPr lang="en-US" altLang="zh-CN" sz="1600">
                            <a:latin typeface="Cambria Math" panose="02040503050406030204" pitchFamily="18" charset="0"/>
                          </a:rPr>
                          <m:t>𝑇</m:t>
                        </m:r>
                      </m:e>
                    </m:d>
                    <m:r>
                      <a:rPr lang="en-US" altLang="zh-CN" sz="1600">
                        <a:latin typeface="Cambria Math" panose="02040503050406030204" pitchFamily="18" charset="0"/>
                      </a:rPr>
                      <m:t>+</m:t>
                    </m:r>
                    <m:r>
                      <a:rPr lang="en-US" altLang="zh-CN" sz="1600">
                        <a:latin typeface="Cambria Math" panose="02040503050406030204" pitchFamily="18" charset="0"/>
                      </a:rPr>
                      <m:t>𝑊</m:t>
                    </m:r>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𝑇</m:t>
                        </m:r>
                      </m:e>
                      <m:sup>
                        <m:r>
                          <a:rPr lang="en-US" altLang="zh-CN" sz="1600">
                            <a:latin typeface="Cambria Math" panose="02040503050406030204" pitchFamily="18" charset="0"/>
                          </a:rPr>
                          <m:t>′</m:t>
                        </m:r>
                      </m:sup>
                    </m:sSup>
                    <m:r>
                      <a:rPr lang="en-US" altLang="zh-CN" sz="1600">
                        <a:latin typeface="Cambria Math" panose="02040503050406030204" pitchFamily="18" charset="0"/>
                      </a:rPr>
                      <m:t>)</m:t>
                    </m:r>
                  </m:oMath>
                </a14:m>
                <a:r>
                  <a:rPr lang="zh-CN" altLang="zh-CN" sz="1600" dirty="0"/>
                  <a:t>作为新二叉树树根的权。</a:t>
                </a:r>
              </a:p>
              <a:p>
                <a:pPr marL="0" indent="0" algn="just">
                  <a:lnSpc>
                    <a:spcPts val="2800"/>
                  </a:lnSpc>
                  <a:spcBef>
                    <a:spcPts val="0"/>
                  </a:spcBef>
                  <a:buNone/>
                </a:pPr>
                <a:r>
                  <a:rPr lang="en-US" altLang="zh-CN" sz="1600" dirty="0"/>
                  <a:t>   </a:t>
                </a:r>
                <a:r>
                  <a:rPr lang="zh-CN" altLang="zh-CN" sz="1600" dirty="0"/>
                  <a:t>｝</a:t>
                </a:r>
              </a:p>
              <a:p>
                <a:pPr marL="0" indent="0" algn="just">
                  <a:lnSpc>
                    <a:spcPts val="2800"/>
                  </a:lnSpc>
                  <a:spcBef>
                    <a:spcPts val="0"/>
                  </a:spcBef>
                  <a:buNone/>
                </a:pPr>
                <a:r>
                  <a:rPr lang="en-US" altLang="zh-CN" sz="1600" dirty="0"/>
                  <a:t>   return </a:t>
                </a:r>
                <a:r>
                  <a:rPr lang="zh-CN" altLang="zh-CN" sz="1600" dirty="0"/>
                  <a:t>符号</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𝑖</m:t>
                        </m:r>
                      </m:sub>
                    </m:sSub>
                  </m:oMath>
                </a14:m>
                <a:r>
                  <a:rPr lang="zh-CN" altLang="zh-CN" sz="1600" dirty="0"/>
                  <a:t>的霍夫曼编码</a:t>
                </a:r>
                <a:r>
                  <a:rPr lang="zh-CN" altLang="en-US" sz="1600" dirty="0"/>
                  <a:t>集合（它们</a:t>
                </a:r>
                <a:r>
                  <a:rPr lang="zh-CN" altLang="zh-CN" sz="1600" dirty="0"/>
                  <a:t>是从树根到</a:t>
                </a:r>
                <a14:m>
                  <m:oMath xmlns:m="http://schemas.openxmlformats.org/officeDocument/2006/math">
                    <m:sSub>
                      <m:sSubPr>
                        <m:ctrlPr>
                          <a:rPr lang="zh-CN" altLang="zh-CN" sz="1600" i="1">
                            <a:latin typeface="Cambria Math" panose="02040503050406030204" pitchFamily="18" charset="0"/>
                          </a:rPr>
                        </m:ctrlPr>
                      </m:sSubPr>
                      <m:e>
                        <m:r>
                          <a:rPr lang="en-US" altLang="zh-CN" sz="1600">
                            <a:latin typeface="Cambria Math" panose="02040503050406030204" pitchFamily="18" charset="0"/>
                          </a:rPr>
                          <m:t>𝑎</m:t>
                        </m:r>
                      </m:e>
                      <m:sub>
                        <m:r>
                          <a:rPr lang="en-US" altLang="zh-CN" sz="1600">
                            <a:latin typeface="Cambria Math" panose="02040503050406030204" pitchFamily="18" charset="0"/>
                          </a:rPr>
                          <m:t>𝑖</m:t>
                        </m:r>
                      </m:sub>
                    </m:sSub>
                  </m:oMath>
                </a14:m>
                <a:r>
                  <a:rPr lang="zh-CN" altLang="zh-CN" sz="1600" dirty="0"/>
                  <a:t>的唯一通路上的边标记连接</a:t>
                </a:r>
                <a:r>
                  <a:rPr lang="zh-CN" altLang="en-US" sz="1600" dirty="0"/>
                  <a:t>）</a:t>
                </a:r>
                <a:r>
                  <a:rPr lang="en-US" altLang="zh-CN" sz="1600" dirty="0"/>
                  <a:t>;</a:t>
                </a:r>
                <a:endParaRPr lang="zh-CN" altLang="zh-CN" sz="1600" dirty="0"/>
              </a:p>
              <a:p>
                <a:pPr marL="0" indent="0" algn="just">
                  <a:lnSpc>
                    <a:spcPts val="2800"/>
                  </a:lnSpc>
                  <a:spcBef>
                    <a:spcPts val="0"/>
                  </a:spcBef>
                  <a:buNone/>
                </a:pPr>
                <a:r>
                  <a:rPr lang="en-US" altLang="zh-CN" sz="1600" dirty="0"/>
                  <a:t>}</a:t>
                </a:r>
                <a:endParaRPr lang="zh-CN" altLang="zh-CN"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915566"/>
                <a:ext cx="9144000" cy="3507876"/>
              </a:xfrm>
              <a:blipFill>
                <a:blip r:embed="rId2"/>
                <a:stretch>
                  <a:fillRect l="-600" b="-4340"/>
                </a:stretch>
              </a:blipFill>
            </p:spPr>
            <p:txBody>
              <a:bodyPr/>
              <a:lstStyle/>
              <a:p>
                <a:r>
                  <a:rPr lang="zh-CN" altLang="en-US">
                    <a:noFill/>
                  </a:rPr>
                  <a:t> </a:t>
                </a:r>
              </a:p>
            </p:txBody>
          </p:sp>
        </mc:Fallback>
      </mc:AlternateContent>
      <p:sp>
        <p:nvSpPr>
          <p:cNvPr id="4" name="文本框 3"/>
          <p:cNvSpPr txBox="1"/>
          <p:nvPr/>
        </p:nvSpPr>
        <p:spPr>
          <a:xfrm>
            <a:off x="4283968" y="4515966"/>
            <a:ext cx="3816424" cy="369332"/>
          </a:xfrm>
          <a:prstGeom prst="rect">
            <a:avLst/>
          </a:prstGeom>
          <a:noFill/>
        </p:spPr>
        <p:txBody>
          <a:bodyPr wrap="square" rtlCol="0">
            <a:spAutoFit/>
          </a:bodyPr>
          <a:lstStyle/>
          <a:p>
            <a:r>
              <a:rPr lang="zh-CN" altLang="en-US" dirty="0">
                <a:solidFill>
                  <a:srgbClr val="C00000"/>
                </a:solidFill>
                <a:latin typeface="华文行楷" panose="02010800040101010101" pitchFamily="2" charset="-122"/>
                <a:ea typeface="华文行楷" panose="02010800040101010101" pitchFamily="2" charset="-122"/>
                <a:hlinkClick r:id="rId3" action="ppaction://hlinkfile"/>
              </a:rPr>
              <a:t>哈夫曼编码代码</a:t>
            </a:r>
            <a:endParaRPr lang="zh-CN" altLang="en-US" dirty="0">
              <a:solidFill>
                <a:srgbClr val="C00000"/>
              </a:solidFill>
              <a:latin typeface="华文行楷" panose="02010800040101010101" pitchFamily="2" charset="-122"/>
              <a:ea typeface="华文行楷" panose="02010800040101010101" pitchFamily="2" charset="-122"/>
            </a:endParaRPr>
          </a:p>
        </p:txBody>
      </p:sp>
      <p:sp>
        <p:nvSpPr>
          <p:cNvPr id="5" name="文本框 4"/>
          <p:cNvSpPr txBox="1"/>
          <p:nvPr/>
        </p:nvSpPr>
        <p:spPr>
          <a:xfrm>
            <a:off x="612366" y="123478"/>
            <a:ext cx="223144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哈夫曼编码的算法</a:t>
            </a:r>
          </a:p>
        </p:txBody>
      </p:sp>
    </p:spTree>
    <p:extLst>
      <p:ext uri="{BB962C8B-B14F-4D97-AF65-F5344CB8AC3E}">
        <p14:creationId xmlns:p14="http://schemas.microsoft.com/office/powerpoint/2010/main" val="857812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1064124"/>
                <a:ext cx="9108504" cy="3507876"/>
              </a:xfrm>
            </p:spPr>
            <p:txBody>
              <a:bodyPr/>
              <a:lstStyle/>
              <a:p>
                <a:pPr marL="0" indent="0" algn="just">
                  <a:lnSpc>
                    <a:spcPts val="2800"/>
                  </a:lnSpc>
                  <a:spcBef>
                    <a:spcPts val="0"/>
                  </a:spcBef>
                  <a:buNone/>
                </a:pPr>
                <a:r>
                  <a:rPr lang="zh-CN" altLang="zh-CN" sz="1600" dirty="0"/>
                  <a:t>例</a:t>
                </a:r>
                <a:r>
                  <a:rPr lang="en-US" altLang="zh-CN" sz="1600" dirty="0"/>
                  <a:t>6.10</a:t>
                </a:r>
                <a:r>
                  <a:rPr lang="zh-CN" altLang="zh-CN" sz="1600" dirty="0"/>
                  <a:t>：已知要编码字符集为</a:t>
                </a:r>
                <a14:m>
                  <m:oMath xmlns:m="http://schemas.openxmlformats.org/officeDocument/2006/math">
                    <m:r>
                      <a:rPr lang="en-US" altLang="zh-CN" sz="1600">
                        <a:latin typeface="Cambria Math" panose="02040503050406030204" pitchFamily="18" charset="0"/>
                      </a:rPr>
                      <m:t>{</m:t>
                    </m:r>
                    <m:r>
                      <m:rPr>
                        <m:sty m:val="p"/>
                      </m:rPr>
                      <a:rPr lang="en-US" altLang="zh-CN" sz="1600">
                        <a:latin typeface="Cambria Math" panose="02040503050406030204" pitchFamily="18" charset="0"/>
                      </a:rPr>
                      <m:t>a</m:t>
                    </m:r>
                    <m:r>
                      <a:rPr lang="en-US" altLang="zh-CN" sz="1600">
                        <a:latin typeface="Cambria Math" panose="02040503050406030204" pitchFamily="18" charset="0"/>
                      </a:rPr>
                      <m:t>,</m:t>
                    </m:r>
                    <m:r>
                      <m:rPr>
                        <m:sty m:val="p"/>
                      </m:rPr>
                      <a:rPr lang="en-US" altLang="zh-CN" sz="1600">
                        <a:latin typeface="Cambria Math" panose="02040503050406030204" pitchFamily="18" charset="0"/>
                      </a:rPr>
                      <m:t>b</m:t>
                    </m:r>
                    <m:r>
                      <a:rPr lang="en-US" altLang="zh-CN" sz="1600">
                        <a:latin typeface="Cambria Math" panose="02040503050406030204" pitchFamily="18" charset="0"/>
                      </a:rPr>
                      <m:t>,</m:t>
                    </m:r>
                    <m:r>
                      <m:rPr>
                        <m:sty m:val="p"/>
                      </m:rPr>
                      <a:rPr lang="en-US" altLang="zh-CN" sz="1600">
                        <a:latin typeface="Cambria Math" panose="02040503050406030204" pitchFamily="18" charset="0"/>
                      </a:rPr>
                      <m:t>c</m:t>
                    </m:r>
                    <m:r>
                      <a:rPr lang="en-US" altLang="zh-CN" sz="1600">
                        <a:latin typeface="Cambria Math" panose="02040503050406030204" pitchFamily="18" charset="0"/>
                      </a:rPr>
                      <m:t>,</m:t>
                    </m:r>
                    <m:r>
                      <m:rPr>
                        <m:sty m:val="p"/>
                      </m:rPr>
                      <a:rPr lang="en-US" altLang="zh-CN" sz="1600">
                        <a:latin typeface="Cambria Math" panose="02040503050406030204" pitchFamily="18" charset="0"/>
                      </a:rPr>
                      <m:t>d</m:t>
                    </m:r>
                    <m:r>
                      <a:rPr lang="en-US" altLang="zh-CN" sz="1600">
                        <a:latin typeface="Cambria Math" panose="02040503050406030204" pitchFamily="18" charset="0"/>
                      </a:rPr>
                      <m:t>,</m:t>
                    </m:r>
                    <m:r>
                      <m:rPr>
                        <m:sty m:val="p"/>
                      </m:rPr>
                      <a:rPr lang="en-US" altLang="zh-CN" sz="1600">
                        <a:latin typeface="Cambria Math" panose="02040503050406030204" pitchFamily="18" charset="0"/>
                      </a:rPr>
                      <m:t>e</m:t>
                    </m:r>
                    <m:r>
                      <a:rPr lang="en-US" altLang="zh-CN" sz="1600">
                        <a:latin typeface="Cambria Math" panose="02040503050406030204" pitchFamily="18" charset="0"/>
                      </a:rPr>
                      <m:t>,</m:t>
                    </m:r>
                    <m:r>
                      <m:rPr>
                        <m:sty m:val="p"/>
                      </m:rPr>
                      <a:rPr lang="en-US" altLang="zh-CN" sz="1600">
                        <a:latin typeface="Cambria Math" panose="02040503050406030204" pitchFamily="18" charset="0"/>
                      </a:rPr>
                      <m:t>f</m:t>
                    </m:r>
                    <m:r>
                      <a:rPr lang="en-US" altLang="zh-CN" sz="1600">
                        <a:latin typeface="Cambria Math" panose="02040503050406030204" pitchFamily="18" charset="0"/>
                      </a:rPr>
                      <m:t>}</m:t>
                    </m:r>
                  </m:oMath>
                </a14:m>
                <a:r>
                  <a:rPr lang="zh-CN" altLang="zh-CN" sz="1600" dirty="0"/>
                  <a:t>，它们在电文中出现的次数或频率集合为</a:t>
                </a:r>
                <a14:m>
                  <m:oMath xmlns:m="http://schemas.openxmlformats.org/officeDocument/2006/math">
                    <m:r>
                      <a:rPr lang="en-US" altLang="zh-CN" sz="1600">
                        <a:latin typeface="Cambria Math" panose="02040503050406030204" pitchFamily="18" charset="0"/>
                      </a:rPr>
                      <m:t>{6,2,4,3,7,1}</m:t>
                    </m:r>
                  </m:oMath>
                </a14:m>
                <a:r>
                  <a:rPr lang="zh-CN" altLang="zh-CN" sz="1600" dirty="0"/>
                  <a:t>，试求出字符集的霍夫曼编码。</a:t>
                </a:r>
              </a:p>
              <a:p>
                <a:pPr marL="0" indent="0" algn="just">
                  <a:lnSpc>
                    <a:spcPts val="2800"/>
                  </a:lnSpc>
                  <a:spcBef>
                    <a:spcPts val="0"/>
                  </a:spcBef>
                  <a:buNone/>
                </a:pPr>
                <a:r>
                  <a:rPr lang="zh-CN" altLang="zh-CN" sz="1600" dirty="0"/>
                  <a:t>解：利用霍夫曼编码算法求出的最优二叉树如图所示，其存储结构</a:t>
                </a:r>
                <a:r>
                  <a:rPr lang="en-US" altLang="zh-CN" sz="1600" dirty="0" err="1"/>
                  <a:t>ht</a:t>
                </a:r>
                <a:r>
                  <a:rPr lang="zh-CN" altLang="zh-CN" sz="1600" dirty="0"/>
                  <a:t>的初始状态如图</a:t>
                </a:r>
                <a:r>
                  <a:rPr lang="en-US" altLang="zh-CN" sz="1600" dirty="0"/>
                  <a:t>(a)</a:t>
                </a:r>
                <a:r>
                  <a:rPr lang="zh-CN" altLang="zh-CN" sz="1600" dirty="0"/>
                  <a:t>所示，其终止状态如图</a:t>
                </a:r>
                <a:r>
                  <a:rPr lang="en-US" altLang="zh-CN" sz="1600" dirty="0"/>
                  <a:t>(b)</a:t>
                </a:r>
                <a:r>
                  <a:rPr lang="zh-CN" altLang="zh-CN" sz="1600" dirty="0"/>
                  <a:t>所示，所得霍夫曼编码如图</a:t>
                </a:r>
                <a:r>
                  <a:rPr lang="en-US" altLang="zh-CN" sz="1600" dirty="0"/>
                  <a:t>(c)</a:t>
                </a:r>
                <a:r>
                  <a:rPr lang="zh-CN" altLang="zh-CN" sz="1600" dirty="0"/>
                  <a:t>所示。</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1064124"/>
                <a:ext cx="9108504" cy="3507876"/>
              </a:xfrm>
              <a:blipFill>
                <a:blip r:embed="rId3"/>
                <a:stretch>
                  <a:fillRect l="-602" r="-669"/>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539552" y="2743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106859728"/>
              </p:ext>
            </p:extLst>
          </p:nvPr>
        </p:nvGraphicFramePr>
        <p:xfrm>
          <a:off x="539552" y="2743200"/>
          <a:ext cx="1762125" cy="1828800"/>
        </p:xfrm>
        <a:graphic>
          <a:graphicData uri="http://schemas.openxmlformats.org/presentationml/2006/ole">
            <mc:AlternateContent xmlns:mc="http://schemas.openxmlformats.org/markup-compatibility/2006">
              <mc:Choice xmlns:v="urn:schemas-microsoft-com:vml" Requires="v">
                <p:oleObj name="Visio" r:id="rId4" imgW="1774792" imgH="1802387" progId="Visio.Drawing.11">
                  <p:embed/>
                </p:oleObj>
              </mc:Choice>
              <mc:Fallback>
                <p:oleObj name="Visio" r:id="rId4" imgW="1774792" imgH="1802387"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2" y="2743200"/>
                        <a:ext cx="176212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 name="图片 6"/>
          <p:cNvPicPr>
            <a:picLocks noChangeAspect="1"/>
          </p:cNvPicPr>
          <p:nvPr/>
        </p:nvPicPr>
        <p:blipFill>
          <a:blip r:embed="rId6"/>
          <a:stretch>
            <a:fillRect/>
          </a:stretch>
        </p:blipFill>
        <p:spPr>
          <a:xfrm>
            <a:off x="2789528" y="2541257"/>
            <a:ext cx="1432157" cy="2232686"/>
          </a:xfrm>
          <a:prstGeom prst="rect">
            <a:avLst/>
          </a:prstGeom>
        </p:spPr>
      </p:pic>
      <p:pic>
        <p:nvPicPr>
          <p:cNvPr id="8" name="图片 7"/>
          <p:cNvPicPr>
            <a:picLocks noChangeAspect="1"/>
          </p:cNvPicPr>
          <p:nvPr/>
        </p:nvPicPr>
        <p:blipFill>
          <a:blip r:embed="rId7"/>
          <a:stretch>
            <a:fillRect/>
          </a:stretch>
        </p:blipFill>
        <p:spPr>
          <a:xfrm>
            <a:off x="4743509" y="2562100"/>
            <a:ext cx="1432157" cy="2222537"/>
          </a:xfrm>
          <a:prstGeom prst="rect">
            <a:avLst/>
          </a:prstGeom>
        </p:spPr>
      </p:pic>
      <p:pic>
        <p:nvPicPr>
          <p:cNvPr id="9" name="图片 8"/>
          <p:cNvPicPr>
            <a:picLocks noChangeAspect="1"/>
          </p:cNvPicPr>
          <p:nvPr/>
        </p:nvPicPr>
        <p:blipFill>
          <a:blip r:embed="rId8"/>
          <a:stretch>
            <a:fillRect/>
          </a:stretch>
        </p:blipFill>
        <p:spPr>
          <a:xfrm>
            <a:off x="6715218" y="3333391"/>
            <a:ext cx="1188386" cy="1451246"/>
          </a:xfrm>
          <a:prstGeom prst="rect">
            <a:avLst/>
          </a:prstGeom>
        </p:spPr>
      </p:pic>
      <p:sp>
        <p:nvSpPr>
          <p:cNvPr id="11" name="文本框 10"/>
          <p:cNvSpPr txBox="1"/>
          <p:nvPr/>
        </p:nvSpPr>
        <p:spPr>
          <a:xfrm>
            <a:off x="612366" y="123478"/>
            <a:ext cx="71927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0183753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 数字媒体及应用123</Template>
  <TotalTime>5087</TotalTime>
  <Words>10598</Words>
  <Application>Microsoft Office PowerPoint</Application>
  <PresentationFormat>全屏显示(16:9)</PresentationFormat>
  <Paragraphs>729</Paragraphs>
  <Slides>86</Slides>
  <Notes>9</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86</vt:i4>
      </vt:variant>
    </vt:vector>
  </HeadingPairs>
  <TitlesOfParts>
    <vt:vector size="98" baseType="lpstr">
      <vt:lpstr>方正粗黑宋简体</vt:lpstr>
      <vt:lpstr>黑体</vt:lpstr>
      <vt:lpstr>华文行楷</vt:lpstr>
      <vt:lpstr>隶书</vt:lpstr>
      <vt:lpstr>微软雅黑</vt:lpstr>
      <vt:lpstr>Arial</vt:lpstr>
      <vt:lpstr>Calibri</vt:lpstr>
      <vt:lpstr>Calibri Light</vt:lpstr>
      <vt:lpstr>Cambria Math</vt:lpstr>
      <vt:lpstr>Times New Roman</vt:lpstr>
      <vt:lpstr>章节简洁版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 Chen</cp:lastModifiedBy>
  <cp:revision>258</cp:revision>
  <dcterms:created xsi:type="dcterms:W3CDTF">2007-07-12T03:00:51Z</dcterms:created>
  <dcterms:modified xsi:type="dcterms:W3CDTF">2025-03-31T00:54:11Z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